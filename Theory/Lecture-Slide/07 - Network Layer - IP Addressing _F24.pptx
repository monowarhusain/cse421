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12192000"/>
  <p:notesSz cx="6858000" cy="9144000"/>
  <p:embeddedFontLst>
    <p:embeddedFont>
      <p:font typeface="Corbel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iRZF9tYQaqq6K6FmndsjQVvGz/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3EFD1A-ED75-492B-98AB-5415BC1DC330}">
  <a:tblStyle styleId="{A83EFD1A-ED75-492B-98AB-5415BC1DC3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156F286-2A38-4237-94C4-DC7D5E8FC1A0}" styleName="Table_1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EB5F1F1-30F9-41DE-B5D7-BE62F94D0876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Corbel-bold.fntdata"/><Relationship Id="rId45" Type="http://schemas.openxmlformats.org/officeDocument/2006/relationships/font" Target="fonts/Corbel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orbel-boldItalic.fntdata"/><Relationship Id="rId47" Type="http://schemas.openxmlformats.org/officeDocument/2006/relationships/font" Target="fonts/Corbel-italic.fntdata"/><Relationship Id="rId49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It allows applications to communicate with each other within the same host without requiring physical network hardware or connectivity.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The loopback address is often used for troubleshooting network issues, testing server applications, or ensuring that network software is functioning as expected locally.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/>
              <a:t>Characteristics</a:t>
            </a:r>
            <a:r>
              <a:rPr lang="en-US"/>
              <a:t>: Packets sent to a loopback address never leave the host device; they are routed internally, ensuring no external network traffic is involved.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f48bd25098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2f48bd25098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f48bd25098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2f48bd25098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f48bd2509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2f48bd2509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just for the students</a:t>
            </a:r>
            <a:endParaRPr/>
          </a:p>
        </p:txBody>
      </p:sp>
      <p:sp>
        <p:nvSpPr>
          <p:cNvPr id="652" name="Google Shape;652;g2f48bd2509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f48bd25098_0_4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g2f48bd25098_0_4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f48bd25098_0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2f48bd25098_0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2f48bd25098_0_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48bd25098_0_7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2f48bd25098_0_7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0" name="Google Shape;72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1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1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31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1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1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1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1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3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f48bd25098_0_623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f48bd25098_0_623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4" name="Google Shape;44;g2f48bd25098_0_623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34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38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9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0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3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3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4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5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5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6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7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7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f48bd25098_0_836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g2f48bd25098_0_836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62" name="Google Shape;162;g2f48bd25098_0_836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48bd25098_0_818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2f48bd25098_0_818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66" name="Google Shape;166;g2f48bd25098_0_818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2f48bd25098_0_818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2f48bd25098_0_818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g2f48bd25098_0_805"/>
          <p:cNvGrpSpPr/>
          <p:nvPr/>
        </p:nvGrpSpPr>
        <p:grpSpPr>
          <a:xfrm>
            <a:off x="546100" y="-4763"/>
            <a:ext cx="5014913" cy="6862763"/>
            <a:chOff x="2928938" y="-4763"/>
            <a:chExt cx="5014913" cy="6862763"/>
          </a:xfrm>
        </p:grpSpPr>
        <p:sp>
          <p:nvSpPr>
            <p:cNvPr id="171" name="Google Shape;171;g2f48bd25098_0_80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2" name="Google Shape;172;g2f48bd25098_0_80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73" name="Google Shape;173;g2f48bd25098_0_805"/>
            <p:cNvSpPr/>
            <p:nvPr/>
          </p:nvSpPr>
          <p:spPr>
            <a:xfrm>
              <a:off x="2928938" y="2582862"/>
              <a:ext cx="2693988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74" name="Google Shape;174;g2f48bd25098_0_805"/>
            <p:cNvSpPr/>
            <p:nvPr/>
          </p:nvSpPr>
          <p:spPr>
            <a:xfrm>
              <a:off x="3371850" y="2692400"/>
              <a:ext cx="3332163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75" name="Google Shape;175;g2f48bd25098_0_805"/>
            <p:cNvSpPr/>
            <p:nvPr/>
          </p:nvSpPr>
          <p:spPr>
            <a:xfrm>
              <a:off x="3367088" y="2687637"/>
              <a:ext cx="4576763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76" name="Google Shape;176;g2f48bd25098_0_80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7" name="Google Shape;177;g2f48bd25098_0_805"/>
          <p:cNvSpPr txBox="1"/>
          <p:nvPr>
            <p:ph type="ctrTitle"/>
          </p:nvPr>
        </p:nvSpPr>
        <p:spPr>
          <a:xfrm>
            <a:off x="2928401" y="1380068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2f48bd25098_0_805"/>
          <p:cNvSpPr txBox="1"/>
          <p:nvPr>
            <p:ph idx="1" type="subTitle"/>
          </p:nvPr>
        </p:nvSpPr>
        <p:spPr>
          <a:xfrm>
            <a:off x="4515377" y="3996267"/>
            <a:ext cx="6987600" cy="1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9" name="Google Shape;179;g2f48bd25098_0_805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2f48bd25098_0_805"/>
          <p:cNvSpPr txBox="1"/>
          <p:nvPr>
            <p:ph idx="11" type="ftr"/>
          </p:nvPr>
        </p:nvSpPr>
        <p:spPr>
          <a:xfrm>
            <a:off x="5332412" y="5883275"/>
            <a:ext cx="432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2f48bd25098_0_80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48bd25098_0_824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2f48bd25098_0_824"/>
          <p:cNvSpPr txBox="1"/>
          <p:nvPr>
            <p:ph idx="1" type="body"/>
          </p:nvPr>
        </p:nvSpPr>
        <p:spPr>
          <a:xfrm>
            <a:off x="1484312" y="2666999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85" name="Google Shape;185;g2f48bd25098_0_824"/>
          <p:cNvSpPr txBox="1"/>
          <p:nvPr>
            <p:ph idx="2" type="body"/>
          </p:nvPr>
        </p:nvSpPr>
        <p:spPr>
          <a:xfrm>
            <a:off x="6607967" y="2667000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86" name="Google Shape;186;g2f48bd25098_0_824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2f48bd25098_0_824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2f48bd25098_0_8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48bd25098_0_831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2f48bd25098_0_831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2f48bd25098_0_831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2f48bd25098_0_83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48bd25098_0_840"/>
          <p:cNvSpPr txBox="1"/>
          <p:nvPr>
            <p:ph type="title"/>
          </p:nvPr>
        </p:nvSpPr>
        <p:spPr>
          <a:xfrm>
            <a:off x="2572279" y="2666999"/>
            <a:ext cx="8930700" cy="21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2f48bd25098_0_840"/>
          <p:cNvSpPr txBox="1"/>
          <p:nvPr>
            <p:ph idx="1" type="body"/>
          </p:nvPr>
        </p:nvSpPr>
        <p:spPr>
          <a:xfrm>
            <a:off x="2572278" y="4777381"/>
            <a:ext cx="8930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7" name="Google Shape;197;g2f48bd25098_0_840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2f48bd25098_0_840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2f48bd25098_0_84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48bd25098_0_846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2f48bd25098_0_846"/>
          <p:cNvSpPr txBox="1"/>
          <p:nvPr>
            <p:ph idx="1" type="body"/>
          </p:nvPr>
        </p:nvSpPr>
        <p:spPr>
          <a:xfrm>
            <a:off x="1772179" y="2658533"/>
            <a:ext cx="4607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203" name="Google Shape;203;g2f48bd25098_0_846"/>
          <p:cNvSpPr txBox="1"/>
          <p:nvPr>
            <p:ph idx="2" type="body"/>
          </p:nvPr>
        </p:nvSpPr>
        <p:spPr>
          <a:xfrm>
            <a:off x="1484311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204" name="Google Shape;204;g2f48bd25098_0_846"/>
          <p:cNvSpPr txBox="1"/>
          <p:nvPr>
            <p:ph idx="3" type="body"/>
          </p:nvPr>
        </p:nvSpPr>
        <p:spPr>
          <a:xfrm>
            <a:off x="6880487" y="2667000"/>
            <a:ext cx="4622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205" name="Google Shape;205;g2f48bd25098_0_846"/>
          <p:cNvSpPr txBox="1"/>
          <p:nvPr>
            <p:ph idx="4" type="body"/>
          </p:nvPr>
        </p:nvSpPr>
        <p:spPr>
          <a:xfrm>
            <a:off x="6607967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206" name="Google Shape;206;g2f48bd25098_0_84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2f48bd25098_0_84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2f48bd25098_0_84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48bd25098_0_855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2f48bd25098_0_855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2f48bd25098_0_85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48bd25098_0_859"/>
          <p:cNvSpPr txBox="1"/>
          <p:nvPr>
            <p:ph type="title"/>
          </p:nvPr>
        </p:nvSpPr>
        <p:spPr>
          <a:xfrm>
            <a:off x="1484312" y="1600200"/>
            <a:ext cx="354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2f48bd25098_0_859"/>
          <p:cNvSpPr txBox="1"/>
          <p:nvPr>
            <p:ph idx="1" type="body"/>
          </p:nvPr>
        </p:nvSpPr>
        <p:spPr>
          <a:xfrm>
            <a:off x="5262033" y="685799"/>
            <a:ext cx="62409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216" name="Google Shape;216;g2f48bd25098_0_859"/>
          <p:cNvSpPr txBox="1"/>
          <p:nvPr>
            <p:ph idx="2" type="body"/>
          </p:nvPr>
        </p:nvSpPr>
        <p:spPr>
          <a:xfrm>
            <a:off x="1484312" y="2971800"/>
            <a:ext cx="354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17" name="Google Shape;217;g2f48bd25098_0_859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2f48bd25098_0_859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2f48bd25098_0_85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48bd25098_0_866"/>
          <p:cNvSpPr txBox="1"/>
          <p:nvPr>
            <p:ph type="title"/>
          </p:nvPr>
        </p:nvSpPr>
        <p:spPr>
          <a:xfrm>
            <a:off x="1482724" y="1752599"/>
            <a:ext cx="5426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2f48bd25098_0_866"/>
          <p:cNvSpPr/>
          <p:nvPr>
            <p:ph idx="2" type="pic"/>
          </p:nvPr>
        </p:nvSpPr>
        <p:spPr>
          <a:xfrm>
            <a:off x="7594682" y="914400"/>
            <a:ext cx="3281100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2f48bd25098_0_866"/>
          <p:cNvSpPr txBox="1"/>
          <p:nvPr>
            <p:ph idx="1" type="body"/>
          </p:nvPr>
        </p:nvSpPr>
        <p:spPr>
          <a:xfrm>
            <a:off x="1482724" y="3124199"/>
            <a:ext cx="5426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24" name="Google Shape;224;g2f48bd25098_0_86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2f48bd25098_0_86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2f48bd25098_0_86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48bd25098_0_873"/>
          <p:cNvSpPr txBox="1"/>
          <p:nvPr>
            <p:ph type="title"/>
          </p:nvPr>
        </p:nvSpPr>
        <p:spPr>
          <a:xfrm>
            <a:off x="1484311" y="4732865"/>
            <a:ext cx="10018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2f48bd25098_0_873"/>
          <p:cNvSpPr/>
          <p:nvPr>
            <p:ph idx="2" type="pic"/>
          </p:nvPr>
        </p:nvSpPr>
        <p:spPr>
          <a:xfrm>
            <a:off x="2386012" y="932112"/>
            <a:ext cx="8226000" cy="3165000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2f48bd25098_0_873"/>
          <p:cNvSpPr txBox="1"/>
          <p:nvPr>
            <p:ph idx="1" type="body"/>
          </p:nvPr>
        </p:nvSpPr>
        <p:spPr>
          <a:xfrm>
            <a:off x="1484311" y="5299603"/>
            <a:ext cx="10018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31" name="Google Shape;231;g2f48bd25098_0_873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2f48bd25098_0_873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2f48bd25098_0_87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48bd25098_0_880"/>
          <p:cNvSpPr txBox="1"/>
          <p:nvPr>
            <p:ph type="title"/>
          </p:nvPr>
        </p:nvSpPr>
        <p:spPr>
          <a:xfrm>
            <a:off x="1484312" y="685800"/>
            <a:ext cx="10018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2f48bd25098_0_880"/>
          <p:cNvSpPr txBox="1"/>
          <p:nvPr>
            <p:ph idx="1" type="body"/>
          </p:nvPr>
        </p:nvSpPr>
        <p:spPr>
          <a:xfrm>
            <a:off x="1484312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7" name="Google Shape;237;g2f48bd25098_0_880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2f48bd25098_0_880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2f48bd25098_0_88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48bd25098_0_886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2f48bd25098_0_886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f48bd25098_0_886"/>
          <p:cNvSpPr txBox="1"/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2f48bd25098_0_886"/>
          <p:cNvSpPr txBox="1"/>
          <p:nvPr>
            <p:ph idx="1" type="body"/>
          </p:nvPr>
        </p:nvSpPr>
        <p:spPr>
          <a:xfrm>
            <a:off x="2436811" y="3428999"/>
            <a:ext cx="853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45" name="Google Shape;245;g2f48bd25098_0_886"/>
          <p:cNvSpPr txBox="1"/>
          <p:nvPr>
            <p:ph idx="2" type="body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6" name="Google Shape;246;g2f48bd25098_0_88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2f48bd25098_0_88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2f48bd25098_0_88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48bd25098_0_895"/>
          <p:cNvSpPr txBox="1"/>
          <p:nvPr>
            <p:ph type="title"/>
          </p:nvPr>
        </p:nvSpPr>
        <p:spPr>
          <a:xfrm>
            <a:off x="1484313" y="3308581"/>
            <a:ext cx="100188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g2f48bd25098_0_895"/>
          <p:cNvSpPr txBox="1"/>
          <p:nvPr>
            <p:ph idx="1" type="body"/>
          </p:nvPr>
        </p:nvSpPr>
        <p:spPr>
          <a:xfrm>
            <a:off x="1484312" y="4777381"/>
            <a:ext cx="100188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2" name="Google Shape;252;g2f48bd25098_0_895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2f48bd25098_0_895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2f48bd25098_0_89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48bd25098_0_901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f48bd25098_0_901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f48bd25098_0_901"/>
          <p:cNvSpPr txBox="1"/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2f48bd25098_0_901"/>
          <p:cNvSpPr txBox="1"/>
          <p:nvPr>
            <p:ph idx="1" type="body"/>
          </p:nvPr>
        </p:nvSpPr>
        <p:spPr>
          <a:xfrm>
            <a:off x="1484313" y="3886200"/>
            <a:ext cx="10018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0" name="Google Shape;260;g2f48bd25098_0_901"/>
          <p:cNvSpPr txBox="1"/>
          <p:nvPr>
            <p:ph idx="2" type="body"/>
          </p:nvPr>
        </p:nvSpPr>
        <p:spPr>
          <a:xfrm>
            <a:off x="1484312" y="4775200"/>
            <a:ext cx="100188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1" name="Google Shape;261;g2f48bd25098_0_901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2f48bd25098_0_901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g2f48bd25098_0_90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48bd25098_0_910"/>
          <p:cNvSpPr txBox="1"/>
          <p:nvPr>
            <p:ph type="title"/>
          </p:nvPr>
        </p:nvSpPr>
        <p:spPr>
          <a:xfrm>
            <a:off x="1484313" y="685800"/>
            <a:ext cx="10018800" cy="27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2f48bd25098_0_910"/>
          <p:cNvSpPr txBox="1"/>
          <p:nvPr>
            <p:ph idx="1" type="body"/>
          </p:nvPr>
        </p:nvSpPr>
        <p:spPr>
          <a:xfrm>
            <a:off x="1484312" y="3505200"/>
            <a:ext cx="10018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7" name="Google Shape;267;g2f48bd25098_0_910"/>
          <p:cNvSpPr txBox="1"/>
          <p:nvPr>
            <p:ph idx="2" type="body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8" name="Google Shape;268;g2f48bd25098_0_910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g2f48bd25098_0_910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2f48bd25098_0_91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f48bd25098_0_917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g2f48bd25098_0_917"/>
          <p:cNvSpPr txBox="1"/>
          <p:nvPr>
            <p:ph idx="1" type="body"/>
          </p:nvPr>
        </p:nvSpPr>
        <p:spPr>
          <a:xfrm rot="5400000">
            <a:off x="4931523" y="-780301"/>
            <a:ext cx="3124200" cy="10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74" name="Google Shape;274;g2f48bd25098_0_917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g2f48bd25098_0_917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g2f48bd25098_0_91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48bd25098_0_923"/>
          <p:cNvSpPr txBox="1"/>
          <p:nvPr>
            <p:ph type="title"/>
          </p:nvPr>
        </p:nvSpPr>
        <p:spPr>
          <a:xfrm rot="5400000">
            <a:off x="8065175" y="2353351"/>
            <a:ext cx="5105400" cy="17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2f48bd25098_0_923"/>
          <p:cNvSpPr txBox="1"/>
          <p:nvPr>
            <p:ph idx="1" type="body"/>
          </p:nvPr>
        </p:nvSpPr>
        <p:spPr>
          <a:xfrm rot="5400000">
            <a:off x="2941554" y="-771300"/>
            <a:ext cx="5105400" cy="8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80" name="Google Shape;280;g2f48bd25098_0_923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2f48bd25098_0_923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2f48bd25098_0_92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6.xml"/><Relationship Id="rId6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0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0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2f48bd25098_0_792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8" name="Google Shape;148;g2f48bd25098_0_792"/>
            <p:cNvSpPr/>
            <p:nvPr/>
          </p:nvSpPr>
          <p:spPr>
            <a:xfrm>
              <a:off x="1627188" y="0"/>
              <a:ext cx="1122362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9" name="Google Shape;149;g2f48bd25098_0_792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0" name="Google Shape;150;g2f48bd25098_0_792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51" name="Google Shape;151;g2f48bd25098_0_792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2" name="Google Shape;152;g2f48bd25098_0_792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53" name="Google Shape;153;g2f48bd25098_0_792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4" name="Google Shape;154;g2f48bd25098_0_792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g2f48bd25098_0_792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6" name="Google Shape;156;g2f48bd25098_0_792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7" name="Google Shape;157;g2f48bd25098_0_792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8" name="Google Shape;158;g2f48bd25098_0_792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3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 Addressing</a:t>
            </a:r>
            <a:endParaRPr/>
          </a:p>
        </p:txBody>
      </p:sp>
      <p:sp>
        <p:nvSpPr>
          <p:cNvPr id="289" name="Google Shape;289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7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290" name="Google Shape;2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296" name="Google Shape;296;p2"/>
          <p:cNvSpPr txBox="1"/>
          <p:nvPr>
            <p:ph idx="1" type="body"/>
          </p:nvPr>
        </p:nvSpPr>
        <p:spPr>
          <a:xfrm>
            <a:off x="1484310" y="1713347"/>
            <a:ext cx="10018713" cy="339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066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IPv4 Address</a:t>
            </a:r>
            <a:endParaRPr sz="3600"/>
          </a:p>
          <a:p>
            <a:pPr indent="-27254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/>
          </a:p>
          <a:p>
            <a:pPr indent="-27254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Subnet/Prefix Mask</a:t>
            </a:r>
            <a:endParaRPr sz="3200"/>
          </a:p>
          <a:p>
            <a:pPr indent="-306609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Types of IPv4 Address</a:t>
            </a:r>
            <a:endParaRPr sz="3600"/>
          </a:p>
          <a:p>
            <a:pPr indent="-306609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IPv6 Address</a:t>
            </a:r>
            <a:endParaRPr/>
          </a:p>
          <a:p>
            <a:pPr indent="-272542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 sz="3200"/>
          </a:p>
        </p:txBody>
      </p:sp>
      <p:pic>
        <p:nvPicPr>
          <p:cNvPr id="297" name="Google Shape;2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"/>
          <p:cNvSpPr txBox="1"/>
          <p:nvPr>
            <p:ph type="title"/>
          </p:nvPr>
        </p:nvSpPr>
        <p:spPr>
          <a:xfrm>
            <a:off x="1308819" y="1066799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IPv4</a:t>
            </a:r>
            <a:endParaRPr/>
          </a:p>
        </p:txBody>
      </p:sp>
      <p:pic>
        <p:nvPicPr>
          <p:cNvPr id="303" name="Google Shape;3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sp>
        <p:nvSpPr>
          <p:cNvPr id="309" name="Google Shape;309;p4"/>
          <p:cNvSpPr txBox="1"/>
          <p:nvPr>
            <p:ph idx="1" type="body"/>
          </p:nvPr>
        </p:nvSpPr>
        <p:spPr>
          <a:xfrm>
            <a:off x="1484309" y="1196110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device on a network must be uniquely identified at the Network layer.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 IPv4, a 32 bit source and destination address is contained in each packet.</a:t>
            </a:r>
            <a:endParaRPr/>
          </a:p>
        </p:txBody>
      </p:sp>
      <p:pic>
        <p:nvPicPr>
          <p:cNvPr id="310" name="Google Shape;3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v408" id="311" name="Google Shape;3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9266" y="2574602"/>
            <a:ext cx="6557316" cy="38169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"/>
          <p:cNvSpPr/>
          <p:nvPr/>
        </p:nvSpPr>
        <p:spPr>
          <a:xfrm>
            <a:off x="3368285" y="4206212"/>
            <a:ext cx="5978915" cy="63364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Addressing Structure</a:t>
            </a:r>
            <a:endParaRPr/>
          </a:p>
        </p:txBody>
      </p:sp>
      <p:pic>
        <p:nvPicPr>
          <p:cNvPr id="318" name="Google Shape;3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1366" y="1474695"/>
            <a:ext cx="6324600" cy="473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pic>
        <p:nvPicPr>
          <p:cNvPr id="325" name="Google Shape;3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597" y="2825799"/>
            <a:ext cx="7958138" cy="255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6"/>
          <p:cNvCxnSpPr>
            <a:stCxn id="328" idx="2"/>
          </p:cNvCxnSpPr>
          <p:nvPr/>
        </p:nvCxnSpPr>
        <p:spPr>
          <a:xfrm flipH="1">
            <a:off x="4639129" y="2203079"/>
            <a:ext cx="1888200" cy="136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p6"/>
          <p:cNvSpPr txBox="1"/>
          <p:nvPr/>
        </p:nvSpPr>
        <p:spPr>
          <a:xfrm>
            <a:off x="5617464" y="1833747"/>
            <a:ext cx="1819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Dotted decimals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6"/>
          <p:cNvCxnSpPr>
            <a:stCxn id="328" idx="2"/>
          </p:cNvCxnSpPr>
          <p:nvPr/>
        </p:nvCxnSpPr>
        <p:spPr>
          <a:xfrm flipH="1">
            <a:off x="6320029" y="2203079"/>
            <a:ext cx="207300" cy="136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6"/>
          <p:cNvCxnSpPr>
            <a:stCxn id="328" idx="2"/>
            <a:endCxn id="331" idx="3"/>
          </p:cNvCxnSpPr>
          <p:nvPr/>
        </p:nvCxnSpPr>
        <p:spPr>
          <a:xfrm>
            <a:off x="6527329" y="2203079"/>
            <a:ext cx="1487100" cy="1383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6"/>
          <p:cNvSpPr/>
          <p:nvPr/>
        </p:nvSpPr>
        <p:spPr>
          <a:xfrm>
            <a:off x="3180229" y="3234021"/>
            <a:ext cx="4834218" cy="70550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3092824" y="2886638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Network part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8074956" y="3235799"/>
            <a:ext cx="1520781" cy="705508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8581913" y="2886638"/>
            <a:ext cx="1122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Host part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2931459" y="4047569"/>
            <a:ext cx="289111" cy="36933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2085640" y="4023807"/>
            <a:ext cx="845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227294" y="4054293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8296397" y="4060557"/>
            <a:ext cx="1149724" cy="345570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6613420" y="4054293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4916995" y="4061017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9423196" y="4045544"/>
            <a:ext cx="2270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Divided into 4 Octets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Binary to decimal and Vice Versa</a:t>
            </a:r>
            <a:endParaRPr/>
          </a:p>
        </p:txBody>
      </p:sp>
      <p:pic>
        <p:nvPicPr>
          <p:cNvPr id="347" name="Google Shape;3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4546" y="1333547"/>
            <a:ext cx="6821635" cy="5039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and Hosts</a:t>
            </a:r>
            <a:endParaRPr/>
          </a:p>
        </p:txBody>
      </p:sp>
      <p:sp>
        <p:nvSpPr>
          <p:cNvPr id="354" name="Google Shape;354;p8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To identify a path or "route" through a network, the address must be composed of two parts: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rgbClr val="FF0000"/>
                </a:solidFill>
              </a:rPr>
              <a:t>Network</a:t>
            </a:r>
            <a:r>
              <a:rPr b="1" lang="en-US"/>
              <a:t> </a:t>
            </a:r>
            <a:r>
              <a:rPr lang="en-US"/>
              <a:t>portion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rgbClr val="5E9934"/>
                </a:solidFill>
              </a:rPr>
              <a:t>Host</a:t>
            </a:r>
            <a:r>
              <a:rPr lang="en-US"/>
              <a:t> portion</a:t>
            </a:r>
            <a:endParaRPr/>
          </a:p>
        </p:txBody>
      </p:sp>
      <p:pic>
        <p:nvPicPr>
          <p:cNvPr id="355" name="Google Shape;3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r05" id="356" name="Google Shape;3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9512" y="2824818"/>
            <a:ext cx="60198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8"/>
          <p:cNvSpPr txBox="1"/>
          <p:nvPr/>
        </p:nvSpPr>
        <p:spPr>
          <a:xfrm>
            <a:off x="7070912" y="3926542"/>
            <a:ext cx="685800" cy="369888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5927912" y="3012142"/>
            <a:ext cx="685800" cy="369888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5927912" y="4688542"/>
            <a:ext cx="609600" cy="369888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 txBox="1"/>
          <p:nvPr/>
        </p:nvSpPr>
        <p:spPr>
          <a:xfrm>
            <a:off x="8213912" y="4002742"/>
            <a:ext cx="685800" cy="369888"/>
          </a:xfrm>
          <a:prstGeom prst="rect">
            <a:avLst/>
          </a:prstGeom>
          <a:solidFill>
            <a:srgbClr val="FF99CC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9204512" y="3012142"/>
            <a:ext cx="609600" cy="369888"/>
          </a:xfrm>
          <a:prstGeom prst="rect">
            <a:avLst/>
          </a:prstGeom>
          <a:solidFill>
            <a:srgbClr val="FF99CC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7604312" y="4917142"/>
            <a:ext cx="762000" cy="369888"/>
          </a:xfrm>
          <a:prstGeom prst="rect">
            <a:avLst/>
          </a:prstGeom>
          <a:solidFill>
            <a:srgbClr val="99CCFF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 txBox="1"/>
          <p:nvPr/>
        </p:nvSpPr>
        <p:spPr>
          <a:xfrm>
            <a:off x="8899712" y="5374342"/>
            <a:ext cx="685800" cy="369888"/>
          </a:xfrm>
          <a:prstGeom prst="rect">
            <a:avLst/>
          </a:prstGeom>
          <a:solidFill>
            <a:srgbClr val="99CCFF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369" name="Google Shape;369;p9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0000"/>
                </a:solidFill>
              </a:rPr>
              <a:t>Network Portion:</a:t>
            </a:r>
            <a:endParaRPr b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Some portion of the high-order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network  can be defined as a group of hosts that have identical bit patterns in the network address portion of their addresses.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70" name="Google Shape;3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630" y="2959419"/>
            <a:ext cx="8035224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2" name="Google Shape;372;p9"/>
          <p:cNvGraphicFramePr/>
          <p:nvPr/>
        </p:nvGraphicFramePr>
        <p:xfrm>
          <a:off x="2841318" y="4272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{A83EFD1A-ED75-492B-98AB-5415BC1DC330}</a:tableStyleId>
              </a:tblPr>
              <a:tblGrid>
                <a:gridCol w="1749425"/>
                <a:gridCol w="1604950"/>
                <a:gridCol w="1531950"/>
                <a:gridCol w="1384300"/>
                <a:gridCol w="138587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9"/>
          <p:cNvSpPr/>
          <p:nvPr/>
        </p:nvSpPr>
        <p:spPr>
          <a:xfrm>
            <a:off x="4807324" y="3321426"/>
            <a:ext cx="4370294" cy="52443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379" name="Google Shape;379;p10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5E9934"/>
                </a:solidFill>
              </a:rPr>
              <a:t>Host Portion: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variable number of least significant bits that are called the </a:t>
            </a:r>
            <a:r>
              <a:rPr b="1" lang="en-US"/>
              <a:t>host portion </a:t>
            </a:r>
            <a:r>
              <a:rPr lang="en-US"/>
              <a:t>of the address.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b="1" lang="en-US"/>
              <a:t>number of bits </a:t>
            </a:r>
            <a:r>
              <a:rPr lang="en-US"/>
              <a:t>used in this </a:t>
            </a:r>
            <a:r>
              <a:rPr b="1" lang="en-US"/>
              <a:t>host portion </a:t>
            </a:r>
            <a:r>
              <a:rPr lang="en-US"/>
              <a:t>determines the </a:t>
            </a:r>
            <a:r>
              <a:rPr b="1" lang="en-US"/>
              <a:t>number of hosts </a:t>
            </a:r>
            <a:r>
              <a:rPr lang="en-US"/>
              <a:t>that we can have within the network.</a:t>
            </a:r>
            <a:endParaRPr/>
          </a:p>
        </p:txBody>
      </p:sp>
      <p:pic>
        <p:nvPicPr>
          <p:cNvPr id="380" name="Google Shape;3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630" y="3080449"/>
            <a:ext cx="8035224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2" name="Google Shape;382;p10"/>
          <p:cNvGraphicFramePr/>
          <p:nvPr/>
        </p:nvGraphicFramePr>
        <p:xfrm>
          <a:off x="2841318" y="4272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{A83EFD1A-ED75-492B-98AB-5415BC1DC330}</a:tableStyleId>
              </a:tblPr>
              <a:tblGrid>
                <a:gridCol w="1749425"/>
                <a:gridCol w="1604950"/>
                <a:gridCol w="1531950"/>
                <a:gridCol w="1384300"/>
                <a:gridCol w="138587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3" name="Google Shape;383;p10"/>
          <p:cNvSpPr/>
          <p:nvPr/>
        </p:nvSpPr>
        <p:spPr>
          <a:xfrm>
            <a:off x="9139677" y="3434883"/>
            <a:ext cx="1479177" cy="52443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Prefix Mask</a:t>
            </a:r>
            <a:endParaRPr/>
          </a:p>
        </p:txBody>
      </p:sp>
      <p:sp>
        <p:nvSpPr>
          <p:cNvPr id="389" name="Google Shape;389;p11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How do we or devices identify the network part or the host part?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Answer:</a:t>
            </a:r>
            <a:r>
              <a:rPr lang="en-US"/>
              <a:t> Using the </a:t>
            </a:r>
            <a:r>
              <a:rPr b="1" lang="en-US"/>
              <a:t>“Prefix Mask”.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0000"/>
                </a:solidFill>
              </a:rPr>
              <a:t>192.168.10</a:t>
            </a:r>
            <a:r>
              <a:rPr lang="en-US"/>
              <a:t>.</a:t>
            </a:r>
            <a:r>
              <a:rPr b="1" lang="en-US">
                <a:solidFill>
                  <a:srgbClr val="00B050"/>
                </a:solidFill>
              </a:rPr>
              <a:t>2</a:t>
            </a:r>
            <a:r>
              <a:rPr lang="en-US"/>
              <a:t>/24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Means that the </a:t>
            </a:r>
            <a:r>
              <a:rPr b="1" lang="en-US">
                <a:solidFill>
                  <a:srgbClr val="FF0000"/>
                </a:solidFill>
              </a:rPr>
              <a:t>first 24 bits </a:t>
            </a:r>
            <a:r>
              <a:rPr lang="en-US"/>
              <a:t>are the network portion.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00B050"/>
                </a:solidFill>
              </a:rPr>
              <a:t>last 8 bits </a:t>
            </a:r>
            <a:r>
              <a:rPr lang="en-US"/>
              <a:t>are the host portion.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Subnet Mask</a:t>
            </a:r>
            <a:r>
              <a:rPr lang="en-US"/>
              <a:t>; the other form of </a:t>
            </a:r>
            <a:r>
              <a:rPr b="1" lang="en-US"/>
              <a:t>“Prefix Mask”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length of </a:t>
            </a:r>
            <a:r>
              <a:rPr b="1" lang="en-US">
                <a:solidFill>
                  <a:srgbClr val="FF0000"/>
                </a:solidFill>
              </a:rPr>
              <a:t>/24 </a:t>
            </a:r>
            <a:r>
              <a:rPr lang="en-US"/>
              <a:t>means a subnet mask of </a:t>
            </a:r>
            <a:r>
              <a:rPr b="1" lang="en-US">
                <a:solidFill>
                  <a:srgbClr val="FF0000"/>
                </a:solidFill>
              </a:rPr>
              <a:t>255.255.255.0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90" name="Google Shape;3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1223" y="2373311"/>
            <a:ext cx="2971800" cy="33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4201" y="4542865"/>
            <a:ext cx="488632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1"/>
          <p:cNvSpPr/>
          <p:nvPr/>
        </p:nvSpPr>
        <p:spPr>
          <a:xfrm>
            <a:off x="6324600" y="5553636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3657600" y="5553636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645523" y="3809129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979023" y="3821110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491344" y="2076960"/>
            <a:ext cx="526473" cy="480291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 txBox="1"/>
          <p:nvPr>
            <p:ph type="title"/>
          </p:nvPr>
        </p:nvSpPr>
        <p:spPr>
          <a:xfrm>
            <a:off x="1154197" y="16274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 Mask</a:t>
            </a:r>
            <a:endParaRPr/>
          </a:p>
        </p:txBody>
      </p:sp>
      <p:sp>
        <p:nvSpPr>
          <p:cNvPr id="403" name="Google Shape;403;p12"/>
          <p:cNvSpPr txBox="1"/>
          <p:nvPr>
            <p:ph idx="1" type="body"/>
          </p:nvPr>
        </p:nvSpPr>
        <p:spPr>
          <a:xfrm>
            <a:off x="933169" y="795170"/>
            <a:ext cx="10707600" cy="5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Prefix Mask and the Subnet Mask are different ways of representing the </a:t>
            </a:r>
            <a:r>
              <a:rPr b="1" lang="en-US">
                <a:solidFill>
                  <a:srgbClr val="7D28CD"/>
                </a:solidFill>
              </a:rPr>
              <a:t>same information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1186C3"/>
                </a:solidFill>
              </a:rPr>
              <a:t>Conversion: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Subnet mask has the </a:t>
            </a:r>
            <a:r>
              <a:rPr b="1" lang="en-US"/>
              <a:t>same format </a:t>
            </a:r>
            <a:r>
              <a:rPr lang="en-US"/>
              <a:t>as an IP address. Hence, it has </a:t>
            </a:r>
            <a:r>
              <a:rPr b="1" lang="en-US"/>
              <a:t>32 bits divided into 8 bits (octets)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mask of </a:t>
            </a:r>
            <a:r>
              <a:rPr b="1" lang="en-US"/>
              <a:t>/24 </a:t>
            </a:r>
            <a:r>
              <a:rPr lang="en-US"/>
              <a:t>means, </a:t>
            </a:r>
            <a:r>
              <a:rPr lang="en-US">
                <a:solidFill>
                  <a:srgbClr val="FF0000"/>
                </a:solidFill>
              </a:rPr>
              <a:t>the </a:t>
            </a:r>
            <a:r>
              <a:rPr b="1" lang="en-US">
                <a:solidFill>
                  <a:srgbClr val="FF0000"/>
                </a:solidFill>
              </a:rPr>
              <a:t>first (MSB) 24 bits </a:t>
            </a:r>
            <a:r>
              <a:rPr lang="en-US"/>
              <a:t>of subnet mask would be </a:t>
            </a:r>
            <a:r>
              <a:rPr b="1" lang="en-US" sz="24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and the rest will be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b="1" lang="en-US" sz="2400">
                <a:solidFill>
                  <a:srgbClr val="5E9934"/>
                </a:solidFill>
              </a:rPr>
              <a:t>0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Binary: </a:t>
            </a:r>
            <a:r>
              <a:rPr lang="en-US" sz="2800">
                <a:solidFill>
                  <a:srgbClr val="FF0000"/>
                </a:solidFill>
              </a:rPr>
              <a:t>11111111.11111111.11111111.</a:t>
            </a:r>
            <a:r>
              <a:rPr lang="en-US" sz="2800">
                <a:solidFill>
                  <a:srgbClr val="5E9934"/>
                </a:solidFill>
              </a:rPr>
              <a:t>00000000</a:t>
            </a:r>
            <a:endParaRPr sz="2800">
              <a:solidFill>
                <a:srgbClr val="5E9934"/>
              </a:solidFill>
            </a:endParaRPr>
          </a:p>
        </p:txBody>
      </p:sp>
      <p:pic>
        <p:nvPicPr>
          <p:cNvPr id="404" name="Google Shape;4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 txBox="1"/>
          <p:nvPr/>
        </p:nvSpPr>
        <p:spPr>
          <a:xfrm>
            <a:off x="2071691" y="4129024"/>
            <a:ext cx="687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Decimal: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255       .      255      .      255 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         </a:t>
            </a:r>
            <a:r>
              <a:rPr b="1" i="0" lang="en-US" sz="24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8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1770888" y="4720948"/>
            <a:ext cx="8684675" cy="1769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/24 </a:t>
            </a:r>
            <a:endParaRPr b="1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20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/16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/8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158869" y="5205695"/>
            <a:ext cx="42562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255.255.255.0</a:t>
            </a:r>
            <a:endParaRPr b="0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4158869" y="5605805"/>
            <a:ext cx="40094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i="0" lang="en-US" sz="20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255.255.0.0</a:t>
            </a:r>
            <a:endParaRPr b="0" i="0" sz="2000" u="none" cap="none" strike="noStrik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636563" y="6061516"/>
            <a:ext cx="33009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255.0.0.0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415" name="Google Shape;415;p13"/>
          <p:cNvSpPr txBox="1"/>
          <p:nvPr>
            <p:ph idx="1" type="body"/>
          </p:nvPr>
        </p:nvSpPr>
        <p:spPr>
          <a:xfrm>
            <a:off x="1484310" y="1066801"/>
            <a:ext cx="10018713" cy="5179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176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b="1" lang="en-US">
                <a:solidFill>
                  <a:srgbClr val="5E9934"/>
                </a:solidFill>
              </a:rPr>
              <a:t>subnet mask </a:t>
            </a:r>
            <a:r>
              <a:rPr lang="en-US"/>
              <a:t>of the following?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4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12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16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23</a:t>
            </a:r>
            <a:endParaRPr/>
          </a:p>
          <a:p>
            <a:pPr indent="-269176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b="1" lang="en-US">
                <a:solidFill>
                  <a:srgbClr val="0070C0"/>
                </a:solidFill>
              </a:rPr>
              <a:t>prefix mask </a:t>
            </a:r>
            <a:r>
              <a:rPr lang="en-US"/>
              <a:t>of the following?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255.255.224.0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255.255.255.192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255.255.255.252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255.254.0.0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255.255.240.0 </a:t>
            </a:r>
            <a:endParaRPr/>
          </a:p>
        </p:txBody>
      </p:sp>
      <p:pic>
        <p:nvPicPr>
          <p:cNvPr id="416" name="Google Shape;4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ANDing the Binaries</a:t>
            </a:r>
            <a:endParaRPr/>
          </a:p>
        </p:txBody>
      </p:sp>
      <p:sp>
        <p:nvSpPr>
          <p:cNvPr id="422" name="Google Shape;422;p14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Inside data network devices, digital logic is applied for their interpretation of the addresses.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AND is used in determining the network address.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0 =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0 =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1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1 = 0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23" name="Google Shape;4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4" name="Google Shape;424;p14"/>
          <p:cNvGraphicFramePr/>
          <p:nvPr/>
        </p:nvGraphicFramePr>
        <p:xfrm>
          <a:off x="1566582" y="4377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{7156F286-2A38-4237-94C4-DC7D5E8FC1A0}</a:tableStyleId>
              </a:tblPr>
              <a:tblGrid>
                <a:gridCol w="1896025"/>
                <a:gridCol w="1781725"/>
                <a:gridCol w="5463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Decimal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Binary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IP Address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135.15.2.1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10000111 00001111 00000010 00000001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Subnet Mask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255.255.0.0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11111111 11111111 00000000 00000000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Network Address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10000111 00001111 00000000 00000000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25" name="Google Shape;425;p14"/>
          <p:cNvSpPr/>
          <p:nvPr/>
        </p:nvSpPr>
        <p:spPr>
          <a:xfrm>
            <a:off x="5533469" y="5567082"/>
            <a:ext cx="4820770" cy="217393"/>
          </a:xfrm>
          <a:prstGeom prst="rect">
            <a:avLst/>
          </a:prstGeom>
          <a:solidFill>
            <a:srgbClr val="CDE3F8"/>
          </a:solidFill>
          <a:ln cap="rnd" cmpd="sng" w="15875">
            <a:solidFill>
              <a:srgbClr val="CDE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But Why AND?</a:t>
            </a:r>
            <a:endParaRPr/>
          </a:p>
        </p:txBody>
      </p:sp>
      <p:sp>
        <p:nvSpPr>
          <p:cNvPr id="431" name="Google Shape;431;p15"/>
          <p:cNvSpPr txBox="1"/>
          <p:nvPr>
            <p:ph idx="1" type="body"/>
          </p:nvPr>
        </p:nvSpPr>
        <p:spPr>
          <a:xfrm>
            <a:off x="1558201" y="1611746"/>
            <a:ext cx="10018713" cy="2646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Routers</a:t>
            </a:r>
            <a:r>
              <a:rPr lang="en-US"/>
              <a:t> use the </a:t>
            </a:r>
            <a:r>
              <a:rPr b="1" lang="en-US"/>
              <a:t>ANDing</a:t>
            </a:r>
            <a:r>
              <a:rPr lang="en-US"/>
              <a:t> process to determine the route a packet will take.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number of the </a:t>
            </a:r>
            <a:r>
              <a:rPr b="1" lang="en-US"/>
              <a:t>destination IPv4 address </a:t>
            </a:r>
            <a:r>
              <a:rPr lang="en-US"/>
              <a:t>is used to find the network in the routing table.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router then determines the best path for the frame.</a:t>
            </a:r>
            <a:endParaRPr/>
          </a:p>
        </p:txBody>
      </p:sp>
      <p:pic>
        <p:nvPicPr>
          <p:cNvPr id="432" name="Google Shape;4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IPv4 Addresses</a:t>
            </a:r>
            <a:endParaRPr/>
          </a:p>
        </p:txBody>
      </p:sp>
      <p:pic>
        <p:nvPicPr>
          <p:cNvPr id="438" name="Google Shape;4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6"/>
          <p:cNvSpPr/>
          <p:nvPr/>
        </p:nvSpPr>
        <p:spPr>
          <a:xfrm>
            <a:off x="3519053" y="3315853"/>
            <a:ext cx="2863273" cy="88669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Network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6164837" y="4975966"/>
            <a:ext cx="2863273" cy="886691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7282871" y="3135808"/>
            <a:ext cx="3490479" cy="886691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Broadcast 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47" name="Google Shape;447;p18"/>
          <p:cNvSpPr txBox="1"/>
          <p:nvPr>
            <p:ph idx="1" type="body"/>
          </p:nvPr>
        </p:nvSpPr>
        <p:spPr>
          <a:xfrm>
            <a:off x="957837" y="1179110"/>
            <a:ext cx="7474963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0070C0"/>
                </a:solidFill>
              </a:rPr>
              <a:t>Network Address</a:t>
            </a:r>
            <a:endParaRPr b="1" sz="2800">
              <a:solidFill>
                <a:srgbClr val="0070C0"/>
              </a:solidFill>
            </a:endParaRPr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hosts in the network will have the same network bits.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Cannot be assigned to a device.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 bits in this address will be </a:t>
            </a:r>
            <a:r>
              <a:rPr b="1" lang="en-US" sz="2400">
                <a:solidFill>
                  <a:srgbClr val="FF0000"/>
                </a:solidFill>
              </a:rPr>
              <a:t>zero</a:t>
            </a:r>
            <a:r>
              <a:rPr lang="en-US" sz="2400"/>
              <a:t>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48" name="Google Shape;4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9" name="Google Shape;449;p18"/>
          <p:cNvGraphicFramePr/>
          <p:nvPr/>
        </p:nvGraphicFramePr>
        <p:xfrm>
          <a:off x="738910" y="4017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{A83EFD1A-ED75-492B-98AB-5415BC1DC330}</a:tableStyleId>
              </a:tblPr>
              <a:tblGrid>
                <a:gridCol w="1221650"/>
                <a:gridCol w="1221650"/>
                <a:gridCol w="1221650"/>
                <a:gridCol w="1221650"/>
                <a:gridCol w="12216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50" name="Google Shape;450;p18"/>
          <p:cNvSpPr/>
          <p:nvPr/>
        </p:nvSpPr>
        <p:spPr>
          <a:xfrm>
            <a:off x="3045239" y="3455966"/>
            <a:ext cx="18315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10.0.0.0/24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2" name="Google Shape;452;p18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5975926" y="2795161"/>
            <a:ext cx="785091" cy="62539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162143" y="3455966"/>
            <a:ext cx="563401" cy="461665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9079027" y="1823499"/>
            <a:ext cx="18315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10.0.0.0/24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18"/>
          <p:cNvCxnSpPr/>
          <p:nvPr/>
        </p:nvCxnSpPr>
        <p:spPr>
          <a:xfrm>
            <a:off x="9798940" y="2285164"/>
            <a:ext cx="453424" cy="61505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66" name="Google Shape;466;p26"/>
          <p:cNvSpPr txBox="1"/>
          <p:nvPr>
            <p:ph idx="1" type="body"/>
          </p:nvPr>
        </p:nvSpPr>
        <p:spPr>
          <a:xfrm>
            <a:off x="957837" y="1179110"/>
            <a:ext cx="7715108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0070C0"/>
                </a:solidFill>
              </a:rPr>
              <a:t>Broadcast Address</a:t>
            </a:r>
            <a:endParaRPr b="1" sz="2800">
              <a:solidFill>
                <a:srgbClr val="0070C0"/>
              </a:solidFill>
            </a:endParaRPr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Used to send message to all hosts in the network using one single address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Cannot be assigned to a device.</a:t>
            </a:r>
            <a:endParaRPr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 bits in this address will be </a:t>
            </a:r>
            <a:r>
              <a:rPr b="1" lang="en-US" sz="2400">
                <a:solidFill>
                  <a:srgbClr val="FF0000"/>
                </a:solidFill>
              </a:rPr>
              <a:t>one</a:t>
            </a:r>
            <a:r>
              <a:rPr lang="en-US" sz="2400"/>
              <a:t>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67" name="Google Shape;4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8" name="Google Shape;468;p26"/>
          <p:cNvGraphicFramePr/>
          <p:nvPr/>
        </p:nvGraphicFramePr>
        <p:xfrm>
          <a:off x="738910" y="4017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{A83EFD1A-ED75-492B-98AB-5415BC1DC330}</a:tableStyleId>
              </a:tblPr>
              <a:tblGrid>
                <a:gridCol w="1221650"/>
                <a:gridCol w="1221650"/>
                <a:gridCol w="1221650"/>
                <a:gridCol w="1221650"/>
                <a:gridCol w="12216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255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11111111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69" name="Google Shape;469;p26"/>
          <p:cNvSpPr/>
          <p:nvPr/>
        </p:nvSpPr>
        <p:spPr>
          <a:xfrm>
            <a:off x="2790302" y="3391219"/>
            <a:ext cx="26406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10.0.0.255/24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1" name="Google Shape;471;p26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5975926" y="2795161"/>
            <a:ext cx="785091" cy="62539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4251990" y="3420558"/>
            <a:ext cx="563401" cy="461665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8639349" y="1340792"/>
            <a:ext cx="32515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Broadcast Address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10.0.0.0/24 network is 10.0.0.255/24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26"/>
          <p:cNvCxnSpPr/>
          <p:nvPr/>
        </p:nvCxnSpPr>
        <p:spPr>
          <a:xfrm flipH="1">
            <a:off x="8924485" y="2401455"/>
            <a:ext cx="753974" cy="193963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26"/>
          <p:cNvCxnSpPr/>
          <p:nvPr/>
        </p:nvCxnSpPr>
        <p:spPr>
          <a:xfrm>
            <a:off x="9678460" y="2401455"/>
            <a:ext cx="0" cy="23183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6"/>
          <p:cNvCxnSpPr/>
          <p:nvPr/>
        </p:nvCxnSpPr>
        <p:spPr>
          <a:xfrm>
            <a:off x="9678460" y="2401455"/>
            <a:ext cx="753976" cy="24199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6"/>
          <p:cNvCxnSpPr/>
          <p:nvPr/>
        </p:nvCxnSpPr>
        <p:spPr>
          <a:xfrm>
            <a:off x="9678460" y="2401455"/>
            <a:ext cx="1269195" cy="173126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Google Shape;487;p27"/>
          <p:cNvGraphicFramePr/>
          <p:nvPr/>
        </p:nvGraphicFramePr>
        <p:xfrm>
          <a:off x="891769" y="5787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{A83EFD1A-ED75-492B-98AB-5415BC1DC330}</a:tableStyleId>
              </a:tblPr>
              <a:tblGrid>
                <a:gridCol w="1287550"/>
                <a:gridCol w="1287550"/>
                <a:gridCol w="1287550"/>
                <a:gridCol w="1287550"/>
                <a:gridCol w="12875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00000011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88" name="Google Shape;488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89" name="Google Shape;489;p27"/>
          <p:cNvSpPr txBox="1"/>
          <p:nvPr>
            <p:ph idx="1" type="body"/>
          </p:nvPr>
        </p:nvSpPr>
        <p:spPr>
          <a:xfrm>
            <a:off x="957837" y="1179110"/>
            <a:ext cx="7715108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0070C0"/>
                </a:solidFill>
              </a:rPr>
              <a:t>Host Address</a:t>
            </a:r>
            <a:endParaRPr b="1" sz="2800">
              <a:solidFill>
                <a:srgbClr val="0070C0"/>
              </a:solidFill>
            </a:endParaRPr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The unique address assigned to each device on the network.</a:t>
            </a:r>
            <a:endParaRPr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For a network of 10.0.0.0/24</a:t>
            </a:r>
            <a:endParaRPr sz="2100"/>
          </a:p>
          <a:p>
            <a:pPr indent="-260889" lvl="2" marL="12001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Addresses </a:t>
            </a:r>
            <a:r>
              <a:rPr b="1" lang="en-US" sz="2100"/>
              <a:t>10.0.0.1</a:t>
            </a:r>
            <a:r>
              <a:rPr lang="en-US" sz="2100"/>
              <a:t>  through  </a:t>
            </a:r>
            <a:r>
              <a:rPr b="1" lang="en-US" sz="2100"/>
              <a:t>10.0.0.254</a:t>
            </a:r>
            <a:r>
              <a:rPr lang="en-US" sz="2100"/>
              <a:t> are </a:t>
            </a:r>
            <a:endParaRPr sz="2100"/>
          </a:p>
          <a:p>
            <a:pPr indent="-260889" lvl="2" marL="12001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All host bits in this address will </a:t>
            </a:r>
            <a:r>
              <a:rPr b="1" lang="en-US" sz="2100">
                <a:solidFill>
                  <a:srgbClr val="FF0000"/>
                </a:solidFill>
              </a:rPr>
              <a:t>vary</a:t>
            </a:r>
            <a:r>
              <a:rPr lang="en-US" sz="2100"/>
              <a:t>.</a:t>
            </a:r>
            <a:endParaRPr sz="21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490" name="Google Shape;4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1" name="Google Shape;491;p27"/>
          <p:cNvGraphicFramePr/>
          <p:nvPr/>
        </p:nvGraphicFramePr>
        <p:xfrm>
          <a:off x="785091" y="3866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{A83EFD1A-ED75-492B-98AB-5415BC1DC330}</a:tableStyleId>
              </a:tblPr>
              <a:tblGrid>
                <a:gridCol w="1287550"/>
                <a:gridCol w="1287550"/>
                <a:gridCol w="1287550"/>
                <a:gridCol w="1287550"/>
                <a:gridCol w="12875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492" name="Google Shape;492;p27"/>
          <p:cNvSpPr/>
          <p:nvPr/>
        </p:nvSpPr>
        <p:spPr>
          <a:xfrm>
            <a:off x="2790302" y="3391219"/>
            <a:ext cx="26406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10.0.0.5/24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6005670" y="3893071"/>
            <a:ext cx="1278321" cy="290024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4" name="Google Shape;494;p27"/>
          <p:cNvSpPr/>
          <p:nvPr/>
        </p:nvSpPr>
        <p:spPr>
          <a:xfrm rot="-5400000">
            <a:off x="3702868" y="3333052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2950884" y="5098392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 rot="-5400000">
            <a:off x="6419273" y="4435460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5961641" y="5190990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613224" y="2951875"/>
            <a:ext cx="785091" cy="60480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4003963" y="3381993"/>
            <a:ext cx="563401" cy="461665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8839606" y="1767268"/>
            <a:ext cx="20933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Host Address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2" name="Google Shape;502;p27"/>
          <p:cNvCxnSpPr/>
          <p:nvPr/>
        </p:nvCxnSpPr>
        <p:spPr>
          <a:xfrm flipH="1">
            <a:off x="9013610" y="2228933"/>
            <a:ext cx="564499" cy="19037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3" name="Google Shape;503;p27"/>
          <p:cNvCxnSpPr>
            <a:stCxn id="500" idx="2"/>
          </p:cNvCxnSpPr>
          <p:nvPr/>
        </p:nvCxnSpPr>
        <p:spPr>
          <a:xfrm>
            <a:off x="9886259" y="2228933"/>
            <a:ext cx="550800" cy="249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509" name="Google Shape;509;p19"/>
          <p:cNvSpPr txBox="1"/>
          <p:nvPr>
            <p:ph idx="1" type="body"/>
          </p:nvPr>
        </p:nvSpPr>
        <p:spPr>
          <a:xfrm>
            <a:off x="1484310" y="1279237"/>
            <a:ext cx="4944199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Say, you have a random IP address </a:t>
            </a:r>
            <a:r>
              <a:rPr b="1" lang="en-US"/>
              <a:t>192.168.10.193/24 or given as </a:t>
            </a:r>
            <a:br>
              <a:rPr b="1" lang="en-US"/>
            </a:br>
            <a:r>
              <a:rPr b="1" lang="en-US"/>
              <a:t>192.168.10.193    255.255.255.0</a:t>
            </a:r>
            <a:endParaRPr b="1"/>
          </a:p>
        </p:txBody>
      </p:sp>
      <p:pic>
        <p:nvPicPr>
          <p:cNvPr id="510" name="Google Shape;5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9"/>
          <p:cNvSpPr txBox="1"/>
          <p:nvPr/>
        </p:nvSpPr>
        <p:spPr>
          <a:xfrm>
            <a:off x="6666439" y="1279237"/>
            <a:ext cx="4944199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Say, you have a random IP address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200.32.16.192/26 or given as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200.32.16.192   255.255.255.192</a:t>
            </a:r>
            <a:endParaRPr b="1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Prefix</a:t>
            </a:r>
            <a:endParaRPr/>
          </a:p>
        </p:txBody>
      </p:sp>
      <p:sp>
        <p:nvSpPr>
          <p:cNvPr id="517" name="Google Shape;517;p20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prefix is not always /24.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18" name="Google Shape;5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189" y="1599181"/>
            <a:ext cx="10214665" cy="463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1"/>
          <p:cNvSpPr txBox="1"/>
          <p:nvPr>
            <p:ph type="title"/>
          </p:nvPr>
        </p:nvSpPr>
        <p:spPr>
          <a:xfrm>
            <a:off x="1253401" y="1175141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Types of IPv4 Addresses</a:t>
            </a:r>
            <a:endParaRPr/>
          </a:p>
        </p:txBody>
      </p:sp>
      <p:pic>
        <p:nvPicPr>
          <p:cNvPr id="525" name="Google Shape;5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531" name="Google Shape;5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cast-Broadcast-Multicast-Anycast | NetworkByte" id="532" name="Google Shape;5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5905" y="1392194"/>
            <a:ext cx="9111933" cy="4597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</a:t>
            </a:r>
            <a:endParaRPr/>
          </a:p>
        </p:txBody>
      </p:sp>
      <p:pic>
        <p:nvPicPr>
          <p:cNvPr id="538" name="Google Shape;5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9" name="Google Shape;539;p23"/>
          <p:cNvGraphicFramePr/>
          <p:nvPr/>
        </p:nvGraphicFramePr>
        <p:xfrm>
          <a:off x="6203663" y="5553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172.16.4.253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0" name="Google Shape;540;p23"/>
          <p:cNvGraphicFramePr/>
          <p:nvPr/>
        </p:nvGraphicFramePr>
        <p:xfrm>
          <a:off x="6203662" y="6122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pic>
        <p:nvPicPr>
          <p:cNvPr id="541" name="Google Shape;5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66" y="1256143"/>
            <a:ext cx="4970958" cy="417656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3"/>
          <p:cNvSpPr/>
          <p:nvPr/>
        </p:nvSpPr>
        <p:spPr>
          <a:xfrm>
            <a:off x="6838032" y="40072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3"/>
          <p:cNvSpPr txBox="1"/>
          <p:nvPr>
            <p:ph idx="1" type="body"/>
          </p:nvPr>
        </p:nvSpPr>
        <p:spPr>
          <a:xfrm>
            <a:off x="1053465" y="1475265"/>
            <a:ext cx="4645372" cy="3480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/>
              <a:t>Unicast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one host.</a:t>
            </a:r>
            <a:endParaRPr sz="2400"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0070C0"/>
                </a:solidFill>
              </a:rPr>
              <a:t>Individual IPv4 addresses 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  <p:sp>
        <p:nvSpPr>
          <p:cNvPr id="549" name="Google Shape;549;p24"/>
          <p:cNvSpPr txBox="1"/>
          <p:nvPr>
            <p:ph idx="1" type="body"/>
          </p:nvPr>
        </p:nvSpPr>
        <p:spPr>
          <a:xfrm>
            <a:off x="6601281" y="1506658"/>
            <a:ext cx="5516827" cy="3480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Limited Broadcast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all hosts on the same physical/local network or subnet.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0070C0"/>
                </a:solidFill>
              </a:rPr>
              <a:t>255.255.255.255</a:t>
            </a:r>
            <a:r>
              <a:rPr lang="en-US" sz="2400">
                <a:solidFill>
                  <a:srgbClr val="0070C0"/>
                </a:solidFill>
              </a:rPr>
              <a:t>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Never forwarded by routers!</a:t>
            </a:r>
            <a:endParaRPr/>
          </a:p>
        </p:txBody>
      </p:sp>
      <p:pic>
        <p:nvPicPr>
          <p:cNvPr id="550" name="Google Shape;5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980" y="1748703"/>
            <a:ext cx="4772019" cy="3848532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4"/>
          <p:cNvSpPr/>
          <p:nvPr/>
        </p:nvSpPr>
        <p:spPr>
          <a:xfrm>
            <a:off x="1103289" y="439518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2963245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3131990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3409334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6" name="Google Shape;556;p24"/>
          <p:cNvGraphicFramePr/>
          <p:nvPr/>
        </p:nvGraphicFramePr>
        <p:xfrm>
          <a:off x="745980" y="586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7" name="Google Shape;557;p24"/>
          <p:cNvGraphicFramePr/>
          <p:nvPr/>
        </p:nvGraphicFramePr>
        <p:xfrm>
          <a:off x="745980" y="6352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24"/>
          <p:cNvSpPr/>
          <p:nvPr/>
        </p:nvSpPr>
        <p:spPr>
          <a:xfrm>
            <a:off x="3597082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3023391" y="2464879"/>
            <a:ext cx="688254" cy="480291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931" y="1879601"/>
            <a:ext cx="7763452" cy="3762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8"/>
          <p:cNvGraphicFramePr/>
          <p:nvPr/>
        </p:nvGraphicFramePr>
        <p:xfrm>
          <a:off x="1235507" y="5798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6" name="Google Shape;566;p28"/>
          <p:cNvGraphicFramePr/>
          <p:nvPr/>
        </p:nvGraphicFramePr>
        <p:xfrm>
          <a:off x="1235507" y="62848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567" name="Google Shape;567;p28"/>
          <p:cNvSpPr/>
          <p:nvPr/>
        </p:nvSpPr>
        <p:spPr>
          <a:xfrm>
            <a:off x="1121930" y="3760788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1333465" y="5809545"/>
            <a:ext cx="152980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200.20.10.255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4941455" y="3389745"/>
            <a:ext cx="3943927" cy="18010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2742912" y="2370907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6913418" y="2370907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6531154" y="3156529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683554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6943363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7249876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8"/>
          <p:cNvSpPr txBox="1"/>
          <p:nvPr>
            <p:ph idx="1" type="body"/>
          </p:nvPr>
        </p:nvSpPr>
        <p:spPr>
          <a:xfrm>
            <a:off x="8885383" y="1561803"/>
            <a:ext cx="3093432" cy="472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b="1" lang="en-US"/>
              <a:t>Directed Broadcast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A message to all hosts on a different network or subnet.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b="1" lang="en-US" sz="2400">
                <a:solidFill>
                  <a:srgbClr val="0070C0"/>
                </a:solidFill>
              </a:rPr>
              <a:t>broadcast address of a network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Example : 200.20.10.255</a:t>
            </a:r>
            <a:endParaRPr/>
          </a:p>
          <a:p>
            <a:pPr indent="-64769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2400"/>
          </a:p>
        </p:txBody>
      </p:sp>
      <p:sp>
        <p:nvSpPr>
          <p:cNvPr id="577" name="Google Shape;577;p28"/>
          <p:cNvSpPr txBox="1"/>
          <p:nvPr>
            <p:ph type="title"/>
          </p:nvPr>
        </p:nvSpPr>
        <p:spPr>
          <a:xfrm>
            <a:off x="1521797" y="185108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22" y="1283763"/>
            <a:ext cx="50673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</a:t>
            </a:r>
            <a:endParaRPr/>
          </a:p>
        </p:txBody>
      </p:sp>
      <p:pic>
        <p:nvPicPr>
          <p:cNvPr id="584" name="Google Shape;58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8"/>
          <p:cNvSpPr/>
          <p:nvPr/>
        </p:nvSpPr>
        <p:spPr>
          <a:xfrm>
            <a:off x="1103289" y="439518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8"/>
          <p:cNvSpPr/>
          <p:nvPr/>
        </p:nvSpPr>
        <p:spPr>
          <a:xfrm>
            <a:off x="2963245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3131990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8" name="Google Shape;588;p48"/>
          <p:cNvGraphicFramePr/>
          <p:nvPr/>
        </p:nvGraphicFramePr>
        <p:xfrm>
          <a:off x="745980" y="586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224.10.10.5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9" name="Google Shape;589;p48"/>
          <p:cNvGraphicFramePr/>
          <p:nvPr/>
        </p:nvGraphicFramePr>
        <p:xfrm>
          <a:off x="745980" y="6352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590" name="Google Shape;590;p48"/>
          <p:cNvSpPr txBox="1"/>
          <p:nvPr/>
        </p:nvSpPr>
        <p:spPr>
          <a:xfrm>
            <a:off x="5771786" y="1286601"/>
            <a:ext cx="6338890" cy="230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Multicast Addresses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 message addressed to a group of hosts.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an IP address starting within this range of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224 - 239</a:t>
            </a:r>
            <a:endParaRPr b="0" i="0" sz="24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1" name="Google Shape;591;p48"/>
          <p:cNvSpPr/>
          <p:nvPr/>
        </p:nvSpPr>
        <p:spPr>
          <a:xfrm>
            <a:off x="6014676" y="3510322"/>
            <a:ext cx="6096000" cy="1769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 of Multicast Application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Video and audio broadcasts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Distribution of software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News feeds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Loopback </a:t>
            </a:r>
            <a:endParaRPr/>
          </a:p>
        </p:txBody>
      </p:sp>
      <p:sp>
        <p:nvSpPr>
          <p:cNvPr id="597" name="Google Shape;597;p49"/>
          <p:cNvSpPr txBox="1"/>
          <p:nvPr>
            <p:ph idx="1" type="body"/>
          </p:nvPr>
        </p:nvSpPr>
        <p:spPr>
          <a:xfrm>
            <a:off x="939679" y="1593272"/>
            <a:ext cx="5877071" cy="2879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0070C0"/>
                </a:solidFill>
              </a:rPr>
              <a:t>Loopback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A message addressed to loop back in the device itself.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400">
                <a:solidFill>
                  <a:srgbClr val="7D28CD"/>
                </a:solidFill>
              </a:rPr>
              <a:t>127.x.x.x </a:t>
            </a:r>
            <a:r>
              <a:rPr b="1" lang="en-US" sz="2400">
                <a:solidFill>
                  <a:schemeClr val="dk1"/>
                </a:solidFill>
              </a:rPr>
              <a:t>of 127.0.0.0/8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>
                <a:solidFill>
                  <a:schemeClr val="dk1"/>
                </a:solidFill>
              </a:rPr>
              <a:t>Not assigned to any device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>
                <a:solidFill>
                  <a:schemeClr val="dk1"/>
                </a:solidFill>
              </a:rPr>
              <a:t>Testing and Troubleshooting purpose</a:t>
            </a:r>
            <a:endParaRPr sz="2400">
              <a:solidFill>
                <a:schemeClr val="dk1"/>
              </a:solidFill>
            </a:endParaRPr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98" name="Google Shape;59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702" y="1521257"/>
            <a:ext cx="4972050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9"/>
          <p:cNvSpPr/>
          <p:nvPr/>
        </p:nvSpPr>
        <p:spPr>
          <a:xfrm>
            <a:off x="7116163" y="420859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1" name="Google Shape;601;p49"/>
          <p:cNvGraphicFramePr/>
          <p:nvPr/>
        </p:nvGraphicFramePr>
        <p:xfrm>
          <a:off x="6537180" y="5905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127.0.0.1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2" name="Google Shape;602;p49"/>
          <p:cNvGraphicFramePr/>
          <p:nvPr/>
        </p:nvGraphicFramePr>
        <p:xfrm>
          <a:off x="6537180" y="6392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{BEB5F1F1-30F9-41DE-B5D7-BE62F94D0876}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"/>
          <p:cNvSpPr txBox="1"/>
          <p:nvPr>
            <p:ph type="title"/>
          </p:nvPr>
        </p:nvSpPr>
        <p:spPr>
          <a:xfrm>
            <a:off x="1493546" y="1276741"/>
            <a:ext cx="10018713" cy="275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IPv6 Address</a:t>
            </a:r>
            <a:endParaRPr/>
          </a:p>
        </p:txBody>
      </p:sp>
      <p:pic>
        <p:nvPicPr>
          <p:cNvPr id="608" name="Google Shape;6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f48bd25098_0_144"/>
          <p:cNvSpPr txBox="1"/>
          <p:nvPr>
            <p:ph type="title"/>
          </p:nvPr>
        </p:nvSpPr>
        <p:spPr>
          <a:xfrm>
            <a:off x="1536437" y="277307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614" name="Google Shape;614;g2f48bd25098_0_144"/>
          <p:cNvSpPr txBox="1"/>
          <p:nvPr>
            <p:ph idx="1" type="body"/>
          </p:nvPr>
        </p:nvSpPr>
        <p:spPr>
          <a:xfrm>
            <a:off x="1536437" y="1358979"/>
            <a:ext cx="10018800" cy="13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4"/>
              <a:buChar char="•"/>
            </a:pPr>
            <a:r>
              <a:rPr b="1" lang="en-US" sz="2800">
                <a:solidFill>
                  <a:srgbClr val="7030A0"/>
                </a:solidFill>
              </a:rPr>
              <a:t>Address Availability:</a:t>
            </a:r>
            <a:endParaRPr b="1"/>
          </a:p>
          <a:p>
            <a:pPr indent="-292354" lvl="1" marL="74295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SzPts val="3004"/>
              <a:buChar char="•"/>
            </a:pPr>
            <a:r>
              <a:rPr lang="en-US" sz="2800">
                <a:solidFill>
                  <a:srgbClr val="C00000"/>
                </a:solidFill>
              </a:rPr>
              <a:t>IPv4:   </a:t>
            </a:r>
            <a:r>
              <a:rPr b="1" lang="en-US" sz="2800">
                <a:solidFill>
                  <a:srgbClr val="0070C0"/>
                </a:solidFill>
              </a:rPr>
              <a:t>32 bits </a:t>
            </a:r>
            <a:r>
              <a:rPr lang="en-US" sz="2800"/>
              <a:t>- </a:t>
            </a:r>
            <a:r>
              <a:rPr lang="en-US" sz="2800">
                <a:solidFill>
                  <a:srgbClr val="000000"/>
                </a:solidFill>
              </a:rPr>
              <a:t>4 octets   </a:t>
            </a:r>
            <a:endParaRPr/>
          </a:p>
          <a:p>
            <a:pPr indent="-296588" lvl="2" marL="120015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SzPts val="2797"/>
              <a:buChar char="•"/>
            </a:pPr>
            <a:r>
              <a:rPr lang="en-US" sz="2800"/>
              <a:t>2^32   </a:t>
            </a:r>
            <a:r>
              <a:rPr lang="en-US" sz="2800">
                <a:solidFill>
                  <a:srgbClr val="C00000"/>
                </a:solidFill>
              </a:rPr>
              <a:t>or   4,294,467,295   </a:t>
            </a:r>
            <a:r>
              <a:rPr lang="en-US" sz="2800"/>
              <a:t>IP Addresses.</a:t>
            </a:r>
            <a:endParaRPr sz="28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64"/>
              </a:spcBef>
              <a:spcAft>
                <a:spcPts val="0"/>
              </a:spcAft>
              <a:buSzPts val="1653"/>
              <a:buNone/>
            </a:pPr>
            <a:r>
              <a:t/>
            </a:r>
            <a:endParaRPr sz="1940"/>
          </a:p>
        </p:txBody>
      </p:sp>
      <p:sp>
        <p:nvSpPr>
          <p:cNvPr id="615" name="Google Shape;615;g2f48bd25098_0_144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6" name="Google Shape;616;g2f48bd25098_0_144"/>
          <p:cNvSpPr/>
          <p:nvPr/>
        </p:nvSpPr>
        <p:spPr>
          <a:xfrm>
            <a:off x="1536437" y="2965949"/>
            <a:ext cx="10123055" cy="254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354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004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IPv6: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   </a:t>
            </a: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128 bits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- 16 octets   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6588" lvl="2" marL="1200150" marR="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2^32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6588" lvl="2" marL="1200150" marR="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3.4 x 10^38  or 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340,282,366,920,938,463,463,374,607,431,768,211,456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			 (340 undecillion)</a:t>
            </a: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Addresses.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721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7" name="Google Shape;617;g2f48bd25098_0_144"/>
          <p:cNvSpPr/>
          <p:nvPr/>
        </p:nvSpPr>
        <p:spPr>
          <a:xfrm>
            <a:off x="1627505" y="5470144"/>
            <a:ext cx="10031987" cy="1046440"/>
          </a:xfrm>
          <a:prstGeom prst="rect">
            <a:avLst/>
          </a:pr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99"/>
                </a:solidFill>
                <a:latin typeface="Corbel"/>
                <a:ea typeface="Corbel"/>
                <a:cs typeface="Corbel"/>
                <a:sym typeface="Corbel"/>
              </a:rPr>
              <a:t>Every grain of sand on every beach on Earth could be assigned over a million unique IPv6 addresses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with plenty to spare (assuming approximately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7.5 x 10^18 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grains of sand globally and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2^128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IPv6 addresses).</a:t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Running out of IPv4 Addresses? Here are ..." id="618" name="Google Shape;618;g2f48bd25098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8448" y="1574858"/>
            <a:ext cx="2600325" cy="17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f48bd25098_0_287"/>
          <p:cNvSpPr txBox="1"/>
          <p:nvPr>
            <p:ph type="title"/>
          </p:nvPr>
        </p:nvSpPr>
        <p:spPr>
          <a:xfrm>
            <a:off x="1484311" y="685800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624" name="Google Shape;624;g2f48bd25098_0_287"/>
          <p:cNvSpPr txBox="1"/>
          <p:nvPr>
            <p:ph idx="1" type="body"/>
          </p:nvPr>
        </p:nvSpPr>
        <p:spPr>
          <a:xfrm>
            <a:off x="1484310" y="1725769"/>
            <a:ext cx="10018800" cy="2061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8712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128 bits</a:t>
            </a:r>
            <a:endParaRPr/>
          </a:p>
          <a:p>
            <a:pPr indent="-278712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given below is a 128 bit IPv6 address represented in binary format and divided into eight 16-bits blocks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5016"/>
              <a:buNone/>
            </a:pPr>
            <a:r>
              <a:t/>
            </a:r>
            <a:endParaRPr sz="32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r>
              <a:t/>
            </a:r>
            <a:endParaRPr sz="2800"/>
          </a:p>
          <a:p>
            <a:pPr indent="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62"/>
              <a:buNone/>
            </a:pPr>
            <a:r>
              <a:t/>
            </a:r>
            <a:endParaRPr/>
          </a:p>
        </p:txBody>
      </p:sp>
      <p:sp>
        <p:nvSpPr>
          <p:cNvPr id="625" name="Google Shape;625;g2f48bd25098_0_287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6" name="Google Shape;626;g2f48bd25098_0_287"/>
          <p:cNvSpPr/>
          <p:nvPr/>
        </p:nvSpPr>
        <p:spPr>
          <a:xfrm>
            <a:off x="1484309" y="4356910"/>
            <a:ext cx="9513455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8712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4 bits is converted into a Hexadecimal digit </a:t>
            </a:r>
            <a:endParaRPr/>
          </a:p>
          <a:p>
            <a:pPr indent="-278712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contains 4 Hexadecimal digits </a:t>
            </a:r>
            <a:endParaRPr/>
          </a:p>
          <a:p>
            <a:pPr indent="-278712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is separated by ‘:’ symbol</a:t>
            </a:r>
            <a:endParaRPr/>
          </a:p>
        </p:txBody>
      </p:sp>
      <p:pic>
        <p:nvPicPr>
          <p:cNvPr id="627" name="Google Shape;627;g2f48bd25098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51" y="3250911"/>
            <a:ext cx="10634572" cy="80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223" y="3447159"/>
            <a:ext cx="9549534" cy="59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93" y="1505313"/>
            <a:ext cx="10758486" cy="810153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0"/>
          <p:cNvSpPr txBox="1"/>
          <p:nvPr/>
        </p:nvSpPr>
        <p:spPr>
          <a:xfrm>
            <a:off x="1327293" y="399472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1249750" y="4427063"/>
            <a:ext cx="37850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8712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Called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string notation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6" name="Google Shape;636;p50"/>
          <p:cNvSpPr/>
          <p:nvPr/>
        </p:nvSpPr>
        <p:spPr>
          <a:xfrm>
            <a:off x="1410049" y="1515724"/>
            <a:ext cx="683491" cy="374020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50"/>
          <p:cNvCxnSpPr>
            <a:stCxn id="636" idx="4"/>
          </p:cNvCxnSpPr>
          <p:nvPr/>
        </p:nvCxnSpPr>
        <p:spPr>
          <a:xfrm flipH="1">
            <a:off x="1410095" y="1889744"/>
            <a:ext cx="341700" cy="5604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8" name="Google Shape;638;p50"/>
          <p:cNvSpPr txBox="1"/>
          <p:nvPr/>
        </p:nvSpPr>
        <p:spPr>
          <a:xfrm>
            <a:off x="1421925" y="2410691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9" name="Google Shape;639;p50"/>
          <p:cNvSpPr/>
          <p:nvPr/>
        </p:nvSpPr>
        <p:spPr>
          <a:xfrm>
            <a:off x="2026457" y="1568498"/>
            <a:ext cx="683491" cy="264878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50"/>
          <p:cNvCxnSpPr>
            <a:stCxn id="639" idx="4"/>
          </p:cNvCxnSpPr>
          <p:nvPr/>
        </p:nvCxnSpPr>
        <p:spPr>
          <a:xfrm flipH="1">
            <a:off x="2026503" y="1833376"/>
            <a:ext cx="341700" cy="6696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1" name="Google Shape;641;p50"/>
          <p:cNvSpPr txBox="1"/>
          <p:nvPr/>
        </p:nvSpPr>
        <p:spPr>
          <a:xfrm>
            <a:off x="2052742" y="2498794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2" name="Google Shape;642;p50"/>
          <p:cNvSpPr/>
          <p:nvPr/>
        </p:nvSpPr>
        <p:spPr>
          <a:xfrm>
            <a:off x="2726602" y="1575030"/>
            <a:ext cx="671510" cy="289796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50"/>
          <p:cNvCxnSpPr>
            <a:stCxn id="642" idx="4"/>
          </p:cNvCxnSpPr>
          <p:nvPr/>
        </p:nvCxnSpPr>
        <p:spPr>
          <a:xfrm flipH="1">
            <a:off x="2726657" y="1864826"/>
            <a:ext cx="335700" cy="6447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4" name="Google Shape;644;p50"/>
          <p:cNvSpPr txBox="1"/>
          <p:nvPr/>
        </p:nvSpPr>
        <p:spPr>
          <a:xfrm>
            <a:off x="2695541" y="2473876"/>
            <a:ext cx="3820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3348024" y="1575030"/>
            <a:ext cx="683491" cy="289796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50"/>
          <p:cNvCxnSpPr>
            <a:stCxn id="645" idx="4"/>
          </p:cNvCxnSpPr>
          <p:nvPr/>
        </p:nvCxnSpPr>
        <p:spPr>
          <a:xfrm flipH="1">
            <a:off x="3348070" y="1864826"/>
            <a:ext cx="341700" cy="6447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50"/>
          <p:cNvSpPr txBox="1"/>
          <p:nvPr/>
        </p:nvSpPr>
        <p:spPr>
          <a:xfrm>
            <a:off x="3300893" y="2473876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8" name="Google Shape;648;p50"/>
          <p:cNvSpPr/>
          <p:nvPr/>
        </p:nvSpPr>
        <p:spPr>
          <a:xfrm>
            <a:off x="1340621" y="3526344"/>
            <a:ext cx="1100998" cy="406875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f48bd25098_0_0"/>
          <p:cNvSpPr txBox="1"/>
          <p:nvPr>
            <p:ph type="title"/>
          </p:nvPr>
        </p:nvSpPr>
        <p:spPr>
          <a:xfrm>
            <a:off x="1484156" y="196273"/>
            <a:ext cx="100188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655" name="Google Shape;655;g2f48bd25098_0_0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v6 Address Types, Notation, and Structure Explained" id="656" name="Google Shape;656;g2f48bd2509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065" y="1491173"/>
            <a:ext cx="8886825" cy="474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f48bd25098_0_432"/>
          <p:cNvSpPr txBox="1"/>
          <p:nvPr>
            <p:ph type="title"/>
          </p:nvPr>
        </p:nvSpPr>
        <p:spPr>
          <a:xfrm>
            <a:off x="1484311" y="685800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62" name="Google Shape;662;g2f48bd25098_0_432"/>
          <p:cNvSpPr txBox="1"/>
          <p:nvPr>
            <p:ph idx="1" type="body"/>
          </p:nvPr>
        </p:nvSpPr>
        <p:spPr>
          <a:xfrm>
            <a:off x="1308820" y="1611689"/>
            <a:ext cx="10018800" cy="4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660066"/>
                </a:solidFill>
              </a:rPr>
              <a:t>IPv6 Representation – Rule 1: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7D28CD"/>
                </a:solidFill>
              </a:rPr>
              <a:t>The leading zeros </a:t>
            </a:r>
            <a:r>
              <a:rPr lang="en-US" sz="2400"/>
              <a:t>in any 16-bit segment </a:t>
            </a:r>
            <a:r>
              <a:rPr lang="en-US" sz="2400">
                <a:solidFill>
                  <a:srgbClr val="7D28CD"/>
                </a:solidFill>
              </a:rPr>
              <a:t>do not have </a:t>
            </a:r>
            <a:r>
              <a:rPr lang="en-US" sz="2400"/>
              <a:t>to be written.  If any 16-bit segment has </a:t>
            </a:r>
            <a:r>
              <a:rPr lang="en-US" sz="2400">
                <a:solidFill>
                  <a:srgbClr val="660066"/>
                </a:solidFill>
              </a:rPr>
              <a:t>fewer than four hexadecimal digits, </a:t>
            </a:r>
            <a:r>
              <a:rPr lang="en-US" sz="2400"/>
              <a:t>it is assumed that the missing digits are leading zeros.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663" name="Google Shape;663;g2f48bd25098_0_432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4" name="Google Shape;664;g2f48bd25098_0_4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9403" y="3625139"/>
            <a:ext cx="8461980" cy="2780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5" name="Google Shape;665;g2f48bd25098_0_432"/>
          <p:cNvCxnSpPr/>
          <p:nvPr/>
        </p:nvCxnSpPr>
        <p:spPr>
          <a:xfrm>
            <a:off x="1929403" y="4368085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cxnSp>
        <p:nvCxnSpPr>
          <p:cNvPr id="666" name="Google Shape;666;g2f48bd25098_0_432"/>
          <p:cNvCxnSpPr/>
          <p:nvPr/>
        </p:nvCxnSpPr>
        <p:spPr>
          <a:xfrm>
            <a:off x="1929403" y="5359758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sp>
        <p:nvSpPr>
          <p:cNvPr id="667" name="Google Shape;667;g2f48bd25098_0_432"/>
          <p:cNvSpPr txBox="1"/>
          <p:nvPr/>
        </p:nvSpPr>
        <p:spPr>
          <a:xfrm>
            <a:off x="9602675" y="3973025"/>
            <a:ext cx="78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130B</a:t>
            </a:r>
            <a:endParaRPr b="1" i="0" sz="1800" u="none" cap="none" strike="noStrike">
              <a:solidFill>
                <a:srgbClr val="000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48bd25098_0_442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74" name="Google Shape;674;g2f48bd25098_0_442"/>
          <p:cNvSpPr txBox="1"/>
          <p:nvPr>
            <p:ph idx="1" type="body"/>
          </p:nvPr>
        </p:nvSpPr>
        <p:spPr>
          <a:xfrm>
            <a:off x="1676400" y="108165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IPv6 Representation – Rule 2: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000000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</p:txBody>
      </p:sp>
      <p:graphicFrame>
        <p:nvGraphicFramePr>
          <p:cNvPr id="675" name="Google Shape;675;g2f48bd25098_0_442"/>
          <p:cNvGraphicFramePr/>
          <p:nvPr/>
        </p:nvGraphicFramePr>
        <p:xfrm>
          <a:off x="25146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{A83EFD1A-ED75-492B-98AB-5415BC1DC330}</a:tableStyleId>
              </a:tblPr>
              <a:tblGrid>
                <a:gridCol w="3657600"/>
                <a:gridCol w="609600"/>
                <a:gridCol w="2971800"/>
              </a:tblGrid>
              <a:tr h="75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1080:0:0:0:8:800:200C:417A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FF01:0:0:0:0:0:0:101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0:0:0:0:0:0:0:0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676" name="Google Shape;676;g2f48bd25098_0_442"/>
          <p:cNvGrpSpPr/>
          <p:nvPr/>
        </p:nvGrpSpPr>
        <p:grpSpPr>
          <a:xfrm>
            <a:off x="3276600" y="3429000"/>
            <a:ext cx="4343400" cy="304800"/>
            <a:chOff x="1676400" y="2743200"/>
            <a:chExt cx="4343400" cy="304800"/>
          </a:xfrm>
        </p:grpSpPr>
        <p:sp>
          <p:nvSpPr>
            <p:cNvPr id="677" name="Google Shape;677;g2f48bd25098_0_442"/>
            <p:cNvSpPr/>
            <p:nvPr/>
          </p:nvSpPr>
          <p:spPr>
            <a:xfrm>
              <a:off x="1676400" y="2743200"/>
              <a:ext cx="762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2f48bd25098_0_442"/>
            <p:cNvSpPr/>
            <p:nvPr/>
          </p:nvSpPr>
          <p:spPr>
            <a:xfrm>
              <a:off x="5791200" y="2743200"/>
              <a:ext cx="228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g2f48bd25098_0_442"/>
          <p:cNvSpPr/>
          <p:nvPr/>
        </p:nvSpPr>
        <p:spPr>
          <a:xfrm>
            <a:off x="6781800" y="33528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0" name="Google Shape;680;g2f48bd25098_0_442"/>
          <p:cNvGrpSpPr/>
          <p:nvPr/>
        </p:nvGrpSpPr>
        <p:grpSpPr>
          <a:xfrm>
            <a:off x="4191000" y="4114800"/>
            <a:ext cx="3505200" cy="304800"/>
            <a:chOff x="2590800" y="3429000"/>
            <a:chExt cx="3505200" cy="304800"/>
          </a:xfrm>
        </p:grpSpPr>
        <p:sp>
          <p:nvSpPr>
            <p:cNvPr id="681" name="Google Shape;681;g2f48bd25098_0_442"/>
            <p:cNvSpPr/>
            <p:nvPr/>
          </p:nvSpPr>
          <p:spPr>
            <a:xfrm>
              <a:off x="2590800" y="3429000"/>
              <a:ext cx="1524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2f48bd25098_0_442"/>
            <p:cNvSpPr/>
            <p:nvPr/>
          </p:nvSpPr>
          <p:spPr>
            <a:xfrm>
              <a:off x="57912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3" name="Google Shape;683;g2f48bd25098_0_442"/>
          <p:cNvSpPr/>
          <p:nvPr/>
        </p:nvSpPr>
        <p:spPr>
          <a:xfrm>
            <a:off x="6629400" y="40386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g2f48bd25098_0_442"/>
          <p:cNvGrpSpPr/>
          <p:nvPr/>
        </p:nvGrpSpPr>
        <p:grpSpPr>
          <a:xfrm>
            <a:off x="4267200" y="4800600"/>
            <a:ext cx="2971800" cy="304800"/>
            <a:chOff x="2590800" y="3429000"/>
            <a:chExt cx="2971800" cy="304800"/>
          </a:xfrm>
        </p:grpSpPr>
        <p:sp>
          <p:nvSpPr>
            <p:cNvPr id="685" name="Google Shape;685;g2f48bd25098_0_442"/>
            <p:cNvSpPr/>
            <p:nvPr/>
          </p:nvSpPr>
          <p:spPr>
            <a:xfrm>
              <a:off x="2590800" y="3429000"/>
              <a:ext cx="1828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2f48bd25098_0_442"/>
            <p:cNvSpPr/>
            <p:nvPr/>
          </p:nvSpPr>
          <p:spPr>
            <a:xfrm>
              <a:off x="5105400" y="3429000"/>
              <a:ext cx="4572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7" name="Google Shape;687;g2f48bd25098_0_442"/>
          <p:cNvSpPr/>
          <p:nvPr/>
        </p:nvSpPr>
        <p:spPr>
          <a:xfrm>
            <a:off x="6629400" y="47244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g2f48bd25098_0_442"/>
          <p:cNvGrpSpPr/>
          <p:nvPr/>
        </p:nvGrpSpPr>
        <p:grpSpPr>
          <a:xfrm>
            <a:off x="4267200" y="5486400"/>
            <a:ext cx="2819400" cy="304800"/>
            <a:chOff x="2590800" y="3429000"/>
            <a:chExt cx="2819400" cy="304800"/>
          </a:xfrm>
        </p:grpSpPr>
        <p:sp>
          <p:nvSpPr>
            <p:cNvPr id="689" name="Google Shape;689;g2f48bd25098_0_442"/>
            <p:cNvSpPr/>
            <p:nvPr/>
          </p:nvSpPr>
          <p:spPr>
            <a:xfrm>
              <a:off x="2590800" y="3429000"/>
              <a:ext cx="1905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2f48bd25098_0_442"/>
            <p:cNvSpPr/>
            <p:nvPr/>
          </p:nvSpPr>
          <p:spPr>
            <a:xfrm>
              <a:off x="51054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1" name="Google Shape;691;g2f48bd25098_0_442"/>
          <p:cNvSpPr/>
          <p:nvPr/>
        </p:nvSpPr>
        <p:spPr>
          <a:xfrm>
            <a:off x="6553200" y="54102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2f48bd25098_0_442"/>
          <p:cNvSpPr txBox="1"/>
          <p:nvPr/>
        </p:nvSpPr>
        <p:spPr>
          <a:xfrm>
            <a:off x="11183677" y="5887792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f48bd25098_0_778"/>
          <p:cNvSpPr txBox="1"/>
          <p:nvPr>
            <p:ph type="title"/>
          </p:nvPr>
        </p:nvSpPr>
        <p:spPr>
          <a:xfrm>
            <a:off x="1676400" y="609601"/>
            <a:ext cx="1063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98" name="Google Shape;698;g2f48bd25098_0_778"/>
          <p:cNvSpPr txBox="1"/>
          <p:nvPr>
            <p:ph idx="1" type="body"/>
          </p:nvPr>
        </p:nvSpPr>
        <p:spPr>
          <a:xfrm>
            <a:off x="1726425" y="1182255"/>
            <a:ext cx="9533758" cy="5307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solidFill>
                  <a:srgbClr val="7030A0"/>
                </a:solidFill>
              </a:rPr>
              <a:t>IPv6 Representation – Rule 2: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i="1" lang="en-US" sz="2400">
                <a:solidFill>
                  <a:schemeClr val="dk2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748"/>
              </a:spcBef>
              <a:spcAft>
                <a:spcPts val="0"/>
              </a:spcAft>
              <a:buSzPts val="1160"/>
              <a:buFont typeface="Tahoma"/>
              <a:buNone/>
            </a:pPr>
            <a:r>
              <a:rPr b="1" lang="en-US" sz="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ts val="4060"/>
              <a:buFont typeface="Tahoma"/>
              <a:buNone/>
            </a:pPr>
            <a:r>
              <a:rPr lang="en-US" sz="2800">
                <a:solidFill>
                  <a:schemeClr val="dk2"/>
                </a:solidFill>
              </a:rPr>
              <a:t>Example:</a:t>
            </a: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1843::22::fa</a:t>
            </a:r>
            <a:endParaRPr b="1" sz="2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Tahoma"/>
              <a:buNone/>
            </a:pPr>
            <a:r>
              <a:rPr b="1" i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i="1" sz="7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chemeClr val="dk2"/>
                </a:solidFill>
              </a:rPr>
              <a:t>Illegal because the length of the two all-zero strings is ambiguous.</a:t>
            </a:r>
            <a:endParaRPr/>
          </a:p>
          <a:p>
            <a:pPr indent="-226175" lvl="1" marL="7429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None/>
            </a:pPr>
            <a:r>
              <a:t/>
            </a:r>
            <a:endParaRPr b="1"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99" name="Google Shape;699;g2f48bd25098_0_778"/>
          <p:cNvGrpSpPr/>
          <p:nvPr/>
        </p:nvGrpSpPr>
        <p:grpSpPr>
          <a:xfrm>
            <a:off x="9728200" y="5112327"/>
            <a:ext cx="685800" cy="533400"/>
            <a:chOff x="8001000" y="5334000"/>
            <a:chExt cx="685800" cy="533400"/>
          </a:xfrm>
        </p:grpSpPr>
        <p:cxnSp>
          <p:nvCxnSpPr>
            <p:cNvPr id="700" name="Google Shape;700;g2f48bd25098_0_778"/>
            <p:cNvCxnSpPr/>
            <p:nvPr/>
          </p:nvCxnSpPr>
          <p:spPr>
            <a:xfrm rot="10800000">
              <a:off x="8001000" y="5867400"/>
              <a:ext cx="6858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6470"/>
                </a:srgbClr>
              </a:outerShdw>
            </a:effectLst>
          </p:spPr>
        </p:cxnSp>
        <p:sp>
          <p:nvSpPr>
            <p:cNvPr id="701" name="Google Shape;701;g2f48bd25098_0_778"/>
            <p:cNvSpPr txBox="1"/>
            <p:nvPr/>
          </p:nvSpPr>
          <p:spPr>
            <a:xfrm>
              <a:off x="8153400" y="5334000"/>
              <a:ext cx="45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g2f48bd25098_0_778"/>
          <p:cNvSpPr/>
          <p:nvPr/>
        </p:nvSpPr>
        <p:spPr>
          <a:xfrm>
            <a:off x="6402029" y="2605600"/>
            <a:ext cx="685800" cy="282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2f48bd25098_0_778"/>
          <p:cNvSpPr txBox="1"/>
          <p:nvPr/>
        </p:nvSpPr>
        <p:spPr>
          <a:xfrm>
            <a:off x="11260183" y="5887792"/>
            <a:ext cx="47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105" y="1741307"/>
            <a:ext cx="42291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922" y="4097914"/>
            <a:ext cx="101727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8451" y="3613178"/>
            <a:ext cx="1084407" cy="481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1033" y="3744081"/>
            <a:ext cx="718843" cy="33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29520" y="1948473"/>
            <a:ext cx="1162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0589" y="3792187"/>
            <a:ext cx="1274479" cy="3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1"/>
          <p:cNvSpPr txBox="1"/>
          <p:nvPr/>
        </p:nvSpPr>
        <p:spPr>
          <a:xfrm>
            <a:off x="1409872" y="259329"/>
            <a:ext cx="10018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Representing IPv6 addresses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5" name="Google Shape;715;p51"/>
          <p:cNvSpPr/>
          <p:nvPr/>
        </p:nvSpPr>
        <p:spPr>
          <a:xfrm>
            <a:off x="2716069" y="5943453"/>
            <a:ext cx="79451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Subnet masks in dotted decimal format in IPv6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6" name="Google Shape;716;p51"/>
          <p:cNvSpPr/>
          <p:nvPr/>
        </p:nvSpPr>
        <p:spPr>
          <a:xfrm>
            <a:off x="6157235" y="2143201"/>
            <a:ext cx="24484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IPv4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7" name="Google Shape;717;p51"/>
          <p:cNvSpPr/>
          <p:nvPr/>
        </p:nvSpPr>
        <p:spPr>
          <a:xfrm>
            <a:off x="4813344" y="5424991"/>
            <a:ext cx="2450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2"/>
          <p:cNvSpPr txBox="1"/>
          <p:nvPr>
            <p:ph type="title"/>
          </p:nvPr>
        </p:nvSpPr>
        <p:spPr>
          <a:xfrm>
            <a:off x="1419656" y="1590777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723" name="Google Shape;72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