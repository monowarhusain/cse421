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35" r:id="rId3"/>
    <p:sldId id="306" r:id="rId4"/>
    <p:sldId id="307" r:id="rId5"/>
    <p:sldId id="337" r:id="rId6"/>
    <p:sldId id="309" r:id="rId7"/>
    <p:sldId id="336" r:id="rId8"/>
    <p:sldId id="310" r:id="rId9"/>
    <p:sldId id="339" r:id="rId10"/>
    <p:sldId id="325" r:id="rId11"/>
    <p:sldId id="333" r:id="rId12"/>
    <p:sldId id="338" r:id="rId13"/>
    <p:sldId id="340" r:id="rId14"/>
    <p:sldId id="323" r:id="rId15"/>
    <p:sldId id="324" r:id="rId16"/>
    <p:sldId id="311" r:id="rId17"/>
    <p:sldId id="343" r:id="rId18"/>
    <p:sldId id="318" r:id="rId19"/>
    <p:sldId id="319" r:id="rId20"/>
    <p:sldId id="342" r:id="rId21"/>
    <p:sldId id="281" r:id="rId22"/>
    <p:sldId id="326" r:id="rId23"/>
    <p:sldId id="283" r:id="rId24"/>
    <p:sldId id="282" r:id="rId25"/>
    <p:sldId id="284" r:id="rId26"/>
    <p:sldId id="288" r:id="rId27"/>
    <p:sldId id="289" r:id="rId28"/>
    <p:sldId id="290" r:id="rId29"/>
    <p:sldId id="291" r:id="rId30"/>
    <p:sldId id="292" r:id="rId31"/>
    <p:sldId id="327" r:id="rId32"/>
    <p:sldId id="328" r:id="rId33"/>
    <p:sldId id="329" r:id="rId34"/>
    <p:sldId id="330" r:id="rId35"/>
    <p:sldId id="295" r:id="rId36"/>
    <p:sldId id="300" r:id="rId37"/>
    <p:sldId id="332" r:id="rId38"/>
    <p:sldId id="341" r:id="rId39"/>
    <p:sldId id="301" r:id="rId40"/>
    <p:sldId id="344" r:id="rId41"/>
    <p:sldId id="305" r:id="rId42"/>
  </p:sldIdLst>
  <p:sldSz cx="12192000" cy="6858000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Tahoma" panose="020B0604030504040204" pitchFamily="34" charset="0"/>
      <p:regular r:id="rId48"/>
      <p:bold r:id="rId49"/>
    </p:embeddedFont>
    <p:embeddedFont>
      <p:font typeface="Corbel" panose="020B050302020402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j5kemxrAiLlKo0ioIfKKHjGBHH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C09C94-4BB0-4BB4-BFDB-68857E5699F4}">
  <a:tblStyle styleId="{90C09C94-4BB0-4BB4-BFDB-68857E5699F4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tcBdr/>
        <a:fill>
          <a:solidFill>
            <a:srgbClr val="CCE2F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E2F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430"/>
    <p:restoredTop sz="94692"/>
  </p:normalViewPr>
  <p:slideViewPr>
    <p:cSldViewPr snapToGrid="0">
      <p:cViewPr varScale="1">
        <p:scale>
          <a:sx n="82" d="100"/>
          <a:sy n="82" d="100"/>
        </p:scale>
        <p:origin x="11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76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7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6695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344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2927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4068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3426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2508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When the client boots (or otherwise wants to join a network), it begins a four-step process to obtain a IP address: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3342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3044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5666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341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2782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479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2669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0" name="Google Shape;44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 Increases Forwarding Delays: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NAT adds a small delay because it needs to translate private IP addresses to a public one and vice versa, which takes some extra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Addressing Is Lost: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NAT, the original source and destination IP addresses are modified, meaning the devices on each end don't see each other's true IP addresses. This affects direct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IPv4 Traceability Is Lost: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becomes difficult to trace the path or determine the source and destination of data packets across the internet because NAT modifies the IP addresses in transit.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 Complicates Tunneling Protocols: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Protocols like IPsec, which secure internet communications, rely on knowing the IP addresses of the endpoints. NAT changes these addresses, which can break or complicate these security protocols.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67" name="Google Shape;46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525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4879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7955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03889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7" name="Google Shape;53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3" name="Google Shape;54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15098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3" name="Google Shape;54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2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Google Shape;25;p52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Google Shape;26;p52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Google Shape;27;p52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Google Shape;28;p52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Google Shape;29;p52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Google Shape;30;p52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3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4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5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55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1" name="Google Shape;51;p5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8" name="Google Shape;58;p56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56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0" name="Google Shape;60;p5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9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9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5" name="Google Shape;75;p59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0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0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0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6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1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1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61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6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2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2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6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3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63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63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6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6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4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4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6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6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5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5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65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6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6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6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6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66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6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67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6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6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8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68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6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6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itle, Text,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1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1"/>
          <p:cNvSpPr txBox="1">
            <a:spLocks noGrp="1"/>
          </p:cNvSpPr>
          <p:nvPr>
            <p:ph type="body" idx="1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1"/>
          <p:cNvSpPr txBox="1">
            <a:spLocks noGrp="1"/>
          </p:cNvSpPr>
          <p:nvPr>
            <p:ph type="body" idx="2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827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1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Google Shape;12;p51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Google Shape;13;p51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Google Shape;14;p51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Google Shape;15;p51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51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Google Shape;17;p5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5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jpg"/><Relationship Id="rId4" Type="http://schemas.openxmlformats.org/officeDocument/2006/relationships/image" Target="../media/image2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oftware.com/" TargetMode="External"/><Relationship Id="rId5" Type="http://schemas.openxmlformats.org/officeDocument/2006/relationships/image" Target="../media/image31.jpg"/><Relationship Id="rId4" Type="http://schemas.openxmlformats.org/officeDocument/2006/relationships/image" Target="../media/image26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DHCPv4 &amp; NAT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IN" dirty="0"/>
              <a:t>CSE 421 – Computer </a:t>
            </a:r>
            <a:r>
              <a:rPr lang="en-IN" dirty="0" err="1"/>
              <a:t>Netwroks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 dirty="0"/>
              <a:t>Department of Computer Science and Engineering</a:t>
            </a:r>
            <a:br>
              <a:rPr lang="en-US" dirty="0"/>
            </a:br>
            <a:r>
              <a:rPr lang="en-US" dirty="0"/>
              <a:t>School of Data &amp; Science</a:t>
            </a:r>
            <a:endParaRPr dirty="0"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249133" y="3529000"/>
            <a:ext cx="8574622" cy="158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 sz="4800" dirty="0"/>
              <a:t>Automatic IP Address Assignment</a:t>
            </a:r>
            <a:endParaRPr sz="4800" dirty="0"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5276333" y="5110111"/>
            <a:ext cx="524694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>
                <a:latin typeface="Corbel"/>
                <a:sym typeface="Corbel"/>
              </a:rPr>
              <a:t>Address Translation</a:t>
            </a:r>
            <a:endParaRPr lang="en-IN" dirty="0"/>
          </a:p>
        </p:txBody>
      </p:sp>
      <p:sp>
        <p:nvSpPr>
          <p:cNvPr id="9" name="Google Shape;67;p2"/>
          <p:cNvSpPr txBox="1">
            <a:spLocks/>
          </p:cNvSpPr>
          <p:nvPr/>
        </p:nvSpPr>
        <p:spPr>
          <a:xfrm>
            <a:off x="1984555" y="269800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00"/>
              </a:buClr>
              <a:buSzPts val="3200"/>
            </a:pP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IP Addressing Services</a:t>
            </a:r>
            <a:endParaRPr lang="en-US" sz="8000" b="1" dirty="0">
              <a:solidFill>
                <a:schemeClr val="accent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76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>
            <a:spLocks noGrp="1"/>
          </p:cNvSpPr>
          <p:nvPr>
            <p:ph type="title"/>
          </p:nvPr>
        </p:nvSpPr>
        <p:spPr>
          <a:xfrm>
            <a:off x="1997251" y="30119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155" name="Google Shape;155;p2"/>
          <p:cNvSpPr txBox="1">
            <a:spLocks noGrp="1"/>
          </p:cNvSpPr>
          <p:nvPr>
            <p:ph type="body" idx="1"/>
          </p:nvPr>
        </p:nvSpPr>
        <p:spPr>
          <a:xfrm>
            <a:off x="1903989" y="1372678"/>
            <a:ext cx="5254458" cy="467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14313" indent="-214313">
              <a:spcBef>
                <a:spcPts val="0"/>
              </a:spcBef>
              <a:buSzPts val="3480"/>
            </a:pPr>
            <a:r>
              <a:rPr lang="en-US" sz="3600" dirty="0"/>
              <a:t>DHCPv4 Concepts</a:t>
            </a:r>
          </a:p>
          <a:p>
            <a:pPr marL="214313" indent="-214313">
              <a:spcBef>
                <a:spcPts val="0"/>
              </a:spcBef>
              <a:buSzPts val="3480"/>
            </a:pPr>
            <a:r>
              <a:rPr lang="en-US" sz="3600" dirty="0"/>
              <a:t>DHCPv4 Operations</a:t>
            </a:r>
            <a:endParaRPr sz="3600" dirty="0"/>
          </a:p>
          <a:p>
            <a:pPr marL="214313" indent="-214313">
              <a:spcBef>
                <a:spcPts val="810"/>
              </a:spcBef>
              <a:buSzPts val="3480"/>
            </a:pPr>
            <a:endParaRPr lang="en-US" sz="3600" dirty="0"/>
          </a:p>
          <a:p>
            <a:pPr marL="214313" indent="-214313">
              <a:spcBef>
                <a:spcPts val="810"/>
              </a:spcBef>
              <a:buSzPts val="3480"/>
            </a:pPr>
            <a:r>
              <a:rPr lang="en-US" sz="3600" dirty="0"/>
              <a:t>NAT Concepts</a:t>
            </a:r>
            <a:endParaRPr sz="3600" dirty="0"/>
          </a:p>
          <a:p>
            <a:pPr marL="557213" lvl="1" indent="-214313">
              <a:spcBef>
                <a:spcPts val="750"/>
              </a:spcBef>
              <a:buSzPts val="2900"/>
            </a:pPr>
            <a:r>
              <a:rPr lang="en-US" sz="3200" dirty="0"/>
              <a:t>Introduction to NAT</a:t>
            </a:r>
            <a:endParaRPr sz="3200" dirty="0"/>
          </a:p>
          <a:p>
            <a:pPr marL="557213" lvl="1" indent="-214313">
              <a:spcBef>
                <a:spcPts val="750"/>
              </a:spcBef>
              <a:buSzPts val="2900"/>
            </a:pPr>
            <a:r>
              <a:rPr lang="en-US" sz="3200" dirty="0"/>
              <a:t>PAT (NAT Overloading)</a:t>
            </a:r>
            <a:endParaRPr sz="3200" dirty="0"/>
          </a:p>
          <a:p>
            <a:pPr marL="557213" lvl="1" indent="-214313">
              <a:spcBef>
                <a:spcPts val="750"/>
              </a:spcBef>
              <a:buSzPts val="2900"/>
            </a:pPr>
            <a:r>
              <a:rPr lang="en-US" sz="3200" dirty="0"/>
              <a:t>Port Forwarding</a:t>
            </a:r>
            <a:endParaRPr sz="3200" dirty="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1286" y="179177"/>
            <a:ext cx="872043" cy="80009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430312" y="1768622"/>
            <a:ext cx="5195630" cy="95410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How devices get IP addresses automatically</a:t>
            </a:r>
            <a:endParaRPr lang="en-IN" sz="2800" b="1" dirty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12189" y="4072781"/>
            <a:ext cx="5109091" cy="954107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rPr>
              <a:t>How many devices share one IP 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rPr>
              <a:t>address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64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/>
        </p:nvSpPr>
        <p:spPr>
          <a:xfrm>
            <a:off x="2286000" y="1524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3600"/>
            </a:pPr>
            <a:r>
              <a:rPr lang="en-US" sz="3600" dirty="0">
                <a:solidFill>
                  <a:srgbClr val="0070C0"/>
                </a:solidFill>
              </a:rPr>
              <a:t>Dynamic Host Configuration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70C0"/>
                </a:solidFill>
              </a:rPr>
              <a:t>Protocol (DHCP)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" name="AutoShape 2" descr="What is an DHCP? | Dynamic IP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730" y="3124200"/>
            <a:ext cx="4244370" cy="282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3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>
            <a:spLocks noGrp="1"/>
          </p:cNvSpPr>
          <p:nvPr>
            <p:ph type="title"/>
          </p:nvPr>
        </p:nvSpPr>
        <p:spPr>
          <a:xfrm>
            <a:off x="1109987" y="23003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US" dirty="0"/>
              <a:t>Assigning IPv4 Addresses : Static</a:t>
            </a:r>
            <a:endParaRPr dirty="0"/>
          </a:p>
        </p:txBody>
      </p:sp>
      <p:sp>
        <p:nvSpPr>
          <p:cNvPr id="169" name="Google Shape;169;p4"/>
          <p:cNvSpPr txBox="1">
            <a:spLocks noGrp="1"/>
          </p:cNvSpPr>
          <p:nvPr>
            <p:ph type="body" idx="1"/>
          </p:nvPr>
        </p:nvSpPr>
        <p:spPr>
          <a:xfrm>
            <a:off x="800381" y="1021521"/>
            <a:ext cx="6434029" cy="29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marL="214313" indent="-214313">
              <a:spcBef>
                <a:spcPts val="0"/>
              </a:spcBef>
              <a:buSzPts val="3480"/>
            </a:pPr>
            <a:r>
              <a:rPr lang="en-US" sz="3200" dirty="0"/>
              <a:t>Every device that connects to a network needs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an IP address.</a:t>
            </a:r>
          </a:p>
          <a:p>
            <a:pPr marL="214313" indent="-214313">
              <a:spcBef>
                <a:spcPts val="0"/>
              </a:spcBef>
              <a:buSzPts val="3480"/>
            </a:pP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14313" indent="-214313">
              <a:spcBef>
                <a:spcPts val="0"/>
              </a:spcBef>
              <a:buSzPts val="3480"/>
            </a:pPr>
            <a:r>
              <a:rPr lang="en-US" sz="3200" dirty="0">
                <a:solidFill>
                  <a:schemeClr val="tx1"/>
                </a:solidFill>
              </a:rPr>
              <a:t>How to assign an IP address to a device?</a:t>
            </a:r>
          </a:p>
          <a:p>
            <a:pPr marL="557213" lvl="1" indent="-214313">
              <a:spcBef>
                <a:spcPts val="0"/>
              </a:spcBef>
              <a:buSzPts val="3480"/>
            </a:pPr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Static</a:t>
            </a:r>
          </a:p>
          <a:p>
            <a:pPr marL="557213" lvl="1" indent="-214313">
              <a:spcBef>
                <a:spcPts val="0"/>
              </a:spcBef>
              <a:buSzPts val="3480"/>
            </a:pPr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Dynamic</a:t>
            </a:r>
            <a:endParaRPr sz="3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14313" indent="-48578">
              <a:spcBef>
                <a:spcPts val="810"/>
              </a:spcBef>
              <a:buSzPts val="3480"/>
              <a:buNone/>
            </a:pP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292" y="1021521"/>
            <a:ext cx="4581708" cy="508070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31276" y="4091992"/>
            <a:ext cx="756385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1" indent="-342900">
              <a:spcBef>
                <a:spcPts val="750"/>
              </a:spcBef>
              <a:buClr>
                <a:srgbClr val="0070C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Corbel" panose="020B0503020204020204" pitchFamily="34" charset="0"/>
              </a:rPr>
              <a:t>Static </a:t>
            </a:r>
            <a:r>
              <a:rPr lang="en-US" sz="2800" dirty="0">
                <a:solidFill>
                  <a:srgbClr val="0070C0"/>
                </a:solidFill>
                <a:latin typeface="Corbel" panose="020B0503020204020204" pitchFamily="34" charset="0"/>
              </a:rPr>
              <a:t>: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</a:p>
          <a:p>
            <a:pPr marL="685800" lvl="3" indent="-342900">
              <a:spcBef>
                <a:spcPts val="750"/>
              </a:spcBef>
              <a:buClr>
                <a:srgbClr val="0070C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800" dirty="0">
                <a:latin typeface="Corbel" panose="020B0503020204020204" pitchFamily="34" charset="0"/>
              </a:rPr>
              <a:t>manually assigning ; stays fixed</a:t>
            </a:r>
          </a:p>
          <a:p>
            <a:pPr marL="685800" lvl="3" indent="-342900">
              <a:spcBef>
                <a:spcPts val="750"/>
              </a:spcBef>
              <a:buClr>
                <a:srgbClr val="0070C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800" dirty="0">
                <a:latin typeface="Corbel" panose="020B0503020204020204" pitchFamily="34" charset="0"/>
              </a:rPr>
              <a:t>used for devices must always be reachable</a:t>
            </a:r>
            <a:endParaRPr lang="en-US" sz="2800" b="1" dirty="0">
              <a:solidFill>
                <a:srgbClr val="0070C0"/>
              </a:solidFill>
              <a:latin typeface="Corbel" panose="020B0503020204020204" pitchFamily="34" charset="0"/>
            </a:endParaRPr>
          </a:p>
          <a:p>
            <a:pPr marL="685800" lvl="3" indent="-342900">
              <a:spcBef>
                <a:spcPts val="750"/>
              </a:spcBef>
              <a:buClr>
                <a:srgbClr val="0070C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  <a:latin typeface="Corbel" panose="020B0503020204020204" pitchFamily="34" charset="0"/>
              </a:rPr>
              <a:t>Used for: </a:t>
            </a:r>
            <a:r>
              <a:rPr lang="en-US" sz="2800" b="1" dirty="0">
                <a:solidFill>
                  <a:schemeClr val="tx1"/>
                </a:solidFill>
                <a:latin typeface="Corbel" panose="020B0503020204020204" pitchFamily="34" charset="0"/>
              </a:rPr>
              <a:t>Web servers, Routers, printers etc.</a:t>
            </a:r>
          </a:p>
        </p:txBody>
      </p:sp>
    </p:spTree>
    <p:extLst>
      <p:ext uri="{BB962C8B-B14F-4D97-AF65-F5344CB8AC3E}">
        <p14:creationId xmlns:p14="http://schemas.microsoft.com/office/powerpoint/2010/main" val="79422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747" y="166599"/>
            <a:ext cx="7514035" cy="652828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IPv4 Addressing</a:t>
            </a:r>
          </a:p>
        </p:txBody>
      </p:sp>
      <p:sp>
        <p:nvSpPr>
          <p:cNvPr id="4" name="Google Shape;169;p4"/>
          <p:cNvSpPr txBox="1">
            <a:spLocks/>
          </p:cNvSpPr>
          <p:nvPr/>
        </p:nvSpPr>
        <p:spPr>
          <a:xfrm>
            <a:off x="662354" y="1090247"/>
            <a:ext cx="5503316" cy="52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943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943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557213" lvl="1" indent="-214313">
              <a:spcBef>
                <a:spcPts val="750"/>
              </a:spcBef>
              <a:buSzPts val="2900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Dynamic </a:t>
            </a:r>
            <a:r>
              <a:rPr lang="en-US" sz="2800" b="1" dirty="0">
                <a:solidFill>
                  <a:schemeClr val="tx1"/>
                </a:solidFill>
              </a:rPr>
              <a:t>: </a:t>
            </a:r>
          </a:p>
          <a:p>
            <a:pPr marL="1014413" lvl="2" indent="-214313">
              <a:spcBef>
                <a:spcPts val="750"/>
              </a:spcBef>
              <a:buSzPts val="2900"/>
            </a:pPr>
            <a:r>
              <a:rPr lang="en-US" sz="2800" dirty="0"/>
              <a:t>assigns IP addresses automatically to devices.</a:t>
            </a:r>
          </a:p>
          <a:p>
            <a:pPr marL="1014413" lvl="2" indent="-214313">
              <a:spcBef>
                <a:spcPts val="750"/>
              </a:spcBef>
              <a:buSzPts val="2900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Used for :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Laptops,phones</a:t>
            </a:r>
            <a:r>
              <a:rPr lang="en-US" sz="2800" dirty="0">
                <a:solidFill>
                  <a:schemeClr val="tx1"/>
                </a:solidFill>
              </a:rPr>
              <a:t>, moving devices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  <a:p>
            <a:pPr marL="1014413" lvl="2" indent="-214313">
              <a:spcBef>
                <a:spcPts val="750"/>
              </a:spcBef>
              <a:buSzPts val="2900"/>
            </a:pPr>
            <a:r>
              <a:rPr lang="en-US" sz="2800" dirty="0">
                <a:solidFill>
                  <a:schemeClr val="tx1"/>
                </a:solidFill>
              </a:rPr>
              <a:t>Who does this??</a:t>
            </a:r>
          </a:p>
          <a:p>
            <a:pPr marL="214313" indent="-48578">
              <a:spcBef>
                <a:spcPts val="810"/>
              </a:spcBef>
              <a:buSzPts val="3480"/>
              <a:buNone/>
            </a:pPr>
            <a:endParaRPr lang="en-US" sz="1800" dirty="0"/>
          </a:p>
        </p:txBody>
      </p:sp>
      <p:sp>
        <p:nvSpPr>
          <p:cNvPr id="3" name="Action Button: Help 2">
            <a:hlinkClick r:id="" action="ppaction://noaction" highlightClick="1"/>
          </p:cNvPr>
          <p:cNvSpPr/>
          <p:nvPr/>
        </p:nvSpPr>
        <p:spPr>
          <a:xfrm>
            <a:off x="4417759" y="4098219"/>
            <a:ext cx="492370" cy="527539"/>
          </a:xfrm>
          <a:prstGeom prst="actionButtonHelp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1958516" y="4744833"/>
            <a:ext cx="2405735" cy="6732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DHCP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354" y="5440327"/>
            <a:ext cx="59779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Dynamic Host Configuration Protocol</a:t>
            </a:r>
          </a:p>
        </p:txBody>
      </p:sp>
      <p:sp>
        <p:nvSpPr>
          <p:cNvPr id="6" name="AutoShape 2" descr="Internet of everything: 3.2.8 Automatic IP addressing | OpenLearn - Open  Univers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796" y="1311358"/>
            <a:ext cx="5267659" cy="38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8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772" y="230038"/>
            <a:ext cx="6873131" cy="66130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94817" y="515630"/>
            <a:ext cx="33361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Static Assignments?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66392" y="1038850"/>
            <a:ext cx="3793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solidFill>
                  <a:srgbClr val="00B050"/>
                </a:solidFill>
                <a:latin typeface="Corbel" panose="020B0503020204020204" pitchFamily="34" charset="0"/>
              </a:rPr>
              <a:t>Dynamic Assignments?</a:t>
            </a:r>
          </a:p>
        </p:txBody>
      </p:sp>
    </p:spTree>
    <p:extLst>
      <p:ext uri="{BB962C8B-B14F-4D97-AF65-F5344CB8AC3E}">
        <p14:creationId xmlns:p14="http://schemas.microsoft.com/office/powerpoint/2010/main" val="44493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00"/>
              </a:buClr>
              <a:buSzPts val="3200"/>
            </a:pPr>
            <a:r>
              <a:rPr lang="en-US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Dynamic Host Configuration Protocol (DHCP)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1558834" y="1937531"/>
            <a:ext cx="6527074" cy="1672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70C0"/>
              </a:buClr>
              <a:buSzPct val="101000"/>
            </a:pPr>
            <a:r>
              <a:rPr lang="en-IN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Used in large organizations</a:t>
            </a:r>
            <a:endParaRPr lang="en-IN" dirty="0">
              <a:solidFill>
                <a:schemeClr val="tx1"/>
              </a:solidFill>
              <a:latin typeface="Corbel" panose="020B0503020204020204" pitchFamily="34" charset="0"/>
              <a:ea typeface="Arial"/>
              <a:cs typeface="Arial"/>
            </a:endParaRPr>
          </a:p>
          <a:p>
            <a:pPr marL="342900" indent="-342900">
              <a:spcBef>
                <a:spcPts val="0"/>
              </a:spcBef>
              <a:buClr>
                <a:srgbClr val="0070C0"/>
              </a:buClr>
              <a:buSzPct val="101000"/>
            </a:pPr>
            <a:r>
              <a:rPr lang="en-US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More scalable.</a:t>
            </a:r>
            <a:endParaRPr lang="en-US" dirty="0">
              <a:solidFill>
                <a:schemeClr val="tx1"/>
              </a:solidFill>
              <a:latin typeface="Corbel" panose="020B0503020204020204" pitchFamily="34" charset="0"/>
              <a:ea typeface="Arial"/>
              <a:cs typeface="Arial"/>
            </a:endParaRPr>
          </a:p>
          <a:p>
            <a:pPr marL="342900" indent="-342900">
              <a:spcBef>
                <a:spcPts val="0"/>
              </a:spcBef>
              <a:buClr>
                <a:srgbClr val="0070C0"/>
              </a:buClr>
              <a:buSzPct val="101000"/>
            </a:pPr>
            <a:r>
              <a:rPr lang="en-US" dirty="0">
                <a:latin typeface="Corbel" panose="020B0503020204020204" pitchFamily="34" charset="0"/>
              </a:rPr>
              <a:t>Easier to manage many clients</a:t>
            </a:r>
          </a:p>
          <a:p>
            <a:pPr marL="342900" indent="-342900">
              <a:spcBef>
                <a:spcPts val="0"/>
              </a:spcBef>
              <a:buClr>
                <a:srgbClr val="0070C0"/>
              </a:buClr>
              <a:buSzPct val="101000"/>
            </a:pPr>
            <a:r>
              <a:rPr lang="en-US" dirty="0"/>
              <a:t>Usually part of a </a:t>
            </a:r>
            <a:r>
              <a:rPr lang="en-US" b="1" dirty="0"/>
              <a:t>central server</a:t>
            </a:r>
            <a:r>
              <a:rPr lang="en-US" dirty="0"/>
              <a:t> (Windows Server, Linux DHCP, etc.)</a:t>
            </a:r>
            <a:endParaRPr lang="en-US" dirty="0">
              <a:latin typeface="Corbel" panose="020B0503020204020204" pitchFamily="34" charset="0"/>
            </a:endParaRPr>
          </a:p>
          <a:p>
            <a:pPr marL="452438" indent="-342900">
              <a:spcBef>
                <a:spcPts val="480"/>
              </a:spcBef>
              <a:buClr>
                <a:srgbClr val="0070C0"/>
              </a:buClr>
              <a:buSzPct val="101000"/>
              <a:buFont typeface="Arial" panose="020B0604020202020204" pitchFamily="34" charset="0"/>
              <a:buChar char="•"/>
            </a:pPr>
            <a:endParaRPr dirty="0">
              <a:solidFill>
                <a:schemeClr val="lt1"/>
              </a:solidFill>
              <a:latin typeface="Corbel" panose="020B0503020204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4" descr="ips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726" y="4719501"/>
            <a:ext cx="1498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 descr="ips02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6726" y="1708805"/>
            <a:ext cx="1371600" cy="16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ed Rectangle 5"/>
          <p:cNvSpPr/>
          <p:nvPr/>
        </p:nvSpPr>
        <p:spPr>
          <a:xfrm>
            <a:off x="3797300" y="788378"/>
            <a:ext cx="3794991" cy="633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Which device runs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1496291" y="4347754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394335">
              <a:spcBef>
                <a:spcPts val="360"/>
              </a:spcBef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dirty="0">
                <a:latin typeface="Corbel"/>
                <a:sym typeface="Corbel"/>
              </a:rPr>
              <a:t>Common in </a:t>
            </a:r>
            <a:r>
              <a:rPr lang="en-US" sz="2400" b="1" dirty="0">
                <a:latin typeface="Corbel"/>
                <a:sym typeface="Corbel"/>
              </a:rPr>
              <a:t>homes, small offices (SOHO)</a:t>
            </a:r>
            <a:endParaRPr lang="en-US" sz="2400" dirty="0">
              <a:latin typeface="Corbel"/>
              <a:sym typeface="Corbel"/>
            </a:endParaRPr>
          </a:p>
          <a:p>
            <a:pPr marL="457200" lvl="0" indent="-394335">
              <a:spcBef>
                <a:spcPts val="360"/>
              </a:spcBef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dirty="0">
                <a:latin typeface="Corbel"/>
                <a:sym typeface="Corbel"/>
              </a:rPr>
              <a:t>Cheaper</a:t>
            </a:r>
          </a:p>
          <a:p>
            <a:pPr marL="457200" lvl="0" indent="-394335">
              <a:spcBef>
                <a:spcPts val="360"/>
              </a:spcBef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dirty="0">
                <a:latin typeface="Corbel"/>
                <a:sym typeface="Corbel"/>
              </a:rPr>
              <a:t>Simple to configure</a:t>
            </a:r>
          </a:p>
          <a:p>
            <a:pPr marL="457200" lvl="0" indent="-394335">
              <a:spcBef>
                <a:spcPts val="360"/>
              </a:spcBef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 sz="2400" dirty="0">
                <a:latin typeface="Corbel"/>
                <a:sym typeface="Corbel"/>
              </a:rPr>
              <a:t>Wi-Fi routers we use at home run DHCP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9805" y="3397905"/>
            <a:ext cx="2332442" cy="5426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Servers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9805" y="5941436"/>
            <a:ext cx="2295795" cy="4991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Routers</a:t>
            </a:r>
          </a:p>
        </p:txBody>
      </p:sp>
    </p:spTree>
    <p:extLst>
      <p:ext uri="{BB962C8B-B14F-4D97-AF65-F5344CB8AC3E}">
        <p14:creationId xmlns:p14="http://schemas.microsoft.com/office/powerpoint/2010/main" val="76866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0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3067" y="838200"/>
            <a:ext cx="8821984" cy="57062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0;p4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00"/>
              </a:buClr>
              <a:buSzPts val="3200"/>
            </a:pPr>
            <a:r>
              <a:rPr lang="en-US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DHCP Operations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26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312617" y="1337520"/>
            <a:ext cx="5469272" cy="4385297"/>
            <a:chOff x="1312617" y="1337520"/>
            <a:chExt cx="5469272" cy="438529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2617" y="1337520"/>
              <a:ext cx="5469272" cy="4359886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534558" y="4770903"/>
              <a:ext cx="7806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Host A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45734" y="5233750"/>
              <a:ext cx="7806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Host 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76238" y="5415040"/>
              <a:ext cx="7806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Host C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</p:spPr>
        <p:txBody>
          <a:bodyPr>
            <a:normAutofit fontScale="90000"/>
          </a:bodyPr>
          <a:lstStyle/>
          <a:p>
            <a:r>
              <a:rPr lang="en-US" dirty="0"/>
              <a:t>DHCP Operation - Start</a:t>
            </a:r>
            <a:endParaRPr lang="en-IN" dirty="0"/>
          </a:p>
        </p:txBody>
      </p:sp>
      <p:sp>
        <p:nvSpPr>
          <p:cNvPr id="5" name="Google Shape;560;p23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6" name="Google Shape;560;p23"/>
          <p:cNvSpPr/>
          <p:nvPr/>
        </p:nvSpPr>
        <p:spPr>
          <a:xfrm>
            <a:off x="3757426" y="28615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Google Shape;560;p23"/>
          <p:cNvSpPr/>
          <p:nvPr/>
        </p:nvSpPr>
        <p:spPr>
          <a:xfrm>
            <a:off x="4029588" y="28615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8" name="Google Shape;560;p23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3" name="Google Shape;560;p23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4" name="&quot;No&quot; Symbol 13"/>
          <p:cNvSpPr/>
          <p:nvPr/>
        </p:nvSpPr>
        <p:spPr>
          <a:xfrm>
            <a:off x="3151183" y="4480647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&quot;No&quot; Symbol 14"/>
          <p:cNvSpPr/>
          <p:nvPr/>
        </p:nvSpPr>
        <p:spPr>
          <a:xfrm>
            <a:off x="4034403" y="1877853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&quot;No&quot; Symbol 15"/>
          <p:cNvSpPr/>
          <p:nvPr/>
        </p:nvSpPr>
        <p:spPr>
          <a:xfrm>
            <a:off x="4895739" y="4750494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Google Shape;201;p7"/>
          <p:cNvSpPr txBox="1">
            <a:spLocks noGrp="1"/>
          </p:cNvSpPr>
          <p:nvPr>
            <p:ph type="body" idx="1"/>
          </p:nvPr>
        </p:nvSpPr>
        <p:spPr>
          <a:xfrm>
            <a:off x="7068385" y="1735801"/>
            <a:ext cx="5020521" cy="2039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 b="1" dirty="0">
                <a:solidFill>
                  <a:srgbClr val="0070C0"/>
                </a:solidFill>
              </a:rPr>
              <a:t>DHCP Discover </a:t>
            </a:r>
            <a:r>
              <a:rPr lang="en-US" sz="3200" b="1" dirty="0">
                <a:solidFill>
                  <a:schemeClr val="tx1"/>
                </a:solidFill>
              </a:rPr>
              <a:t>(Broadcast packet)</a:t>
            </a:r>
            <a:endParaRPr sz="3600" dirty="0">
              <a:solidFill>
                <a:schemeClr val="tx1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800" dirty="0"/>
              <a:t>Finds the DHCP server(s) on the network.</a:t>
            </a:r>
            <a:endParaRPr sz="3200"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800" dirty="0"/>
          </a:p>
        </p:txBody>
      </p:sp>
      <p:sp>
        <p:nvSpPr>
          <p:cNvPr id="19" name="Rectangle 18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83119"/>
              </p:ext>
            </p:extLst>
          </p:nvPr>
        </p:nvGraphicFramePr>
        <p:xfrm>
          <a:off x="362759" y="5697406"/>
          <a:ext cx="9065959" cy="51816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454408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576475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672046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860270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95137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279822">
                <a:tc>
                  <a:txBody>
                    <a:bodyPr/>
                    <a:lstStyle/>
                    <a:p>
                      <a:r>
                        <a:rPr lang="en-IN" dirty="0"/>
                        <a:t>FFFF-FFFF-FFFF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Host</a:t>
                      </a:r>
                      <a:r>
                        <a:rPr lang="en-IN" baseline="0" dirty="0"/>
                        <a:t> A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255.255.255.255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0.0.0.0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smtClean="0"/>
                        <a:t>68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632895"/>
              </p:ext>
            </p:extLst>
          </p:nvPr>
        </p:nvGraphicFramePr>
        <p:xfrm>
          <a:off x="362758" y="6288750"/>
          <a:ext cx="9065959" cy="51816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536217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541418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332411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826582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95137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404381"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dirty="0"/>
                        <a:t> MAC address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</a:t>
                      </a:r>
                      <a:r>
                        <a:rPr lang="en-IN" baseline="0" dirty="0"/>
                        <a:t> MAC address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err="1"/>
                        <a:t>Dest</a:t>
                      </a:r>
                      <a:r>
                        <a:rPr lang="en-IN" dirty="0"/>
                        <a:t> IP address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Source IP address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baseline="0" dirty="0"/>
                        <a:t> Port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Port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 flipV="1">
            <a:off x="6296831" y="5628204"/>
            <a:ext cx="970115" cy="6565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534558" y="4461230"/>
            <a:ext cx="981635" cy="204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265312" y="2293299"/>
            <a:ext cx="1351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/>
              <a:t>172.16.4.254</a:t>
            </a:r>
            <a:endParaRPr lang="en-IN" sz="120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96" y="2926739"/>
            <a:ext cx="885825" cy="4381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720" y="1906974"/>
            <a:ext cx="561975" cy="1000125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2668695" y="2407036"/>
            <a:ext cx="1204058" cy="3260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Google Shape;560;p23"/>
          <p:cNvSpPr/>
          <p:nvPr/>
        </p:nvSpPr>
        <p:spPr>
          <a:xfrm>
            <a:off x="3600348" y="2820542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0" name="&quot;No&quot; Symbol 29"/>
          <p:cNvSpPr/>
          <p:nvPr/>
        </p:nvSpPr>
        <p:spPr>
          <a:xfrm>
            <a:off x="2122382" y="2342211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73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93 -0.00393 L 0.13959 -0.1657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-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07407E-6 L -0.06601 0.24769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7" y="12384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07407E-6 L 0.06966 0.2812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" y="14051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-0.03906 -0.0944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-4722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63 -0.00787 L 0.13554 0.1423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9" y="750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44444E-6 L -0.12917 -0.0659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58" y="-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3" grpId="0" animBg="1"/>
      <p:bldP spid="13" grpId="1" animBg="1"/>
      <p:bldP spid="14" grpId="0" animBg="1"/>
      <p:bldP spid="15" grpId="0" animBg="1"/>
      <p:bldP spid="16" grpId="0" animBg="1"/>
      <p:bldP spid="17" grpId="0" animBg="1"/>
      <p:bldP spid="29" grpId="0" animBg="1"/>
      <p:bldP spid="29" grpId="1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</p:spPr>
        <p:txBody>
          <a:bodyPr>
            <a:normAutofit fontScale="90000"/>
          </a:bodyPr>
          <a:lstStyle/>
          <a:p>
            <a:r>
              <a:rPr lang="en-US" dirty="0"/>
              <a:t>DHCP Operation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17" y="1500381"/>
            <a:ext cx="5469272" cy="4359886"/>
          </a:xfrm>
          <a:prstGeom prst="rect">
            <a:avLst/>
          </a:prstGeom>
        </p:spPr>
      </p:pic>
      <p:sp>
        <p:nvSpPr>
          <p:cNvPr id="5" name="Google Shape;560;p23"/>
          <p:cNvSpPr/>
          <p:nvPr/>
        </p:nvSpPr>
        <p:spPr>
          <a:xfrm>
            <a:off x="5547045" y="3836292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Google Shape;560;p23"/>
          <p:cNvSpPr/>
          <p:nvPr/>
        </p:nvSpPr>
        <p:spPr>
          <a:xfrm>
            <a:off x="3851576" y="2877778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8" name="Google Shape;201;p7"/>
          <p:cNvSpPr txBox="1">
            <a:spLocks noGrp="1"/>
          </p:cNvSpPr>
          <p:nvPr>
            <p:ph type="body" idx="1"/>
          </p:nvPr>
        </p:nvSpPr>
        <p:spPr>
          <a:xfrm>
            <a:off x="6973997" y="1616909"/>
            <a:ext cx="5218003" cy="152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>
              <a:spcBef>
                <a:spcPts val="1000"/>
              </a:spcBef>
              <a:buSzPts val="2900"/>
            </a:pPr>
            <a:r>
              <a:rPr lang="en-US" sz="2800" b="1" dirty="0">
                <a:solidFill>
                  <a:srgbClr val="0070C0"/>
                </a:solidFill>
              </a:rPr>
              <a:t>DHCP Offer </a:t>
            </a:r>
            <a:r>
              <a:rPr lang="en-US" sz="2800" b="1" dirty="0">
                <a:solidFill>
                  <a:schemeClr val="tx1"/>
                </a:solidFill>
              </a:rPr>
              <a:t>(Unicast)</a:t>
            </a:r>
            <a:endParaRPr lang="en-US" sz="3200"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960"/>
              </a:spcBef>
            </a:pPr>
            <a:r>
              <a:rPr lang="en-US" sz="2400" dirty="0"/>
              <a:t>Contains an available IP address to lease</a:t>
            </a:r>
            <a:endParaRPr lang="en-US" sz="2800"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800" dirty="0"/>
          </a:p>
        </p:txBody>
      </p:sp>
      <p:sp>
        <p:nvSpPr>
          <p:cNvPr id="19" name="Rectangle 18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58262"/>
              </p:ext>
            </p:extLst>
          </p:nvPr>
        </p:nvGraphicFramePr>
        <p:xfrm>
          <a:off x="1342589" y="5909346"/>
          <a:ext cx="8408911" cy="37084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201273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Host</a:t>
                      </a:r>
                      <a:r>
                        <a:rPr lang="en-IN" baseline="0" dirty="0"/>
                        <a:t> A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DHCP Server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172.16.4.1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172.16.4.250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49024"/>
              </p:ext>
            </p:extLst>
          </p:nvPr>
        </p:nvGraphicFramePr>
        <p:xfrm>
          <a:off x="1342589" y="6377821"/>
          <a:ext cx="8408911" cy="33007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201273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dirty="0"/>
                        <a:t> MAC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</a:t>
                      </a:r>
                      <a:r>
                        <a:rPr lang="en-IN" baseline="0" dirty="0"/>
                        <a:t> MAC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err="1"/>
                        <a:t>Dest</a:t>
                      </a:r>
                      <a:r>
                        <a:rPr lang="en-IN" dirty="0"/>
                        <a:t>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Source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baseline="0" dirty="0"/>
                        <a:t> 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34558" y="4770903"/>
            <a:ext cx="780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Host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9958" y="5428333"/>
            <a:ext cx="780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Host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8417" y="5569105"/>
            <a:ext cx="780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Host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0693" y="3251516"/>
            <a:ext cx="3792071" cy="16312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orbel" panose="020B0503020204020204" pitchFamily="34" charset="0"/>
              </a:rPr>
              <a:t>IP address : 172.16.4.1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Subnet Mask: 255.255.255.0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Default Gateway: 172.16.4.254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DNS Server : 172.16.4.160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Lease Time : 3 days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472" y="3085729"/>
            <a:ext cx="885825" cy="4381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996" y="2065964"/>
            <a:ext cx="561975" cy="1000125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2636971" y="2566026"/>
            <a:ext cx="1182881" cy="4707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00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92 -0.00393 L -0.13086 -0.1395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96" y="-6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0.16757 0.1606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85" y="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7" grpId="0" animBg="1"/>
      <p:bldP spid="7" grpId="1" animBg="1"/>
      <p:bldP spid="18" grpId="0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89" y="1592916"/>
            <a:ext cx="6658228" cy="408174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881449"/>
              </p:ext>
            </p:extLst>
          </p:nvPr>
        </p:nvGraphicFramePr>
        <p:xfrm>
          <a:off x="1342589" y="5909346"/>
          <a:ext cx="8408911" cy="37084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319929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845792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438098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FFFFFFFFFFFF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Host A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255.255.255.255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172.16.4.1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41175"/>
              </p:ext>
            </p:extLst>
          </p:nvPr>
        </p:nvGraphicFramePr>
        <p:xfrm>
          <a:off x="1342589" y="6377821"/>
          <a:ext cx="8408911" cy="33007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201273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dirty="0"/>
                        <a:t> MAC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</a:t>
                      </a:r>
                      <a:r>
                        <a:rPr lang="en-IN" baseline="0" dirty="0"/>
                        <a:t> MAC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err="1"/>
                        <a:t>Dest</a:t>
                      </a:r>
                      <a:r>
                        <a:rPr lang="en-IN" dirty="0"/>
                        <a:t>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Source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baseline="0" dirty="0"/>
                        <a:t> 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sp>
        <p:nvSpPr>
          <p:cNvPr id="10" name="Google Shape;560;p23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1" name="Google Shape;560;p23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2" name="Google Shape;560;p23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3" name="Google Shape;560;p23"/>
          <p:cNvSpPr/>
          <p:nvPr/>
        </p:nvSpPr>
        <p:spPr>
          <a:xfrm>
            <a:off x="4026256" y="2661720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4" name="Google Shape;560;p23"/>
          <p:cNvSpPr/>
          <p:nvPr/>
        </p:nvSpPr>
        <p:spPr>
          <a:xfrm>
            <a:off x="4468484" y="28854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Google Shape;560;p23"/>
          <p:cNvSpPr/>
          <p:nvPr/>
        </p:nvSpPr>
        <p:spPr>
          <a:xfrm>
            <a:off x="4620884" y="30378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6" name="Google Shape;560;p23"/>
          <p:cNvSpPr/>
          <p:nvPr/>
        </p:nvSpPr>
        <p:spPr>
          <a:xfrm>
            <a:off x="3830042" y="2749209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7" name="Google Shape;560;p23"/>
          <p:cNvSpPr/>
          <p:nvPr/>
        </p:nvSpPr>
        <p:spPr>
          <a:xfrm>
            <a:off x="6104543" y="2391598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8" name="Google Shape;201;p7"/>
          <p:cNvSpPr txBox="1">
            <a:spLocks noGrp="1"/>
          </p:cNvSpPr>
          <p:nvPr>
            <p:ph type="body" idx="1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>
              <a:spcBef>
                <a:spcPts val="1000"/>
              </a:spcBef>
              <a:buSzPts val="2900"/>
            </a:pPr>
            <a:r>
              <a:rPr lang="en-US" sz="2800" b="1" dirty="0">
                <a:solidFill>
                  <a:srgbClr val="0070C0"/>
                </a:solidFill>
              </a:rPr>
              <a:t>DHCP Request </a:t>
            </a:r>
            <a:r>
              <a:rPr lang="en-US" sz="2800" b="1" dirty="0">
                <a:solidFill>
                  <a:schemeClr val="tx1"/>
                </a:solidFill>
              </a:rPr>
              <a:t>(Broadcast)</a:t>
            </a:r>
            <a:endParaRPr lang="en-US" sz="3200"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960"/>
              </a:spcBef>
            </a:pPr>
            <a:r>
              <a:rPr lang="en-US" sz="2800" dirty="0"/>
              <a:t>Tells server which address host has accepted</a:t>
            </a:r>
            <a:endParaRPr lang="en-US" sz="3300"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800" dirty="0"/>
          </a:p>
        </p:txBody>
      </p:sp>
      <p:sp>
        <p:nvSpPr>
          <p:cNvPr id="19" name="&quot;No&quot; Symbol 18"/>
          <p:cNvSpPr/>
          <p:nvPr/>
        </p:nvSpPr>
        <p:spPr>
          <a:xfrm>
            <a:off x="2098764" y="2878062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&quot;No&quot; Symbol 19"/>
          <p:cNvSpPr/>
          <p:nvPr/>
        </p:nvSpPr>
        <p:spPr>
          <a:xfrm>
            <a:off x="3951078" y="2083699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&quot;No&quot; Symbol 20"/>
          <p:cNvSpPr/>
          <p:nvPr/>
        </p:nvSpPr>
        <p:spPr>
          <a:xfrm>
            <a:off x="6799021" y="3145814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&quot;No&quot; Symbol 21"/>
          <p:cNvSpPr/>
          <p:nvPr/>
        </p:nvSpPr>
        <p:spPr>
          <a:xfrm>
            <a:off x="4738720" y="4953500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&quot;No&quot; Symbol 22"/>
          <p:cNvSpPr/>
          <p:nvPr/>
        </p:nvSpPr>
        <p:spPr>
          <a:xfrm>
            <a:off x="3010656" y="4518218"/>
            <a:ext cx="461819" cy="443345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0" y="3879669"/>
            <a:ext cx="2808514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Did not take my IP address, so the address is free….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5673" y="4605525"/>
            <a:ext cx="280851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Took my IP address, so the address is occupied…. </a:t>
            </a:r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</p:spPr>
        <p:txBody>
          <a:bodyPr>
            <a:normAutofit fontScale="90000"/>
          </a:bodyPr>
          <a:lstStyle/>
          <a:p>
            <a:r>
              <a:rPr lang="en-US" dirty="0"/>
              <a:t>DHCP Operation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5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93 -0.00393 L 0.13959 -0.16574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-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-0.03906 -0.09444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-472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63 -0.00787 L 0.13554 0.1423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9" y="75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59259E-6 L 0.1457 -0.0430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215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6 L 0.01133 0.30115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" y="1504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-0.12591 0.2280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11389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11111E-6 L -0.14805 0.0006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09" y="23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4444E-6 L 0.0612 0.11342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0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3" grpId="2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uiExpand="1" build="p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98" y="1266345"/>
            <a:ext cx="6658228" cy="4081743"/>
          </a:xfrm>
          <a:prstGeom prst="rect">
            <a:avLst/>
          </a:prstGeom>
        </p:spPr>
      </p:pic>
      <p:sp>
        <p:nvSpPr>
          <p:cNvPr id="5" name="Google Shape;560;p23"/>
          <p:cNvSpPr/>
          <p:nvPr/>
        </p:nvSpPr>
        <p:spPr>
          <a:xfrm>
            <a:off x="5338039" y="3548740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6" name="Google Shape;560;p23"/>
          <p:cNvSpPr/>
          <p:nvPr/>
        </p:nvSpPr>
        <p:spPr>
          <a:xfrm>
            <a:off x="3709493" y="2694379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Google Shape;201;p7"/>
          <p:cNvSpPr txBox="1">
            <a:spLocks noGrp="1"/>
          </p:cNvSpPr>
          <p:nvPr>
            <p:ph type="body" idx="1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285750">
              <a:spcBef>
                <a:spcPts val="1000"/>
              </a:spcBef>
              <a:buSzPts val="2900"/>
            </a:pPr>
            <a:r>
              <a:rPr lang="en-US" sz="2800" b="1" dirty="0">
                <a:solidFill>
                  <a:srgbClr val="0070C0"/>
                </a:solidFill>
              </a:rPr>
              <a:t>DHCP Acknowledgement </a:t>
            </a:r>
            <a:r>
              <a:rPr lang="en-US" sz="2800" b="1" dirty="0">
                <a:solidFill>
                  <a:schemeClr val="tx1"/>
                </a:solidFill>
              </a:rPr>
              <a:t>(Unicast)</a:t>
            </a:r>
            <a:endParaRPr lang="en-US" sz="3200"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960"/>
              </a:spcBef>
            </a:pPr>
            <a:r>
              <a:rPr lang="en-US" sz="2800" dirty="0"/>
              <a:t>Server Gives the OK to host to use the IP address.</a:t>
            </a:r>
            <a:endParaRPr lang="en-US" sz="3300"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8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84310" y="298939"/>
            <a:ext cx="10018713" cy="677008"/>
          </a:xfrm>
        </p:spPr>
        <p:txBody>
          <a:bodyPr>
            <a:normAutofit fontScale="90000"/>
          </a:bodyPr>
          <a:lstStyle/>
          <a:p>
            <a:r>
              <a:rPr lang="en-US" dirty="0"/>
              <a:t>DHCP Operation </a:t>
            </a:r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79625"/>
              </p:ext>
            </p:extLst>
          </p:nvPr>
        </p:nvGraphicFramePr>
        <p:xfrm>
          <a:off x="1342589" y="5909346"/>
          <a:ext cx="8408911" cy="37084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201273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Host</a:t>
                      </a:r>
                      <a:r>
                        <a:rPr lang="en-IN" baseline="0" dirty="0"/>
                        <a:t> A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DHCP Server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172.16.4.1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172.16.4.250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97299"/>
              </p:ext>
            </p:extLst>
          </p:nvPr>
        </p:nvGraphicFramePr>
        <p:xfrm>
          <a:off x="1342589" y="6400800"/>
          <a:ext cx="8408911" cy="307091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201273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07091"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dirty="0"/>
                        <a:t> MAC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</a:t>
                      </a:r>
                      <a:r>
                        <a:rPr lang="en-IN" baseline="0" dirty="0"/>
                        <a:t> MAC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err="1"/>
                        <a:t>Dest</a:t>
                      </a:r>
                      <a:r>
                        <a:rPr lang="en-IN" dirty="0"/>
                        <a:t>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Source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baseline="0" dirty="0"/>
                        <a:t> 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87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59259E-6 L -0.12083 -0.1088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42" y="-5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216 0.03958 L -0.15573 0.1606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85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DHCP Operation (DORA)</a:t>
            </a:r>
            <a:endParaRPr dirty="0"/>
          </a:p>
        </p:txBody>
      </p:sp>
      <p:pic>
        <p:nvPicPr>
          <p:cNvPr id="202" name="Google Shape;20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389" y="1392194"/>
            <a:ext cx="9281887" cy="41768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96419" y="5226784"/>
            <a:ext cx="3558861" cy="16312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orbel" panose="020B0503020204020204" pitchFamily="34" charset="0"/>
              </a:rPr>
              <a:t>IP address : 172.16.4.1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Subnet Mask: 255.255.255.0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Default Gateway: 172.16.4.254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DNS Server : 172.16.4.160</a:t>
            </a:r>
            <a:br>
              <a:rPr lang="en-IN" sz="2000" b="1" dirty="0">
                <a:latin typeface="Corbel" panose="020B0503020204020204" pitchFamily="34" charset="0"/>
              </a:rPr>
            </a:br>
            <a:r>
              <a:rPr lang="en-IN" sz="2000" b="1" dirty="0">
                <a:latin typeface="Corbel" panose="020B0503020204020204" pitchFamily="34" charset="0"/>
              </a:rPr>
              <a:t>Lease Time : 3 days</a:t>
            </a:r>
          </a:p>
        </p:txBody>
      </p:sp>
    </p:spTree>
    <p:extLst>
      <p:ext uri="{BB962C8B-B14F-4D97-AF65-F5344CB8AC3E}">
        <p14:creationId xmlns:p14="http://schemas.microsoft.com/office/powerpoint/2010/main" val="239122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Steps to Renew a Lease</a:t>
            </a:r>
            <a:endParaRPr/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2803" y="1849638"/>
            <a:ext cx="8641726" cy="4326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489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00"/>
              </a:buClr>
              <a:buSzPts val="3200"/>
            </a:pPr>
            <a:r>
              <a:rPr lang="en-US" sz="3200" dirty="0">
                <a:solidFill>
                  <a:schemeClr val="bg2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DHCP Operation</a:t>
            </a:r>
            <a:endParaRPr dirty="0">
              <a:solidFill>
                <a:schemeClr val="bg2"/>
              </a:solidFill>
              <a:latin typeface="Corbel" panose="020B0503020204020204" pitchFamily="34" charset="0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1260763" y="2202873"/>
            <a:ext cx="10678687" cy="42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98462" indent="-288924">
              <a:spcBef>
                <a:spcPts val="480"/>
              </a:spcBef>
              <a:buClr>
                <a:srgbClr val="0070C0"/>
              </a:buClr>
              <a:buSzPct val="150000"/>
            </a:pPr>
            <a:r>
              <a:rPr lang="en-US" sz="28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DHCP works in a </a:t>
            </a:r>
            <a:r>
              <a:rPr lang="en-US" sz="2800" b="1" dirty="0">
                <a:solidFill>
                  <a:srgbClr val="7030A0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client/server mode</a:t>
            </a:r>
            <a:r>
              <a:rPr lang="en-US" sz="28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96875" indent="-341312">
              <a:spcBef>
                <a:spcPts val="480"/>
              </a:spcBef>
              <a:buClr>
                <a:srgbClr val="0070C0"/>
              </a:buClr>
              <a:buSzPct val="150000"/>
            </a:pPr>
            <a:r>
              <a:rPr lang="en-US" sz="30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When the client connects, the server assigns or </a:t>
            </a:r>
            <a:r>
              <a:rPr lang="en-US" sz="3000" b="1" dirty="0">
                <a:solidFill>
                  <a:srgbClr val="7030A0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leases </a:t>
            </a:r>
            <a:r>
              <a:rPr lang="en-US" sz="30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an IP address to the device.</a:t>
            </a:r>
            <a:endParaRPr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96875" indent="-341312">
              <a:spcBef>
                <a:spcPts val="480"/>
              </a:spcBef>
              <a:buClr>
                <a:srgbClr val="0070C0"/>
              </a:buClr>
              <a:buSzPct val="150000"/>
            </a:pPr>
            <a:r>
              <a:rPr lang="en-US" sz="30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The host must contact the DHCP server periodically to </a:t>
            </a:r>
            <a:r>
              <a:rPr lang="en-US" sz="3000" b="1" dirty="0">
                <a:solidFill>
                  <a:srgbClr val="7030A0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extend the lease</a:t>
            </a:r>
            <a:r>
              <a:rPr lang="en-US" sz="30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96875" indent="-341312">
              <a:spcBef>
                <a:spcPts val="480"/>
              </a:spcBef>
              <a:buClr>
                <a:srgbClr val="0070C0"/>
              </a:buClr>
              <a:buSzPct val="150000"/>
            </a:pPr>
            <a:r>
              <a:rPr lang="en-US" sz="30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The leasing of addresses assures that addresses that are no longer used are returned to the address pool for use by other devices. </a:t>
            </a:r>
            <a:endParaRPr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42900" indent="-190500">
              <a:spcBef>
                <a:spcPts val="480"/>
              </a:spcBef>
              <a:buClr>
                <a:srgbClr val="0070C0"/>
              </a:buClr>
              <a:buSzPct val="150000"/>
              <a:buNone/>
            </a:pPr>
            <a:endParaRPr dirty="0">
              <a:solidFill>
                <a:schemeClr val="tx1"/>
              </a:solidFill>
              <a:latin typeface="Corbel" panose="020B0503020204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6" descr="ips0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1090" y="1161544"/>
            <a:ext cx="5410200" cy="782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19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/>
        </p:nvSpPr>
        <p:spPr>
          <a:xfrm>
            <a:off x="2555631" y="17584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3600"/>
            </a:pPr>
            <a:r>
              <a:rPr lang="en-US" sz="4800" b="1" dirty="0" smtClean="0">
                <a:solidFill>
                  <a:schemeClr val="tx1"/>
                </a:solidFill>
                <a:latin typeface="Corbel" panose="020B0503020204020204" pitchFamily="34" charset="0"/>
              </a:rPr>
              <a:t>DHCP</a:t>
            </a:r>
            <a:r>
              <a:rPr lang="en-US" sz="4800" b="1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en-US" sz="4800" b="1" dirty="0" smtClean="0">
                <a:solidFill>
                  <a:schemeClr val="tx1"/>
                </a:solidFill>
                <a:latin typeface="Corbel" panose="020B0503020204020204" pitchFamily="34" charset="0"/>
              </a:rPr>
              <a:t>RELAY</a:t>
            </a:r>
            <a:endParaRPr sz="2000" b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AutoShape 2" descr="What is an DHCP? | Dynamic IP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Relay race icon in colors | Free Vecto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188" y="3084634"/>
            <a:ext cx="3457217" cy="242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8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00"/>
              </a:buClr>
              <a:buSzPts val="3200"/>
            </a:pPr>
            <a:r>
              <a:rPr lang="en-US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DHCP related issues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767387"/>
            <a:ext cx="9074331" cy="58702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79868" y="1222354"/>
            <a:ext cx="4249881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rbel" panose="020B0503020204020204" pitchFamily="34" charset="0"/>
              </a:rPr>
              <a:t>What is the problem here?</a:t>
            </a:r>
            <a:endParaRPr lang="en-IN" sz="2800" b="1" dirty="0">
              <a:solidFill>
                <a:srgbClr val="C0000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64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606" y="951075"/>
            <a:ext cx="9433559" cy="5870250"/>
          </a:xfrm>
          <a:prstGeom prst="rect">
            <a:avLst/>
          </a:prstGeom>
        </p:spPr>
      </p:pic>
      <p:sp>
        <p:nvSpPr>
          <p:cNvPr id="259" name="Google Shape;259;p29"/>
          <p:cNvSpPr txBox="1">
            <a:spLocks noGrp="1"/>
          </p:cNvSpPr>
          <p:nvPr>
            <p:ph type="title"/>
          </p:nvPr>
        </p:nvSpPr>
        <p:spPr>
          <a:xfrm>
            <a:off x="1676399" y="152400"/>
            <a:ext cx="98043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00"/>
              </a:buClr>
              <a:buSzPts val="3200"/>
            </a:pPr>
            <a:r>
              <a:rPr lang="en-US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Problem with DHCP Server not in the same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60" name="Google Shape;260;p29"/>
          <p:cNvSpPr txBox="1">
            <a:spLocks noGrp="1"/>
          </p:cNvSpPr>
          <p:nvPr>
            <p:ph type="body" idx="1"/>
          </p:nvPr>
        </p:nvSpPr>
        <p:spPr>
          <a:xfrm>
            <a:off x="1811382" y="11049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PC1 tries to obtain an IP configuration</a:t>
            </a:r>
            <a:endParaRPr sz="2800" b="1" dirty="0">
              <a:solidFill>
                <a:srgbClr val="0070C0"/>
              </a:solidFill>
              <a:latin typeface="Corbel" panose="020B0503020204020204" pitchFamily="34" charset="0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4589418" y="5487825"/>
            <a:ext cx="1201782" cy="965226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60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>
              <a:solidFill>
                <a:srgbClr val="FFFF00"/>
              </a:solidFill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3361509" y="5678325"/>
            <a:ext cx="1828800" cy="457200"/>
          </a:xfrm>
          <a:prstGeom prst="rect">
            <a:avLst/>
          </a:prstGeom>
          <a:solidFill>
            <a:srgbClr val="800000"/>
          </a:solidFill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FFFF00"/>
              </a:buClr>
              <a:buSzPts val="2400"/>
            </a:pPr>
            <a:r>
              <a:rPr lang="en-US" sz="2400" dirty="0">
                <a:solidFill>
                  <a:srgbClr val="FFFF00"/>
                </a:solidFill>
              </a:rPr>
              <a:t>Broadcast</a:t>
            </a:r>
            <a:endParaRPr dirty="0"/>
          </a:p>
        </p:txBody>
      </p:sp>
      <p:sp>
        <p:nvSpPr>
          <p:cNvPr id="2" name="&quot;No&quot; Symbol 1">
            <a:extLst>
              <a:ext uri="{FF2B5EF4-FFF2-40B4-BE49-F238E27FC236}">
                <a16:creationId xmlns:a16="http://schemas.microsoft.com/office/drawing/2014/main" id="{BF8E1E02-AB3A-023E-5A46-9C860E3F8686}"/>
              </a:ext>
            </a:extLst>
          </p:cNvPr>
          <p:cNvSpPr/>
          <p:nvPr/>
        </p:nvSpPr>
        <p:spPr>
          <a:xfrm>
            <a:off x="6222996" y="2296171"/>
            <a:ext cx="822039" cy="696411"/>
          </a:xfrm>
          <a:prstGeom prst="noSmoking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Google Shape;260;p29">
            <a:extLst>
              <a:ext uri="{FF2B5EF4-FFF2-40B4-BE49-F238E27FC236}">
                <a16:creationId xmlns:a16="http://schemas.microsoft.com/office/drawing/2014/main" id="{78641C91-B2E9-168D-20D4-CFE36A71104E}"/>
              </a:ext>
            </a:extLst>
          </p:cNvPr>
          <p:cNvSpPr txBox="1">
            <a:spLocks/>
          </p:cNvSpPr>
          <p:nvPr/>
        </p:nvSpPr>
        <p:spPr>
          <a:xfrm>
            <a:off x="7039691" y="16002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943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943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342900" indent="-342900"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2800" b="1" dirty="0">
                <a:solidFill>
                  <a:srgbClr val="C00000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Routers never forward broadcast packets!</a:t>
            </a:r>
            <a:endParaRPr lang="en-US" sz="2800" b="1" dirty="0">
              <a:solidFill>
                <a:srgbClr val="C00000"/>
              </a:solidFill>
              <a:latin typeface="Corbel" panose="020B0503020204020204" pitchFamily="34" charset="0"/>
            </a:endParaRPr>
          </a:p>
        </p:txBody>
      </p:sp>
      <p:sp>
        <p:nvSpPr>
          <p:cNvPr id="9" name="Google Shape;260;p29">
            <a:extLst>
              <a:ext uri="{FF2B5EF4-FFF2-40B4-BE49-F238E27FC236}">
                <a16:creationId xmlns:a16="http://schemas.microsoft.com/office/drawing/2014/main" id="{78641C91-B2E9-168D-20D4-CFE36A71104E}"/>
              </a:ext>
            </a:extLst>
          </p:cNvPr>
          <p:cNvSpPr txBox="1">
            <a:spLocks/>
          </p:cNvSpPr>
          <p:nvPr/>
        </p:nvSpPr>
        <p:spPr>
          <a:xfrm>
            <a:off x="8125153" y="2498101"/>
            <a:ext cx="2482510" cy="58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943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943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61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342900" indent="-342900"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Solution??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4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77 -0.025 L 0.05677 -0.025 C 0.053 -0.09074 0.05378 -0.06458 0.05677 -0.17662 C 0.0569 -0.1824 0.0599 -0.19074 0.06185 -0.1949 C 0.06654 -0.20486 0.06654 -0.20301 0.07201 -0.20995 C 0.07435 -0.21296 0.07656 -0.2162 0.07891 -0.21898 C 0.0806 -0.22106 0.0819 -0.22453 0.08399 -0.225 C 0.09518 -0.2287 0.1181 -0.23125 0.1181 -0.23125 C 0.11914 -0.23518 0.12044 -0.23912 0.12149 -0.24328 C 0.12266 -0.24838 0.12344 -0.25347 0.12487 -0.25833 C 0.12578 -0.2618 0.12708 -0.26458 0.12826 -0.26759 C 0.12943 -0.27569 0.13112 -0.28356 0.13164 -0.29166 C 0.13229 -0.30092 0.13294 -0.30995 0.13333 -0.31898 C 0.13412 -0.33426 0.13438 -0.3493 0.13503 -0.36458 C 0.13555 -0.3743 0.13711 -0.39074 0.13854 -0.40092 C 0.13958 -0.40903 0.14037 -0.41713 0.14193 -0.425 L 0.14701 -0.45231 C 0.14753 -0.45532 0.14792 -0.45856 0.1487 -0.46157 C 0.14987 -0.46551 0.15117 -0.46944 0.15208 -0.47361 C 0.15352 -0.47963 0.1556 -0.49166 0.1556 -0.49166 L 0.1556 -0.49166 L 0.1556 -0.49166 " pathEditMode="relative" ptsTypes="AAAAAAAAAAAAAAAAAAAAAA">
                                      <p:cBhvr>
                                        <p:cTn id="10" dur="2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 animBg="1"/>
      <p:bldP spid="267" grpId="1" animBg="1"/>
      <p:bldP spid="267" grpId="2" animBg="1"/>
      <p:bldP spid="2" grpId="0" animBg="1"/>
      <p:bldP spid="3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3B5AB9-37A2-F2CC-1EC2-191997273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59" y="351626"/>
            <a:ext cx="7085412" cy="4409061"/>
          </a:xfrm>
          <a:prstGeom prst="rect">
            <a:avLst/>
          </a:prstGeom>
        </p:spPr>
      </p:pic>
      <p:sp>
        <p:nvSpPr>
          <p:cNvPr id="3" name="Google Shape;292;p31"/>
          <p:cNvSpPr txBox="1">
            <a:spLocks noGrp="1"/>
          </p:cNvSpPr>
          <p:nvPr>
            <p:ph type="body" idx="1"/>
          </p:nvPr>
        </p:nvSpPr>
        <p:spPr>
          <a:xfrm>
            <a:off x="1285173" y="4760687"/>
            <a:ext cx="10543412" cy="122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dirty="0" smtClean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onfigure </a:t>
            </a:r>
            <a:r>
              <a:rPr lang="en-US" b="1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R1 Fa0/0 </a:t>
            </a:r>
            <a:r>
              <a:rPr lang="en-US" i="1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(the interface that receives the </a:t>
            </a:r>
            <a:r>
              <a:rPr lang="en-US" i="1" dirty="0" smtClean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PC1broadcasts</a:t>
            </a:r>
            <a:r>
              <a:rPr lang="en-US" i="1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relay DHCP broadcasts </a:t>
            </a:r>
            <a:r>
              <a:rPr lang="en-US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to the DHCP server, use the following commands:</a:t>
            </a:r>
            <a:endParaRPr dirty="0">
              <a:solidFill>
                <a:schemeClr val="bg2"/>
              </a:solidFill>
            </a:endParaRPr>
          </a:p>
          <a:p>
            <a:pPr marL="342900" indent="-266700">
              <a:spcBef>
                <a:spcPts val="240"/>
              </a:spcBef>
              <a:buClr>
                <a:srgbClr val="FFFF00"/>
              </a:buClr>
              <a:buSzPts val="1200"/>
              <a:buNone/>
            </a:pPr>
            <a:endParaRPr sz="1200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spcBef>
                <a:spcPts val="480"/>
              </a:spcBef>
              <a:buSzPts val="2400"/>
              <a:buNone/>
            </a:pPr>
            <a:r>
              <a:rPr lang="en-US" b="1" dirty="0">
                <a:solidFill>
                  <a:schemeClr val="bg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dirty="0">
              <a:solidFill>
                <a:srgbClr val="7030A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300618"/>
              </p:ext>
            </p:extLst>
          </p:nvPr>
        </p:nvGraphicFramePr>
        <p:xfrm>
          <a:off x="1615928" y="351626"/>
          <a:ext cx="8408911" cy="370840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319929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850697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433193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FFFFFFFFFFFF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+mj-lt"/>
                        </a:rPr>
                        <a:t>PC1</a:t>
                      </a:r>
                      <a:endParaRPr lang="en-IN" dirty="0">
                        <a:latin typeface="+mj-lt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255.255.255.255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+mj-lt"/>
                        </a:rPr>
                        <a:t>0.0.0.0</a:t>
                      </a:r>
                      <a:endParaRPr lang="en-IN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+mj-lt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+mj-lt"/>
                        </a:rPr>
                        <a:t>68</a:t>
                      </a:r>
                      <a:endParaRPr lang="en-IN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352801" y="5826370"/>
            <a:ext cx="6096000" cy="77200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ts val="480"/>
              </a:spcBef>
              <a:buSzPts val="2400"/>
              <a:buNone/>
            </a:pPr>
            <a:r>
              <a:rPr lang="en-US" sz="2000" b="1" dirty="0" smtClean="0">
                <a:solidFill>
                  <a:schemeClr val="bg2"/>
                </a:solidFill>
                <a:latin typeface="+mn-lt"/>
                <a:ea typeface="Courier New"/>
                <a:cs typeface="Courier New"/>
                <a:sym typeface="Courier New"/>
              </a:rPr>
              <a:t>R1(</a:t>
            </a:r>
            <a:r>
              <a:rPr lang="en-US" sz="2000" b="1" dirty="0" err="1" smtClean="0">
                <a:solidFill>
                  <a:schemeClr val="bg2"/>
                </a:solidFill>
                <a:latin typeface="+mn-lt"/>
                <a:ea typeface="Courier New"/>
                <a:cs typeface="Courier New"/>
                <a:sym typeface="Courier New"/>
              </a:rPr>
              <a:t>config</a:t>
            </a:r>
            <a:r>
              <a:rPr lang="en-US" sz="2000" b="1" dirty="0">
                <a:solidFill>
                  <a:schemeClr val="bg2"/>
                </a:solidFill>
                <a:latin typeface="+mn-lt"/>
                <a:ea typeface="Courier New"/>
                <a:cs typeface="Courier New"/>
                <a:sym typeface="Courier New"/>
              </a:rPr>
              <a:t>)#</a:t>
            </a:r>
            <a:r>
              <a:rPr lang="en-US" sz="2000" b="1" dirty="0">
                <a:solidFill>
                  <a:srgbClr val="7030A0"/>
                </a:solidFill>
                <a:latin typeface="+mn-lt"/>
                <a:ea typeface="Courier New"/>
                <a:cs typeface="Courier New"/>
                <a:sym typeface="Courier New"/>
              </a:rPr>
              <a:t>interface fa0/0</a:t>
            </a:r>
            <a:endParaRPr lang="en-US" sz="2000" dirty="0">
              <a:solidFill>
                <a:srgbClr val="7030A0"/>
              </a:solidFill>
              <a:latin typeface="+mn-lt"/>
            </a:endParaRPr>
          </a:p>
          <a:p>
            <a:pPr marL="342900" indent="-342900">
              <a:spcBef>
                <a:spcPts val="480"/>
              </a:spcBef>
              <a:buSzPts val="2400"/>
              <a:buNone/>
            </a:pPr>
            <a:r>
              <a:rPr lang="en-US" sz="2000" b="1" dirty="0" smtClean="0">
                <a:solidFill>
                  <a:schemeClr val="bg2"/>
                </a:solidFill>
                <a:latin typeface="+mn-lt"/>
                <a:ea typeface="Courier New"/>
                <a:cs typeface="Courier New"/>
                <a:sym typeface="Courier New"/>
              </a:rPr>
              <a:t>R1(</a:t>
            </a:r>
            <a:r>
              <a:rPr lang="en-US" sz="2000" b="1" dirty="0" err="1" smtClean="0">
                <a:solidFill>
                  <a:schemeClr val="bg2"/>
                </a:solidFill>
                <a:latin typeface="+mn-lt"/>
                <a:ea typeface="Courier New"/>
                <a:cs typeface="Courier New"/>
                <a:sym typeface="Courier New"/>
              </a:rPr>
              <a:t>config</a:t>
            </a:r>
            <a:r>
              <a:rPr lang="en-US" sz="2000" b="1" dirty="0" smtClean="0">
                <a:solidFill>
                  <a:schemeClr val="bg2"/>
                </a:solidFill>
                <a:latin typeface="+mn-lt"/>
                <a:ea typeface="Courier New"/>
                <a:cs typeface="Courier New"/>
                <a:sym typeface="Courier New"/>
              </a:rPr>
              <a:t>-if</a:t>
            </a:r>
            <a:r>
              <a:rPr lang="en-US" sz="2000" b="1" dirty="0">
                <a:solidFill>
                  <a:schemeClr val="bg2"/>
                </a:solidFill>
                <a:latin typeface="+mn-lt"/>
                <a:ea typeface="Courier New"/>
                <a:cs typeface="Courier New"/>
                <a:sym typeface="Courier New"/>
              </a:rPr>
              <a:t>)#</a:t>
            </a:r>
            <a:r>
              <a:rPr lang="en-US" sz="2000" b="1" dirty="0" err="1">
                <a:solidFill>
                  <a:srgbClr val="7030A0"/>
                </a:solidFill>
                <a:latin typeface="+mn-lt"/>
                <a:ea typeface="Courier New"/>
                <a:cs typeface="Courier New"/>
                <a:sym typeface="Courier New"/>
              </a:rPr>
              <a:t>ip</a:t>
            </a:r>
            <a:r>
              <a:rPr lang="en-US" sz="2000" b="1" dirty="0">
                <a:solidFill>
                  <a:srgbClr val="7030A0"/>
                </a:solidFill>
                <a:latin typeface="+mn-lt"/>
                <a:ea typeface="Courier New"/>
                <a:cs typeface="Courier New"/>
                <a:sym typeface="Courier New"/>
              </a:rPr>
              <a:t> helper-address </a:t>
            </a:r>
            <a:r>
              <a:rPr lang="en-US" sz="2000" b="1" dirty="0" smtClean="0">
                <a:solidFill>
                  <a:srgbClr val="7030A0"/>
                </a:solidFill>
                <a:latin typeface="+mn-lt"/>
                <a:ea typeface="Courier New"/>
                <a:cs typeface="Courier New"/>
                <a:sym typeface="Courier New"/>
              </a:rPr>
              <a:t>192.168.11.5</a:t>
            </a:r>
            <a:endParaRPr lang="en-US" sz="2000" dirty="0">
              <a:solidFill>
                <a:srgbClr val="7030A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171" y="3955284"/>
            <a:ext cx="486875" cy="3674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21723" y="408092"/>
            <a:ext cx="1242646" cy="2579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latin typeface="+mj-lt"/>
              </a:rPr>
              <a:t>192.168.11.5</a:t>
            </a:r>
            <a:endParaRPr lang="en-IN" sz="1200" b="1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80854" y="387996"/>
            <a:ext cx="840869" cy="2980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/>
              <a:t>R1 Fa0/1 Mac</a:t>
            </a:r>
            <a:endParaRPr lang="en-IN" sz="12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186" y="1604422"/>
            <a:ext cx="486875" cy="36745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244223" y="2410145"/>
            <a:ext cx="258436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orbel" panose="020B0503020204020204" pitchFamily="34" charset="0"/>
              </a:rPr>
              <a:t>Known as </a:t>
            </a:r>
            <a:endParaRPr lang="en-IN" sz="36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r>
              <a:rPr lang="en-US" sz="3600" b="1" dirty="0" smtClean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DHCP </a:t>
            </a:r>
            <a:r>
              <a:rPr lang="en-US" sz="3600" b="1" dirty="0" smtClean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Relay</a:t>
            </a:r>
            <a:endParaRPr lang="en-IN" sz="3600" dirty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12307" y="387995"/>
            <a:ext cx="1291116" cy="2980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/>
              <a:t>DHCP Server</a:t>
            </a:r>
            <a:endParaRPr lang="en-IN" sz="1200" b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634046"/>
              </p:ext>
            </p:extLst>
          </p:nvPr>
        </p:nvGraphicFramePr>
        <p:xfrm>
          <a:off x="1615919" y="35572"/>
          <a:ext cx="8408911" cy="307091"/>
        </p:xfrm>
        <a:graphic>
          <a:graphicData uri="http://schemas.openxmlformats.org/drawingml/2006/table">
            <a:tbl>
              <a:tblPr firstRow="1" bandRow="1">
                <a:tableStyleId>{90C09C94-4BB0-4BB4-BFDB-68857E5699F4}</a:tableStyleId>
              </a:tblPr>
              <a:tblGrid>
                <a:gridCol w="1201273">
                  <a:extLst>
                    <a:ext uri="{9D8B030D-6E8A-4147-A177-3AD203B41FA5}">
                      <a16:colId xmlns:a16="http://schemas.microsoft.com/office/drawing/2014/main" val="2578054236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31365979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327367636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973666477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2080055563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73596718"/>
                    </a:ext>
                  </a:extLst>
                </a:gridCol>
                <a:gridCol w="1201273">
                  <a:extLst>
                    <a:ext uri="{9D8B030D-6E8A-4147-A177-3AD203B41FA5}">
                      <a16:colId xmlns:a16="http://schemas.microsoft.com/office/drawing/2014/main" val="136511988"/>
                    </a:ext>
                  </a:extLst>
                </a:gridCol>
              </a:tblGrid>
              <a:tr h="307091"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dirty="0"/>
                        <a:t> MAC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</a:t>
                      </a:r>
                      <a:r>
                        <a:rPr lang="en-IN" baseline="0" dirty="0"/>
                        <a:t> MAC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err="1"/>
                        <a:t>Dest</a:t>
                      </a:r>
                      <a:r>
                        <a:rPr lang="en-IN" dirty="0"/>
                        <a:t>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Source IP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Dest</a:t>
                      </a:r>
                      <a:r>
                        <a:rPr lang="en-IN" baseline="0" dirty="0"/>
                        <a:t> 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8354"/>
                  </a:ext>
                </a:extLst>
              </a:tr>
            </a:tbl>
          </a:graphicData>
        </a:graphic>
      </p:graphicFrame>
      <p:sp>
        <p:nvSpPr>
          <p:cNvPr id="14" name="Google Shape;265;p29"/>
          <p:cNvSpPr/>
          <p:nvPr/>
        </p:nvSpPr>
        <p:spPr>
          <a:xfrm>
            <a:off x="4678567" y="1754099"/>
            <a:ext cx="739367" cy="29277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60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24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22222E-6 L 0.10365 -0.3726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82" y="-1863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85185E-6 L 0.18984 0.316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1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7" grpId="0" animBg="1"/>
      <p:bldP spid="8" grpId="0" animBg="1"/>
      <p:bldP spid="11" grpId="0"/>
      <p:bldP spid="12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Difference Between NAT and PAT (with Comparison Chart, Advantages and  Disadvantages) - Tech Differenc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17" y="1066799"/>
            <a:ext cx="5579932" cy="432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638330" y="2490622"/>
            <a:ext cx="5109091" cy="954107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rPr>
              <a:t>How many devices share one IP 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rPr>
              <a:t>address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38330" y="3845295"/>
            <a:ext cx="4390946" cy="52322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rbel" panose="020B0503020204020204" pitchFamily="34" charset="0"/>
              </a:rPr>
              <a:t>Why do we need to share??</a:t>
            </a:r>
            <a:endParaRPr lang="en-IN" sz="2800" b="1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  <p:pic>
        <p:nvPicPr>
          <p:cNvPr id="1030" name="Picture 6" descr="Running out of IPv4 Addresses? Here are two options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640" y="4522697"/>
            <a:ext cx="3086463" cy="209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>
            <a:spLocks noGrp="1"/>
          </p:cNvSpPr>
          <p:nvPr>
            <p:ph type="body" idx="1"/>
          </p:nvPr>
        </p:nvSpPr>
        <p:spPr>
          <a:xfrm>
            <a:off x="1288367" y="929579"/>
            <a:ext cx="6523221" cy="568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Two Categories</a:t>
            </a:r>
          </a:p>
          <a:p>
            <a:pPr marL="742950" lvl="1" indent="-285750">
              <a:spcBef>
                <a:spcPts val="0"/>
              </a:spcBef>
              <a:buSzPts val="3480"/>
            </a:pPr>
            <a:r>
              <a:rPr lang="en-US" sz="2800" dirty="0"/>
              <a:t>Private IP addresses</a:t>
            </a:r>
          </a:p>
          <a:p>
            <a:pPr marL="742950" lvl="1" indent="-285750">
              <a:spcBef>
                <a:spcPts val="0"/>
              </a:spcBef>
              <a:buSzPts val="3480"/>
            </a:pPr>
            <a:r>
              <a:rPr lang="en-US" sz="2800" dirty="0"/>
              <a:t>Public  IP addresses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Private IP Addresses: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Used </a:t>
            </a:r>
            <a:r>
              <a:rPr lang="en-US" altLang="en-US" sz="2800" b="1" dirty="0">
                <a:solidFill>
                  <a:schemeClr val="tx1"/>
                </a:solidFill>
                <a:latin typeface="Corbel" panose="020B0503020204020204" pitchFamily="34" charset="0"/>
              </a:rPr>
              <a:t>inside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 homes, offices, universities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orbel" panose="020B0503020204020204" pitchFamily="34" charset="0"/>
              </a:rPr>
              <a:t>Cannot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 be used on the internet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Safe and reusable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Assigned manually or via DHCP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3480"/>
            </a:pPr>
            <a:r>
              <a:rPr lang="en-US" altLang="en-US" b="1" dirty="0">
                <a:solidFill>
                  <a:schemeClr val="tx1"/>
                </a:solidFill>
                <a:latin typeface="Corbel" panose="020B0503020204020204" pitchFamily="34" charset="0"/>
              </a:rPr>
              <a:t>Example : </a:t>
            </a:r>
            <a:r>
              <a:rPr lang="en-US" altLang="en-US" dirty="0">
                <a:solidFill>
                  <a:schemeClr val="tx1"/>
                </a:solidFill>
                <a:latin typeface="Corbel" panose="020B0503020204020204" pitchFamily="34" charset="0"/>
              </a:rPr>
              <a:t>Separate three IP ranges</a:t>
            </a:r>
          </a:p>
        </p:txBody>
      </p:sp>
      <p:sp>
        <p:nvSpPr>
          <p:cNvPr id="372" name="Google Shape;372;p28"/>
          <p:cNvSpPr txBox="1">
            <a:spLocks noGrp="1"/>
          </p:cNvSpPr>
          <p:nvPr>
            <p:ph type="title"/>
          </p:nvPr>
        </p:nvSpPr>
        <p:spPr>
          <a:xfrm>
            <a:off x="1484310" y="162696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Category of IP Addresses</a:t>
            </a:r>
            <a:endParaRPr dirty="0"/>
          </a:p>
        </p:txBody>
      </p:sp>
      <p:pic>
        <p:nvPicPr>
          <p:cNvPr id="373" name="Google Shape;37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3" descr="Public and Private IP addresse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3" name="Picture 5" descr="Public and Private IP addresses - Homenet How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299" y="4218656"/>
            <a:ext cx="5899701" cy="242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717804" y="5244002"/>
            <a:ext cx="121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 smtClean="0">
                <a:solidFill>
                  <a:schemeClr val="accent5">
                    <a:lumMod val="75000"/>
                  </a:schemeClr>
                </a:solidFill>
              </a:rPr>
              <a:t>10.0.0.0/8</a:t>
            </a:r>
            <a:endParaRPr lang="en-IN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69769" y="5743936"/>
            <a:ext cx="173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 smtClean="0">
                <a:solidFill>
                  <a:schemeClr val="accent5">
                    <a:lumMod val="75000"/>
                  </a:schemeClr>
                </a:solidFill>
              </a:rPr>
              <a:t>172.16.0.0/12</a:t>
            </a:r>
            <a:endParaRPr lang="en-IN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69769" y="6168608"/>
            <a:ext cx="173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 smtClean="0">
                <a:solidFill>
                  <a:schemeClr val="accent5">
                    <a:lumMod val="75000"/>
                  </a:schemeClr>
                </a:solidFill>
              </a:rPr>
              <a:t>192.168.0.0/16</a:t>
            </a:r>
            <a:endParaRPr lang="en-IN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90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Category of IP Addresses</a:t>
            </a:r>
            <a:endParaRPr dirty="0"/>
          </a:p>
        </p:txBody>
      </p:sp>
      <p:pic>
        <p:nvPicPr>
          <p:cNvPr id="373" name="Google Shape;37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71;p28"/>
          <p:cNvSpPr txBox="1">
            <a:spLocks noGrp="1"/>
          </p:cNvSpPr>
          <p:nvPr>
            <p:ph type="body" idx="1"/>
          </p:nvPr>
        </p:nvSpPr>
        <p:spPr>
          <a:xfrm>
            <a:off x="1142565" y="990600"/>
            <a:ext cx="10470315" cy="568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Public IP Addresses: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US" sz="36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2950" lvl="1" indent="-285750">
              <a:spcBef>
                <a:spcPts val="0"/>
              </a:spcBef>
              <a:buSzPts val="3480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Used </a:t>
            </a:r>
            <a:r>
              <a:rPr lang="en-US" altLang="en-US" sz="3200" b="1" dirty="0">
                <a:solidFill>
                  <a:schemeClr val="tx1"/>
                </a:solidFill>
                <a:latin typeface="Corbel" panose="020B0503020204020204" pitchFamily="34" charset="0"/>
              </a:rPr>
              <a:t>on the internet</a:t>
            </a: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742950" lvl="1" indent="-285750">
              <a:spcBef>
                <a:spcPts val="0"/>
              </a:spcBef>
              <a:buSzPts val="3480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Must be unique globally</a:t>
            </a:r>
          </a:p>
          <a:p>
            <a:pPr marL="742950" lvl="1" indent="-285750">
              <a:spcBef>
                <a:spcPts val="0"/>
              </a:spcBef>
              <a:buSzPts val="3480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Provided by ISP</a:t>
            </a:r>
          </a:p>
          <a:p>
            <a:pPr marL="742950" lvl="1" indent="-285750">
              <a:spcBef>
                <a:spcPts val="0"/>
              </a:spcBef>
              <a:buSzPts val="3480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Expensive and limited</a:t>
            </a:r>
          </a:p>
          <a:p>
            <a:pPr marL="742950" lvl="1" indent="-285750">
              <a:spcBef>
                <a:spcPts val="0"/>
              </a:spcBef>
              <a:buSzPts val="3480"/>
            </a:pP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742950" lvl="1" indent="-285750">
              <a:spcBef>
                <a:spcPts val="0"/>
              </a:spcBef>
              <a:buSzPts val="3480"/>
            </a:pPr>
            <a:r>
              <a:rPr lang="en-US" altLang="en-US" sz="3200" b="1" dirty="0">
                <a:solidFill>
                  <a:srgbClr val="0070C0"/>
                </a:solidFill>
                <a:latin typeface="Corbel" panose="020B0503020204020204" pitchFamily="34" charset="0"/>
              </a:rPr>
              <a:t>Example :</a:t>
            </a:r>
            <a:r>
              <a:rPr lang="en-US" altLang="en-US" sz="3200" b="1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en-US" sz="3200" dirty="0">
                <a:latin typeface="Corbel" panose="020B0503020204020204" pitchFamily="34" charset="0"/>
              </a:rPr>
              <a:t>Any IP address not within the above private ranges can be considered a public IP address. </a:t>
            </a: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pic>
        <p:nvPicPr>
          <p:cNvPr id="1026" name="Picture 2" descr="IP - Free technology icons">
            <a:extLst>
              <a:ext uri="{FF2B5EF4-FFF2-40B4-BE49-F238E27FC236}">
                <a16:creationId xmlns:a16="http://schemas.microsoft.com/office/drawing/2014/main" id="{68BF12CC-F22D-F14F-595F-85A388D76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787" y="173200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Public Addresses</a:t>
            </a:r>
            <a:endParaRPr dirty="0"/>
          </a:p>
        </p:txBody>
      </p:sp>
      <p:sp>
        <p:nvSpPr>
          <p:cNvPr id="363" name="Google Shape;363;p27"/>
          <p:cNvSpPr txBox="1">
            <a:spLocks noGrp="1"/>
          </p:cNvSpPr>
          <p:nvPr>
            <p:ph type="body" idx="1"/>
          </p:nvPr>
        </p:nvSpPr>
        <p:spPr>
          <a:xfrm>
            <a:off x="1484310" y="1242291"/>
            <a:ext cx="10018713" cy="319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>
              <a:spcBef>
                <a:spcPts val="0"/>
              </a:spcBef>
              <a:buSzPts val="2900"/>
            </a:pPr>
            <a:r>
              <a:rPr lang="en-US" sz="3200" dirty="0"/>
              <a:t>Must be unique worldwide</a:t>
            </a:r>
          </a:p>
          <a:p>
            <a:pPr marL="285750" lvl="0" indent="-285750">
              <a:spcBef>
                <a:spcPts val="0"/>
              </a:spcBef>
              <a:buSzPts val="2900"/>
            </a:pPr>
            <a:endParaRPr lang="en-US" sz="3200" dirty="0"/>
          </a:p>
          <a:p>
            <a:pPr marL="285750" lvl="0" indent="-285750">
              <a:spcBef>
                <a:spcPts val="0"/>
              </a:spcBef>
              <a:buSzPts val="2900"/>
            </a:pPr>
            <a:r>
              <a:rPr lang="en-US" sz="3200" dirty="0"/>
              <a:t>Given by ISPs and regulated by global organizations called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Regional Internet Registries (RIRs).</a:t>
            </a:r>
          </a:p>
          <a:p>
            <a:pPr marL="285750" lvl="0" indent="-285750">
              <a:spcBef>
                <a:spcPts val="0"/>
              </a:spcBef>
              <a:buSzPts val="2900"/>
            </a:pPr>
            <a:endParaRPr lang="en-US" sz="3200" dirty="0"/>
          </a:p>
          <a:p>
            <a:pPr marL="285750" lvl="0" indent="-285750">
              <a:spcBef>
                <a:spcPts val="0"/>
              </a:spcBef>
              <a:buSzPts val="2900"/>
            </a:pPr>
            <a:r>
              <a:rPr lang="en-US" sz="3200" dirty="0"/>
              <a:t>Organizations that owns the public IP can use it on their network.</a:t>
            </a:r>
          </a:p>
        </p:txBody>
      </p:sp>
      <p:pic>
        <p:nvPicPr>
          <p:cNvPr id="364" name="Google Shape;36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6114" y="4813466"/>
            <a:ext cx="7935515" cy="190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WHY??</a:t>
            </a:r>
            <a:endParaRPr dirty="0"/>
          </a:p>
        </p:txBody>
      </p:sp>
      <p:sp>
        <p:nvSpPr>
          <p:cNvPr id="380" name="Google Shape;380;p29"/>
          <p:cNvSpPr txBox="1">
            <a:spLocks noGrp="1"/>
          </p:cNvSpPr>
          <p:nvPr>
            <p:ph type="body" idx="1"/>
          </p:nvPr>
        </p:nvSpPr>
        <p:spPr>
          <a:xfrm>
            <a:off x="1484310" y="1392194"/>
            <a:ext cx="10533519" cy="341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IN" sz="3200" dirty="0"/>
              <a:t>Why categorise into Public and Private IP addresses?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IN" sz="32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IN" sz="3200" dirty="0"/>
              <a:t>How does using Private IP addresses help us save IP addresses?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IN" sz="32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IN" sz="3200" dirty="0"/>
              <a:t>Private addresses cannot be routed in the Internet– Do we want this?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IN" sz="2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 sz="2800" dirty="0"/>
          </a:p>
        </p:txBody>
      </p:sp>
      <p:pic>
        <p:nvPicPr>
          <p:cNvPr id="381" name="Google Shape;38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9"/>
          <p:cNvSpPr txBox="1"/>
          <p:nvPr/>
        </p:nvSpPr>
        <p:spPr>
          <a:xfrm>
            <a:off x="2170545" y="5551055"/>
            <a:ext cx="3356196" cy="369291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 Address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7355541" y="5551014"/>
            <a:ext cx="2590800" cy="369332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Public Address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29"/>
          <p:cNvCxnSpPr/>
          <p:nvPr/>
        </p:nvCxnSpPr>
        <p:spPr>
          <a:xfrm>
            <a:off x="5654488" y="5623542"/>
            <a:ext cx="1524000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0800" dist="38100" dir="2700000" algn="tl" rotWithShape="0">
              <a:srgbClr val="000000">
                <a:alpha val="77254"/>
              </a:srgbClr>
            </a:outerShdw>
          </a:effectLst>
        </p:spPr>
      </p:cxnSp>
      <p:cxnSp>
        <p:nvCxnSpPr>
          <p:cNvPr id="385" name="Google Shape;385;p29"/>
          <p:cNvCxnSpPr/>
          <p:nvPr/>
        </p:nvCxnSpPr>
        <p:spPr>
          <a:xfrm rot="10800000">
            <a:off x="5616388" y="5865151"/>
            <a:ext cx="1600200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0800" dist="38100" dir="2700000" algn="tl" rotWithShape="0">
              <a:srgbClr val="000000">
                <a:alpha val="77254"/>
              </a:srgbClr>
            </a:outerShdw>
          </a:effectLst>
        </p:spPr>
      </p:cxnSp>
      <p:sp>
        <p:nvSpPr>
          <p:cNvPr id="386" name="Google Shape;386;p29"/>
          <p:cNvSpPr txBox="1"/>
          <p:nvPr/>
        </p:nvSpPr>
        <p:spPr>
          <a:xfrm>
            <a:off x="5890391" y="6106761"/>
            <a:ext cx="914400" cy="369300"/>
          </a:xfrm>
          <a:prstGeom prst="rect">
            <a:avLst/>
          </a:prstGeom>
          <a:solidFill>
            <a:srgbClr val="003300"/>
          </a:solidFill>
          <a:ln w="254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0" animBg="1"/>
      <p:bldP spid="383" grpId="0" animBg="1"/>
      <p:bldP spid="38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Sending</a:t>
            </a:r>
            <a:endParaRPr/>
          </a:p>
        </p:txBody>
      </p:sp>
      <p:pic>
        <p:nvPicPr>
          <p:cNvPr id="421" name="Google Shape;42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3" descr="ips27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1193" y="1605005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 descr="ips28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2193" y="5338805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4" name="Google Shape;424;p33"/>
          <p:cNvGraphicFramePr/>
          <p:nvPr/>
        </p:nvGraphicFramePr>
        <p:xfrm>
          <a:off x="3462793" y="5415005"/>
          <a:ext cx="3429000" cy="669980"/>
        </p:xfrm>
        <a:graphic>
          <a:graphicData uri="http://schemas.openxmlformats.org/drawingml/2006/table">
            <a:tbl>
              <a:tblPr firstRow="1" bandRow="1">
                <a:noFill/>
                <a:tableStyleId>{90C09C94-4BB0-4BB4-BFDB-68857E5699F4}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 dirty="0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 dirty="0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209.165.201.1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192.168.10.10</a:t>
                      </a:r>
                      <a:endParaRPr sz="1400" u="none" strike="noStrike" cap="none" dirty="0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5" name="Google Shape;425;p33"/>
          <p:cNvSpPr txBox="1"/>
          <p:nvPr/>
        </p:nvSpPr>
        <p:spPr>
          <a:xfrm>
            <a:off x="1938793" y="1147805"/>
            <a:ext cx="6324600" cy="646331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outside network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33"/>
          <p:cNvGrpSpPr/>
          <p:nvPr/>
        </p:nvGrpSpPr>
        <p:grpSpPr>
          <a:xfrm>
            <a:off x="3843793" y="2824205"/>
            <a:ext cx="4978400" cy="2209800"/>
            <a:chOff x="2133600" y="2590800"/>
            <a:chExt cx="4978400" cy="2209800"/>
          </a:xfrm>
        </p:grpSpPr>
        <p:pic>
          <p:nvPicPr>
            <p:cNvPr id="427" name="Google Shape;427;p33" descr="ips29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28" name="Google Shape;428;p33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7254"/>
                </a:srgbClr>
              </a:outerShdw>
            </a:effectLst>
          </p:spPr>
        </p:cxnSp>
      </p:grpSp>
      <p:grpSp>
        <p:nvGrpSpPr>
          <p:cNvPr id="429" name="Google Shape;429;p33"/>
          <p:cNvGrpSpPr/>
          <p:nvPr/>
        </p:nvGrpSpPr>
        <p:grpSpPr>
          <a:xfrm>
            <a:off x="3996193" y="4424405"/>
            <a:ext cx="2895600" cy="457200"/>
            <a:chOff x="2286000" y="4191000"/>
            <a:chExt cx="2895600" cy="457200"/>
          </a:xfrm>
        </p:grpSpPr>
        <p:sp>
          <p:nvSpPr>
            <p:cNvPr id="430" name="Google Shape;430;p33"/>
            <p:cNvSpPr/>
            <p:nvPr/>
          </p:nvSpPr>
          <p:spPr>
            <a:xfrm>
              <a:off x="2286000" y="4343400"/>
              <a:ext cx="11430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2" name="Google Shape;432;p33"/>
            <p:cNvCxnSpPr/>
            <p:nvPr/>
          </p:nvCxnSpPr>
          <p:spPr>
            <a:xfrm>
              <a:off x="3200400" y="4191000"/>
              <a:ext cx="6096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7254"/>
                </a:srgbClr>
              </a:outerShdw>
            </a:effectLst>
          </p:spPr>
        </p:cxnSp>
      </p:grpSp>
      <p:grpSp>
        <p:nvGrpSpPr>
          <p:cNvPr id="433" name="Google Shape;433;p33"/>
          <p:cNvGrpSpPr/>
          <p:nvPr/>
        </p:nvGrpSpPr>
        <p:grpSpPr>
          <a:xfrm>
            <a:off x="4758193" y="4576805"/>
            <a:ext cx="3505200" cy="990600"/>
            <a:chOff x="3048000" y="4343400"/>
            <a:chExt cx="3505200" cy="990600"/>
          </a:xfrm>
        </p:grpSpPr>
        <p:sp>
          <p:nvSpPr>
            <p:cNvPr id="434" name="Google Shape;434;p33"/>
            <p:cNvSpPr/>
            <p:nvPr/>
          </p:nvSpPr>
          <p:spPr>
            <a:xfrm>
              <a:off x="5410200" y="4343400"/>
              <a:ext cx="1143000" cy="304800"/>
            </a:xfrm>
            <a:prstGeom prst="rect">
              <a:avLst/>
            </a:prstGeom>
            <a:noFill/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5" name="Google Shape;435;p33"/>
            <p:cNvCxnSpPr/>
            <p:nvPr/>
          </p:nvCxnSpPr>
          <p:spPr>
            <a:xfrm rot="10800000" flipH="1">
              <a:off x="3048000" y="4724400"/>
              <a:ext cx="2590800" cy="609600"/>
            </a:xfrm>
            <a:prstGeom prst="straightConnector1">
              <a:avLst/>
            </a:prstGeom>
            <a:noFill/>
            <a:ln w="50800" cap="flat" cmpd="sng">
              <a:solidFill>
                <a:srgbClr val="0070C0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7254"/>
                </a:srgbClr>
              </a:outerShdw>
            </a:effectLst>
          </p:spPr>
        </p:cxnSp>
      </p:grpSp>
      <p:graphicFrame>
        <p:nvGraphicFramePr>
          <p:cNvPr id="436" name="Google Shape;436;p33"/>
          <p:cNvGraphicFramePr/>
          <p:nvPr/>
        </p:nvGraphicFramePr>
        <p:xfrm>
          <a:off x="5596393" y="2900405"/>
          <a:ext cx="3429000" cy="669980"/>
        </p:xfrm>
        <a:graphic>
          <a:graphicData uri="http://schemas.openxmlformats.org/drawingml/2006/table">
            <a:tbl>
              <a:tblPr firstRow="1" bandRow="1">
                <a:noFill/>
                <a:tableStyleId>{90C09C94-4BB0-4BB4-BFDB-68857E5699F4}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209.165.201.1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209.165.200.226</a:t>
                      </a:r>
                      <a:endParaRPr sz="1400" u="none" strike="noStrike" cap="none" dirty="0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7" name="Google Shape;437;p33"/>
          <p:cNvSpPr txBox="1"/>
          <p:nvPr/>
        </p:nvSpPr>
        <p:spPr>
          <a:xfrm>
            <a:off x="5824993" y="213840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lang="en-US" sz="1400" b="1" i="0" u="none" strike="noStrike" cap="none" dirty="0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445;p34" descr="ips28.jpg">
            <a:extLst>
              <a:ext uri="{FF2B5EF4-FFF2-40B4-BE49-F238E27FC236}">
                <a16:creationId xmlns:a16="http://schemas.microsoft.com/office/drawing/2014/main" id="{786127CF-1F53-71B5-DCFB-286617F046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0193" y="2484848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59 -0.01736 L 0.01159 -0.01736 C 0.01523 -0.02871 0.01875 -0.04005 0.02226 -0.05139 C 0.02318 -0.05417 0.02409 -0.05672 0.02474 -0.05973 C 0.02539 -0.0632 0.02539 -0.0669 0.02591 -0.07037 C 0.02656 -0.07477 0.02747 -0.07894 0.02825 -0.08311 C 0.02864 -0.08727 0.02943 -0.09144 0.02943 -0.09584 C 0.02943 -0.11274 0.02904 -0.12917 0.02474 -0.14445 C 0.02305 -0.15024 0.02135 -0.15255 0.01875 -0.15718 C 0.01797 -0.15996 0.01706 -0.16274 0.0164 -0.16551 C 0.01419 -0.17477 0.01042 -0.19306 0.01042 -0.19306 C 0.00898 -0.21366 0.00768 -0.22431 0.01042 -0.24815 C 0.01094 -0.25301 0.01354 -0.25672 0.01523 -0.26088 C 0.01953 -0.2713 0.02383 -0.27917 0.02943 -0.2882 C 0.03086 -0.29074 0.03268 -0.29236 0.03424 -0.29468 C 0.03984 -0.30301 0.04518 -0.31204 0.05091 -0.32014 C 0.0612 -0.33473 0.0543 -0.32477 0.06159 -0.33056 C 0.06562 -0.33403 0.06953 -0.3375 0.07344 -0.34121 C 0.07474 -0.34236 0.07578 -0.34445 0.07708 -0.34537 C 0.0793 -0.34723 0.0819 -0.34815 0.08424 -0.34977 C 0.09219 -0.3551 0.09987 -0.36181 0.10794 -0.36667 C 0.11042 -0.36806 0.11263 -0.37014 0.1151 -0.37084 L 0.12226 -0.37292 C 0.12669 -0.37593 0.13411 -0.38102 0.13893 -0.38357 C 0.14453 -0.38635 0.15013 -0.38866 0.1556 -0.3919 C 0.15924 -0.39422 0.16263 -0.39815 0.16627 -0.40047 C 0.16901 -0.40209 0.18294 -0.4044 0.18411 -0.40463 C 0.18594 -0.40556 0.19336 -0.4088 0.19492 -0.4088 C 0.20325 -0.4088 0.21146 -0.40672 0.21979 -0.40672 C 0.22044 -0.40672 0.21901 -0.40811 0.21862 -0.4088 L 0.21862 -0.4088 L 0.21862 -0.4088 " pathEditMode="relative" ptsTypes="AAAAAAAAAAAAAAAAAAAAAAAAAAAAAAAA">
                                      <p:cBhvr>
                                        <p:cTn id="10" dur="2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0.00648 L 0.22279 0.00648 " pathEditMode="relative" ptsTypes="AA">
                                      <p:cBhvr>
                                        <p:cTn id="5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Receiving</a:t>
            </a:r>
            <a:endParaRPr/>
          </a:p>
        </p:txBody>
      </p:sp>
      <p:pic>
        <p:nvPicPr>
          <p:cNvPr id="443" name="Google Shape;4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4" descr="ips27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1165" y="1465729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4" descr="ips28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6965" y="4510876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6" name="Google Shape;446;p34"/>
          <p:cNvGraphicFramePr/>
          <p:nvPr/>
        </p:nvGraphicFramePr>
        <p:xfrm>
          <a:off x="7019365" y="5428129"/>
          <a:ext cx="3505200" cy="669980"/>
        </p:xfrm>
        <a:graphic>
          <a:graphicData uri="http://schemas.openxmlformats.org/drawingml/2006/table">
            <a:tbl>
              <a:tblPr firstRow="1" bandRow="1">
                <a:noFill/>
                <a:tableStyleId>{90C09C94-4BB0-4BB4-BFDB-68857E5699F4}</a:tableStyleId>
              </a:tblPr>
              <a:tblGrid>
                <a:gridCol w="171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209.165.200.226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209.165.201.1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7" name="Google Shape;447;p34"/>
          <p:cNvSpPr txBox="1"/>
          <p:nvPr/>
        </p:nvSpPr>
        <p:spPr>
          <a:xfrm>
            <a:off x="2218765" y="1008529"/>
            <a:ext cx="6324600" cy="646331"/>
          </a:xfrm>
          <a:prstGeom prst="rect">
            <a:avLst/>
          </a:prstGeom>
          <a:solidFill>
            <a:srgbClr val="003300"/>
          </a:solidFill>
          <a:ln w="254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lang="en-US" sz="1800" b="1" i="0" u="none" strike="noStrike" cap="non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inside network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34"/>
          <p:cNvGrpSpPr/>
          <p:nvPr/>
        </p:nvGrpSpPr>
        <p:grpSpPr>
          <a:xfrm>
            <a:off x="4123765" y="2684929"/>
            <a:ext cx="4978400" cy="2209800"/>
            <a:chOff x="2133600" y="2590800"/>
            <a:chExt cx="4978400" cy="2209800"/>
          </a:xfrm>
        </p:grpSpPr>
        <p:pic>
          <p:nvPicPr>
            <p:cNvPr id="449" name="Google Shape;449;p34" descr="ips29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0" name="Google Shape;450;p34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7254"/>
                </a:srgbClr>
              </a:outerShdw>
            </a:effectLst>
          </p:spPr>
        </p:cxnSp>
      </p:grpSp>
      <p:graphicFrame>
        <p:nvGraphicFramePr>
          <p:cNvPr id="451" name="Google Shape;451;p34"/>
          <p:cNvGraphicFramePr/>
          <p:nvPr/>
        </p:nvGraphicFramePr>
        <p:xfrm>
          <a:off x="2218765" y="1999129"/>
          <a:ext cx="3429000" cy="669980"/>
        </p:xfrm>
        <a:graphic>
          <a:graphicData uri="http://schemas.openxmlformats.org/drawingml/2006/table">
            <a:tbl>
              <a:tblPr firstRow="1" bandRow="1">
                <a:noFill/>
                <a:tableStyleId>{90C09C94-4BB0-4BB4-BFDB-68857E5699F4}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192.168.10.10</a:t>
                      </a:r>
                      <a:endParaRPr sz="1400" u="none" strike="noStrike" cap="none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209.165.201.1</a:t>
                      </a:r>
                      <a:endParaRPr sz="1400" u="none" strike="noStrike" cap="none" dirty="0"/>
                    </a:p>
                  </a:txBody>
                  <a:tcPr marL="91450" marR="91450" marT="45575" marB="45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2" name="Google Shape;452;p34"/>
          <p:cNvSpPr/>
          <p:nvPr/>
        </p:nvSpPr>
        <p:spPr>
          <a:xfrm>
            <a:off x="7400365" y="4437529"/>
            <a:ext cx="1143000" cy="304800"/>
          </a:xfrm>
          <a:prstGeom prst="rect">
            <a:avLst/>
          </a:prstGeom>
          <a:noFill/>
          <a:ln w="381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34"/>
          <p:cNvGrpSpPr/>
          <p:nvPr/>
        </p:nvGrpSpPr>
        <p:grpSpPr>
          <a:xfrm>
            <a:off x="4276165" y="4208929"/>
            <a:ext cx="2895600" cy="533400"/>
            <a:chOff x="2286000" y="4114800"/>
            <a:chExt cx="2895600" cy="533400"/>
          </a:xfrm>
        </p:grpSpPr>
        <p:sp>
          <p:nvSpPr>
            <p:cNvPr id="454" name="Google Shape;454;p34"/>
            <p:cNvSpPr/>
            <p:nvPr/>
          </p:nvSpPr>
          <p:spPr>
            <a:xfrm>
              <a:off x="2286000" y="4343400"/>
              <a:ext cx="12192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5" name="Google Shape;455;p34"/>
            <p:cNvCxnSpPr/>
            <p:nvPr/>
          </p:nvCxnSpPr>
          <p:spPr>
            <a:xfrm rot="10800000">
              <a:off x="3048000" y="4114800"/>
              <a:ext cx="7620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>
              <a:outerShdw blurRad="50800" dist="38100" dir="2700000" algn="tl" rotWithShape="0">
                <a:srgbClr val="000000">
                  <a:alpha val="77254"/>
                </a:srgbClr>
              </a:outerShdw>
            </a:effectLst>
          </p:spPr>
        </p:cxnSp>
        <p:sp>
          <p:nvSpPr>
            <p:cNvPr id="456" name="Google Shape;456;p34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p34"/>
          <p:cNvSpPr txBox="1"/>
          <p:nvPr/>
        </p:nvSpPr>
        <p:spPr>
          <a:xfrm>
            <a:off x="6104965" y="1999129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445;p34" descr="ips28.jpg">
            <a:extLst>
              <a:ext uri="{FF2B5EF4-FFF2-40B4-BE49-F238E27FC236}">
                <a16:creationId xmlns:a16="http://schemas.microsoft.com/office/drawing/2014/main" id="{E25E6972-FCAA-107D-6195-00FB113A3B1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9266" y="2501291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47 -0.02268 L 0.00547 -0.02245 C 0.00495 -0.04861 0.0043 -0.07453 0.00404 -0.10046 C 0.00338 -0.15301 0.00351 -0.20555 0.00273 -0.2581 C 0.0026 -0.26342 0.00104 -0.2824 1.25E-6 -0.28958 C -0.00078 -0.29444 -0.00182 -0.2993 -0.00274 -0.30416 C -0.00326 -0.30648 -0.00339 -0.30926 -0.00417 -0.31134 C -0.00599 -0.3162 -0.00651 -0.32407 -0.00964 -0.32592 C -0.01094 -0.32685 -0.01237 -0.32731 -0.01367 -0.32847 C -0.01758 -0.33125 -0.01927 -0.33426 -0.02318 -0.33565 C -0.02643 -0.3368 -0.02956 -0.33727 -0.03281 -0.33796 L -0.08464 -0.33565 C -0.08828 -0.33541 -0.0918 -0.33379 -0.09544 -0.33333 C -0.10365 -0.33217 -0.11185 -0.33171 -0.12005 -0.33078 C -0.125 -0.32963 -0.13867 -0.32662 -0.14323 -0.32592 C -0.15091 -0.325 -0.15859 -0.32453 -0.16641 -0.32361 C -0.17188 -0.32291 -0.17734 -0.32199 -0.18268 -0.32106 L -0.22774 -0.32361 C -0.25052 -0.32523 -0.24388 -0.32291 -0.25638 -0.32847 C -0.29414 -0.32592 -0.28216 -0.3162 -0.29583 -0.32847 L -0.29583 -0.32824 L -0.29583 -0.32847 " pathEditMode="relative" rAng="0" ptsTypes="AAAAAAAAAAAAAAAAAAAAAA">
                                      <p:cBhvr>
                                        <p:cTn id="10" dur="20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65" y="-1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33 -0.01065 L 0.01133 -0.01065 C -0.02825 -0.00533 -0.01237 -0.00833 -0.03646 -0.00347 C -0.0414 -0.00116 -0.04648 0.00162 -0.05143 0.0037 C -0.05911 0.00717 -0.06693 0.00995 -0.07461 0.01342 C -0.08776 0.01944 -0.097 0.02569 -0.11015 0.03055 C -0.11367 0.03171 -0.11732 0.03194 -0.12096 0.03287 C -0.14297 0.03842 -0.1112 0.0338 -0.15781 0.03773 C -0.16055 0.03935 -0.16328 0.04143 -0.16601 0.04259 C -0.17474 0.04653 -0.18099 0.04676 -0.18919 0.05231 C -0.19427 0.05579 -0.20247 0.06505 -0.2069 0.06921 C -0.20963 0.07176 -0.2125 0.07361 -0.2151 0.07639 C -0.21706 0.07847 -0.21862 0.08171 -0.22057 0.0838 C -0.22226 0.08565 -0.22422 0.0868 -0.22604 0.08866 C -0.22799 0.09074 -0.22956 0.09352 -0.23151 0.09583 C -0.23281 0.09768 -0.23424 0.09907 -0.23555 0.10069 C -0.23646 0.10324 -0.23763 0.10532 -0.23828 0.1081 C -0.23945 0.11273 -0.2401 0.11759 -0.24101 0.12245 C -0.2414 0.125 -0.24167 0.12755 -0.24232 0.12986 C -0.24323 0.1331 -0.24427 0.13611 -0.24505 0.13958 C -0.24726 0.14815 -0.24765 0.15092 -0.24922 0.1588 C -0.24036 0.22176 -0.24922 0.15532 -0.24922 0.33102 C -0.24922 0.43935 -0.25716 0.40949 -0.24648 0.44745 L -0.24648 0.44745 L -0.24779 0.44259 " pathEditMode="relative" ptsTypes="AAAAAAAAAAAAAAAAAAAAAAAAA">
                                      <p:cBhvr>
                                        <p:cTn id="4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Advantages of NAT</a:t>
            </a:r>
            <a:endParaRPr/>
          </a:p>
        </p:txBody>
      </p:sp>
      <p:sp>
        <p:nvSpPr>
          <p:cNvPr id="463" name="Google Shape;463;p35"/>
          <p:cNvSpPr txBox="1">
            <a:spLocks noGrp="1"/>
          </p:cNvSpPr>
          <p:nvPr>
            <p:ph type="body" idx="1"/>
          </p:nvPr>
        </p:nvSpPr>
        <p:spPr>
          <a:xfrm>
            <a:off x="974857" y="1392194"/>
            <a:ext cx="10707691" cy="399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>
              <a:spcBef>
                <a:spcPts val="1000"/>
              </a:spcBef>
              <a:buSzPts val="2900"/>
            </a:pPr>
            <a:r>
              <a:rPr lang="en-US" altLang="en-US" sz="3600" b="1" dirty="0">
                <a:solidFill>
                  <a:srgbClr val="7030A0"/>
                </a:solidFill>
                <a:latin typeface="Corbel" panose="020B0503020204020204" pitchFamily="34" charset="0"/>
              </a:rPr>
              <a:t>Helps save </a:t>
            </a:r>
            <a:r>
              <a:rPr lang="en-US" altLang="en-US" sz="3600" b="1" dirty="0">
                <a:solidFill>
                  <a:schemeClr val="tx1"/>
                </a:solidFill>
                <a:latin typeface="Corbel" panose="020B0503020204020204" pitchFamily="34" charset="0"/>
              </a:rPr>
              <a:t>official IP addresses</a:t>
            </a:r>
          </a:p>
          <a:p>
            <a:pPr marL="742950" lvl="1" indent="-285750">
              <a:spcBef>
                <a:spcPts val="1000"/>
              </a:spcBef>
              <a:buSzPts val="2900"/>
            </a:pPr>
            <a:r>
              <a:rPr lang="en-US" altLang="en-US" sz="3600" b="1" dirty="0">
                <a:solidFill>
                  <a:schemeClr val="tx1"/>
                </a:solidFill>
                <a:latin typeface="Corbel" panose="020B0503020204020204" pitchFamily="34" charset="0"/>
              </a:rPr>
              <a:t>Keeps internal network settings </a:t>
            </a:r>
            <a:r>
              <a:rPr lang="en-US" altLang="en-US" sz="3600" b="1" dirty="0">
                <a:solidFill>
                  <a:srgbClr val="7030A0"/>
                </a:solidFill>
                <a:latin typeface="Corbel" panose="020B0503020204020204" pitchFamily="34" charset="0"/>
              </a:rPr>
              <a:t>consistent</a:t>
            </a:r>
            <a:r>
              <a:rPr lang="en-US" altLang="en-US" sz="3600" b="1" dirty="0">
                <a:solidFill>
                  <a:schemeClr val="tx1"/>
                </a:solidFill>
                <a:latin typeface="Corbel" panose="020B0503020204020204" pitchFamily="34" charset="0"/>
              </a:rPr>
              <a:t>,</a:t>
            </a: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 even when public IP configurations change.</a:t>
            </a:r>
          </a:p>
          <a:p>
            <a:pPr marL="742950" lvl="1" indent="-285750">
              <a:spcBef>
                <a:spcPts val="1000"/>
              </a:spcBef>
              <a:buSzPts val="2900"/>
            </a:pPr>
            <a:r>
              <a:rPr lang="en-US" altLang="en-US" sz="3600" b="1" dirty="0">
                <a:solidFill>
                  <a:schemeClr val="tx1"/>
                </a:solidFill>
                <a:latin typeface="Corbel" panose="020B0503020204020204" pitchFamily="34" charset="0"/>
              </a:rPr>
              <a:t>keeps user and </a:t>
            </a:r>
            <a:r>
              <a:rPr lang="en-US" altLang="en-US" sz="3600" b="1" dirty="0">
                <a:solidFill>
                  <a:srgbClr val="7030A0"/>
                </a:solidFill>
                <a:latin typeface="Corbel" panose="020B0503020204020204" pitchFamily="34" charset="0"/>
              </a:rPr>
              <a:t>device IPs private</a:t>
            </a:r>
            <a:r>
              <a:rPr lang="en-US" altLang="en-US" sz="3600" dirty="0">
                <a:solidFill>
                  <a:srgbClr val="7030A0"/>
                </a:solidFill>
                <a:latin typeface="Corbel" panose="020B0503020204020204" pitchFamily="34" charset="0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Corbel" panose="020B0503020204020204" pitchFamily="34" charset="0"/>
              </a:rPr>
              <a:t>from the outside internet, enhancing security. </a:t>
            </a:r>
          </a:p>
          <a:p>
            <a:pPr marL="742950" lvl="1" indent="-285750">
              <a:spcBef>
                <a:spcPts val="1000"/>
              </a:spcBef>
              <a:buSzPts val="2900"/>
            </a:pPr>
            <a:endParaRPr dirty="0"/>
          </a:p>
        </p:txBody>
      </p:sp>
      <p:pic>
        <p:nvPicPr>
          <p:cNvPr id="464" name="Google Shape;46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Disadvantages of NAT</a:t>
            </a:r>
            <a:endParaRPr/>
          </a:p>
        </p:txBody>
      </p:sp>
      <p:sp>
        <p:nvSpPr>
          <p:cNvPr id="470" name="Google Shape;470;p36"/>
          <p:cNvSpPr txBox="1">
            <a:spLocks noGrp="1"/>
          </p:cNvSpPr>
          <p:nvPr>
            <p:ph type="body" idx="1"/>
          </p:nvPr>
        </p:nvSpPr>
        <p:spPr>
          <a:xfrm>
            <a:off x="1429381" y="1392194"/>
            <a:ext cx="10128570" cy="388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 dirty="0"/>
              <a:t>NAT </a:t>
            </a:r>
            <a:r>
              <a:rPr lang="en-US" sz="4000" b="1" dirty="0">
                <a:solidFill>
                  <a:srgbClr val="7030A0"/>
                </a:solidFill>
              </a:rPr>
              <a:t>increases</a:t>
            </a:r>
            <a:r>
              <a:rPr lang="en-US" sz="4000" b="1" dirty="0"/>
              <a:t> delays</a:t>
            </a:r>
            <a:r>
              <a:rPr lang="en-US" sz="4000" dirty="0"/>
              <a:t>.</a:t>
            </a:r>
            <a:endParaRPr sz="4000"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 dirty="0"/>
              <a:t>End-to-end </a:t>
            </a:r>
            <a:r>
              <a:rPr lang="en-US" sz="4000" b="1" dirty="0"/>
              <a:t>IPv4 </a:t>
            </a:r>
            <a:r>
              <a:rPr lang="en-US" sz="4000" b="1" dirty="0">
                <a:solidFill>
                  <a:srgbClr val="7030A0"/>
                </a:solidFill>
              </a:rPr>
              <a:t>traceability </a:t>
            </a:r>
            <a:r>
              <a:rPr lang="en-US" sz="4000" b="1" dirty="0"/>
              <a:t>is lost</a:t>
            </a:r>
            <a:r>
              <a:rPr lang="en-US" sz="4000" dirty="0"/>
              <a:t>.</a:t>
            </a:r>
            <a:endParaRPr sz="4000"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 b="1" dirty="0">
                <a:solidFill>
                  <a:srgbClr val="7030A0"/>
                </a:solidFill>
              </a:rPr>
              <a:t>Can cause problems</a:t>
            </a:r>
            <a:r>
              <a:rPr lang="en-US" sz="4000" b="1" dirty="0"/>
              <a:t> for some protocols</a:t>
            </a:r>
            <a:r>
              <a:rPr lang="en-US" sz="4000" dirty="0"/>
              <a:t>, such as </a:t>
            </a:r>
            <a:r>
              <a:rPr lang="en-US" sz="4000" dirty="0" err="1"/>
              <a:t>Ipsec</a:t>
            </a:r>
            <a:r>
              <a:rPr lang="en-US" sz="4000" dirty="0"/>
              <a:t>, VPN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endParaRPr sz="4000"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3200"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dirty="0"/>
          </a:p>
        </p:txBody>
      </p:sp>
      <p:pic>
        <p:nvPicPr>
          <p:cNvPr id="471" name="Google Shape;47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2170835" y="4865105"/>
            <a:ext cx="7534868" cy="70788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742950" lvl="1" indent="-285750">
              <a:spcBef>
                <a:spcPts val="1000"/>
              </a:spcBef>
              <a:buSzPts val="2900"/>
            </a:pPr>
            <a:r>
              <a:rPr lang="en-US" sz="4000" b="1" dirty="0">
                <a:solidFill>
                  <a:srgbClr val="FF0000"/>
                </a:solidFill>
              </a:rPr>
              <a:t>Main issue</a:t>
            </a:r>
            <a:r>
              <a:rPr lang="en-US" sz="4000" dirty="0">
                <a:solidFill>
                  <a:srgbClr val="FF0000"/>
                </a:solidFill>
              </a:rPr>
              <a:t>: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Does not </a:t>
            </a:r>
            <a:r>
              <a:rPr lang="en-US" sz="4000" b="1" dirty="0">
                <a:solidFill>
                  <a:srgbClr val="7030A0"/>
                </a:solidFill>
              </a:rPr>
              <a:t>scale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7"/>
          <p:cNvSpPr txBox="1">
            <a:spLocks noGrp="1"/>
          </p:cNvSpPr>
          <p:nvPr>
            <p:ph type="title"/>
          </p:nvPr>
        </p:nvSpPr>
        <p:spPr>
          <a:xfrm>
            <a:off x="1288367" y="1514115"/>
            <a:ext cx="10018713" cy="239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 dirty="0"/>
              <a:t>PAT (NAT Overload)</a:t>
            </a:r>
            <a:endParaRPr dirty="0"/>
          </a:p>
        </p:txBody>
      </p:sp>
      <p:pic>
        <p:nvPicPr>
          <p:cNvPr id="477" name="Google Shape;47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2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00"/>
              </a:buClr>
              <a:buSzPts val="3200"/>
            </a:pPr>
            <a:r>
              <a:rPr lang="en-US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NAT Overload (PAT)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00" name="Google Shape;500;p52"/>
          <p:cNvSpPr txBox="1">
            <a:spLocks noGrp="1"/>
          </p:cNvSpPr>
          <p:nvPr>
            <p:ph type="body" idx="1"/>
          </p:nvPr>
        </p:nvSpPr>
        <p:spPr>
          <a:xfrm>
            <a:off x="1358538" y="838199"/>
            <a:ext cx="10528662" cy="560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Port Address Translation (PAT) = 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0070C0"/>
                </a:solidFill>
              </a:rPr>
              <a:t>Real-world NAT</a:t>
            </a:r>
          </a:p>
          <a:p>
            <a:pPr marL="342900"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endParaRPr lang="en-US" sz="2800" dirty="0"/>
          </a:p>
          <a:p>
            <a:pPr marL="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 dirty="0"/>
              <a:t>Allows </a:t>
            </a:r>
            <a:r>
              <a:rPr lang="en-US" sz="3200" b="1" dirty="0">
                <a:solidFill>
                  <a:srgbClr val="0070C0"/>
                </a:solidFill>
              </a:rPr>
              <a:t>many devices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/>
              <a:t>to share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one public IP</a:t>
            </a:r>
            <a:endParaRPr lang="en-US" sz="3200" dirty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  <a:ea typeface="Arial"/>
              <a:cs typeface="Arial"/>
              <a:sym typeface="Arial"/>
            </a:endParaRPr>
          </a:p>
          <a:p>
            <a:pPr marL="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 dirty="0"/>
              <a:t>Uses </a:t>
            </a:r>
            <a:r>
              <a:rPr lang="en-US" sz="3200" b="1" dirty="0">
                <a:solidFill>
                  <a:srgbClr val="0070C0"/>
                </a:solidFill>
              </a:rPr>
              <a:t>port numbers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/>
              <a:t>to differentiate the devices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IN" sz="3200" dirty="0"/>
              <a:t>Router keeps a table: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3200" dirty="0"/>
              <a:t>	Private IP + Port → Public IP + New Port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 dirty="0"/>
              <a:t>Each connection becomes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unique</a:t>
            </a:r>
            <a:r>
              <a:rPr lang="en-US" sz="3200" dirty="0"/>
              <a:t> because of the port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 dirty="0"/>
              <a:t>PAT </a:t>
            </a:r>
            <a:r>
              <a:rPr lang="en-US" sz="3200" b="1" dirty="0">
                <a:solidFill>
                  <a:srgbClr val="0070C0"/>
                </a:solidFill>
              </a:rPr>
              <a:t>changes</a:t>
            </a:r>
            <a:r>
              <a:rPr lang="en-US" sz="3200" dirty="0"/>
              <a:t> both the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IP address </a:t>
            </a:r>
            <a:r>
              <a:rPr lang="en-US" sz="3200" i="1" dirty="0"/>
              <a:t>and</a:t>
            </a:r>
            <a:r>
              <a:rPr lang="en-US" sz="3200" dirty="0"/>
              <a:t> the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port number</a:t>
            </a:r>
            <a:r>
              <a:rPr lang="en-US" sz="3200" dirty="0"/>
              <a:t>.</a:t>
            </a:r>
          </a:p>
          <a:p>
            <a:pPr marL="342900">
              <a:spcBef>
                <a:spcPts val="0"/>
              </a:spcBef>
              <a:buClr>
                <a:srgbClr val="0070C0"/>
              </a:buClr>
              <a:buSzPts val="2400"/>
              <a:buFont typeface="Tahoma"/>
              <a:buChar char="•"/>
            </a:pPr>
            <a:endParaRPr sz="28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6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3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00"/>
              </a:buClr>
              <a:buSzPts val="3200"/>
            </a:pPr>
            <a:r>
              <a:rPr lang="en-US" sz="48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PAT Operation</a:t>
            </a:r>
            <a:endParaRPr sz="60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pic>
        <p:nvPicPr>
          <p:cNvPr id="507" name="Google Shape;507;p53" descr="ips3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3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400"/>
            </a:pPr>
            <a:r>
              <a:rPr lang="en-US" b="1">
                <a:solidFill>
                  <a:schemeClr val="dk1"/>
                </a:solidFill>
              </a:rPr>
              <a:t>209.165.200.226</a:t>
            </a:r>
            <a:endParaRPr/>
          </a:p>
        </p:txBody>
      </p:sp>
      <p:cxnSp>
        <p:nvCxnSpPr>
          <p:cNvPr id="509" name="Google Shape;509;p53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ffectLst>
            <a:outerShdw blurRad="63500" dist="38100" dir="2700000">
              <a:srgbClr val="000000">
                <a:alpha val="77647"/>
              </a:srgbClr>
            </a:outerShdw>
          </a:effectLst>
        </p:spPr>
      </p:cxnSp>
      <p:graphicFrame>
        <p:nvGraphicFramePr>
          <p:cNvPr id="510" name="Google Shape;510;p53"/>
          <p:cNvGraphicFramePr/>
          <p:nvPr/>
        </p:nvGraphicFramePr>
        <p:xfrm>
          <a:off x="4191001" y="2819400"/>
          <a:ext cx="3886175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1" name="Google Shape;511;p53"/>
          <p:cNvGraphicFramePr/>
          <p:nvPr/>
        </p:nvGraphicFramePr>
        <p:xfrm>
          <a:off x="2514601" y="1905000"/>
          <a:ext cx="3886175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2" name="Google Shape;512;p53"/>
          <p:cNvGraphicFramePr/>
          <p:nvPr/>
        </p:nvGraphicFramePr>
        <p:xfrm>
          <a:off x="2590800" y="4724400"/>
          <a:ext cx="3886200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13" name="Google Shape;513;p53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id="514" name="Google Shape;514;p53" descr="ips31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15" name="Google Shape;515;p53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>
              <a:outerShdw blurRad="63500" dist="38100" dir="2700000">
                <a:srgbClr val="000000">
                  <a:alpha val="77647"/>
                </a:srgbClr>
              </a:outerShdw>
            </a:effectLst>
          </p:spPr>
        </p:cxnSp>
      </p:grpSp>
      <p:graphicFrame>
        <p:nvGraphicFramePr>
          <p:cNvPr id="516" name="Google Shape;516;p53"/>
          <p:cNvGraphicFramePr/>
          <p:nvPr/>
        </p:nvGraphicFramePr>
        <p:xfrm>
          <a:off x="4191000" y="3581400"/>
          <a:ext cx="3886200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17" name="Google Shape;517;p53"/>
          <p:cNvGrpSpPr/>
          <p:nvPr/>
        </p:nvGrpSpPr>
        <p:grpSpPr>
          <a:xfrm>
            <a:off x="2819400" y="5791200"/>
            <a:ext cx="4191000" cy="762000"/>
            <a:chOff x="1295400" y="5791200"/>
            <a:chExt cx="4191000" cy="762000"/>
          </a:xfrm>
        </p:grpSpPr>
        <p:sp>
          <p:nvSpPr>
            <p:cNvPr id="518" name="Google Shape;518;p53"/>
            <p:cNvSpPr txBox="1"/>
            <p:nvPr/>
          </p:nvSpPr>
          <p:spPr>
            <a:xfrm>
              <a:off x="1295400" y="5791200"/>
              <a:ext cx="4191000" cy="7620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>
                <a:srgbClr val="000000">
                  <a:alpha val="3960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2400">
                <a:solidFill>
                  <a:srgbClr val="FFFF00"/>
                </a:solidFill>
              </a:endParaRPr>
            </a:p>
          </p:txBody>
        </p:sp>
        <p:cxnSp>
          <p:nvCxnSpPr>
            <p:cNvPr id="519" name="Google Shape;519;p53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>
              <a:outerShdw blurRad="63500" dist="38100" dir="2700000">
                <a:srgbClr val="000000">
                  <a:alpha val="77647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08760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54" descr="ips3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4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400"/>
            </a:pPr>
            <a:r>
              <a:rPr lang="en-US" b="1">
                <a:solidFill>
                  <a:schemeClr val="dk1"/>
                </a:solidFill>
              </a:rPr>
              <a:t>209.165.200.226</a:t>
            </a:r>
            <a:endParaRPr/>
          </a:p>
        </p:txBody>
      </p:sp>
      <p:cxnSp>
        <p:nvCxnSpPr>
          <p:cNvPr id="528" name="Google Shape;528;p54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ffectLst>
            <a:outerShdw blurRad="63500" dist="38100" dir="2700000">
              <a:srgbClr val="000000">
                <a:alpha val="77647"/>
              </a:srgbClr>
            </a:outerShdw>
          </a:effectLst>
        </p:spPr>
      </p:cxnSp>
      <p:graphicFrame>
        <p:nvGraphicFramePr>
          <p:cNvPr id="529" name="Google Shape;529;p54"/>
          <p:cNvGraphicFramePr/>
          <p:nvPr/>
        </p:nvGraphicFramePr>
        <p:xfrm>
          <a:off x="4114801" y="2743200"/>
          <a:ext cx="3886175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0" name="Google Shape;530;p54"/>
          <p:cNvGraphicFramePr/>
          <p:nvPr/>
        </p:nvGraphicFramePr>
        <p:xfrm>
          <a:off x="6477001" y="1828800"/>
          <a:ext cx="3886175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1" name="Google Shape;531;p54"/>
          <p:cNvGraphicFramePr/>
          <p:nvPr/>
        </p:nvGraphicFramePr>
        <p:xfrm>
          <a:off x="4114800" y="3429000"/>
          <a:ext cx="3886200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2" name="Google Shape;532;p54"/>
          <p:cNvGraphicFramePr/>
          <p:nvPr/>
        </p:nvGraphicFramePr>
        <p:xfrm>
          <a:off x="6477000" y="4648200"/>
          <a:ext cx="3886200" cy="609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33" name="Google Shape;533;p54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id="534" name="Google Shape;534;p54" descr="ips31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5" name="Google Shape;535;p54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>
              <a:outerShdw blurRad="63500" dist="38100" dir="2700000">
                <a:srgbClr val="000000">
                  <a:alpha val="77647"/>
                </a:srgbClr>
              </a:outerShdw>
            </a:effectLst>
          </p:spPr>
        </p:cxnSp>
      </p:grpSp>
      <p:grpSp>
        <p:nvGrpSpPr>
          <p:cNvPr id="536" name="Google Shape;536;p54"/>
          <p:cNvGrpSpPr/>
          <p:nvPr/>
        </p:nvGrpSpPr>
        <p:grpSpPr>
          <a:xfrm>
            <a:off x="4419600" y="5791200"/>
            <a:ext cx="5105400" cy="762000"/>
            <a:chOff x="2895600" y="5791200"/>
            <a:chExt cx="5105400" cy="762000"/>
          </a:xfrm>
        </p:grpSpPr>
        <p:sp>
          <p:nvSpPr>
            <p:cNvPr id="537" name="Google Shape;537;p54"/>
            <p:cNvSpPr txBox="1"/>
            <p:nvPr/>
          </p:nvSpPr>
          <p:spPr>
            <a:xfrm>
              <a:off x="3505200" y="5791200"/>
              <a:ext cx="4495800" cy="7620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>
                <a:srgbClr val="000000">
                  <a:alpha val="3960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2400">
                <a:solidFill>
                  <a:srgbClr val="FFFF00"/>
                </a:solidFill>
              </a:endParaRPr>
            </a:p>
          </p:txBody>
        </p:sp>
        <p:cxnSp>
          <p:nvCxnSpPr>
            <p:cNvPr id="538" name="Google Shape;538;p54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>
              <a:outerShdw blurRad="63500" dist="38100" dir="2700000">
                <a:srgbClr val="000000">
                  <a:alpha val="77647"/>
                </a:srgbClr>
              </a:outerShdw>
            </a:effectLst>
          </p:spPr>
        </p:cxnSp>
      </p:grpSp>
      <p:sp>
        <p:nvSpPr>
          <p:cNvPr id="2" name="Google Shape;505;p53">
            <a:extLst>
              <a:ext uri="{FF2B5EF4-FFF2-40B4-BE49-F238E27FC236}">
                <a16:creationId xmlns:a16="http://schemas.microsoft.com/office/drawing/2014/main" id="{F3089DDF-E51A-5737-676B-5FA82BB96B01}"/>
              </a:ext>
            </a:extLst>
          </p:cNvPr>
          <p:cNvSpPr txBox="1">
            <a:spLocks/>
          </p:cNvSpPr>
          <p:nvPr/>
        </p:nvSpPr>
        <p:spPr>
          <a:xfrm>
            <a:off x="1765300" y="9435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FF00"/>
              </a:buClr>
              <a:buSzPts val="3200"/>
            </a:pPr>
            <a:r>
              <a:rPr lang="en-US" sz="4800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PAT Operation</a:t>
            </a:r>
            <a:endParaRPr lang="en-US" sz="60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95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5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00"/>
              </a:buClr>
              <a:buSzPts val="3200"/>
            </a:pPr>
            <a:r>
              <a:rPr lang="en-US" dirty="0">
                <a:solidFill>
                  <a:schemeClr val="tx1"/>
                </a:solidFill>
                <a:latin typeface="Corbel" panose="020B0503020204020204" pitchFamily="34" charset="0"/>
                <a:ea typeface="Arial"/>
                <a:cs typeface="Arial"/>
                <a:sym typeface="Arial"/>
              </a:rPr>
              <a:t>PAT Operation</a:t>
            </a:r>
            <a:endParaRPr sz="48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544" name="Google Shape;544;p55"/>
          <p:cNvSpPr txBox="1">
            <a:spLocks noGrp="1"/>
          </p:cNvSpPr>
          <p:nvPr>
            <p:ph type="body" idx="1"/>
          </p:nvPr>
        </p:nvSpPr>
        <p:spPr>
          <a:xfrm>
            <a:off x="1676400" y="11430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rgbClr val="FFFF00"/>
              </a:buClr>
              <a:buSzPts val="2400"/>
              <a:buFont typeface="Tahoma"/>
              <a:buChar char="•"/>
            </a:pPr>
            <a:r>
              <a:rPr lang="en-US" b="1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NEXT AVAILABLE PORT NUMBER</a:t>
            </a:r>
            <a:endParaRPr b="1" dirty="0">
              <a:solidFill>
                <a:srgbClr val="0070C0"/>
              </a:solidFill>
            </a:endParaRPr>
          </a:p>
        </p:txBody>
      </p:sp>
      <p:pic>
        <p:nvPicPr>
          <p:cNvPr id="545" name="Google Shape;545;p55" descr="ips3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2057400"/>
            <a:ext cx="8839200" cy="403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6" name="Google Shape;546;p55"/>
          <p:cNvGrpSpPr/>
          <p:nvPr/>
        </p:nvGrpSpPr>
        <p:grpSpPr>
          <a:xfrm>
            <a:off x="2743200" y="3810001"/>
            <a:ext cx="2057400" cy="579437"/>
            <a:chOff x="1219200" y="3810000"/>
            <a:chExt cx="2057400" cy="579864"/>
          </a:xfrm>
        </p:grpSpPr>
        <p:pic>
          <p:nvPicPr>
            <p:cNvPr id="547" name="Google Shape;547;p55" descr="ips28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55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1600"/>
              </a:pPr>
              <a:r>
                <a:rPr lang="en-US" sz="1600" b="1">
                  <a:solidFill>
                    <a:schemeClr val="dk1"/>
                  </a:solidFill>
                </a:rPr>
                <a:t>192.168.10.11:1444</a:t>
              </a:r>
              <a:endParaRPr/>
            </a:p>
          </p:txBody>
        </p:sp>
      </p:grpSp>
      <p:grpSp>
        <p:nvGrpSpPr>
          <p:cNvPr id="549" name="Google Shape;549;p55"/>
          <p:cNvGrpSpPr/>
          <p:nvPr/>
        </p:nvGrpSpPr>
        <p:grpSpPr>
          <a:xfrm>
            <a:off x="2743200" y="4876801"/>
            <a:ext cx="2057400" cy="579437"/>
            <a:chOff x="1219200" y="3810000"/>
            <a:chExt cx="2057400" cy="579864"/>
          </a:xfrm>
        </p:grpSpPr>
        <p:pic>
          <p:nvPicPr>
            <p:cNvPr id="550" name="Google Shape;550;p55" descr="ips28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1" name="Google Shape;551;p55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1600"/>
              </a:pPr>
              <a:r>
                <a:rPr lang="en-US" sz="1600" b="1">
                  <a:solidFill>
                    <a:schemeClr val="dk1"/>
                  </a:solidFill>
                </a:rPr>
                <a:t>192.168.10.12:1444</a:t>
              </a:r>
              <a:endParaRPr/>
            </a:p>
          </p:txBody>
        </p:sp>
      </p:grpSp>
      <p:pic>
        <p:nvPicPr>
          <p:cNvPr id="552" name="Google Shape;552;p55" descr="ips3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0" y="5122025"/>
            <a:ext cx="51435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5"/>
          <p:cNvSpPr txBox="1"/>
          <p:nvPr/>
        </p:nvSpPr>
        <p:spPr>
          <a:xfrm>
            <a:off x="5486400" y="6019800"/>
            <a:ext cx="4267200" cy="1524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>
              <a:solidFill>
                <a:srgbClr val="FFFF00"/>
              </a:solidFill>
            </a:endParaRPr>
          </a:p>
        </p:txBody>
      </p:sp>
      <p:cxnSp>
        <p:nvCxnSpPr>
          <p:cNvPr id="554" name="Google Shape;554;p55"/>
          <p:cNvCxnSpPr/>
          <p:nvPr/>
        </p:nvCxnSpPr>
        <p:spPr>
          <a:xfrm rot="-5400000" flipH="1">
            <a:off x="6134100" y="4000500"/>
            <a:ext cx="1295400" cy="12192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ffectLst>
            <a:outerShdw blurRad="63500" dist="38100" dir="2700000">
              <a:srgbClr val="000000">
                <a:alpha val="77647"/>
              </a:srgbClr>
            </a:outerShdw>
          </a:effectLst>
        </p:spPr>
      </p:cxnSp>
      <p:sp>
        <p:nvSpPr>
          <p:cNvPr id="555" name="Google Shape;555;p55"/>
          <p:cNvSpPr txBox="1"/>
          <p:nvPr/>
        </p:nvSpPr>
        <p:spPr>
          <a:xfrm>
            <a:off x="5410200" y="5715000"/>
            <a:ext cx="4267200" cy="304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60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>
              <a:solidFill>
                <a:srgbClr val="FFFF00"/>
              </a:solidFill>
            </a:endParaRPr>
          </a:p>
        </p:txBody>
      </p:sp>
      <p:sp>
        <p:nvSpPr>
          <p:cNvPr id="556" name="Google Shape;556;p55"/>
          <p:cNvSpPr txBox="1"/>
          <p:nvPr/>
        </p:nvSpPr>
        <p:spPr>
          <a:xfrm>
            <a:off x="7848600" y="5638800"/>
            <a:ext cx="1905000" cy="685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>
              <a:srgbClr val="000000">
                <a:alpha val="3960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36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Packets without Ports</a:t>
            </a:r>
            <a:endParaRPr dirty="0"/>
          </a:p>
        </p:txBody>
      </p:sp>
      <p:sp>
        <p:nvSpPr>
          <p:cNvPr id="499" name="Google Shape;499;p40"/>
          <p:cNvSpPr txBox="1">
            <a:spLocks noGrp="1"/>
          </p:cNvSpPr>
          <p:nvPr>
            <p:ph type="body" idx="1"/>
          </p:nvPr>
        </p:nvSpPr>
        <p:spPr>
          <a:xfrm>
            <a:off x="1400286" y="1275816"/>
            <a:ext cx="10186760" cy="4589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Some protocols (like </a:t>
            </a: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ICMP</a:t>
            </a: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) do </a:t>
            </a:r>
            <a:r>
              <a:rPr lang="en-US" altLang="en-US" sz="3200" b="1" dirty="0">
                <a:solidFill>
                  <a:srgbClr val="FF0000"/>
                </a:solidFill>
                <a:latin typeface="Corbel" panose="020B0503020204020204" pitchFamily="34" charset="0"/>
              </a:rPr>
              <a:t>not</a:t>
            </a: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 have </a:t>
            </a:r>
            <a:r>
              <a:rPr lang="en-US" altLang="en-US" sz="3200" b="1" dirty="0">
                <a:solidFill>
                  <a:srgbClr val="0070C0"/>
                </a:solidFill>
                <a:latin typeface="Corbel" panose="020B0503020204020204" pitchFamily="34" charset="0"/>
              </a:rPr>
              <a:t>TCP/UDP port numbers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PAT still needs a way to identify each connection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ICMP uses a </a:t>
            </a:r>
            <a:r>
              <a:rPr lang="en-US" altLang="en-US" sz="3200" b="1" dirty="0">
                <a:solidFill>
                  <a:srgbClr val="0070C0"/>
                </a:solidFill>
                <a:latin typeface="Corbel" panose="020B0503020204020204" pitchFamily="34" charset="0"/>
              </a:rPr>
              <a:t>Query ID</a:t>
            </a:r>
            <a:r>
              <a:rPr lang="en-US" altLang="en-US" sz="3200" dirty="0">
                <a:solidFill>
                  <a:srgbClr val="0070C0"/>
                </a:solidFill>
                <a:latin typeface="Corbel" panose="020B0503020204020204" pitchFamily="34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to match request  reply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endParaRPr lang="en-US" altLang="en-US" sz="32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PAT uses this </a:t>
            </a:r>
            <a:r>
              <a:rPr lang="en-US" altLang="en-US" sz="3200" b="1" dirty="0">
                <a:solidFill>
                  <a:srgbClr val="0070C0"/>
                </a:solidFill>
                <a:latin typeface="Corbel" panose="020B0503020204020204" pitchFamily="34" charset="0"/>
              </a:rPr>
              <a:t>Query ID </a:t>
            </a:r>
            <a:r>
              <a:rPr lang="en-US" altLang="en-US" sz="3200" dirty="0">
                <a:solidFill>
                  <a:schemeClr val="tx1"/>
                </a:solidFill>
                <a:latin typeface="Corbel" panose="020B0503020204020204" pitchFamily="34" charset="0"/>
              </a:rPr>
              <a:t>the same way it uses port numbers</a:t>
            </a:r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dirty="0"/>
          </a:p>
        </p:txBody>
      </p:sp>
      <p:pic>
        <p:nvPicPr>
          <p:cNvPr id="500" name="Google Shape;50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Port Forwarding</a:t>
            </a:r>
            <a:endParaRPr/>
          </a:p>
        </p:txBody>
      </p:sp>
      <p:pic>
        <p:nvPicPr>
          <p:cNvPr id="540" name="Google Shape;54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063" y="3161147"/>
            <a:ext cx="5316039" cy="2990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546" name="Google Shape;546;p46"/>
          <p:cNvSpPr txBox="1">
            <a:spLocks noGrp="1"/>
          </p:cNvSpPr>
          <p:nvPr>
            <p:ph type="body" idx="1"/>
          </p:nvPr>
        </p:nvSpPr>
        <p:spPr>
          <a:xfrm>
            <a:off x="1290346" y="1406048"/>
            <a:ext cx="10486018" cy="1888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85750" lvl="0" indent="-285750">
              <a:spcBef>
                <a:spcPts val="0"/>
              </a:spcBef>
              <a:buSzPts val="3480"/>
            </a:pPr>
            <a:r>
              <a:rPr lang="en-US" sz="2800" dirty="0"/>
              <a:t>Sometimes  we need access to services hosted on private IP addresses (like home security cameras or personal web servers) </a:t>
            </a:r>
            <a:r>
              <a:rPr lang="en-US" sz="2800" b="1" dirty="0">
                <a:solidFill>
                  <a:srgbClr val="7030A0"/>
                </a:solidFill>
              </a:rPr>
              <a:t>from the internet.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endParaRPr lang="en-US" sz="28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dirty="0"/>
              <a:t>Can we do that?? Why? Why not?</a:t>
            </a:r>
          </a:p>
        </p:txBody>
      </p:sp>
      <p:pic>
        <p:nvPicPr>
          <p:cNvPr id="547" name="Google Shape;54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54;p47" descr="Port Forwarding Exampl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3014" y="3202165"/>
            <a:ext cx="8081750" cy="35172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039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45;p55" descr="ips32.jpg">
            <a:extLst>
              <a:ext uri="{FF2B5EF4-FFF2-40B4-BE49-F238E27FC236}">
                <a16:creationId xmlns:a16="http://schemas.microsoft.com/office/drawing/2014/main" id="{D97C9F58-5721-CA22-ACEF-BF20B45B414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76647" y="1375755"/>
            <a:ext cx="9712036" cy="444315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4F5B1D-6FA1-1450-E018-11239E01376B}"/>
              </a:ext>
            </a:extLst>
          </p:cNvPr>
          <p:cNvSpPr txBox="1"/>
          <p:nvPr/>
        </p:nvSpPr>
        <p:spPr>
          <a:xfrm>
            <a:off x="1576647" y="2277686"/>
            <a:ext cx="2394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rbel" panose="020B0503020204020204" pitchFamily="34" charset="0"/>
              </a:rPr>
              <a:t>www.software.com</a:t>
            </a:r>
            <a:endParaRPr lang="en-US" sz="2000" b="1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0BFA8-3DB2-B86C-51F2-4118862219F0}"/>
              </a:ext>
            </a:extLst>
          </p:cNvPr>
          <p:cNvSpPr txBox="1"/>
          <p:nvPr/>
        </p:nvSpPr>
        <p:spPr>
          <a:xfrm>
            <a:off x="1576647" y="5818908"/>
            <a:ext cx="4245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One Public IP : 200.20.20.4</a:t>
            </a:r>
          </a:p>
        </p:txBody>
      </p:sp>
      <p:pic>
        <p:nvPicPr>
          <p:cNvPr id="2050" name="Picture 2" descr="a URL into a web browser ...">
            <a:extLst>
              <a:ext uri="{FF2B5EF4-FFF2-40B4-BE49-F238E27FC236}">
                <a16:creationId xmlns:a16="http://schemas.microsoft.com/office/drawing/2014/main" id="{BDAD9C98-F506-F1C1-A8A9-BEFC18A27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228" y="722812"/>
            <a:ext cx="2156575" cy="130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004EF9-B595-F8BD-7380-DA8FC50DB728}"/>
              </a:ext>
            </a:extLst>
          </p:cNvPr>
          <p:cNvSpPr txBox="1"/>
          <p:nvPr/>
        </p:nvSpPr>
        <p:spPr>
          <a:xfrm>
            <a:off x="9202188" y="1375754"/>
            <a:ext cx="190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Corbel" panose="020B0503020204020204" pitchFamily="34" charset="0"/>
              </a:rPr>
              <a:t>www.software.com</a:t>
            </a:r>
            <a:endParaRPr lang="en-US" b="1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  <p:pic>
        <p:nvPicPr>
          <p:cNvPr id="8" name="Google Shape;445;p34" descr="ips28.jpg">
            <a:extLst>
              <a:ext uri="{FF2B5EF4-FFF2-40B4-BE49-F238E27FC236}">
                <a16:creationId xmlns:a16="http://schemas.microsoft.com/office/drawing/2014/main" id="{D6065A23-8547-15DD-842D-B6FA43440D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33295" y="2477741"/>
            <a:ext cx="520700" cy="33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C4A98-DD74-CD42-CB4C-55F82B27DAE9}"/>
              </a:ext>
            </a:extLst>
          </p:cNvPr>
          <p:cNvGrpSpPr/>
          <p:nvPr/>
        </p:nvGrpSpPr>
        <p:grpSpPr>
          <a:xfrm>
            <a:off x="4273664" y="3950609"/>
            <a:ext cx="5143500" cy="1219200"/>
            <a:chOff x="4489795" y="3950609"/>
            <a:chExt cx="5143500" cy="1219200"/>
          </a:xfrm>
        </p:grpSpPr>
        <p:pic>
          <p:nvPicPr>
            <p:cNvPr id="9" name="Google Shape;552;p55" descr="ips33.jpg">
              <a:extLst>
                <a:ext uri="{FF2B5EF4-FFF2-40B4-BE49-F238E27FC236}">
                  <a16:creationId xmlns:a16="http://schemas.microsoft.com/office/drawing/2014/main" id="{A5C62B42-C219-A3CB-A888-27A4C0B1DAB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489795" y="3950609"/>
              <a:ext cx="5143500" cy="12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720C1D-AB5D-61A2-C918-6EA596B52D5B}"/>
                </a:ext>
              </a:extLst>
            </p:cNvPr>
            <p:cNvSpPr/>
            <p:nvPr/>
          </p:nvSpPr>
          <p:spPr>
            <a:xfrm>
              <a:off x="4655127" y="4560209"/>
              <a:ext cx="2244437" cy="477304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B694C5-B070-95FE-814C-A950E4B9767C}"/>
                </a:ext>
              </a:extLst>
            </p:cNvPr>
            <p:cNvSpPr/>
            <p:nvPr/>
          </p:nvSpPr>
          <p:spPr>
            <a:xfrm>
              <a:off x="7061545" y="4576834"/>
              <a:ext cx="2365088" cy="477304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Action Button: Help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F487FCF-4762-2EC9-D2B7-C2047601308F}"/>
              </a:ext>
            </a:extLst>
          </p:cNvPr>
          <p:cNvSpPr/>
          <p:nvPr/>
        </p:nvSpPr>
        <p:spPr>
          <a:xfrm>
            <a:off x="6095999" y="2280402"/>
            <a:ext cx="587433" cy="626989"/>
          </a:xfrm>
          <a:prstGeom prst="actionButtonHelp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AED02-478A-A51D-E836-5760BA77431F}"/>
              </a:ext>
            </a:extLst>
          </p:cNvPr>
          <p:cNvSpPr txBox="1"/>
          <p:nvPr/>
        </p:nvSpPr>
        <p:spPr>
          <a:xfrm>
            <a:off x="1576647" y="245758"/>
            <a:ext cx="7922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Configure in Router :</a:t>
            </a:r>
            <a:b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</a:br>
            <a:r>
              <a:rPr lang="en-US" sz="2800" b="1" dirty="0">
                <a:solidFill>
                  <a:schemeClr val="tx1"/>
                </a:solidFill>
                <a:latin typeface="Corbel" panose="020B0503020204020204" pitchFamily="34" charset="0"/>
              </a:rPr>
              <a:t>If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orbel" panose="020B0503020204020204" pitchFamily="34" charset="0"/>
              </a:rPr>
              <a:t>Packet Dest IP 200.20.20.4 :80 =&gt; 192.168.10.10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4B31CD-C686-258F-C675-18229A7EF604}"/>
              </a:ext>
            </a:extLst>
          </p:cNvPr>
          <p:cNvSpPr txBox="1"/>
          <p:nvPr/>
        </p:nvSpPr>
        <p:spPr>
          <a:xfrm>
            <a:off x="6687703" y="5904355"/>
            <a:ext cx="4600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orbel" panose="020B0503020204020204" pitchFamily="34" charset="0"/>
              </a:rPr>
              <a:t>DNS Records  for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orbel" panose="020B05030202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www.software.com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orbel" panose="020B0503020204020204" pitchFamily="34" charset="0"/>
              </a:rPr>
              <a:t> =&gt; 200.20.20.4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8AD96-357D-38E4-6B6B-E51D2D59320A}"/>
              </a:ext>
            </a:extLst>
          </p:cNvPr>
          <p:cNvSpPr txBox="1"/>
          <p:nvPr/>
        </p:nvSpPr>
        <p:spPr>
          <a:xfrm>
            <a:off x="7206500" y="4621420"/>
            <a:ext cx="2244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200.20.20.4 : 80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23A8DB-B555-82E4-F574-F42450E48375}"/>
              </a:ext>
            </a:extLst>
          </p:cNvPr>
          <p:cNvSpPr txBox="1"/>
          <p:nvPr/>
        </p:nvSpPr>
        <p:spPr>
          <a:xfrm>
            <a:off x="4273664" y="4622615"/>
            <a:ext cx="2688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  <a:latin typeface="Corbel" panose="020B0503020204020204" pitchFamily="34" charset="0"/>
              </a:rPr>
              <a:t>192.168.10.10 </a:t>
            </a:r>
            <a:r>
              <a:rPr lang="en-US" sz="2000" b="1" dirty="0">
                <a:solidFill>
                  <a:srgbClr val="0070C0"/>
                </a:solidFill>
                <a:latin typeface="Corbel" panose="020B0503020204020204" pitchFamily="34" charset="0"/>
              </a:rPr>
              <a:t>: 80</a:t>
            </a:r>
            <a:endParaRPr lang="en-US" sz="1600" dirty="0">
              <a:solidFill>
                <a:srgbClr val="0070C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AA099B-CE3D-3C06-2755-DDA1479336FC}"/>
              </a:ext>
            </a:extLst>
          </p:cNvPr>
          <p:cNvCxnSpPr>
            <a:stCxn id="15" idx="1"/>
          </p:cNvCxnSpPr>
          <p:nvPr/>
        </p:nvCxnSpPr>
        <p:spPr>
          <a:xfrm flipH="1">
            <a:off x="6683432" y="4821475"/>
            <a:ext cx="523068" cy="1195"/>
          </a:xfrm>
          <a:prstGeom prst="straightConnector1">
            <a:avLst/>
          </a:prstGeom>
          <a:ln w="539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2D4770-7AB8-C2B4-11B5-19FB2D6B4739}"/>
              </a:ext>
            </a:extLst>
          </p:cNvPr>
          <p:cNvSpPr txBox="1"/>
          <p:nvPr/>
        </p:nvSpPr>
        <p:spPr>
          <a:xfrm>
            <a:off x="5486399" y="5214395"/>
            <a:ext cx="3096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rbel" panose="020B0503020204020204" pitchFamily="34" charset="0"/>
              </a:rPr>
              <a:t>Port Forwarding</a:t>
            </a:r>
          </a:p>
        </p:txBody>
      </p:sp>
    </p:spTree>
    <p:extLst>
      <p:ext uri="{BB962C8B-B14F-4D97-AF65-F5344CB8AC3E}">
        <p14:creationId xmlns:p14="http://schemas.microsoft.com/office/powerpoint/2010/main" val="113894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-0.28646 0.0481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23" y="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3" grpId="0" animBg="1"/>
      <p:bldP spid="13" grpId="1" animBg="1"/>
      <p:bldP spid="14" grpId="0"/>
      <p:bldP spid="2" grpId="0"/>
      <p:bldP spid="15" grpId="0"/>
      <p:bldP spid="16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546" name="Google Shape;546;p46"/>
          <p:cNvSpPr txBox="1">
            <a:spLocks noGrp="1"/>
          </p:cNvSpPr>
          <p:nvPr>
            <p:ph type="body" idx="1"/>
          </p:nvPr>
        </p:nvSpPr>
        <p:spPr>
          <a:xfrm>
            <a:off x="1484310" y="1611746"/>
            <a:ext cx="10018713" cy="39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3600" dirty="0"/>
              <a:t>Used when a server inside the network has a </a:t>
            </a:r>
            <a:r>
              <a:rPr lang="en-US" sz="3600" b="1" dirty="0"/>
              <a:t>private IP</a:t>
            </a: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Router maps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</a:rPr>
              <a:t>PublicIP:Port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/>
              <a:t>to the </a:t>
            </a:r>
            <a:r>
              <a:rPr lang="en-US" sz="3600" b="1" dirty="0">
                <a:solidFill>
                  <a:srgbClr val="0070C0"/>
                </a:solidFill>
              </a:rPr>
              <a:t>correct </a:t>
            </a:r>
            <a:r>
              <a:rPr lang="en-US" sz="3600" b="1" dirty="0" err="1">
                <a:solidFill>
                  <a:srgbClr val="0070C0"/>
                </a:solidFill>
              </a:rPr>
              <a:t>PrivateIP:Port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/>
              <a:t>inside the network.</a:t>
            </a:r>
          </a:p>
          <a:p>
            <a:endParaRPr lang="en-US" sz="3600" dirty="0"/>
          </a:p>
          <a:p>
            <a:r>
              <a:rPr lang="en-US" sz="3600" dirty="0"/>
              <a:t>Allows Internet users to access inside services</a:t>
            </a:r>
          </a:p>
        </p:txBody>
      </p:sp>
      <p:pic>
        <p:nvPicPr>
          <p:cNvPr id="547" name="Google Shape;54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4;p47" descr="Port Forwarding Examp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19628" y="1148863"/>
            <a:ext cx="9575910" cy="51464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F5B1D-6FA1-1450-E018-11239E01376B}"/>
              </a:ext>
            </a:extLst>
          </p:cNvPr>
          <p:cNvSpPr txBox="1"/>
          <p:nvPr/>
        </p:nvSpPr>
        <p:spPr>
          <a:xfrm>
            <a:off x="4917007" y="5366118"/>
            <a:ext cx="3153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Corbel" panose="020B0503020204020204" pitchFamily="34" charset="0"/>
              </a:rPr>
              <a:t>Public IP : 112.12.136.14</a:t>
            </a:r>
            <a:endParaRPr lang="en-US" sz="2000" b="1" dirty="0">
              <a:solidFill>
                <a:srgbClr val="7030A0"/>
              </a:solidFill>
              <a:latin typeface="Corbel" panose="020B05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F5B1D-6FA1-1450-E018-11239E01376B}"/>
              </a:ext>
            </a:extLst>
          </p:cNvPr>
          <p:cNvSpPr txBox="1"/>
          <p:nvPr/>
        </p:nvSpPr>
        <p:spPr>
          <a:xfrm>
            <a:off x="2615454" y="2010208"/>
            <a:ext cx="5614145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Corbel" panose="020B0503020204020204" pitchFamily="34" charset="0"/>
              </a:rPr>
              <a:t>112.12.136.14 : 27105 </a:t>
            </a:r>
            <a:r>
              <a:rPr lang="en-US" sz="2000" b="1" dirty="0" smtClean="0">
                <a:solidFill>
                  <a:srgbClr val="FF0000"/>
                </a:solidFill>
                <a:latin typeface="Corbel" panose="020B0503020204020204" pitchFamily="34" charset="0"/>
              </a:rPr>
              <a:t>==&gt;</a:t>
            </a:r>
            <a:r>
              <a:rPr lang="en-US" sz="2000" b="1" dirty="0" smtClean="0">
                <a:solidFill>
                  <a:srgbClr val="7030A0"/>
                </a:solidFill>
                <a:latin typeface="Corbel" panose="020B0503020204020204" pitchFamily="34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Corbel" panose="020B0503020204020204" pitchFamily="34" charset="0"/>
              </a:rPr>
              <a:t>192.168.1.105:27015</a:t>
            </a:r>
            <a:endParaRPr lang="en-US" sz="2000" b="1" dirty="0">
              <a:solidFill>
                <a:srgbClr val="0070C0"/>
              </a:solidFill>
              <a:latin typeface="Corbel" panose="020B05030202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F5B1D-6FA1-1450-E018-11239E01376B}"/>
              </a:ext>
            </a:extLst>
          </p:cNvPr>
          <p:cNvSpPr txBox="1"/>
          <p:nvPr/>
        </p:nvSpPr>
        <p:spPr>
          <a:xfrm>
            <a:off x="1971644" y="1532924"/>
            <a:ext cx="2395083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  <a:latin typeface="Corbel" panose="020B0503020204020204" pitchFamily="34" charset="0"/>
              </a:rPr>
              <a:t>Access from outside</a:t>
            </a:r>
            <a:endParaRPr lang="en-US" sz="2000" b="1" dirty="0">
              <a:solidFill>
                <a:srgbClr val="FFFF00"/>
              </a:solidFill>
              <a:latin typeface="Corbel" panose="020B0503020204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917007" y="2537927"/>
            <a:ext cx="569393" cy="69979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52D4770-7AB8-C2B4-11B5-19FB2D6B4739}"/>
              </a:ext>
            </a:extLst>
          </p:cNvPr>
          <p:cNvSpPr txBox="1"/>
          <p:nvPr/>
        </p:nvSpPr>
        <p:spPr>
          <a:xfrm>
            <a:off x="4974488" y="1219533"/>
            <a:ext cx="3096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rbel" panose="020B0503020204020204" pitchFamily="34" charset="0"/>
              </a:rPr>
              <a:t>Port Forwarding</a:t>
            </a:r>
          </a:p>
        </p:txBody>
      </p:sp>
    </p:spTree>
    <p:extLst>
      <p:ext uri="{BB962C8B-B14F-4D97-AF65-F5344CB8AC3E}">
        <p14:creationId xmlns:p14="http://schemas.microsoft.com/office/powerpoint/2010/main" val="258436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0"/>
          <p:cNvSpPr txBox="1">
            <a:spLocks noGrp="1"/>
          </p:cNvSpPr>
          <p:nvPr>
            <p:ph type="title"/>
          </p:nvPr>
        </p:nvSpPr>
        <p:spPr>
          <a:xfrm>
            <a:off x="1401182" y="1800904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 dirty="0"/>
              <a:t>The End</a:t>
            </a:r>
            <a:endParaRPr dirty="0"/>
          </a:p>
        </p:txBody>
      </p:sp>
      <p:pic>
        <p:nvPicPr>
          <p:cNvPr id="575" name="Google Shape;57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1302</Words>
  <Application>Microsoft Office PowerPoint</Application>
  <PresentationFormat>Widescreen</PresentationFormat>
  <Paragraphs>352</Paragraphs>
  <Slides>41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Calibri</vt:lpstr>
      <vt:lpstr>Tahoma</vt:lpstr>
      <vt:lpstr>Corbel</vt:lpstr>
      <vt:lpstr>Arial</vt:lpstr>
      <vt:lpstr>Courier New</vt:lpstr>
      <vt:lpstr>Parallax</vt:lpstr>
      <vt:lpstr>DHCPv4 &amp; NAT</vt:lpstr>
      <vt:lpstr>Automatic IP Address Assignment</vt:lpstr>
      <vt:lpstr>Objectives</vt:lpstr>
      <vt:lpstr>PowerPoint Presentation</vt:lpstr>
      <vt:lpstr>Assigning IPv4 Addresses : Static</vt:lpstr>
      <vt:lpstr>Dynamic IPv4 Addressing</vt:lpstr>
      <vt:lpstr>PowerPoint Presentation</vt:lpstr>
      <vt:lpstr>Dynamic Host Configuration Protocol (DHCP)</vt:lpstr>
      <vt:lpstr>DHCP Operations</vt:lpstr>
      <vt:lpstr>DHCP Operation - Start</vt:lpstr>
      <vt:lpstr>DHCP Operation </vt:lpstr>
      <vt:lpstr>DHCP Operation </vt:lpstr>
      <vt:lpstr>DHCP Operation </vt:lpstr>
      <vt:lpstr>DHCP Operation (DORA)</vt:lpstr>
      <vt:lpstr>Steps to Renew a Lease</vt:lpstr>
      <vt:lpstr>DHCP Operation</vt:lpstr>
      <vt:lpstr>PowerPoint Presentation</vt:lpstr>
      <vt:lpstr>DHCP related issues</vt:lpstr>
      <vt:lpstr>Problem with DHCP Server not in the same network</vt:lpstr>
      <vt:lpstr>PowerPoint Presentation</vt:lpstr>
      <vt:lpstr>PowerPoint Presentation</vt:lpstr>
      <vt:lpstr>Category of IP Addresses</vt:lpstr>
      <vt:lpstr>Category of IP Addresses</vt:lpstr>
      <vt:lpstr>Public Addresses</vt:lpstr>
      <vt:lpstr>WHY??</vt:lpstr>
      <vt:lpstr>Example: NAT; Sending</vt:lpstr>
      <vt:lpstr>Example: NAT; Receiving</vt:lpstr>
      <vt:lpstr>Advantages of NAT</vt:lpstr>
      <vt:lpstr>Disadvantages of NAT</vt:lpstr>
      <vt:lpstr>PAT (NAT Overload)</vt:lpstr>
      <vt:lpstr>NAT Overload (PAT)</vt:lpstr>
      <vt:lpstr>PAT Operation</vt:lpstr>
      <vt:lpstr>PowerPoint Presentation</vt:lpstr>
      <vt:lpstr>PAT Operation</vt:lpstr>
      <vt:lpstr>Packets without Ports</vt:lpstr>
      <vt:lpstr>Port Forwarding</vt:lpstr>
      <vt:lpstr>Port Forwarding</vt:lpstr>
      <vt:lpstr>PowerPoint Presentation</vt:lpstr>
      <vt:lpstr>Port Forwarding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DHCPv4 &amp; NAT</dc:title>
  <dc:creator>Arif Shakil</dc:creator>
  <cp:lastModifiedBy>Sadia Hamid Kazi</cp:lastModifiedBy>
  <cp:revision>56</cp:revision>
  <dcterms:created xsi:type="dcterms:W3CDTF">2020-06-17T13:03:26Z</dcterms:created>
  <dcterms:modified xsi:type="dcterms:W3CDTF">2025-12-14T04:55:28Z</dcterms:modified>
</cp:coreProperties>
</file>