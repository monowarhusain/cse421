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officedocument.oleObject" PartName="/ppt/embeddings/oleObject8.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2000"/>
  <p:notesSz cx="6858000" cy="9144000"/>
  <p:embeddedFontLst>
    <p:embeddedFont>
      <p:font typeface="Corbel"/>
      <p:regular r:id="rId49"/>
      <p:bold r:id="rId50"/>
      <p:italic r:id="rId51"/>
      <p:boldItalic r:id="rId52"/>
    </p:embeddedFont>
    <p:embeddedFont>
      <p:font typeface="Helvetica Neue"/>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fDV0FwTjVte3mthQWufWKKksj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EF7B4F-6183-40D9-94A1-D0ABD6484E44}">
  <a:tblStyle styleId="{D0EF7B4F-6183-40D9-94A1-D0ABD6484E44}" styleName="Table_0">
    <a:wholeTbl>
      <a:tcTxStyle b="off" i="off">
        <a:font>
          <a:latin typeface="Arial"/>
          <a:ea typeface="Arial"/>
          <a:cs typeface="Arial"/>
        </a:font>
        <a:schemeClr val="dk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chemeClr val="accent2"/>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40000"/>
            </a:schemeClr>
          </a:solidFill>
        </a:fill>
      </a:tcStyle>
    </a:band1H>
    <a:band2H>
      <a:tcTxStyle/>
    </a:band2H>
    <a:band1V>
      <a:tcTxStyle/>
      <a:tcStyle>
        <a:tcBdr>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tcBdr>
        <a:fill>
          <a:solidFill>
            <a:schemeClr val="accent2">
              <a:alpha val="40000"/>
            </a:schemeClr>
          </a:solidFill>
        </a:fill>
      </a:tcStyle>
    </a:band1V>
    <a:band2V>
      <a:tcTxStyle/>
    </a:band2V>
    <a:la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chemeClr val="accent2"/>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2"/>
              </a:solidFill>
              <a:prstDash val="solid"/>
              <a:round/>
              <a:headEnd len="sm" w="sm" type="none"/>
              <a:tailEnd len="sm" w="sm" type="none"/>
            </a:ln>
          </a:left>
          <a:right>
            <a:ln cap="flat" cmpd="sng" w="9525">
              <a:solidFill>
                <a:schemeClr val="accent2"/>
              </a:solidFill>
              <a:prstDash val="solid"/>
              <a:round/>
              <a:headEnd len="sm" w="sm" type="none"/>
              <a:tailEnd len="sm" w="sm" type="none"/>
            </a:ln>
          </a:right>
          <a:top>
            <a:ln cap="flat" cmpd="sng" w="9525">
              <a:solidFill>
                <a:schemeClr val="accent2"/>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2"/>
          </a:solidFill>
        </a:fill>
      </a:tcStyle>
    </a:firstRow>
    <a:neCell>
      <a:tcTxStyle/>
    </a:neCell>
    <a:nwCell>
      <a:tcTxStyle/>
    </a:nwCell>
  </a:tblStyle>
  <a:tblStyle styleId="{6598AEA3-BE5E-4938-8CE8-E5D2FBBD0F62}" styleName="Table_1">
    <a:wholeTbl>
      <a:tcTxStyle b="off" i="off">
        <a:font>
          <a:latin typeface="Arial"/>
          <a:ea typeface="Arial"/>
          <a:cs typeface="Arial"/>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Corbel-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rbel-italic.fntdata"/><Relationship Id="rId50" Type="http://schemas.openxmlformats.org/officeDocument/2006/relationships/font" Target="fonts/Corbel-bold.fntdata"/><Relationship Id="rId53" Type="http://schemas.openxmlformats.org/officeDocument/2006/relationships/font" Target="fonts/HelveticaNeue-regular.fntdata"/><Relationship Id="rId52" Type="http://schemas.openxmlformats.org/officeDocument/2006/relationships/font" Target="fonts/Corbel-boldItalic.fntdata"/><Relationship Id="rId11" Type="http://schemas.openxmlformats.org/officeDocument/2006/relationships/slide" Target="slides/slide6.xml"/><Relationship Id="rId55" Type="http://schemas.openxmlformats.org/officeDocument/2006/relationships/font" Target="fonts/HelveticaNeue-italic.fntdata"/><Relationship Id="rId10" Type="http://schemas.openxmlformats.org/officeDocument/2006/relationships/slide" Target="slides/slide5.xml"/><Relationship Id="rId54" Type="http://schemas.openxmlformats.org/officeDocument/2006/relationships/font" Target="fonts/HelveticaNeue-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2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29.png"/><Relationship Id="rId4" Type="http://schemas.openxmlformats.org/officeDocument/2006/relationships/image" Target="../media/image2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Data Communications and Networking. Behrouz A. Forouzan</a:t>
            </a:r>
            <a:endParaRPr/>
          </a:p>
          <a:p>
            <a:pPr indent="-228600" lvl="0" marL="457200" marR="0" rtl="0" algn="l">
              <a:lnSpc>
                <a:spcPct val="100000"/>
              </a:lnSpc>
              <a:spcBef>
                <a:spcPts val="0"/>
              </a:spcBef>
              <a:spcAft>
                <a:spcPts val="0"/>
              </a:spcAft>
              <a:buSzPts val="1400"/>
              <a:buNone/>
            </a:pPr>
            <a:r>
              <a:rPr lang="en-US"/>
              <a:t>Section 18.2</a:t>
            </a:r>
            <a:endParaRPr/>
          </a:p>
          <a:p>
            <a:pPr indent="0" lvl="0" marL="0" rtl="0" algn="l">
              <a:lnSpc>
                <a:spcPct val="100000"/>
              </a:lnSpc>
              <a:spcBef>
                <a:spcPts val="0"/>
              </a:spcBef>
              <a:spcAft>
                <a:spcPts val="0"/>
              </a:spcAft>
              <a:buSzPts val="1400"/>
              <a:buNone/>
            </a:pPr>
            <a:r>
              <a:t/>
            </a:r>
            <a:endParaRPr/>
          </a:p>
        </p:txBody>
      </p:sp>
      <p:sp>
        <p:nvSpPr>
          <p:cNvPr id="955" name="Google Shape;9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Each router does not maintain information about previously forwarded packets.</a:t>
            </a:r>
            <a:endParaRPr/>
          </a:p>
          <a:p>
            <a:pPr indent="0" lvl="0" marL="0" rtl="0" algn="l">
              <a:lnSpc>
                <a:spcPct val="100000"/>
              </a:lnSpc>
              <a:spcBef>
                <a:spcPts val="0"/>
              </a:spcBef>
              <a:spcAft>
                <a:spcPts val="0"/>
              </a:spcAft>
              <a:buSzPts val="1400"/>
              <a:buNone/>
            </a:pPr>
            <a:r>
              <a:t/>
            </a:r>
            <a:endParaRPr/>
          </a:p>
        </p:txBody>
      </p:sp>
      <p:sp>
        <p:nvSpPr>
          <p:cNvPr id="969" name="Google Shape;9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1" lang="en-US"/>
              <a:t>Example</a:t>
            </a:r>
            <a:r>
              <a:rPr lang="en-US"/>
              <a:t>:</a:t>
            </a:r>
            <a:endParaRPr/>
          </a:p>
          <a:p>
            <a:pPr indent="-228600" lvl="0" marL="457200" rtl="0" algn="l">
              <a:lnSpc>
                <a:spcPct val="100000"/>
              </a:lnSpc>
              <a:spcBef>
                <a:spcPts val="0"/>
              </a:spcBef>
              <a:spcAft>
                <a:spcPts val="0"/>
              </a:spcAft>
              <a:buSzPts val="1400"/>
              <a:buFont typeface="Arial"/>
              <a:buChar char="•"/>
            </a:pPr>
            <a:r>
              <a:rPr b="1" lang="en-US"/>
              <a:t>Asynchronous Transfer Mode (ATM)</a:t>
            </a:r>
            <a:r>
              <a:rPr lang="en-US"/>
              <a:t> or </a:t>
            </a:r>
            <a:r>
              <a:rPr b="1" lang="en-US"/>
              <a:t>MPLS (Multiprotocol Label Switching)</a:t>
            </a:r>
            <a:r>
              <a:rPr lang="en-US"/>
              <a:t> networks.</a:t>
            </a:r>
            <a:endParaRPr/>
          </a:p>
          <a:p>
            <a:pPr indent="0" lvl="0" marL="0" rtl="0" algn="l">
              <a:lnSpc>
                <a:spcPct val="100000"/>
              </a:lnSpc>
              <a:spcBef>
                <a:spcPts val="0"/>
              </a:spcBef>
              <a:spcAft>
                <a:spcPts val="0"/>
              </a:spcAft>
              <a:buSzPts val="1400"/>
              <a:buNone/>
            </a:pPr>
            <a:r>
              <a:t/>
            </a:r>
            <a:endParaRPr/>
          </a:p>
        </p:txBody>
      </p:sp>
      <p:sp>
        <p:nvSpPr>
          <p:cNvPr id="1124" name="Google Shape;11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1" name="Google Shape;130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302" name="Google Shape;130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1" name="Google Shape;13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5" name="Google Shape;137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Green box is a physical layer responsible for receiving bit level transmission.  Copper, fiber wireless.</a:t>
            </a:r>
            <a:endParaRPr/>
          </a:p>
          <a:p>
            <a:pPr indent="-228600" lvl="0" marL="457200" marR="0" rtl="0" algn="l">
              <a:lnSpc>
                <a:spcPct val="100000"/>
              </a:lnSpc>
              <a:spcBef>
                <a:spcPts val="0"/>
              </a:spcBef>
              <a:spcAft>
                <a:spcPts val="0"/>
              </a:spcAft>
              <a:buClr>
                <a:srgbClr val="000000"/>
              </a:buClr>
              <a:buSzPts val="1400"/>
              <a:buFont typeface="Arial"/>
              <a:buNone/>
            </a:pPr>
            <a:r>
              <a:rPr lang="en-US"/>
              <a:t>Link layer in blue – bit assemble into Ethernet frame.   We will discuss this in details in chapter 6.  </a:t>
            </a:r>
            <a:endParaRPr/>
          </a:p>
          <a:p>
            <a:pPr indent="-228600" lvl="0" marL="457200" marR="0" rtl="0" algn="l">
              <a:lnSpc>
                <a:spcPct val="100000"/>
              </a:lnSpc>
              <a:spcBef>
                <a:spcPts val="0"/>
              </a:spcBef>
              <a:spcAft>
                <a:spcPts val="0"/>
              </a:spcAft>
              <a:buClr>
                <a:srgbClr val="000000"/>
              </a:buClr>
              <a:buSzPts val="1400"/>
              <a:buFont typeface="Arial"/>
              <a:buNone/>
            </a:pPr>
            <a:r>
              <a:rPr lang="en-US"/>
              <a:t>But most critical one, is here.  Lookup, forwarding function.    Lookup and forward is “Match plus action” behavior.  </a:t>
            </a:r>
            <a:endParaRPr/>
          </a:p>
          <a:p>
            <a:pPr indent="-228600" lvl="0" marL="457200" marR="0" rtl="0" algn="l">
              <a:lnSpc>
                <a:spcPct val="100000"/>
              </a:lnSpc>
              <a:spcBef>
                <a:spcPts val="0"/>
              </a:spcBef>
              <a:spcAft>
                <a:spcPts val="0"/>
              </a:spcAft>
              <a:buClr>
                <a:srgbClr val="000000"/>
              </a:buClr>
              <a:buSzPts val="1400"/>
              <a:buFont typeface="Arial"/>
              <a:buNone/>
            </a:pPr>
            <a:r>
              <a:rPr lang="en-US"/>
              <a:t>GOAL – processing at “line speed”,  otherwise, buffer will be full and packet will be lost</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 </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376" name="Google Shape;137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411" name="Google Shape;141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7" name="Google Shape;14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3" name="Google Shape;14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494" name="Google Shape;149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02" name="Google Shape;150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17" name="Google Shape;15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4" name="Google Shape;153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1" name="Google Shape;154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1"/>
                </a:solidFill>
                <a:latin typeface="Arial"/>
                <a:ea typeface="Arial"/>
                <a:cs typeface="Arial"/>
                <a:sym typeface="Arial"/>
              </a:rPr>
              <a:t>19.1.1 Datagram Format (</a:t>
            </a:r>
            <a:r>
              <a:rPr lang="en-US">
                <a:latin typeface="Arial"/>
                <a:ea typeface="Arial"/>
                <a:cs typeface="Arial"/>
                <a:sym typeface="Arial"/>
              </a:rPr>
              <a:t>Data Communications and Networking. Behrouz A. Forouzan</a:t>
            </a:r>
            <a:r>
              <a:rPr lang="en-US">
                <a:solidFill>
                  <a:schemeClr val="dk1"/>
                </a:solidFill>
                <a:latin typeface="Arial"/>
                <a:ea typeface="Arial"/>
                <a:cs typeface="Arial"/>
                <a:sym typeface="Arial"/>
              </a:rPr>
              <a:t>)</a:t>
            </a:r>
            <a:endParaRPr/>
          </a:p>
        </p:txBody>
      </p:sp>
      <p:sp>
        <p:nvSpPr>
          <p:cNvPr id="1559" name="Google Shape;15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7" name="Google Shape;15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Another example – for students to work out</a:t>
            </a:r>
            <a:endParaRPr/>
          </a:p>
        </p:txBody>
      </p:sp>
      <p:sp>
        <p:nvSpPr>
          <p:cNvPr id="1730" name="Google Shape;17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2" marL="1200150" rtl="0" algn="just">
              <a:lnSpc>
                <a:spcPct val="100000"/>
              </a:lnSpc>
              <a:spcBef>
                <a:spcPts val="0"/>
              </a:spcBef>
              <a:spcAft>
                <a:spcPts val="0"/>
              </a:spcAft>
              <a:buSzPts val="2900"/>
              <a:buChar char="•"/>
            </a:pPr>
            <a:r>
              <a:rPr lang="en-US"/>
              <a:t>The value of the offset is measured in units of 8 bytes. </a:t>
            </a:r>
            <a:endParaRPr/>
          </a:p>
          <a:p>
            <a:pPr indent="-285750" lvl="2" marL="1200150" rtl="0" algn="just">
              <a:lnSpc>
                <a:spcPct val="100000"/>
              </a:lnSpc>
              <a:spcBef>
                <a:spcPts val="0"/>
              </a:spcBef>
              <a:spcAft>
                <a:spcPts val="0"/>
              </a:spcAft>
              <a:buSzPts val="2900"/>
              <a:buChar char="•"/>
            </a:pPr>
            <a:r>
              <a:rPr lang="en-US"/>
              <a:t>This is done because the length of the offset field is only 13 bits long and cannot represent a sequence of bytes greater than 8191. </a:t>
            </a:r>
            <a:endParaRPr/>
          </a:p>
          <a:p>
            <a:pPr indent="-285750" lvl="2" marL="1200150" rtl="0" algn="just">
              <a:lnSpc>
                <a:spcPct val="100000"/>
              </a:lnSpc>
              <a:spcBef>
                <a:spcPts val="0"/>
              </a:spcBef>
              <a:spcAft>
                <a:spcPts val="0"/>
              </a:spcAft>
              <a:buSzPts val="2900"/>
              <a:buChar char="•"/>
            </a:pPr>
            <a:r>
              <a:rPr lang="en-US"/>
              <a:t>This forces hosts or routers that fragment datagrams to choose the size of each fragment so that the first byte number is divisible by 8.</a:t>
            </a:r>
            <a:endParaRPr/>
          </a:p>
          <a:p>
            <a:pPr indent="0" lvl="0" marL="0" rtl="0" algn="l">
              <a:lnSpc>
                <a:spcPct val="100000"/>
              </a:lnSpc>
              <a:spcBef>
                <a:spcPts val="0"/>
              </a:spcBef>
              <a:spcAft>
                <a:spcPts val="0"/>
              </a:spcAft>
              <a:buSzPts val="1400"/>
              <a:buNone/>
            </a:pPr>
            <a:r>
              <a:t/>
            </a:r>
            <a:endParaRPr/>
          </a:p>
        </p:txBody>
      </p:sp>
      <p:sp>
        <p:nvSpPr>
          <p:cNvPr id="1755" name="Google Shape;175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5" name="Google Shape;18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2" name="Google Shape;18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7" name="Google Shape;187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TTL is 114, which means that the original TTL value (commonly 128 or 255 depending on the operating system) was decremented by 14 during the journey. This suggests the packet passed through 14 routers.</a:t>
            </a:r>
            <a:br>
              <a:rPr lang="en-US"/>
            </a:br>
            <a:r>
              <a:rPr b="1" lang="en-US"/>
              <a:t>Why it matters</a:t>
            </a:r>
            <a:r>
              <a:rPr lang="en-US"/>
              <a:t>: The </a:t>
            </a:r>
            <a:r>
              <a:rPr b="1" lang="en-US"/>
              <a:t>TTL</a:t>
            </a:r>
            <a:r>
              <a:rPr lang="en-US"/>
              <a:t> value in the ping response indicates how many hops remained before reaching your device. It can give an indirect idea of how far (in terms of network hops) the target is.</a:t>
            </a:r>
            <a:br>
              <a:rPr lang="en-US"/>
            </a:br>
            <a:r>
              <a:rPr lang="en-US"/>
              <a:t>represents the </a:t>
            </a:r>
            <a:r>
              <a:rPr b="1" lang="en-US"/>
              <a:t>round-trip time</a:t>
            </a:r>
            <a:r>
              <a:rPr lang="en-US"/>
              <a:t> it takes for an ICMP echo request to travel from your device to the target </a:t>
            </a:r>
            <a:br>
              <a:rPr lang="en-US"/>
            </a:br>
            <a:r>
              <a:rPr lang="en-US"/>
              <a:t>It indicates the latency or delay in the network connection. Lower values mean faster responses and better network performance.</a:t>
            </a:r>
            <a:r>
              <a:rPr b="1" lang="en-US"/>
              <a:t>Example in the output</a:t>
            </a:r>
            <a:r>
              <a:rPr lang="en-US"/>
              <a:t>: The times vary slightly, such as 36ms, 37ms, and 38ms, showing minor variations in network latency.</a:t>
            </a:r>
            <a:endParaRPr/>
          </a:p>
        </p:txBody>
      </p:sp>
      <p:sp>
        <p:nvSpPr>
          <p:cNvPr id="1889" name="Google Shape;18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0" name="Google Shape;19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8" name="Google Shape;19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6" name="Google Shape;191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1" marL="742950" rtl="0" algn="l">
              <a:lnSpc>
                <a:spcPct val="100000"/>
              </a:lnSpc>
              <a:spcBef>
                <a:spcPts val="1000"/>
              </a:spcBef>
              <a:spcAft>
                <a:spcPts val="0"/>
              </a:spcAft>
              <a:buSzPts val="2900"/>
              <a:buChar char="•"/>
            </a:pPr>
            <a:r>
              <a:rPr lang="en-US"/>
              <a:t>Much like the ping flood method, only multiple computers are being used. </a:t>
            </a:r>
            <a:endParaRPr/>
          </a:p>
          <a:p>
            <a:pPr indent="-285750" lvl="1" marL="742950" rtl="0" algn="l">
              <a:lnSpc>
                <a:spcPct val="100000"/>
              </a:lnSpc>
              <a:spcBef>
                <a:spcPts val="1000"/>
              </a:spcBef>
              <a:spcAft>
                <a:spcPts val="0"/>
              </a:spcAft>
              <a:buSzPts val="2900"/>
              <a:buChar char="•"/>
            </a:pPr>
            <a:r>
              <a:rPr lang="en-US"/>
              <a:t>In this instance, the computers that are being used may or may not be aware of the fact that they are attacking a website or network. </a:t>
            </a:r>
            <a:endParaRPr/>
          </a:p>
          <a:p>
            <a:pPr indent="-285750" lvl="1" marL="742950" rtl="0" algn="l">
              <a:lnSpc>
                <a:spcPct val="100000"/>
              </a:lnSpc>
              <a:spcBef>
                <a:spcPts val="1000"/>
              </a:spcBef>
              <a:spcAft>
                <a:spcPts val="0"/>
              </a:spcAft>
              <a:buSzPts val="2900"/>
              <a:buChar char="•"/>
            </a:pPr>
            <a:r>
              <a:rPr lang="en-US"/>
              <a:t>Trojans and viruses commonly give the hacker control of a computer, and thus, the ability to use them for attack. In this case the victim computers are called zombies.</a:t>
            </a:r>
            <a:endParaRPr/>
          </a:p>
          <a:p>
            <a:pPr indent="0" lvl="0" marL="0" rtl="0" algn="l">
              <a:lnSpc>
                <a:spcPct val="100000"/>
              </a:lnSpc>
              <a:spcBef>
                <a:spcPts val="0"/>
              </a:spcBef>
              <a:spcAft>
                <a:spcPts val="0"/>
              </a:spcAft>
              <a:buSzPts val="1400"/>
              <a:buNone/>
            </a:pPr>
            <a:r>
              <a:t/>
            </a:r>
            <a:endParaRPr/>
          </a:p>
        </p:txBody>
      </p:sp>
      <p:sp>
        <p:nvSpPr>
          <p:cNvPr id="1922" name="Google Shape;19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An attacker sends forged ICMP echo packets to vulnerable networks' broadcast addresses. All the systems on those networks send ICMP echo replies to the victim.</a:t>
            </a:r>
            <a:br>
              <a:rPr lang="en-US"/>
            </a:br>
            <a:r>
              <a:rPr lang="en-US"/>
              <a:t>Prevention:</a:t>
            </a:r>
            <a:br>
              <a:rPr lang="en-US"/>
            </a:br>
            <a:r>
              <a:rPr b="1" lang="en-US"/>
              <a:t>Disable ICMP Echo Requests</a:t>
            </a:r>
            <a:r>
              <a:rPr lang="en-US"/>
              <a:t>: Configure firewalls or routers to block incoming ICMP packets, especially "Echo Request" packets, to prevent attackers from exploiting ping.</a:t>
            </a:r>
            <a:endParaRPr/>
          </a:p>
          <a:p>
            <a:pPr indent="-228600" lvl="0" marL="457200" marR="0" rtl="0" algn="l">
              <a:lnSpc>
                <a:spcPct val="100000"/>
              </a:lnSpc>
              <a:spcBef>
                <a:spcPts val="0"/>
              </a:spcBef>
              <a:spcAft>
                <a:spcPts val="0"/>
              </a:spcAft>
              <a:buClr>
                <a:srgbClr val="000000"/>
              </a:buClr>
              <a:buSzPts val="1400"/>
              <a:buFont typeface="Arial"/>
              <a:buNone/>
            </a:pPr>
            <a:r>
              <a:rPr b="1" lang="en-US"/>
              <a:t>Use Rate Limiting</a:t>
            </a:r>
            <a:r>
              <a:rPr lang="en-US"/>
              <a:t>: Limit the number of ICMP packets a device or network can process per second, reducing the impact of flood attacks.</a:t>
            </a:r>
            <a:endParaRPr/>
          </a:p>
          <a:p>
            <a:pPr indent="-228600" lvl="0" marL="457200" marR="0" rtl="0" algn="l">
              <a:lnSpc>
                <a:spcPct val="100000"/>
              </a:lnSpc>
              <a:spcBef>
                <a:spcPts val="0"/>
              </a:spcBef>
              <a:spcAft>
                <a:spcPts val="0"/>
              </a:spcAft>
              <a:buClr>
                <a:srgbClr val="000000"/>
              </a:buClr>
              <a:buSzPts val="1400"/>
              <a:buFont typeface="Arial"/>
              <a:buNone/>
            </a:pPr>
            <a:r>
              <a:rPr b="1" lang="en-US"/>
              <a:t>Prevent IP Spoofing</a:t>
            </a:r>
            <a:r>
              <a:rPr lang="en-US"/>
              <a:t>: </a:t>
            </a:r>
            <a:endParaRPr/>
          </a:p>
          <a:p>
            <a:pPr indent="-101600" lvl="1" marL="742950" rtl="0" algn="l">
              <a:lnSpc>
                <a:spcPct val="100000"/>
              </a:lnSpc>
              <a:spcBef>
                <a:spcPts val="1000"/>
              </a:spcBef>
              <a:spcAft>
                <a:spcPts val="0"/>
              </a:spcAft>
              <a:buSzPts val="2900"/>
              <a:buNone/>
            </a:pPr>
            <a:r>
              <a:t/>
            </a:r>
            <a:endParaRPr/>
          </a:p>
          <a:p>
            <a:pPr indent="-64770" lvl="0" marL="285750" rtl="0" algn="l">
              <a:lnSpc>
                <a:spcPct val="100000"/>
              </a:lnSpc>
              <a:spcBef>
                <a:spcPts val="1080"/>
              </a:spcBef>
              <a:spcAft>
                <a:spcPts val="0"/>
              </a:spcAft>
              <a:buSzPts val="3480"/>
              <a:buNone/>
            </a:pPr>
            <a:r>
              <a:t/>
            </a:r>
            <a:endParaRPr/>
          </a:p>
          <a:p>
            <a:pPr indent="0" lvl="0" marL="0" rtl="0" algn="l">
              <a:lnSpc>
                <a:spcPct val="100000"/>
              </a:lnSpc>
              <a:spcBef>
                <a:spcPts val="0"/>
              </a:spcBef>
              <a:spcAft>
                <a:spcPts val="0"/>
              </a:spcAft>
              <a:buSzPts val="1400"/>
              <a:buNone/>
            </a:pPr>
            <a:r>
              <a:t/>
            </a:r>
            <a:endParaRPr/>
          </a:p>
        </p:txBody>
      </p:sp>
      <p:sp>
        <p:nvSpPr>
          <p:cNvPr id="1931" name="Google Shape;19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5" name="Google Shape;194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5" name="Google Shape;197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5" name="Google Shape;200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0" name="Google Shape;203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8" name="Google Shape;20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5" name="Google Shape;204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5" name="Google Shape;205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056" name="Google Shape;205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3" name="Google Shape;206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1" name="Google Shape;20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9" name="Google Shape;207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2"/>
          <p:cNvGrpSpPr/>
          <p:nvPr/>
        </p:nvGrpSpPr>
        <p:grpSpPr>
          <a:xfrm>
            <a:off x="546100" y="-4763"/>
            <a:ext cx="5014912" cy="6862763"/>
            <a:chOff x="2928938" y="-4763"/>
            <a:chExt cx="5014912" cy="6862763"/>
          </a:xfrm>
        </p:grpSpPr>
        <p:sp>
          <p:nvSpPr>
            <p:cNvPr id="24" name="Google Shape;24;p4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25" name="Google Shape;25;p4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4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27" name="Google Shape;27;p4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28" name="Google Shape;28;p4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29" name="Google Shape;29;p4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42"/>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2"/>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4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2"/>
          <p:cNvSpPr txBox="1"/>
          <p:nvPr>
            <p:ph idx="11" type="ftr"/>
          </p:nvPr>
        </p:nvSpPr>
        <p:spPr>
          <a:xfrm>
            <a:off x="5332412" y="5883275"/>
            <a:ext cx="432404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43"/>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3"/>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38" name="Google Shape;38;p4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2" type="sldNum"/>
          </p:nvPr>
        </p:nvSpPr>
        <p:spPr>
          <a:xfrm>
            <a:off x="10951856" y="5867131"/>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4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5"/>
          <p:cNvSpPr txBox="1"/>
          <p:nvPr>
            <p:ph idx="1" type="body"/>
          </p:nvPr>
        </p:nvSpPr>
        <p:spPr>
          <a:xfrm>
            <a:off x="1484312" y="2666999"/>
            <a:ext cx="4895055"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4" name="Google Shape;44;p45"/>
          <p:cNvSpPr txBox="1"/>
          <p:nvPr>
            <p:ph idx="2" type="body"/>
          </p:nvPr>
        </p:nvSpPr>
        <p:spPr>
          <a:xfrm>
            <a:off x="6607967" y="2667000"/>
            <a:ext cx="4895056" cy="3124200"/>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5" name="Google Shape;45;p4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4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44"/>
          <p:cNvSpPr txBox="1"/>
          <p:nvPr>
            <p:ph type="title"/>
          </p:nvPr>
        </p:nvSpPr>
        <p:spPr>
          <a:xfrm>
            <a:off x="2572279" y="2666999"/>
            <a:ext cx="8930747" cy="2110382"/>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 type="body"/>
          </p:nvPr>
        </p:nvSpPr>
        <p:spPr>
          <a:xfrm>
            <a:off x="2572278" y="4777381"/>
            <a:ext cx="8930748"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56" name="Google Shape;56;p4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46"/>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6"/>
          <p:cNvSpPr txBox="1"/>
          <p:nvPr>
            <p:ph idx="1" type="body"/>
          </p:nvPr>
        </p:nvSpPr>
        <p:spPr>
          <a:xfrm>
            <a:off x="1772179" y="2658533"/>
            <a:ext cx="46071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2" name="Google Shape;62;p46"/>
          <p:cNvSpPr txBox="1"/>
          <p:nvPr>
            <p:ph idx="2" type="body"/>
          </p:nvPr>
        </p:nvSpPr>
        <p:spPr>
          <a:xfrm>
            <a:off x="1484311"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3" name="Google Shape;63;p46"/>
          <p:cNvSpPr txBox="1"/>
          <p:nvPr>
            <p:ph idx="3" type="body"/>
          </p:nvPr>
        </p:nvSpPr>
        <p:spPr>
          <a:xfrm>
            <a:off x="6880487" y="2667000"/>
            <a:ext cx="462253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4" name="Google Shape;64;p46"/>
          <p:cNvSpPr txBox="1"/>
          <p:nvPr>
            <p:ph idx="4" type="body"/>
          </p:nvPr>
        </p:nvSpPr>
        <p:spPr>
          <a:xfrm>
            <a:off x="6607967"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5" name="Google Shape;65;p4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4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49"/>
          <p:cNvSpPr txBox="1"/>
          <p:nvPr>
            <p:ph type="title"/>
          </p:nvPr>
        </p:nvSpPr>
        <p:spPr>
          <a:xfrm>
            <a:off x="1484312" y="1600200"/>
            <a:ext cx="3549121"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9"/>
          <p:cNvSpPr txBox="1"/>
          <p:nvPr>
            <p:ph idx="1" type="body"/>
          </p:nvPr>
        </p:nvSpPr>
        <p:spPr>
          <a:xfrm>
            <a:off x="5262033" y="685799"/>
            <a:ext cx="6240990"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5" name="Google Shape;75;p49"/>
          <p:cNvSpPr txBox="1"/>
          <p:nvPr>
            <p:ph idx="2" type="body"/>
          </p:nvPr>
        </p:nvSpPr>
        <p:spPr>
          <a:xfrm>
            <a:off x="1484312" y="2971800"/>
            <a:ext cx="3549121"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76" name="Google Shape;76;p4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50"/>
          <p:cNvSpPr txBox="1"/>
          <p:nvPr>
            <p:ph type="title"/>
          </p:nvPr>
        </p:nvSpPr>
        <p:spPr>
          <a:xfrm>
            <a:off x="1482724" y="1752599"/>
            <a:ext cx="5426158"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0"/>
          <p:cNvSpPr/>
          <p:nvPr>
            <p:ph idx="2" type="pic"/>
          </p:nvPr>
        </p:nvSpPr>
        <p:spPr>
          <a:xfrm>
            <a:off x="7594682" y="914400"/>
            <a:ext cx="3280974"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2" name="Google Shape;82;p50"/>
          <p:cNvSpPr txBox="1"/>
          <p:nvPr>
            <p:ph idx="1" type="body"/>
          </p:nvPr>
        </p:nvSpPr>
        <p:spPr>
          <a:xfrm>
            <a:off x="1482724" y="3124199"/>
            <a:ext cx="5426158"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3" name="Google Shape;83;p5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6" name="Shape 86"/>
        <p:cNvGrpSpPr/>
        <p:nvPr/>
      </p:nvGrpSpPr>
      <p:grpSpPr>
        <a:xfrm>
          <a:off x="0" y="0"/>
          <a:ext cx="0" cy="0"/>
          <a:chOff x="0" y="0"/>
          <a:chExt cx="0" cy="0"/>
        </a:xfrm>
      </p:grpSpPr>
      <p:sp>
        <p:nvSpPr>
          <p:cNvPr id="87" name="Google Shape;87;p51"/>
          <p:cNvSpPr txBox="1"/>
          <p:nvPr>
            <p:ph type="title"/>
          </p:nvPr>
        </p:nvSpPr>
        <p:spPr>
          <a:xfrm>
            <a:off x="1484311" y="4732865"/>
            <a:ext cx="1001871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1"/>
          <p:cNvSpPr/>
          <p:nvPr>
            <p:ph idx="2" type="pic"/>
          </p:nvPr>
        </p:nvSpPr>
        <p:spPr>
          <a:xfrm>
            <a:off x="2386012" y="932112"/>
            <a:ext cx="8225944"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89" name="Google Shape;89;p51"/>
          <p:cNvSpPr txBox="1"/>
          <p:nvPr>
            <p:ph idx="1" type="body"/>
          </p:nvPr>
        </p:nvSpPr>
        <p:spPr>
          <a:xfrm>
            <a:off x="1484311" y="5299603"/>
            <a:ext cx="1001871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0" name="Google Shape;90;p5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3" name="Shape 93"/>
        <p:cNvGrpSpPr/>
        <p:nvPr/>
      </p:nvGrpSpPr>
      <p:grpSpPr>
        <a:xfrm>
          <a:off x="0" y="0"/>
          <a:ext cx="0" cy="0"/>
          <a:chOff x="0" y="0"/>
          <a:chExt cx="0" cy="0"/>
        </a:xfrm>
      </p:grpSpPr>
      <p:sp>
        <p:nvSpPr>
          <p:cNvPr id="94" name="Google Shape;94;p52"/>
          <p:cNvSpPr txBox="1"/>
          <p:nvPr>
            <p:ph type="title"/>
          </p:nvPr>
        </p:nvSpPr>
        <p:spPr>
          <a:xfrm>
            <a:off x="1484312" y="685800"/>
            <a:ext cx="1001871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2"/>
          <p:cNvSpPr txBox="1"/>
          <p:nvPr>
            <p:ph idx="1" type="body"/>
          </p:nvPr>
        </p:nvSpPr>
        <p:spPr>
          <a:xfrm>
            <a:off x="1484312" y="4343400"/>
            <a:ext cx="1001871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96" name="Google Shape;96;p5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53"/>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1" name="Google Shape;101;p53"/>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2" name="Google Shape;102;p53"/>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3"/>
          <p:cNvSpPr txBox="1"/>
          <p:nvPr>
            <p:ph idx="1" type="body"/>
          </p:nvPr>
        </p:nvSpPr>
        <p:spPr>
          <a:xfrm>
            <a:off x="2436811" y="3428999"/>
            <a:ext cx="8532815"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4" name="Google Shape;104;p53"/>
          <p:cNvSpPr txBox="1"/>
          <p:nvPr>
            <p:ph idx="2" type="body"/>
          </p:nvPr>
        </p:nvSpPr>
        <p:spPr>
          <a:xfrm>
            <a:off x="1484311" y="4343400"/>
            <a:ext cx="1001871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5" name="Google Shape;105;p5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5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8" name="Shape 108"/>
        <p:cNvGrpSpPr/>
        <p:nvPr/>
      </p:nvGrpSpPr>
      <p:grpSpPr>
        <a:xfrm>
          <a:off x="0" y="0"/>
          <a:ext cx="0" cy="0"/>
          <a:chOff x="0" y="0"/>
          <a:chExt cx="0" cy="0"/>
        </a:xfrm>
      </p:grpSpPr>
      <p:sp>
        <p:nvSpPr>
          <p:cNvPr id="109" name="Google Shape;109;p54"/>
          <p:cNvSpPr txBox="1"/>
          <p:nvPr>
            <p:ph type="title"/>
          </p:nvPr>
        </p:nvSpPr>
        <p:spPr>
          <a:xfrm>
            <a:off x="1484313" y="3308581"/>
            <a:ext cx="1001870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4"/>
          <p:cNvSpPr txBox="1"/>
          <p:nvPr>
            <p:ph idx="1" type="body"/>
          </p:nvPr>
        </p:nvSpPr>
        <p:spPr>
          <a:xfrm>
            <a:off x="1484312" y="4777381"/>
            <a:ext cx="1001871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1" name="Google Shape;111;p5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5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4" name="Shape 114"/>
        <p:cNvGrpSpPr/>
        <p:nvPr/>
      </p:nvGrpSpPr>
      <p:grpSpPr>
        <a:xfrm>
          <a:off x="0" y="0"/>
          <a:ext cx="0" cy="0"/>
          <a:chOff x="0" y="0"/>
          <a:chExt cx="0" cy="0"/>
        </a:xfrm>
      </p:grpSpPr>
      <p:sp>
        <p:nvSpPr>
          <p:cNvPr id="115" name="Google Shape;115;p55"/>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6" name="Google Shape;116;p55"/>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7" name="Google Shape;117;p55"/>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5"/>
          <p:cNvSpPr txBox="1"/>
          <p:nvPr>
            <p:ph idx="1" type="body"/>
          </p:nvPr>
        </p:nvSpPr>
        <p:spPr>
          <a:xfrm>
            <a:off x="1484313" y="3886200"/>
            <a:ext cx="1001871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19" name="Google Shape;119;p55"/>
          <p:cNvSpPr txBox="1"/>
          <p:nvPr>
            <p:ph idx="2" type="body"/>
          </p:nvPr>
        </p:nvSpPr>
        <p:spPr>
          <a:xfrm>
            <a:off x="1484312" y="4775200"/>
            <a:ext cx="1001871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0" name="Google Shape;120;p5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5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5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3" name="Shape 123"/>
        <p:cNvGrpSpPr/>
        <p:nvPr/>
      </p:nvGrpSpPr>
      <p:grpSpPr>
        <a:xfrm>
          <a:off x="0" y="0"/>
          <a:ext cx="0" cy="0"/>
          <a:chOff x="0" y="0"/>
          <a:chExt cx="0" cy="0"/>
        </a:xfrm>
      </p:grpSpPr>
      <p:sp>
        <p:nvSpPr>
          <p:cNvPr id="124" name="Google Shape;124;p56"/>
          <p:cNvSpPr txBox="1"/>
          <p:nvPr>
            <p:ph type="title"/>
          </p:nvPr>
        </p:nvSpPr>
        <p:spPr>
          <a:xfrm>
            <a:off x="1484313" y="685800"/>
            <a:ext cx="10018712"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56"/>
          <p:cNvSpPr txBox="1"/>
          <p:nvPr>
            <p:ph idx="1" type="body"/>
          </p:nvPr>
        </p:nvSpPr>
        <p:spPr>
          <a:xfrm>
            <a:off x="1484312" y="3505200"/>
            <a:ext cx="1001871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6" name="Google Shape;126;p56"/>
          <p:cNvSpPr txBox="1"/>
          <p:nvPr>
            <p:ph idx="2" type="body"/>
          </p:nvPr>
        </p:nvSpPr>
        <p:spPr>
          <a:xfrm>
            <a:off x="1484311" y="4343400"/>
            <a:ext cx="1001871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 name="Google Shape;127;p5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5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sp>
        <p:nvSpPr>
          <p:cNvPr id="131" name="Google Shape;131;p5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57"/>
          <p:cNvSpPr txBox="1"/>
          <p:nvPr>
            <p:ph idx="1" type="body"/>
          </p:nvPr>
        </p:nvSpPr>
        <p:spPr>
          <a:xfrm rot="5400000">
            <a:off x="4931566" y="-780257"/>
            <a:ext cx="3124201" cy="1001871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3" name="Google Shape;133;p5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5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58"/>
          <p:cNvSpPr txBox="1"/>
          <p:nvPr>
            <p:ph type="title"/>
          </p:nvPr>
        </p:nvSpPr>
        <p:spPr>
          <a:xfrm rot="5400000">
            <a:off x="8065140" y="2353316"/>
            <a:ext cx="5105400" cy="177036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8"/>
          <p:cNvSpPr txBox="1"/>
          <p:nvPr>
            <p:ph idx="1" type="body"/>
          </p:nvPr>
        </p:nvSpPr>
        <p:spPr>
          <a:xfrm rot="5400000">
            <a:off x="2941483" y="-771371"/>
            <a:ext cx="5105400" cy="801974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9" name="Google Shape;139;p5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5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5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1"/>
          <p:cNvGrpSpPr/>
          <p:nvPr/>
        </p:nvGrpSpPr>
        <p:grpSpPr>
          <a:xfrm>
            <a:off x="150812" y="0"/>
            <a:ext cx="2436813" cy="6858001"/>
            <a:chOff x="1320800" y="0"/>
            <a:chExt cx="2436813" cy="6858001"/>
          </a:xfrm>
        </p:grpSpPr>
        <p:sp>
          <p:nvSpPr>
            <p:cNvPr id="11" name="Google Shape;11;p4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2" name="Google Shape;12;p4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13" name="Google Shape;13;p4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4" name="Google Shape;14;p4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5" name="Google Shape;15;p4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4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41"/>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41"/>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1186C3"/>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1186C3"/>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1186C3"/>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1186C3"/>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4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4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4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20" Type="http://schemas.openxmlformats.org/officeDocument/2006/relationships/image" Target="../media/image27.png"/><Relationship Id="rId11" Type="http://schemas.openxmlformats.org/officeDocument/2006/relationships/image" Target="../media/image11.png"/><Relationship Id="rId22" Type="http://schemas.openxmlformats.org/officeDocument/2006/relationships/image" Target="../media/image26.png"/><Relationship Id="rId10" Type="http://schemas.openxmlformats.org/officeDocument/2006/relationships/image" Target="../media/image12.png"/><Relationship Id="rId21" Type="http://schemas.openxmlformats.org/officeDocument/2006/relationships/image" Target="../media/image23.png"/><Relationship Id="rId13" Type="http://schemas.openxmlformats.org/officeDocument/2006/relationships/image" Target="../media/image10.png"/><Relationship Id="rId12" Type="http://schemas.openxmlformats.org/officeDocument/2006/relationships/image" Target="../media/image4.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28.png"/><Relationship Id="rId9" Type="http://schemas.openxmlformats.org/officeDocument/2006/relationships/image" Target="../media/image6.png"/><Relationship Id="rId15" Type="http://schemas.openxmlformats.org/officeDocument/2006/relationships/image" Target="../media/image8.png"/><Relationship Id="rId14" Type="http://schemas.openxmlformats.org/officeDocument/2006/relationships/image" Target="../media/image9.png"/><Relationship Id="rId17" Type="http://schemas.openxmlformats.org/officeDocument/2006/relationships/image" Target="../media/image13.png"/><Relationship Id="rId16" Type="http://schemas.openxmlformats.org/officeDocument/2006/relationships/image" Target="../media/image17.png"/><Relationship Id="rId5" Type="http://schemas.openxmlformats.org/officeDocument/2006/relationships/image" Target="../media/image20.png"/><Relationship Id="rId19" Type="http://schemas.openxmlformats.org/officeDocument/2006/relationships/image" Target="../media/image21.png"/><Relationship Id="rId6" Type="http://schemas.openxmlformats.org/officeDocument/2006/relationships/image" Target="../media/image3.png"/><Relationship Id="rId18" Type="http://schemas.openxmlformats.org/officeDocument/2006/relationships/image" Target="../media/image18.png"/><Relationship Id="rId7" Type="http://schemas.openxmlformats.org/officeDocument/2006/relationships/image" Target="../media/image7.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vmlDrawing" Target="../drawings/vmlDrawing1.vml"/><Relationship Id="rId4" Type="http://schemas.openxmlformats.org/officeDocument/2006/relationships/image" Target="../media/image26.png"/><Relationship Id="rId9" Type="http://schemas.openxmlformats.org/officeDocument/2006/relationships/oleObject" Target="../embeddings/oleObject2.bin"/><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24.png"/><Relationship Id="rId8"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vmlDrawing" Target="../drawings/vmlDrawing2.vml"/><Relationship Id="rId4" Type="http://schemas.openxmlformats.org/officeDocument/2006/relationships/image" Target="../media/image26.png"/><Relationship Id="rId9" Type="http://schemas.openxmlformats.org/officeDocument/2006/relationships/oleObject" Target="../embeddings/oleObject4.bin"/><Relationship Id="rId5" Type="http://schemas.openxmlformats.org/officeDocument/2006/relationships/oleObject" Target="../embeddings/oleObject3.bin"/><Relationship Id="rId6" Type="http://schemas.openxmlformats.org/officeDocument/2006/relationships/oleObject" Target="../embeddings/oleObject3.bin"/><Relationship Id="rId7" Type="http://schemas.openxmlformats.org/officeDocument/2006/relationships/image" Target="../media/image24.png"/><Relationship Id="rId8"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1.jpg"/><Relationship Id="rId4" Type="http://schemas.openxmlformats.org/officeDocument/2006/relationships/image" Target="../media/image3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4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43.jpg"/></Relationships>
</file>

<file path=ppt/slides/_rels/slide22.xml.rels><?xml version="1.0" encoding="UTF-8" standalone="yes"?><Relationships xmlns="http://schemas.openxmlformats.org/package/2006/relationships"><Relationship Id="rId11" Type="http://schemas.openxmlformats.org/officeDocument/2006/relationships/oleObject" Target="../embeddings/oleObject7.bin"/><Relationship Id="rId10" Type="http://schemas.openxmlformats.org/officeDocument/2006/relationships/oleObject" Target="../embeddings/oleObject7.bin"/><Relationship Id="rId13" Type="http://schemas.openxmlformats.org/officeDocument/2006/relationships/oleObject" Target="../embeddings/oleObject8.bin"/><Relationship Id="rId12" Type="http://schemas.openxmlformats.org/officeDocument/2006/relationships/image" Target="../media/image24.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vmlDrawing" Target="../drawings/vmlDrawing3.vml"/><Relationship Id="rId4" Type="http://schemas.openxmlformats.org/officeDocument/2006/relationships/image" Target="../media/image26.png"/><Relationship Id="rId9" Type="http://schemas.openxmlformats.org/officeDocument/2006/relationships/oleObject" Target="../embeddings/oleObject6.bin"/><Relationship Id="rId14" Type="http://schemas.openxmlformats.org/officeDocument/2006/relationships/oleObject" Target="../embeddings/oleObject8.bin"/><Relationship Id="rId5" Type="http://schemas.openxmlformats.org/officeDocument/2006/relationships/oleObject" Target="../embeddings/oleObject5.bin"/><Relationship Id="rId6" Type="http://schemas.openxmlformats.org/officeDocument/2006/relationships/oleObject" Target="../embeddings/oleObject5.bin"/><Relationship Id="rId7" Type="http://schemas.openxmlformats.org/officeDocument/2006/relationships/image" Target="../media/image37.png"/><Relationship Id="rId8"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47.png"/><Relationship Id="rId12" Type="http://schemas.openxmlformats.org/officeDocument/2006/relationships/image" Target="../media/image65.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40.png"/><Relationship Id="rId9" Type="http://schemas.openxmlformats.org/officeDocument/2006/relationships/image" Target="../media/image41.png"/><Relationship Id="rId5" Type="http://schemas.openxmlformats.org/officeDocument/2006/relationships/image" Target="../media/image35.png"/><Relationship Id="rId6" Type="http://schemas.openxmlformats.org/officeDocument/2006/relationships/image" Target="../media/image50.png"/><Relationship Id="rId7" Type="http://schemas.openxmlformats.org/officeDocument/2006/relationships/image" Target="../media/image63.png"/><Relationship Id="rId8"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51.png"/><Relationship Id="rId5" Type="http://schemas.openxmlformats.org/officeDocument/2006/relationships/image" Target="../media/image61.png"/><Relationship Id="rId6" Type="http://schemas.openxmlformats.org/officeDocument/2006/relationships/image" Target="../media/image5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49.png"/><Relationship Id="rId5" Type="http://schemas.openxmlformats.org/officeDocument/2006/relationships/image" Target="../media/image48.png"/><Relationship Id="rId6"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2.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6.jpg"/><Relationship Id="rId4" Type="http://schemas.openxmlformats.org/officeDocument/2006/relationships/image" Target="../media/image57.png"/><Relationship Id="rId5"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1.png"/><Relationship Id="rId4" Type="http://schemas.openxmlformats.org/officeDocument/2006/relationships/image" Target="../media/image26.png"/><Relationship Id="rId5" Type="http://schemas.openxmlformats.org/officeDocument/2006/relationships/image" Target="../media/image6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9.png"/><Relationship Id="rId4" Type="http://schemas.openxmlformats.org/officeDocument/2006/relationships/image" Target="../media/image26.png"/><Relationship Id="rId9" Type="http://schemas.openxmlformats.org/officeDocument/2006/relationships/image" Target="../media/image66.png"/><Relationship Id="rId5" Type="http://schemas.openxmlformats.org/officeDocument/2006/relationships/image" Target="../media/image75.png"/><Relationship Id="rId6" Type="http://schemas.openxmlformats.org/officeDocument/2006/relationships/image" Target="../media/image64.png"/><Relationship Id="rId7" Type="http://schemas.openxmlformats.org/officeDocument/2006/relationships/image" Target="../media/image72.png"/><Relationship Id="rId8"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7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7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6.png"/><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6000"/>
              <a:buFont typeface="Corbel"/>
              <a:buNone/>
            </a:pPr>
            <a:r>
              <a:rPr lang="en-US"/>
              <a:t>Network Layer:</a:t>
            </a:r>
            <a:br>
              <a:rPr lang="en-US"/>
            </a:br>
            <a:r>
              <a:rPr lang="en-US"/>
              <a:t>IPv4 Functions</a:t>
            </a:r>
            <a:endParaRPr/>
          </a:p>
        </p:txBody>
      </p:sp>
      <p:sp>
        <p:nvSpPr>
          <p:cNvPr id="148" name="Google Shape;148;p1"/>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3045"/>
              <a:buNone/>
            </a:pPr>
            <a:r>
              <a:rPr lang="en-US"/>
              <a:t>Lecture 9 | CSE421 – Computer Networks</a:t>
            </a:r>
            <a:endParaRPr/>
          </a:p>
          <a:p>
            <a:pPr indent="0" lvl="0" marL="0" rtl="0" algn="r">
              <a:lnSpc>
                <a:spcPct val="100000"/>
              </a:lnSpc>
              <a:spcBef>
                <a:spcPts val="1020"/>
              </a:spcBef>
              <a:spcAft>
                <a:spcPts val="0"/>
              </a:spcAft>
              <a:buSzPts val="3045"/>
              <a:buNone/>
            </a:pPr>
            <a:r>
              <a:rPr lang="en-US"/>
              <a:t>Department of Computer Science and Engineering</a:t>
            </a:r>
            <a:br>
              <a:rPr lang="en-US"/>
            </a:br>
            <a:r>
              <a:rPr lang="en-US"/>
              <a:t>School of Data &amp; Science</a:t>
            </a:r>
            <a:endParaRPr/>
          </a:p>
        </p:txBody>
      </p:sp>
      <p:pic>
        <p:nvPicPr>
          <p:cNvPr id="149" name="Google Shape;149;p1"/>
          <p:cNvPicPr preferRelativeResize="0"/>
          <p:nvPr/>
        </p:nvPicPr>
        <p:blipFill rotWithShape="1">
          <a:blip r:embed="rId3">
            <a:alphaModFix/>
          </a:blip>
          <a:srcRect b="0" l="0" r="0" t="0"/>
          <a:stretch/>
        </p:blipFill>
        <p:spPr>
          <a:xfrm>
            <a:off x="5276333" y="217086"/>
            <a:ext cx="1639334" cy="15040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Objectives</a:t>
            </a:r>
            <a:endParaRPr/>
          </a:p>
        </p:txBody>
      </p:sp>
      <p:sp>
        <p:nvSpPr>
          <p:cNvPr id="155" name="Google Shape;155;p2"/>
          <p:cNvSpPr txBox="1"/>
          <p:nvPr>
            <p:ph idx="1" type="body"/>
          </p:nvPr>
        </p:nvSpPr>
        <p:spPr>
          <a:xfrm>
            <a:off x="1484310" y="1066801"/>
            <a:ext cx="10018713" cy="4724400"/>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sz="3200"/>
              <a:t>Short overview of the Network Layer</a:t>
            </a:r>
            <a:endParaRPr sz="3200"/>
          </a:p>
          <a:p>
            <a:pPr indent="-285750" lvl="0" marL="285750" rtl="0" algn="l">
              <a:lnSpc>
                <a:spcPct val="100000"/>
              </a:lnSpc>
              <a:spcBef>
                <a:spcPts val="1080"/>
              </a:spcBef>
              <a:spcAft>
                <a:spcPts val="0"/>
              </a:spcAft>
              <a:buSzPts val="3480"/>
              <a:buChar char="•"/>
            </a:pPr>
            <a:r>
              <a:rPr lang="en-US" sz="3200"/>
              <a:t>Packet Switching: Virtual Circuits &amp; Datagram Networks</a:t>
            </a:r>
            <a:endParaRPr sz="3200"/>
          </a:p>
          <a:p>
            <a:pPr indent="-285750" lvl="0" marL="285750" rtl="0" algn="l">
              <a:lnSpc>
                <a:spcPct val="100000"/>
              </a:lnSpc>
              <a:spcBef>
                <a:spcPts val="1080"/>
              </a:spcBef>
              <a:spcAft>
                <a:spcPts val="0"/>
              </a:spcAft>
              <a:buSzPts val="3480"/>
              <a:buChar char="•"/>
            </a:pPr>
            <a:r>
              <a:rPr lang="en-US" sz="3200"/>
              <a:t>IPv4 Packet Format</a:t>
            </a:r>
            <a:endParaRPr/>
          </a:p>
          <a:p>
            <a:pPr indent="-285750" lvl="0" marL="285750" rtl="0" algn="l">
              <a:lnSpc>
                <a:spcPct val="100000"/>
              </a:lnSpc>
              <a:spcBef>
                <a:spcPts val="1080"/>
              </a:spcBef>
              <a:spcAft>
                <a:spcPts val="0"/>
              </a:spcAft>
              <a:buSzPts val="3480"/>
              <a:buChar char="•"/>
            </a:pPr>
            <a:r>
              <a:rPr lang="en-US" sz="3200"/>
              <a:t>IP Fragmentation &amp; Reassembly</a:t>
            </a:r>
            <a:endParaRPr sz="3200"/>
          </a:p>
          <a:p>
            <a:pPr indent="-285750" lvl="0" marL="285750" rtl="0" algn="l">
              <a:lnSpc>
                <a:spcPct val="100000"/>
              </a:lnSpc>
              <a:spcBef>
                <a:spcPts val="1080"/>
              </a:spcBef>
              <a:spcAft>
                <a:spcPts val="0"/>
              </a:spcAft>
              <a:buSzPts val="3480"/>
              <a:buChar char="•"/>
            </a:pPr>
            <a:r>
              <a:rPr lang="en-US" sz="3200"/>
              <a:t>ICMP</a:t>
            </a:r>
            <a:endParaRPr sz="3200"/>
          </a:p>
          <a:p>
            <a:pPr indent="-285750" lvl="1" marL="742950" rtl="0" algn="l">
              <a:lnSpc>
                <a:spcPct val="100000"/>
              </a:lnSpc>
              <a:spcBef>
                <a:spcPts val="1000"/>
              </a:spcBef>
              <a:spcAft>
                <a:spcPts val="0"/>
              </a:spcAft>
              <a:buSzPts val="2900"/>
              <a:buChar char="•"/>
            </a:pPr>
            <a:r>
              <a:rPr lang="en-US" sz="3200"/>
              <a:t>Ping</a:t>
            </a:r>
            <a:endParaRPr sz="3200"/>
          </a:p>
          <a:p>
            <a:pPr indent="-285750" lvl="1" marL="742950" rtl="0" algn="l">
              <a:lnSpc>
                <a:spcPct val="100000"/>
              </a:lnSpc>
              <a:spcBef>
                <a:spcPts val="1000"/>
              </a:spcBef>
              <a:spcAft>
                <a:spcPts val="0"/>
              </a:spcAft>
              <a:buSzPts val="2900"/>
              <a:buChar char="•"/>
            </a:pPr>
            <a:r>
              <a:rPr lang="en-US" sz="3200"/>
              <a:t>Traceroute</a:t>
            </a:r>
            <a:endParaRPr sz="3200"/>
          </a:p>
        </p:txBody>
      </p:sp>
      <p:pic>
        <p:nvPicPr>
          <p:cNvPr id="156" name="Google Shape;156;p2"/>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9"/>
          <p:cNvSpPr/>
          <p:nvPr/>
        </p:nvSpPr>
        <p:spPr>
          <a:xfrm>
            <a:off x="9089873" y="3959662"/>
            <a:ext cx="1314450" cy="674687"/>
          </a:xfrm>
          <a:custGeom>
            <a:rect b="b" l="l" r="r" t="t"/>
            <a:pathLst>
              <a:path extrusionOk="0" h="425" w="828">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9"/>
          <p:cNvSpPr/>
          <p:nvPr/>
        </p:nvSpPr>
        <p:spPr>
          <a:xfrm>
            <a:off x="9108924" y="2434073"/>
            <a:ext cx="1730375" cy="1125538"/>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9"/>
          <p:cNvSpPr/>
          <p:nvPr/>
        </p:nvSpPr>
        <p:spPr>
          <a:xfrm>
            <a:off x="7288061" y="2141974"/>
            <a:ext cx="1736725" cy="107156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59"/>
          <p:cNvGrpSpPr/>
          <p:nvPr/>
        </p:nvGrpSpPr>
        <p:grpSpPr>
          <a:xfrm>
            <a:off x="7364261" y="3407211"/>
            <a:ext cx="1458913" cy="933450"/>
            <a:chOff x="2889" y="1631"/>
            <a:chExt cx="980" cy="743"/>
          </a:xfrm>
        </p:grpSpPr>
        <p:sp>
          <p:nvSpPr>
            <p:cNvPr id="165" name="Google Shape;165;p59"/>
            <p:cNvSpPr/>
            <p:nvPr/>
          </p:nvSpPr>
          <p:spPr>
            <a:xfrm>
              <a:off x="3046" y="1841"/>
              <a:ext cx="663" cy="533"/>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 name="Google Shape;166;p59"/>
            <p:cNvSpPr/>
            <p:nvPr/>
          </p:nvSpPr>
          <p:spPr>
            <a:xfrm>
              <a:off x="2889" y="1631"/>
              <a:ext cx="980" cy="253"/>
            </a:xfrm>
            <a:prstGeom prst="triangle">
              <a:avLst>
                <a:gd fmla="val 50000" name="adj"/>
              </a:avLst>
            </a:prstGeom>
            <a:solidFill>
              <a:srgbClr val="00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CCFF"/>
                </a:solidFill>
                <a:latin typeface="Arial"/>
                <a:ea typeface="Arial"/>
                <a:cs typeface="Arial"/>
                <a:sym typeface="Arial"/>
              </a:endParaRPr>
            </a:p>
          </p:txBody>
        </p:sp>
      </p:grpSp>
      <p:cxnSp>
        <p:nvCxnSpPr>
          <p:cNvPr id="167" name="Google Shape;167;p59"/>
          <p:cNvCxnSpPr/>
          <p:nvPr/>
        </p:nvCxnSpPr>
        <p:spPr>
          <a:xfrm>
            <a:off x="9481986" y="4245411"/>
            <a:ext cx="163513" cy="120650"/>
          </a:xfrm>
          <a:prstGeom prst="straightConnector1">
            <a:avLst/>
          </a:prstGeom>
          <a:noFill/>
          <a:ln cap="flat" cmpd="sng" w="9525">
            <a:solidFill>
              <a:schemeClr val="dk1"/>
            </a:solidFill>
            <a:prstDash val="solid"/>
            <a:round/>
            <a:headEnd len="sm" w="sm" type="none"/>
            <a:tailEnd len="sm" w="sm" type="none"/>
          </a:ln>
        </p:spPr>
      </p:cxnSp>
      <p:cxnSp>
        <p:nvCxnSpPr>
          <p:cNvPr id="168" name="Google Shape;168;p59"/>
          <p:cNvCxnSpPr/>
          <p:nvPr/>
        </p:nvCxnSpPr>
        <p:spPr>
          <a:xfrm>
            <a:off x="9578823" y="4166036"/>
            <a:ext cx="279400" cy="0"/>
          </a:xfrm>
          <a:prstGeom prst="straightConnector1">
            <a:avLst/>
          </a:prstGeom>
          <a:noFill/>
          <a:ln cap="flat" cmpd="sng" w="9525">
            <a:solidFill>
              <a:schemeClr val="dk1"/>
            </a:solidFill>
            <a:prstDash val="solid"/>
            <a:round/>
            <a:headEnd len="sm" w="sm" type="none"/>
            <a:tailEnd len="sm" w="sm" type="none"/>
          </a:ln>
        </p:spPr>
      </p:cxnSp>
      <p:cxnSp>
        <p:nvCxnSpPr>
          <p:cNvPr id="169" name="Google Shape;169;p59"/>
          <p:cNvCxnSpPr/>
          <p:nvPr/>
        </p:nvCxnSpPr>
        <p:spPr>
          <a:xfrm flipH="1" rot="10800000">
            <a:off x="9815360" y="4251762"/>
            <a:ext cx="134938" cy="104775"/>
          </a:xfrm>
          <a:prstGeom prst="straightConnector1">
            <a:avLst/>
          </a:prstGeom>
          <a:noFill/>
          <a:ln cap="flat" cmpd="sng" w="9525">
            <a:solidFill>
              <a:schemeClr val="dk1"/>
            </a:solidFill>
            <a:prstDash val="solid"/>
            <a:round/>
            <a:headEnd len="sm" w="sm" type="none"/>
            <a:tailEnd len="sm" w="sm" type="none"/>
          </a:ln>
        </p:spPr>
      </p:cxnSp>
      <p:cxnSp>
        <p:nvCxnSpPr>
          <p:cNvPr id="170" name="Google Shape;170;p59"/>
          <p:cNvCxnSpPr/>
          <p:nvPr/>
        </p:nvCxnSpPr>
        <p:spPr>
          <a:xfrm>
            <a:off x="8513610" y="4172386"/>
            <a:ext cx="679450" cy="0"/>
          </a:xfrm>
          <a:prstGeom prst="straightConnector1">
            <a:avLst/>
          </a:prstGeom>
          <a:noFill/>
          <a:ln cap="flat" cmpd="sng" w="9525">
            <a:solidFill>
              <a:schemeClr val="dk1"/>
            </a:solidFill>
            <a:prstDash val="solid"/>
            <a:round/>
            <a:headEnd len="sm" w="sm" type="none"/>
            <a:tailEnd len="sm" w="sm" type="none"/>
          </a:ln>
        </p:spPr>
      </p:cxnSp>
      <p:cxnSp>
        <p:nvCxnSpPr>
          <p:cNvPr id="171" name="Google Shape;171;p59"/>
          <p:cNvCxnSpPr/>
          <p:nvPr/>
        </p:nvCxnSpPr>
        <p:spPr>
          <a:xfrm>
            <a:off x="8808885" y="3019862"/>
            <a:ext cx="509588" cy="3175"/>
          </a:xfrm>
          <a:prstGeom prst="straightConnector1">
            <a:avLst/>
          </a:prstGeom>
          <a:noFill/>
          <a:ln cap="flat" cmpd="sng" w="9525">
            <a:solidFill>
              <a:schemeClr val="dk1"/>
            </a:solidFill>
            <a:prstDash val="solid"/>
            <a:round/>
            <a:headEnd len="sm" w="sm" type="none"/>
            <a:tailEnd len="sm" w="sm" type="none"/>
          </a:ln>
        </p:spPr>
      </p:cxnSp>
      <p:cxnSp>
        <p:nvCxnSpPr>
          <p:cNvPr id="172" name="Google Shape;172;p59"/>
          <p:cNvCxnSpPr/>
          <p:nvPr/>
        </p:nvCxnSpPr>
        <p:spPr>
          <a:xfrm>
            <a:off x="8375498" y="2835711"/>
            <a:ext cx="152400" cy="95250"/>
          </a:xfrm>
          <a:prstGeom prst="straightConnector1">
            <a:avLst/>
          </a:prstGeom>
          <a:noFill/>
          <a:ln cap="flat" cmpd="sng" w="9525">
            <a:solidFill>
              <a:schemeClr val="dk1"/>
            </a:solidFill>
            <a:prstDash val="solid"/>
            <a:round/>
            <a:headEnd len="sm" w="sm" type="none"/>
            <a:tailEnd len="sm" w="sm" type="none"/>
          </a:ln>
        </p:spPr>
      </p:cxnSp>
      <p:sp>
        <p:nvSpPr>
          <p:cNvPr id="173" name="Google Shape;173;p59"/>
          <p:cNvSpPr/>
          <p:nvPr/>
        </p:nvSpPr>
        <p:spPr>
          <a:xfrm>
            <a:off x="7583335" y="4810562"/>
            <a:ext cx="3079750" cy="1665287"/>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4" name="Google Shape;174;p59"/>
          <p:cNvCxnSpPr/>
          <p:nvPr/>
        </p:nvCxnSpPr>
        <p:spPr>
          <a:xfrm flipH="1" rot="5400000">
            <a:off x="9882829" y="5682892"/>
            <a:ext cx="474662" cy="6350"/>
          </a:xfrm>
          <a:prstGeom prst="straightConnector1">
            <a:avLst/>
          </a:prstGeom>
          <a:noFill/>
          <a:ln cap="flat" cmpd="sng" w="12700">
            <a:solidFill>
              <a:schemeClr val="dk1"/>
            </a:solidFill>
            <a:prstDash val="solid"/>
            <a:round/>
            <a:headEnd len="sm" w="sm" type="none"/>
            <a:tailEnd len="sm" w="sm" type="none"/>
          </a:ln>
        </p:spPr>
      </p:cxnSp>
      <p:cxnSp>
        <p:nvCxnSpPr>
          <p:cNvPr id="175" name="Google Shape;175;p59"/>
          <p:cNvCxnSpPr/>
          <p:nvPr/>
        </p:nvCxnSpPr>
        <p:spPr>
          <a:xfrm flipH="1" rot="-5400000">
            <a:off x="10077299" y="5872599"/>
            <a:ext cx="3175" cy="85725"/>
          </a:xfrm>
          <a:prstGeom prst="straightConnector1">
            <a:avLst/>
          </a:prstGeom>
          <a:noFill/>
          <a:ln cap="flat" cmpd="sng" w="12700">
            <a:solidFill>
              <a:schemeClr val="dk2"/>
            </a:solidFill>
            <a:prstDash val="solid"/>
            <a:round/>
            <a:headEnd len="sm" w="sm" type="none"/>
            <a:tailEnd len="sm" w="sm" type="none"/>
          </a:ln>
        </p:spPr>
      </p:cxnSp>
      <p:cxnSp>
        <p:nvCxnSpPr>
          <p:cNvPr id="176" name="Google Shape;176;p59"/>
          <p:cNvCxnSpPr/>
          <p:nvPr/>
        </p:nvCxnSpPr>
        <p:spPr>
          <a:xfrm flipH="1" rot="-5400000">
            <a:off x="10185248" y="5470961"/>
            <a:ext cx="193675" cy="76200"/>
          </a:xfrm>
          <a:prstGeom prst="straightConnector1">
            <a:avLst/>
          </a:prstGeom>
          <a:noFill/>
          <a:ln cap="flat" cmpd="sng" w="12700">
            <a:solidFill>
              <a:schemeClr val="dk1"/>
            </a:solidFill>
            <a:prstDash val="solid"/>
            <a:round/>
            <a:headEnd len="sm" w="sm" type="none"/>
            <a:tailEnd len="sm" w="sm" type="none"/>
          </a:ln>
        </p:spPr>
      </p:cxnSp>
      <p:cxnSp>
        <p:nvCxnSpPr>
          <p:cNvPr id="177" name="Google Shape;177;p59"/>
          <p:cNvCxnSpPr/>
          <p:nvPr/>
        </p:nvCxnSpPr>
        <p:spPr>
          <a:xfrm>
            <a:off x="9443886" y="5129648"/>
            <a:ext cx="390525" cy="184150"/>
          </a:xfrm>
          <a:prstGeom prst="straightConnector1">
            <a:avLst/>
          </a:prstGeom>
          <a:noFill/>
          <a:ln cap="flat" cmpd="sng" w="9525">
            <a:solidFill>
              <a:schemeClr val="dk1"/>
            </a:solidFill>
            <a:prstDash val="solid"/>
            <a:round/>
            <a:headEnd len="sm" w="sm" type="none"/>
            <a:tailEnd len="sm" w="sm" type="none"/>
          </a:ln>
        </p:spPr>
      </p:cxnSp>
      <p:cxnSp>
        <p:nvCxnSpPr>
          <p:cNvPr id="178" name="Google Shape;178;p59"/>
          <p:cNvCxnSpPr/>
          <p:nvPr/>
        </p:nvCxnSpPr>
        <p:spPr>
          <a:xfrm flipH="1" rot="10800000">
            <a:off x="8823173" y="5116948"/>
            <a:ext cx="322262" cy="198438"/>
          </a:xfrm>
          <a:prstGeom prst="straightConnector1">
            <a:avLst/>
          </a:prstGeom>
          <a:noFill/>
          <a:ln cap="flat" cmpd="sng" w="9525">
            <a:solidFill>
              <a:schemeClr val="dk1"/>
            </a:solidFill>
            <a:prstDash val="solid"/>
            <a:round/>
            <a:headEnd len="sm" w="sm" type="none"/>
            <a:tailEnd len="sm" w="sm" type="none"/>
          </a:ln>
        </p:spPr>
      </p:cxnSp>
      <p:cxnSp>
        <p:nvCxnSpPr>
          <p:cNvPr id="179" name="Google Shape;179;p59"/>
          <p:cNvCxnSpPr/>
          <p:nvPr/>
        </p:nvCxnSpPr>
        <p:spPr>
          <a:xfrm>
            <a:off x="8866035" y="5409048"/>
            <a:ext cx="971550" cy="0"/>
          </a:xfrm>
          <a:prstGeom prst="straightConnector1">
            <a:avLst/>
          </a:prstGeom>
          <a:noFill/>
          <a:ln cap="flat" cmpd="sng" w="9525">
            <a:solidFill>
              <a:schemeClr val="dk1"/>
            </a:solidFill>
            <a:prstDash val="solid"/>
            <a:round/>
            <a:headEnd len="sm" w="sm" type="none"/>
            <a:tailEnd len="sm" w="sm" type="none"/>
          </a:ln>
        </p:spPr>
      </p:cxnSp>
      <p:cxnSp>
        <p:nvCxnSpPr>
          <p:cNvPr id="180" name="Google Shape;180;p59"/>
          <p:cNvCxnSpPr/>
          <p:nvPr/>
        </p:nvCxnSpPr>
        <p:spPr>
          <a:xfrm>
            <a:off x="8186586" y="5205848"/>
            <a:ext cx="233363" cy="95250"/>
          </a:xfrm>
          <a:prstGeom prst="straightConnector1">
            <a:avLst/>
          </a:prstGeom>
          <a:noFill/>
          <a:ln cap="flat" cmpd="sng" w="9525">
            <a:solidFill>
              <a:schemeClr val="dk1"/>
            </a:solidFill>
            <a:prstDash val="solid"/>
            <a:round/>
            <a:headEnd len="sm" w="sm" type="none"/>
            <a:tailEnd len="sm" w="sm" type="none"/>
          </a:ln>
        </p:spPr>
      </p:cxnSp>
      <p:cxnSp>
        <p:nvCxnSpPr>
          <p:cNvPr id="181" name="Google Shape;181;p59"/>
          <p:cNvCxnSpPr/>
          <p:nvPr/>
        </p:nvCxnSpPr>
        <p:spPr>
          <a:xfrm flipH="1" rot="10800000">
            <a:off x="7927824" y="5442386"/>
            <a:ext cx="403225" cy="100012"/>
          </a:xfrm>
          <a:prstGeom prst="straightConnector1">
            <a:avLst/>
          </a:prstGeom>
          <a:noFill/>
          <a:ln cap="flat" cmpd="sng" w="9525">
            <a:solidFill>
              <a:schemeClr val="dk1"/>
            </a:solidFill>
            <a:prstDash val="solid"/>
            <a:round/>
            <a:headEnd len="sm" w="sm" type="none"/>
            <a:tailEnd len="sm" w="sm" type="none"/>
          </a:ln>
        </p:spPr>
      </p:cxnSp>
      <p:cxnSp>
        <p:nvCxnSpPr>
          <p:cNvPr id="182" name="Google Shape;182;p59"/>
          <p:cNvCxnSpPr/>
          <p:nvPr/>
        </p:nvCxnSpPr>
        <p:spPr>
          <a:xfrm flipH="1">
            <a:off x="8353273" y="5497948"/>
            <a:ext cx="177800" cy="203200"/>
          </a:xfrm>
          <a:prstGeom prst="straightConnector1">
            <a:avLst/>
          </a:prstGeom>
          <a:noFill/>
          <a:ln cap="flat" cmpd="sng" w="9525">
            <a:solidFill>
              <a:schemeClr val="dk1"/>
            </a:solidFill>
            <a:prstDash val="solid"/>
            <a:round/>
            <a:headEnd len="sm" w="sm" type="none"/>
            <a:tailEnd len="sm" w="sm" type="none"/>
          </a:ln>
        </p:spPr>
      </p:cxnSp>
      <p:cxnSp>
        <p:nvCxnSpPr>
          <p:cNvPr id="183" name="Google Shape;183;p59"/>
          <p:cNvCxnSpPr/>
          <p:nvPr/>
        </p:nvCxnSpPr>
        <p:spPr>
          <a:xfrm rot="10800000">
            <a:off x="8746974" y="5482074"/>
            <a:ext cx="1587" cy="220663"/>
          </a:xfrm>
          <a:prstGeom prst="straightConnector1">
            <a:avLst/>
          </a:prstGeom>
          <a:noFill/>
          <a:ln cap="flat" cmpd="sng" w="9525">
            <a:solidFill>
              <a:schemeClr val="dk1"/>
            </a:solidFill>
            <a:prstDash val="solid"/>
            <a:round/>
            <a:headEnd len="sm" w="sm" type="none"/>
            <a:tailEnd len="sm" w="sm" type="none"/>
          </a:ln>
        </p:spPr>
      </p:cxnSp>
      <p:cxnSp>
        <p:nvCxnSpPr>
          <p:cNvPr id="184" name="Google Shape;184;p59"/>
          <p:cNvCxnSpPr/>
          <p:nvPr/>
        </p:nvCxnSpPr>
        <p:spPr>
          <a:xfrm>
            <a:off x="8829524" y="5485249"/>
            <a:ext cx="503237" cy="269875"/>
          </a:xfrm>
          <a:prstGeom prst="straightConnector1">
            <a:avLst/>
          </a:prstGeom>
          <a:noFill/>
          <a:ln cap="flat" cmpd="sng" w="9525">
            <a:solidFill>
              <a:schemeClr val="dk1"/>
            </a:solidFill>
            <a:prstDash val="solid"/>
            <a:round/>
            <a:headEnd len="sm" w="sm" type="none"/>
            <a:tailEnd len="sm" w="sm" type="none"/>
          </a:ln>
        </p:spPr>
      </p:cxnSp>
      <p:cxnSp>
        <p:nvCxnSpPr>
          <p:cNvPr id="185" name="Google Shape;185;p59"/>
          <p:cNvCxnSpPr/>
          <p:nvPr/>
        </p:nvCxnSpPr>
        <p:spPr>
          <a:xfrm>
            <a:off x="8367560" y="3954899"/>
            <a:ext cx="0" cy="131763"/>
          </a:xfrm>
          <a:prstGeom prst="straightConnector1">
            <a:avLst/>
          </a:prstGeom>
          <a:noFill/>
          <a:ln cap="flat" cmpd="sng" w="9525">
            <a:solidFill>
              <a:schemeClr val="dk1"/>
            </a:solidFill>
            <a:prstDash val="solid"/>
            <a:round/>
            <a:headEnd len="sm" w="sm" type="none"/>
            <a:tailEnd len="sm" w="sm" type="none"/>
          </a:ln>
        </p:spPr>
      </p:cxnSp>
      <p:cxnSp>
        <p:nvCxnSpPr>
          <p:cNvPr id="186" name="Google Shape;186;p59"/>
          <p:cNvCxnSpPr/>
          <p:nvPr/>
        </p:nvCxnSpPr>
        <p:spPr>
          <a:xfrm flipH="1" rot="10800000">
            <a:off x="9662961" y="2924611"/>
            <a:ext cx="123825" cy="87312"/>
          </a:xfrm>
          <a:prstGeom prst="straightConnector1">
            <a:avLst/>
          </a:prstGeom>
          <a:noFill/>
          <a:ln cap="flat" cmpd="sng" w="9525">
            <a:solidFill>
              <a:schemeClr val="dk1"/>
            </a:solidFill>
            <a:prstDash val="solid"/>
            <a:round/>
            <a:headEnd len="sm" w="sm" type="none"/>
            <a:tailEnd len="sm" w="sm" type="none"/>
          </a:ln>
        </p:spPr>
      </p:cxnSp>
      <p:cxnSp>
        <p:nvCxnSpPr>
          <p:cNvPr id="187" name="Google Shape;187;p59"/>
          <p:cNvCxnSpPr/>
          <p:nvPr/>
        </p:nvCxnSpPr>
        <p:spPr>
          <a:xfrm>
            <a:off x="9491510" y="3097648"/>
            <a:ext cx="0" cy="82550"/>
          </a:xfrm>
          <a:prstGeom prst="straightConnector1">
            <a:avLst/>
          </a:prstGeom>
          <a:noFill/>
          <a:ln cap="flat" cmpd="sng" w="9525">
            <a:solidFill>
              <a:schemeClr val="dk1"/>
            </a:solidFill>
            <a:prstDash val="solid"/>
            <a:round/>
            <a:headEnd len="sm" w="sm" type="none"/>
            <a:tailEnd len="sm" w="sm" type="none"/>
          </a:ln>
        </p:spPr>
      </p:cxnSp>
      <p:cxnSp>
        <p:nvCxnSpPr>
          <p:cNvPr id="188" name="Google Shape;188;p59"/>
          <p:cNvCxnSpPr/>
          <p:nvPr/>
        </p:nvCxnSpPr>
        <p:spPr>
          <a:xfrm flipH="1" rot="10800000">
            <a:off x="9662961" y="2994462"/>
            <a:ext cx="263525" cy="288925"/>
          </a:xfrm>
          <a:prstGeom prst="straightConnector1">
            <a:avLst/>
          </a:prstGeom>
          <a:noFill/>
          <a:ln cap="flat" cmpd="sng" w="9525">
            <a:solidFill>
              <a:schemeClr val="dk1"/>
            </a:solidFill>
            <a:prstDash val="solid"/>
            <a:round/>
            <a:headEnd len="sm" w="sm" type="none"/>
            <a:tailEnd len="sm" w="sm" type="none"/>
          </a:ln>
        </p:spPr>
      </p:cxnSp>
      <p:cxnSp>
        <p:nvCxnSpPr>
          <p:cNvPr id="189" name="Google Shape;189;p59"/>
          <p:cNvCxnSpPr/>
          <p:nvPr/>
        </p:nvCxnSpPr>
        <p:spPr>
          <a:xfrm>
            <a:off x="10028085" y="2992873"/>
            <a:ext cx="0" cy="196850"/>
          </a:xfrm>
          <a:prstGeom prst="straightConnector1">
            <a:avLst/>
          </a:prstGeom>
          <a:noFill/>
          <a:ln cap="flat" cmpd="sng" w="9525">
            <a:solidFill>
              <a:schemeClr val="dk1"/>
            </a:solidFill>
            <a:prstDash val="solid"/>
            <a:round/>
            <a:headEnd len="sm" w="sm" type="none"/>
            <a:tailEnd len="sm" w="sm" type="none"/>
          </a:ln>
        </p:spPr>
      </p:cxnSp>
      <p:cxnSp>
        <p:nvCxnSpPr>
          <p:cNvPr id="190" name="Google Shape;190;p59"/>
          <p:cNvCxnSpPr/>
          <p:nvPr/>
        </p:nvCxnSpPr>
        <p:spPr>
          <a:xfrm>
            <a:off x="9682011" y="3299261"/>
            <a:ext cx="188913" cy="0"/>
          </a:xfrm>
          <a:prstGeom prst="straightConnector1">
            <a:avLst/>
          </a:prstGeom>
          <a:noFill/>
          <a:ln cap="flat" cmpd="sng" w="9525">
            <a:solidFill>
              <a:schemeClr val="dk1"/>
            </a:solidFill>
            <a:prstDash val="solid"/>
            <a:round/>
            <a:headEnd len="sm" w="sm" type="none"/>
            <a:tailEnd len="sm" w="sm" type="none"/>
          </a:ln>
        </p:spPr>
      </p:cxnSp>
      <p:cxnSp>
        <p:nvCxnSpPr>
          <p:cNvPr id="191" name="Google Shape;191;p59"/>
          <p:cNvCxnSpPr/>
          <p:nvPr/>
        </p:nvCxnSpPr>
        <p:spPr>
          <a:xfrm flipH="1" rot="10800000">
            <a:off x="7977036" y="4166037"/>
            <a:ext cx="168275" cy="3175"/>
          </a:xfrm>
          <a:prstGeom prst="straightConnector1">
            <a:avLst/>
          </a:prstGeom>
          <a:noFill/>
          <a:ln cap="flat" cmpd="sng" w="9525">
            <a:solidFill>
              <a:schemeClr val="dk1"/>
            </a:solidFill>
            <a:prstDash val="solid"/>
            <a:round/>
            <a:headEnd len="sm" w="sm" type="none"/>
            <a:tailEnd len="sm" w="sm" type="none"/>
          </a:ln>
        </p:spPr>
      </p:cxnSp>
      <p:cxnSp>
        <p:nvCxnSpPr>
          <p:cNvPr id="192" name="Google Shape;192;p59"/>
          <p:cNvCxnSpPr/>
          <p:nvPr/>
        </p:nvCxnSpPr>
        <p:spPr>
          <a:xfrm>
            <a:off x="10236048" y="3289736"/>
            <a:ext cx="177800" cy="0"/>
          </a:xfrm>
          <a:prstGeom prst="straightConnector1">
            <a:avLst/>
          </a:prstGeom>
          <a:noFill/>
          <a:ln cap="flat" cmpd="sng" w="9525">
            <a:solidFill>
              <a:schemeClr val="dk1"/>
            </a:solidFill>
            <a:prstDash val="solid"/>
            <a:round/>
            <a:headEnd len="sm" w="sm" type="none"/>
            <a:tailEnd len="sm" w="sm" type="none"/>
          </a:ln>
        </p:spPr>
      </p:cxnSp>
      <p:cxnSp>
        <p:nvCxnSpPr>
          <p:cNvPr id="193" name="Google Shape;193;p59"/>
          <p:cNvCxnSpPr/>
          <p:nvPr/>
        </p:nvCxnSpPr>
        <p:spPr>
          <a:xfrm flipH="1">
            <a:off x="9381974" y="3365936"/>
            <a:ext cx="98425" cy="704850"/>
          </a:xfrm>
          <a:prstGeom prst="straightConnector1">
            <a:avLst/>
          </a:prstGeom>
          <a:noFill/>
          <a:ln cap="flat" cmpd="sng" w="9525">
            <a:solidFill>
              <a:schemeClr val="dk1"/>
            </a:solidFill>
            <a:prstDash val="solid"/>
            <a:round/>
            <a:headEnd len="sm" w="sm" type="none"/>
            <a:tailEnd len="sm" w="sm" type="none"/>
          </a:ln>
        </p:spPr>
      </p:cxnSp>
      <p:cxnSp>
        <p:nvCxnSpPr>
          <p:cNvPr id="194" name="Google Shape;194;p59"/>
          <p:cNvCxnSpPr/>
          <p:nvPr/>
        </p:nvCxnSpPr>
        <p:spPr>
          <a:xfrm flipH="1">
            <a:off x="9974111" y="3365937"/>
            <a:ext cx="111125" cy="727075"/>
          </a:xfrm>
          <a:prstGeom prst="straightConnector1">
            <a:avLst/>
          </a:prstGeom>
          <a:noFill/>
          <a:ln cap="flat" cmpd="sng" w="9525">
            <a:solidFill>
              <a:schemeClr val="dk1"/>
            </a:solidFill>
            <a:prstDash val="solid"/>
            <a:round/>
            <a:headEnd len="sm" w="sm" type="none"/>
            <a:tailEnd len="sm" w="sm" type="none"/>
          </a:ln>
        </p:spPr>
      </p:cxnSp>
      <p:cxnSp>
        <p:nvCxnSpPr>
          <p:cNvPr id="195" name="Google Shape;195;p59"/>
          <p:cNvCxnSpPr/>
          <p:nvPr/>
        </p:nvCxnSpPr>
        <p:spPr>
          <a:xfrm flipH="1" rot="10800000">
            <a:off x="9358161" y="4507349"/>
            <a:ext cx="227013" cy="436563"/>
          </a:xfrm>
          <a:prstGeom prst="straightConnector1">
            <a:avLst/>
          </a:prstGeom>
          <a:noFill/>
          <a:ln cap="flat" cmpd="sng" w="9525">
            <a:solidFill>
              <a:schemeClr val="dk1"/>
            </a:solidFill>
            <a:prstDash val="solid"/>
            <a:round/>
            <a:headEnd len="sm" w="sm" type="none"/>
            <a:tailEnd len="sm" w="sm" type="none"/>
          </a:ln>
        </p:spPr>
      </p:cxnSp>
      <p:grpSp>
        <p:nvGrpSpPr>
          <p:cNvPr id="196" name="Google Shape;196;p59"/>
          <p:cNvGrpSpPr/>
          <p:nvPr/>
        </p:nvGrpSpPr>
        <p:grpSpPr>
          <a:xfrm flipH="1">
            <a:off x="7861149" y="4966136"/>
            <a:ext cx="414337" cy="373062"/>
            <a:chOff x="2839" y="3501"/>
            <a:chExt cx="755" cy="803"/>
          </a:xfrm>
        </p:grpSpPr>
        <p:pic>
          <p:nvPicPr>
            <p:cNvPr descr="desktop_computer_stylized_medium" id="197" name="Google Shape;197;p59"/>
            <p:cNvPicPr preferRelativeResize="0"/>
            <p:nvPr/>
          </p:nvPicPr>
          <p:blipFill rotWithShape="1">
            <a:blip r:embed="rId3">
              <a:alphaModFix/>
            </a:blip>
            <a:srcRect b="0" l="0" r="0" t="0"/>
            <a:stretch/>
          </p:blipFill>
          <p:spPr>
            <a:xfrm>
              <a:off x="2839" y="3501"/>
              <a:ext cx="755" cy="803"/>
            </a:xfrm>
            <a:prstGeom prst="rect">
              <a:avLst/>
            </a:prstGeom>
            <a:noFill/>
            <a:ln>
              <a:noFill/>
            </a:ln>
          </p:spPr>
        </p:pic>
        <p:sp>
          <p:nvSpPr>
            <p:cNvPr id="198" name="Google Shape;198;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 name="Google Shape;199;p59"/>
          <p:cNvGrpSpPr/>
          <p:nvPr/>
        </p:nvGrpSpPr>
        <p:grpSpPr>
          <a:xfrm flipH="1">
            <a:off x="7543648" y="5386823"/>
            <a:ext cx="482600" cy="406400"/>
            <a:chOff x="2839" y="3501"/>
            <a:chExt cx="755" cy="803"/>
          </a:xfrm>
        </p:grpSpPr>
        <p:pic>
          <p:nvPicPr>
            <p:cNvPr descr="desktop_computer_stylized_medium" id="200" name="Google Shape;200;p59"/>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201" name="Google Shape;201;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2" name="Google Shape;202;p59"/>
          <p:cNvGrpSpPr/>
          <p:nvPr/>
        </p:nvGrpSpPr>
        <p:grpSpPr>
          <a:xfrm flipH="1">
            <a:off x="8021485" y="5688448"/>
            <a:ext cx="427038" cy="349250"/>
            <a:chOff x="2839" y="3501"/>
            <a:chExt cx="755" cy="803"/>
          </a:xfrm>
        </p:grpSpPr>
        <p:pic>
          <p:nvPicPr>
            <p:cNvPr descr="desktop_computer_stylized_medium" id="203" name="Google Shape;203;p59"/>
            <p:cNvPicPr preferRelativeResize="0"/>
            <p:nvPr/>
          </p:nvPicPr>
          <p:blipFill rotWithShape="1">
            <a:blip r:embed="rId5">
              <a:alphaModFix/>
            </a:blip>
            <a:srcRect b="0" l="0" r="0" t="0"/>
            <a:stretch/>
          </p:blipFill>
          <p:spPr>
            <a:xfrm>
              <a:off x="2839" y="3501"/>
              <a:ext cx="755" cy="803"/>
            </a:xfrm>
            <a:prstGeom prst="rect">
              <a:avLst/>
            </a:prstGeom>
            <a:noFill/>
            <a:ln>
              <a:noFill/>
            </a:ln>
          </p:spPr>
        </p:pic>
        <p:sp>
          <p:nvSpPr>
            <p:cNvPr id="204" name="Google Shape;204;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p59"/>
          <p:cNvGrpSpPr/>
          <p:nvPr/>
        </p:nvGrpSpPr>
        <p:grpSpPr>
          <a:xfrm>
            <a:off x="8635849" y="5670987"/>
            <a:ext cx="427037" cy="350837"/>
            <a:chOff x="2839" y="3501"/>
            <a:chExt cx="755" cy="803"/>
          </a:xfrm>
        </p:grpSpPr>
        <p:pic>
          <p:nvPicPr>
            <p:cNvPr descr="desktop_computer_stylized_medium" id="206" name="Google Shape;206;p59"/>
            <p:cNvPicPr preferRelativeResize="0"/>
            <p:nvPr/>
          </p:nvPicPr>
          <p:blipFill rotWithShape="1">
            <a:blip r:embed="rId5">
              <a:alphaModFix/>
            </a:blip>
            <a:srcRect b="0" l="0" r="0" t="0"/>
            <a:stretch/>
          </p:blipFill>
          <p:spPr>
            <a:xfrm>
              <a:off x="2839" y="3501"/>
              <a:ext cx="755" cy="803"/>
            </a:xfrm>
            <a:prstGeom prst="rect">
              <a:avLst/>
            </a:prstGeom>
            <a:noFill/>
            <a:ln>
              <a:noFill/>
            </a:ln>
          </p:spPr>
        </p:pic>
        <p:sp>
          <p:nvSpPr>
            <p:cNvPr id="207" name="Google Shape;207;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car_icon_small" id="208" name="Google Shape;208;p59"/>
          <p:cNvPicPr preferRelativeResize="0"/>
          <p:nvPr/>
        </p:nvPicPr>
        <p:blipFill rotWithShape="1">
          <a:blip r:embed="rId6">
            <a:alphaModFix/>
          </a:blip>
          <a:srcRect b="0" l="0" r="0" t="0"/>
          <a:stretch/>
        </p:blipFill>
        <p:spPr>
          <a:xfrm>
            <a:off x="8427886" y="2153087"/>
            <a:ext cx="849313" cy="168275"/>
          </a:xfrm>
          <a:prstGeom prst="rect">
            <a:avLst/>
          </a:prstGeom>
          <a:noFill/>
          <a:ln>
            <a:noFill/>
          </a:ln>
        </p:spPr>
      </p:pic>
      <p:grpSp>
        <p:nvGrpSpPr>
          <p:cNvPr id="209" name="Google Shape;209;p59"/>
          <p:cNvGrpSpPr/>
          <p:nvPr/>
        </p:nvGrpSpPr>
        <p:grpSpPr>
          <a:xfrm>
            <a:off x="7699224" y="1978461"/>
            <a:ext cx="415925" cy="385762"/>
            <a:chOff x="2751" y="1851"/>
            <a:chExt cx="462" cy="478"/>
          </a:xfrm>
        </p:grpSpPr>
        <p:pic>
          <p:nvPicPr>
            <p:cNvPr descr="iphone_stylized_small" id="210" name="Google Shape;210;p59"/>
            <p:cNvPicPr preferRelativeResize="0"/>
            <p:nvPr/>
          </p:nvPicPr>
          <p:blipFill rotWithShape="1">
            <a:blip r:embed="rId7">
              <a:alphaModFix/>
            </a:blip>
            <a:srcRect b="0" l="0" r="0" t="0"/>
            <a:stretch/>
          </p:blipFill>
          <p:spPr>
            <a:xfrm>
              <a:off x="2928" y="1922"/>
              <a:ext cx="152" cy="407"/>
            </a:xfrm>
            <a:prstGeom prst="rect">
              <a:avLst/>
            </a:prstGeom>
            <a:noFill/>
            <a:ln>
              <a:noFill/>
            </a:ln>
          </p:spPr>
        </p:pic>
        <p:pic>
          <p:nvPicPr>
            <p:cNvPr descr="antenna_radiation_stylized" id="211" name="Google Shape;211;p59"/>
            <p:cNvPicPr preferRelativeResize="0"/>
            <p:nvPr/>
          </p:nvPicPr>
          <p:blipFill rotWithShape="1">
            <a:blip r:embed="rId8">
              <a:alphaModFix/>
            </a:blip>
            <a:srcRect b="0" l="0" r="0" t="0"/>
            <a:stretch/>
          </p:blipFill>
          <p:spPr>
            <a:xfrm>
              <a:off x="2751" y="1851"/>
              <a:ext cx="462" cy="110"/>
            </a:xfrm>
            <a:prstGeom prst="rect">
              <a:avLst/>
            </a:prstGeom>
            <a:noFill/>
            <a:ln>
              <a:noFill/>
            </a:ln>
          </p:spPr>
        </p:pic>
      </p:grpSp>
      <p:grpSp>
        <p:nvGrpSpPr>
          <p:cNvPr id="212" name="Google Shape;212;p59"/>
          <p:cNvGrpSpPr/>
          <p:nvPr/>
        </p:nvGrpSpPr>
        <p:grpSpPr>
          <a:xfrm>
            <a:off x="9775674" y="2827774"/>
            <a:ext cx="390525" cy="169863"/>
            <a:chOff x="4650" y="1129"/>
            <a:chExt cx="246" cy="95"/>
          </a:xfrm>
        </p:grpSpPr>
        <p:sp>
          <p:nvSpPr>
            <p:cNvPr id="213" name="Google Shape;213;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4" name="Google Shape;214;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5" name="Google Shape;215;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16" name="Google Shape;216;p59"/>
            <p:cNvGrpSpPr/>
            <p:nvPr/>
          </p:nvGrpSpPr>
          <p:grpSpPr>
            <a:xfrm>
              <a:off x="4699" y="1145"/>
              <a:ext cx="138" cy="29"/>
              <a:chOff x="2468" y="1332"/>
              <a:chExt cx="310" cy="60"/>
            </a:xfrm>
          </p:grpSpPr>
          <p:sp>
            <p:nvSpPr>
              <p:cNvPr id="217" name="Google Shape;217;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19" name="Google Shape;219;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20" name="Google Shape;220;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21" name="Google Shape;221;p59"/>
          <p:cNvGrpSpPr/>
          <p:nvPr/>
        </p:nvGrpSpPr>
        <p:grpSpPr>
          <a:xfrm>
            <a:off x="9848699" y="3189724"/>
            <a:ext cx="390525" cy="176213"/>
            <a:chOff x="4650" y="1129"/>
            <a:chExt cx="246" cy="95"/>
          </a:xfrm>
        </p:grpSpPr>
        <p:sp>
          <p:nvSpPr>
            <p:cNvPr id="222" name="Google Shape;222;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3" name="Google Shape;223;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4" name="Google Shape;224;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25" name="Google Shape;225;p59"/>
            <p:cNvGrpSpPr/>
            <p:nvPr/>
          </p:nvGrpSpPr>
          <p:grpSpPr>
            <a:xfrm>
              <a:off x="4699" y="1145"/>
              <a:ext cx="138" cy="29"/>
              <a:chOff x="2468" y="1332"/>
              <a:chExt cx="310" cy="60"/>
            </a:xfrm>
          </p:grpSpPr>
          <p:sp>
            <p:nvSpPr>
              <p:cNvPr id="226" name="Google Shape;226;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28" name="Google Shape;228;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29" name="Google Shape;229;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30" name="Google Shape;230;p59"/>
          <p:cNvGrpSpPr/>
          <p:nvPr/>
        </p:nvGrpSpPr>
        <p:grpSpPr>
          <a:xfrm>
            <a:off x="9289899" y="2926199"/>
            <a:ext cx="390525" cy="169863"/>
            <a:chOff x="4650" y="1129"/>
            <a:chExt cx="246" cy="95"/>
          </a:xfrm>
        </p:grpSpPr>
        <p:sp>
          <p:nvSpPr>
            <p:cNvPr id="231" name="Google Shape;231;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2" name="Google Shape;232;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3" name="Google Shape;233;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34" name="Google Shape;234;p59"/>
            <p:cNvGrpSpPr/>
            <p:nvPr/>
          </p:nvGrpSpPr>
          <p:grpSpPr>
            <a:xfrm>
              <a:off x="4699" y="1145"/>
              <a:ext cx="138" cy="29"/>
              <a:chOff x="2468" y="1332"/>
              <a:chExt cx="310" cy="60"/>
            </a:xfrm>
          </p:grpSpPr>
          <p:sp>
            <p:nvSpPr>
              <p:cNvPr id="235" name="Google Shape;235;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37" name="Google Shape;237;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38" name="Google Shape;238;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39" name="Google Shape;239;p59"/>
          <p:cNvGrpSpPr/>
          <p:nvPr/>
        </p:nvGrpSpPr>
        <p:grpSpPr>
          <a:xfrm>
            <a:off x="9301011" y="3189724"/>
            <a:ext cx="390525" cy="169863"/>
            <a:chOff x="4650" y="1129"/>
            <a:chExt cx="246" cy="95"/>
          </a:xfrm>
        </p:grpSpPr>
        <p:sp>
          <p:nvSpPr>
            <p:cNvPr id="240" name="Google Shape;240;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1" name="Google Shape;241;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2" name="Google Shape;242;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43" name="Google Shape;243;p59"/>
            <p:cNvGrpSpPr/>
            <p:nvPr/>
          </p:nvGrpSpPr>
          <p:grpSpPr>
            <a:xfrm>
              <a:off x="4699" y="1145"/>
              <a:ext cx="138" cy="29"/>
              <a:chOff x="2468" y="1332"/>
              <a:chExt cx="310" cy="60"/>
            </a:xfrm>
          </p:grpSpPr>
          <p:sp>
            <p:nvSpPr>
              <p:cNvPr id="244" name="Google Shape;244;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46" name="Google Shape;246;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47" name="Google Shape;247;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cxnSp>
        <p:nvCxnSpPr>
          <p:cNvPr id="248" name="Google Shape;248;p59"/>
          <p:cNvCxnSpPr/>
          <p:nvPr/>
        </p:nvCxnSpPr>
        <p:spPr>
          <a:xfrm>
            <a:off x="10431310" y="3288148"/>
            <a:ext cx="177800" cy="0"/>
          </a:xfrm>
          <a:prstGeom prst="straightConnector1">
            <a:avLst/>
          </a:prstGeom>
          <a:noFill/>
          <a:ln cap="flat" cmpd="sng" w="9525">
            <a:solidFill>
              <a:schemeClr val="dk2"/>
            </a:solidFill>
            <a:prstDash val="dash"/>
            <a:round/>
            <a:headEnd len="sm" w="sm" type="none"/>
            <a:tailEnd len="sm" w="sm" type="none"/>
          </a:ln>
        </p:spPr>
      </p:cxnSp>
      <p:grpSp>
        <p:nvGrpSpPr>
          <p:cNvPr id="249" name="Google Shape;249;p59"/>
          <p:cNvGrpSpPr/>
          <p:nvPr/>
        </p:nvGrpSpPr>
        <p:grpSpPr>
          <a:xfrm>
            <a:off x="9486749" y="4343836"/>
            <a:ext cx="485775" cy="203200"/>
            <a:chOff x="4650" y="1129"/>
            <a:chExt cx="246" cy="95"/>
          </a:xfrm>
        </p:grpSpPr>
        <p:sp>
          <p:nvSpPr>
            <p:cNvPr id="250" name="Google Shape;250;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1" name="Google Shape;251;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2" name="Google Shape;252;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53" name="Google Shape;253;p59"/>
            <p:cNvGrpSpPr/>
            <p:nvPr/>
          </p:nvGrpSpPr>
          <p:grpSpPr>
            <a:xfrm>
              <a:off x="4699" y="1145"/>
              <a:ext cx="138" cy="29"/>
              <a:chOff x="2468" y="1332"/>
              <a:chExt cx="310" cy="60"/>
            </a:xfrm>
          </p:grpSpPr>
          <p:sp>
            <p:nvSpPr>
              <p:cNvPr id="254" name="Google Shape;254;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56" name="Google Shape;256;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57" name="Google Shape;257;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58" name="Google Shape;258;p59"/>
          <p:cNvGrpSpPr/>
          <p:nvPr/>
        </p:nvGrpSpPr>
        <p:grpSpPr>
          <a:xfrm>
            <a:off x="9167661" y="4062848"/>
            <a:ext cx="485775" cy="203200"/>
            <a:chOff x="4650" y="1129"/>
            <a:chExt cx="246" cy="95"/>
          </a:xfrm>
        </p:grpSpPr>
        <p:sp>
          <p:nvSpPr>
            <p:cNvPr id="259" name="Google Shape;259;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0" name="Google Shape;260;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1" name="Google Shape;261;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62" name="Google Shape;262;p59"/>
            <p:cNvGrpSpPr/>
            <p:nvPr/>
          </p:nvGrpSpPr>
          <p:grpSpPr>
            <a:xfrm>
              <a:off x="4699" y="1145"/>
              <a:ext cx="138" cy="29"/>
              <a:chOff x="2468" y="1332"/>
              <a:chExt cx="310" cy="60"/>
            </a:xfrm>
          </p:grpSpPr>
          <p:sp>
            <p:nvSpPr>
              <p:cNvPr id="263" name="Google Shape;263;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65" name="Google Shape;265;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66" name="Google Shape;266;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67" name="Google Shape;267;p59"/>
          <p:cNvGrpSpPr/>
          <p:nvPr/>
        </p:nvGrpSpPr>
        <p:grpSpPr>
          <a:xfrm>
            <a:off x="9829649" y="4075548"/>
            <a:ext cx="485775" cy="203200"/>
            <a:chOff x="4650" y="1129"/>
            <a:chExt cx="246" cy="95"/>
          </a:xfrm>
        </p:grpSpPr>
        <p:sp>
          <p:nvSpPr>
            <p:cNvPr id="268" name="Google Shape;268;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9" name="Google Shape;269;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0" name="Google Shape;270;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71" name="Google Shape;271;p59"/>
            <p:cNvGrpSpPr/>
            <p:nvPr/>
          </p:nvGrpSpPr>
          <p:grpSpPr>
            <a:xfrm>
              <a:off x="4699" y="1145"/>
              <a:ext cx="138" cy="29"/>
              <a:chOff x="2468" y="1332"/>
              <a:chExt cx="310" cy="60"/>
            </a:xfrm>
          </p:grpSpPr>
          <p:sp>
            <p:nvSpPr>
              <p:cNvPr id="272" name="Google Shape;272;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74" name="Google Shape;274;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75" name="Google Shape;275;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76" name="Google Shape;276;p59"/>
          <p:cNvGrpSpPr/>
          <p:nvPr/>
        </p:nvGrpSpPr>
        <p:grpSpPr>
          <a:xfrm>
            <a:off x="9048599" y="4937562"/>
            <a:ext cx="619125" cy="242887"/>
            <a:chOff x="4650" y="1129"/>
            <a:chExt cx="246" cy="95"/>
          </a:xfrm>
        </p:grpSpPr>
        <p:sp>
          <p:nvSpPr>
            <p:cNvPr id="277" name="Google Shape;277;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8" name="Google Shape;278;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9" name="Google Shape;279;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80" name="Google Shape;280;p59"/>
            <p:cNvGrpSpPr/>
            <p:nvPr/>
          </p:nvGrpSpPr>
          <p:grpSpPr>
            <a:xfrm>
              <a:off x="4699" y="1145"/>
              <a:ext cx="138" cy="29"/>
              <a:chOff x="2468" y="1332"/>
              <a:chExt cx="310" cy="60"/>
            </a:xfrm>
          </p:grpSpPr>
          <p:sp>
            <p:nvSpPr>
              <p:cNvPr id="281" name="Google Shape;281;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83" name="Google Shape;283;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84" name="Google Shape;284;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85" name="Google Shape;285;p59"/>
          <p:cNvGrpSpPr/>
          <p:nvPr/>
        </p:nvGrpSpPr>
        <p:grpSpPr>
          <a:xfrm>
            <a:off x="9682011" y="5236012"/>
            <a:ext cx="619125" cy="242887"/>
            <a:chOff x="4650" y="1129"/>
            <a:chExt cx="246" cy="95"/>
          </a:xfrm>
        </p:grpSpPr>
        <p:sp>
          <p:nvSpPr>
            <p:cNvPr id="286" name="Google Shape;286;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7" name="Google Shape;287;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89" name="Google Shape;289;p59"/>
            <p:cNvGrpSpPr/>
            <p:nvPr/>
          </p:nvGrpSpPr>
          <p:grpSpPr>
            <a:xfrm>
              <a:off x="4699" y="1145"/>
              <a:ext cx="138" cy="29"/>
              <a:chOff x="2468" y="1332"/>
              <a:chExt cx="310" cy="60"/>
            </a:xfrm>
          </p:grpSpPr>
          <p:sp>
            <p:nvSpPr>
              <p:cNvPr id="290" name="Google Shape;290;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92" name="Google Shape;292;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293" name="Google Shape;293;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294" name="Google Shape;294;p59"/>
          <p:cNvGrpSpPr/>
          <p:nvPr/>
        </p:nvGrpSpPr>
        <p:grpSpPr>
          <a:xfrm>
            <a:off x="8332636" y="5280462"/>
            <a:ext cx="619125" cy="242887"/>
            <a:chOff x="4650" y="1129"/>
            <a:chExt cx="246" cy="95"/>
          </a:xfrm>
        </p:grpSpPr>
        <p:sp>
          <p:nvSpPr>
            <p:cNvPr id="295" name="Google Shape;295;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6" name="Google Shape;296;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7" name="Google Shape;297;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98" name="Google Shape;298;p59"/>
            <p:cNvGrpSpPr/>
            <p:nvPr/>
          </p:nvGrpSpPr>
          <p:grpSpPr>
            <a:xfrm>
              <a:off x="4699" y="1145"/>
              <a:ext cx="138" cy="29"/>
              <a:chOff x="2468" y="1332"/>
              <a:chExt cx="310" cy="60"/>
            </a:xfrm>
          </p:grpSpPr>
          <p:sp>
            <p:nvSpPr>
              <p:cNvPr id="299" name="Google Shape;299;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01" name="Google Shape;301;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02" name="Google Shape;302;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03" name="Google Shape;303;p59"/>
          <p:cNvGrpSpPr/>
          <p:nvPr/>
        </p:nvGrpSpPr>
        <p:grpSpPr>
          <a:xfrm>
            <a:off x="8138961" y="4072374"/>
            <a:ext cx="390525" cy="169863"/>
            <a:chOff x="4650" y="1129"/>
            <a:chExt cx="246" cy="95"/>
          </a:xfrm>
        </p:grpSpPr>
        <p:sp>
          <p:nvSpPr>
            <p:cNvPr id="304" name="Google Shape;304;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5" name="Google Shape;305;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6" name="Google Shape;306;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07" name="Google Shape;307;p59"/>
            <p:cNvGrpSpPr/>
            <p:nvPr/>
          </p:nvGrpSpPr>
          <p:grpSpPr>
            <a:xfrm>
              <a:off x="4699" y="1145"/>
              <a:ext cx="138" cy="29"/>
              <a:chOff x="2468" y="1332"/>
              <a:chExt cx="310" cy="60"/>
            </a:xfrm>
          </p:grpSpPr>
          <p:sp>
            <p:nvSpPr>
              <p:cNvPr id="308" name="Google Shape;308;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0" name="Google Shape;310;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11" name="Google Shape;311;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12" name="Google Shape;312;p59"/>
          <p:cNvGrpSpPr/>
          <p:nvPr/>
        </p:nvGrpSpPr>
        <p:grpSpPr>
          <a:xfrm>
            <a:off x="8438999" y="2919849"/>
            <a:ext cx="390525" cy="169863"/>
            <a:chOff x="4650" y="1129"/>
            <a:chExt cx="246" cy="95"/>
          </a:xfrm>
        </p:grpSpPr>
        <p:sp>
          <p:nvSpPr>
            <p:cNvPr id="313" name="Google Shape;313;p59"/>
            <p:cNvSpPr/>
            <p:nvPr/>
          </p:nvSpPr>
          <p:spPr>
            <a:xfrm>
              <a:off x="4651" y="1171"/>
              <a:ext cx="244" cy="53"/>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4" name="Google Shape;314;p59"/>
            <p:cNvSpPr/>
            <p:nvPr/>
          </p:nvSpPr>
          <p:spPr>
            <a:xfrm>
              <a:off x="4651" y="1165"/>
              <a:ext cx="245" cy="33"/>
            </a:xfrm>
            <a:prstGeom prst="rect">
              <a:avLst/>
            </a:prstGeom>
            <a:gradFill>
              <a:gsLst>
                <a:gs pos="0">
                  <a:schemeClr val="hlink"/>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5" name="Google Shape;315;p59"/>
            <p:cNvSpPr/>
            <p:nvPr/>
          </p:nvSpPr>
          <p:spPr>
            <a:xfrm>
              <a:off x="4650" y="1129"/>
              <a:ext cx="244" cy="62"/>
            </a:xfrm>
            <a:prstGeom prst="ellipse">
              <a:avLst/>
            </a:prstGeom>
            <a:gradFill>
              <a:gsLst>
                <a:gs pos="0">
                  <a:schemeClr val="hlink"/>
                </a:gs>
                <a:gs pos="100000">
                  <a:srgbClr val="FFFFFF"/>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16" name="Google Shape;316;p59"/>
            <p:cNvGrpSpPr/>
            <p:nvPr/>
          </p:nvGrpSpPr>
          <p:grpSpPr>
            <a:xfrm>
              <a:off x="4699" y="1145"/>
              <a:ext cx="138" cy="29"/>
              <a:chOff x="2468" y="1332"/>
              <a:chExt cx="310" cy="60"/>
            </a:xfrm>
          </p:grpSpPr>
          <p:sp>
            <p:nvSpPr>
              <p:cNvPr id="317" name="Google Shape;317;p59"/>
              <p:cNvSpPr/>
              <p:nvPr/>
            </p:nvSpPr>
            <p:spPr>
              <a:xfrm>
                <a:off x="2468" y="1332"/>
                <a:ext cx="310" cy="60"/>
              </a:xfrm>
              <a:custGeom>
                <a:rect b="b" l="l" r="r" t="t"/>
                <a:pathLst>
                  <a:path extrusionOk="0" h="60" w="310">
                    <a:moveTo>
                      <a:pt x="0" y="60"/>
                    </a:moveTo>
                    <a:lnTo>
                      <a:pt x="96" y="60"/>
                    </a:lnTo>
                    <a:lnTo>
                      <a:pt x="192" y="0"/>
                    </a:lnTo>
                    <a:lnTo>
                      <a:pt x="310" y="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59"/>
              <p:cNvSpPr/>
              <p:nvPr/>
            </p:nvSpPr>
            <p:spPr>
              <a:xfrm>
                <a:off x="2482" y="1332"/>
                <a:ext cx="282" cy="60"/>
              </a:xfrm>
              <a:custGeom>
                <a:rect b="b" l="l" r="r" t="t"/>
                <a:pathLst>
                  <a:path extrusionOk="0" h="60" w="282">
                    <a:moveTo>
                      <a:pt x="0" y="0"/>
                    </a:moveTo>
                    <a:lnTo>
                      <a:pt x="96" y="0"/>
                    </a:lnTo>
                    <a:lnTo>
                      <a:pt x="192" y="60"/>
                    </a:lnTo>
                    <a:lnTo>
                      <a:pt x="282" y="60"/>
                    </a:lnTo>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19" name="Google Shape;319;p59"/>
            <p:cNvCxnSpPr/>
            <p:nvPr/>
          </p:nvCxnSpPr>
          <p:spPr>
            <a:xfrm>
              <a:off x="4651" y="1158"/>
              <a:ext cx="0" cy="42"/>
            </a:xfrm>
            <a:prstGeom prst="straightConnector1">
              <a:avLst/>
            </a:prstGeom>
            <a:noFill/>
            <a:ln cap="flat" cmpd="sng" w="9525">
              <a:solidFill>
                <a:schemeClr val="dk1"/>
              </a:solidFill>
              <a:prstDash val="solid"/>
              <a:round/>
              <a:headEnd len="sm" w="sm" type="none"/>
              <a:tailEnd len="sm" w="sm" type="none"/>
            </a:ln>
          </p:spPr>
        </p:cxnSp>
        <p:cxnSp>
          <p:nvCxnSpPr>
            <p:cNvPr id="320" name="Google Shape;320;p59"/>
            <p:cNvCxnSpPr/>
            <p:nvPr/>
          </p:nvCxnSpPr>
          <p:spPr>
            <a:xfrm>
              <a:off x="4894" y="1160"/>
              <a:ext cx="0" cy="41"/>
            </a:xfrm>
            <a:prstGeom prst="straightConnector1">
              <a:avLst/>
            </a:prstGeom>
            <a:noFill/>
            <a:ln cap="flat" cmpd="sng" w="9525">
              <a:solidFill>
                <a:schemeClr val="dk1"/>
              </a:solidFill>
              <a:prstDash val="solid"/>
              <a:round/>
              <a:headEnd len="sm" w="sm" type="none"/>
              <a:tailEnd len="sm" w="sm" type="none"/>
            </a:ln>
          </p:spPr>
        </p:cxnSp>
      </p:grpSp>
      <p:grpSp>
        <p:nvGrpSpPr>
          <p:cNvPr id="321" name="Google Shape;321;p59"/>
          <p:cNvGrpSpPr/>
          <p:nvPr/>
        </p:nvGrpSpPr>
        <p:grpSpPr>
          <a:xfrm>
            <a:off x="7697636" y="3932674"/>
            <a:ext cx="506413" cy="352425"/>
            <a:chOff x="2967" y="478"/>
            <a:chExt cx="788" cy="625"/>
          </a:xfrm>
        </p:grpSpPr>
        <p:pic>
          <p:nvPicPr>
            <p:cNvPr descr="access_point_stylized_small" id="322" name="Google Shape;322;p59"/>
            <p:cNvPicPr preferRelativeResize="0"/>
            <p:nvPr/>
          </p:nvPicPr>
          <p:blipFill rotWithShape="1">
            <a:blip r:embed="rId9">
              <a:alphaModFix/>
            </a:blip>
            <a:srcRect b="0" l="0" r="0" t="0"/>
            <a:stretch/>
          </p:blipFill>
          <p:spPr>
            <a:xfrm>
              <a:off x="3012" y="559"/>
              <a:ext cx="576" cy="544"/>
            </a:xfrm>
            <a:prstGeom prst="rect">
              <a:avLst/>
            </a:prstGeom>
            <a:noFill/>
            <a:ln>
              <a:noFill/>
            </a:ln>
          </p:spPr>
        </p:pic>
        <p:pic>
          <p:nvPicPr>
            <p:cNvPr descr="antenna_radiation_stylized" id="323" name="Google Shape;323;p59"/>
            <p:cNvPicPr preferRelativeResize="0"/>
            <p:nvPr/>
          </p:nvPicPr>
          <p:blipFill rotWithShape="1">
            <a:blip r:embed="rId10">
              <a:alphaModFix/>
            </a:blip>
            <a:srcRect b="0" l="0" r="0" t="0"/>
            <a:stretch/>
          </p:blipFill>
          <p:spPr>
            <a:xfrm>
              <a:off x="2967" y="478"/>
              <a:ext cx="788" cy="188"/>
            </a:xfrm>
            <a:prstGeom prst="rect">
              <a:avLst/>
            </a:prstGeom>
            <a:noFill/>
            <a:ln>
              <a:noFill/>
            </a:ln>
          </p:spPr>
        </p:pic>
      </p:grpSp>
      <p:grpSp>
        <p:nvGrpSpPr>
          <p:cNvPr id="324" name="Google Shape;324;p59"/>
          <p:cNvGrpSpPr/>
          <p:nvPr/>
        </p:nvGrpSpPr>
        <p:grpSpPr>
          <a:xfrm>
            <a:off x="9218461" y="5436037"/>
            <a:ext cx="563563" cy="420687"/>
            <a:chOff x="2967" y="478"/>
            <a:chExt cx="788" cy="625"/>
          </a:xfrm>
        </p:grpSpPr>
        <p:pic>
          <p:nvPicPr>
            <p:cNvPr descr="access_point_stylized_small" id="325" name="Google Shape;325;p59"/>
            <p:cNvPicPr preferRelativeResize="0"/>
            <p:nvPr/>
          </p:nvPicPr>
          <p:blipFill rotWithShape="1">
            <a:blip r:embed="rId9">
              <a:alphaModFix/>
            </a:blip>
            <a:srcRect b="0" l="0" r="0" t="0"/>
            <a:stretch/>
          </p:blipFill>
          <p:spPr>
            <a:xfrm>
              <a:off x="3012" y="559"/>
              <a:ext cx="576" cy="544"/>
            </a:xfrm>
            <a:prstGeom prst="rect">
              <a:avLst/>
            </a:prstGeom>
            <a:noFill/>
            <a:ln>
              <a:noFill/>
            </a:ln>
          </p:spPr>
        </p:pic>
        <p:pic>
          <p:nvPicPr>
            <p:cNvPr descr="antenna_radiation_stylized" id="326" name="Google Shape;326;p59"/>
            <p:cNvPicPr preferRelativeResize="0"/>
            <p:nvPr/>
          </p:nvPicPr>
          <p:blipFill rotWithShape="1">
            <a:blip r:embed="rId11">
              <a:alphaModFix/>
            </a:blip>
            <a:srcRect b="0" l="0" r="0" t="0"/>
            <a:stretch/>
          </p:blipFill>
          <p:spPr>
            <a:xfrm>
              <a:off x="2967" y="478"/>
              <a:ext cx="788" cy="188"/>
            </a:xfrm>
            <a:prstGeom prst="rect">
              <a:avLst/>
            </a:prstGeom>
            <a:noFill/>
            <a:ln>
              <a:noFill/>
            </a:ln>
          </p:spPr>
        </p:pic>
      </p:grpSp>
      <p:grpSp>
        <p:nvGrpSpPr>
          <p:cNvPr id="327" name="Google Shape;327;p59"/>
          <p:cNvGrpSpPr/>
          <p:nvPr/>
        </p:nvGrpSpPr>
        <p:grpSpPr>
          <a:xfrm>
            <a:off x="8146898" y="2276912"/>
            <a:ext cx="457200" cy="631825"/>
            <a:chOff x="742" y="2409"/>
            <a:chExt cx="576" cy="881"/>
          </a:xfrm>
        </p:grpSpPr>
        <p:grpSp>
          <p:nvGrpSpPr>
            <p:cNvPr id="328" name="Google Shape;328;p59"/>
            <p:cNvGrpSpPr/>
            <p:nvPr/>
          </p:nvGrpSpPr>
          <p:grpSpPr>
            <a:xfrm>
              <a:off x="832" y="2643"/>
              <a:ext cx="376" cy="647"/>
              <a:chOff x="3130" y="3288"/>
              <a:chExt cx="410" cy="742"/>
            </a:xfrm>
          </p:grpSpPr>
          <p:cxnSp>
            <p:nvCxnSpPr>
              <p:cNvPr id="329" name="Google Shape;329;p59"/>
              <p:cNvCxnSpPr/>
              <p:nvPr/>
            </p:nvCxnSpPr>
            <p:spPr>
              <a:xfrm flipH="1">
                <a:off x="3130" y="3288"/>
                <a:ext cx="205" cy="672"/>
              </a:xfrm>
              <a:prstGeom prst="straightConnector1">
                <a:avLst/>
              </a:prstGeom>
              <a:noFill/>
              <a:ln cap="flat" cmpd="sng" w="19050">
                <a:solidFill>
                  <a:schemeClr val="dk1"/>
                </a:solidFill>
                <a:prstDash val="solid"/>
                <a:round/>
                <a:headEnd len="sm" w="sm" type="none"/>
                <a:tailEnd len="sm" w="sm" type="none"/>
              </a:ln>
            </p:spPr>
          </p:cxnSp>
          <p:cxnSp>
            <p:nvCxnSpPr>
              <p:cNvPr id="330" name="Google Shape;330;p59"/>
              <p:cNvCxnSpPr/>
              <p:nvPr/>
            </p:nvCxnSpPr>
            <p:spPr>
              <a:xfrm>
                <a:off x="3335" y="3288"/>
                <a:ext cx="205" cy="669"/>
              </a:xfrm>
              <a:prstGeom prst="straightConnector1">
                <a:avLst/>
              </a:prstGeom>
              <a:noFill/>
              <a:ln cap="flat" cmpd="sng" w="19050">
                <a:solidFill>
                  <a:schemeClr val="dk1"/>
                </a:solidFill>
                <a:prstDash val="solid"/>
                <a:round/>
                <a:headEnd len="sm" w="sm" type="none"/>
                <a:tailEnd len="sm" w="sm" type="none"/>
              </a:ln>
            </p:spPr>
          </p:cxnSp>
          <p:cxnSp>
            <p:nvCxnSpPr>
              <p:cNvPr id="331" name="Google Shape;331;p59"/>
              <p:cNvCxnSpPr/>
              <p:nvPr/>
            </p:nvCxnSpPr>
            <p:spPr>
              <a:xfrm>
                <a:off x="3130"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32" name="Google Shape;332;p59"/>
              <p:cNvCxnSpPr/>
              <p:nvPr/>
            </p:nvCxnSpPr>
            <p:spPr>
              <a:xfrm flipH="1">
                <a:off x="3335" y="3957"/>
                <a:ext cx="205" cy="73"/>
              </a:xfrm>
              <a:prstGeom prst="straightConnector1">
                <a:avLst/>
              </a:prstGeom>
              <a:noFill/>
              <a:ln cap="flat" cmpd="sng" w="19050">
                <a:solidFill>
                  <a:schemeClr val="dk1"/>
                </a:solidFill>
                <a:prstDash val="solid"/>
                <a:round/>
                <a:headEnd len="sm" w="sm" type="none"/>
                <a:tailEnd len="sm" w="sm" type="none"/>
              </a:ln>
            </p:spPr>
          </p:cxnSp>
          <p:cxnSp>
            <p:nvCxnSpPr>
              <p:cNvPr id="333" name="Google Shape;333;p59"/>
              <p:cNvCxnSpPr/>
              <p:nvPr/>
            </p:nvCxnSpPr>
            <p:spPr>
              <a:xfrm>
                <a:off x="3335" y="3303"/>
                <a:ext cx="0" cy="727"/>
              </a:xfrm>
              <a:prstGeom prst="straightConnector1">
                <a:avLst/>
              </a:prstGeom>
              <a:noFill/>
              <a:ln cap="flat" cmpd="sng" w="19050">
                <a:solidFill>
                  <a:schemeClr val="dk1"/>
                </a:solidFill>
                <a:prstDash val="solid"/>
                <a:round/>
                <a:headEnd len="sm" w="sm" type="none"/>
                <a:tailEnd len="sm" w="sm" type="none"/>
              </a:ln>
            </p:spPr>
          </p:cxnSp>
          <p:cxnSp>
            <p:nvCxnSpPr>
              <p:cNvPr id="334" name="Google Shape;334;p59"/>
              <p:cNvCxnSpPr/>
              <p:nvPr/>
            </p:nvCxnSpPr>
            <p:spPr>
              <a:xfrm flipH="1" rot="10800000">
                <a:off x="3130" y="3888"/>
                <a:ext cx="205" cy="72"/>
              </a:xfrm>
              <a:prstGeom prst="straightConnector1">
                <a:avLst/>
              </a:prstGeom>
              <a:noFill/>
              <a:ln cap="flat" cmpd="sng" w="19050">
                <a:solidFill>
                  <a:schemeClr val="dk1"/>
                </a:solidFill>
                <a:prstDash val="solid"/>
                <a:round/>
                <a:headEnd len="sm" w="sm" type="none"/>
                <a:tailEnd len="sm" w="sm" type="none"/>
              </a:ln>
            </p:spPr>
          </p:cxnSp>
          <p:cxnSp>
            <p:nvCxnSpPr>
              <p:cNvPr id="335" name="Google Shape;335;p59"/>
              <p:cNvCxnSpPr/>
              <p:nvPr/>
            </p:nvCxnSpPr>
            <p:spPr>
              <a:xfrm rot="10800000">
                <a:off x="3335" y="3888"/>
                <a:ext cx="205" cy="69"/>
              </a:xfrm>
              <a:prstGeom prst="straightConnector1">
                <a:avLst/>
              </a:prstGeom>
              <a:noFill/>
              <a:ln cap="flat" cmpd="sng" w="19050">
                <a:solidFill>
                  <a:schemeClr val="dk1"/>
                </a:solidFill>
                <a:prstDash val="solid"/>
                <a:round/>
                <a:headEnd len="sm" w="sm" type="none"/>
                <a:tailEnd len="sm" w="sm" type="none"/>
              </a:ln>
            </p:spPr>
          </p:cxnSp>
          <p:cxnSp>
            <p:nvCxnSpPr>
              <p:cNvPr id="336" name="Google Shape;336;p59"/>
              <p:cNvCxnSpPr/>
              <p:nvPr/>
            </p:nvCxnSpPr>
            <p:spPr>
              <a:xfrm>
                <a:off x="3217" y="3668"/>
                <a:ext cx="118" cy="55"/>
              </a:xfrm>
              <a:prstGeom prst="straightConnector1">
                <a:avLst/>
              </a:prstGeom>
              <a:noFill/>
              <a:ln cap="flat" cmpd="sng" w="19050">
                <a:solidFill>
                  <a:schemeClr val="dk1"/>
                </a:solidFill>
                <a:prstDash val="solid"/>
                <a:round/>
                <a:headEnd len="sm" w="sm" type="none"/>
                <a:tailEnd len="sm" w="sm" type="none"/>
              </a:ln>
            </p:spPr>
          </p:cxnSp>
          <p:cxnSp>
            <p:nvCxnSpPr>
              <p:cNvPr id="337" name="Google Shape;337;p59"/>
              <p:cNvCxnSpPr/>
              <p:nvPr/>
            </p:nvCxnSpPr>
            <p:spPr>
              <a:xfrm flipH="1" rot="10800000">
                <a:off x="3335" y="3668"/>
                <a:ext cx="124" cy="55"/>
              </a:xfrm>
              <a:prstGeom prst="straightConnector1">
                <a:avLst/>
              </a:prstGeom>
              <a:noFill/>
              <a:ln cap="flat" cmpd="sng" w="19050">
                <a:solidFill>
                  <a:schemeClr val="dk1"/>
                </a:solidFill>
                <a:prstDash val="solid"/>
                <a:round/>
                <a:headEnd len="sm" w="sm" type="none"/>
                <a:tailEnd len="sm" w="sm" type="none"/>
              </a:ln>
            </p:spPr>
          </p:cxnSp>
          <p:cxnSp>
            <p:nvCxnSpPr>
              <p:cNvPr id="338" name="Google Shape;338;p59"/>
              <p:cNvCxnSpPr/>
              <p:nvPr/>
            </p:nvCxnSpPr>
            <p:spPr>
              <a:xfrm>
                <a:off x="3178" y="3766"/>
                <a:ext cx="152" cy="75"/>
              </a:xfrm>
              <a:prstGeom prst="straightConnector1">
                <a:avLst/>
              </a:prstGeom>
              <a:noFill/>
              <a:ln cap="flat" cmpd="sng" w="19050">
                <a:solidFill>
                  <a:schemeClr val="dk1"/>
                </a:solidFill>
                <a:prstDash val="solid"/>
                <a:round/>
                <a:headEnd len="sm" w="sm" type="none"/>
                <a:tailEnd len="sm" w="sm" type="none"/>
              </a:ln>
            </p:spPr>
          </p:cxnSp>
          <p:cxnSp>
            <p:nvCxnSpPr>
              <p:cNvPr id="339" name="Google Shape;339;p59"/>
              <p:cNvCxnSpPr/>
              <p:nvPr/>
            </p:nvCxnSpPr>
            <p:spPr>
              <a:xfrm flipH="1" rot="10800000">
                <a:off x="3335" y="3781"/>
                <a:ext cx="153" cy="66"/>
              </a:xfrm>
              <a:prstGeom prst="straightConnector1">
                <a:avLst/>
              </a:prstGeom>
              <a:noFill/>
              <a:ln cap="flat" cmpd="sng" w="19050">
                <a:solidFill>
                  <a:schemeClr val="dk1"/>
                </a:solidFill>
                <a:prstDash val="solid"/>
                <a:round/>
                <a:headEnd len="sm" w="sm" type="none"/>
                <a:tailEnd len="sm" w="sm" type="none"/>
              </a:ln>
            </p:spPr>
          </p:cxnSp>
          <p:cxnSp>
            <p:nvCxnSpPr>
              <p:cNvPr id="340" name="Google Shape;340;p59"/>
              <p:cNvCxnSpPr/>
              <p:nvPr/>
            </p:nvCxnSpPr>
            <p:spPr>
              <a:xfrm flipH="1" rot="10800000">
                <a:off x="3335" y="3567"/>
                <a:ext cx="78" cy="27"/>
              </a:xfrm>
              <a:prstGeom prst="straightConnector1">
                <a:avLst/>
              </a:prstGeom>
              <a:noFill/>
              <a:ln cap="flat" cmpd="sng" w="19050">
                <a:solidFill>
                  <a:schemeClr val="dk1"/>
                </a:solidFill>
                <a:prstDash val="solid"/>
                <a:round/>
                <a:headEnd len="sm" w="sm" type="none"/>
                <a:tailEnd len="sm" w="sm" type="none"/>
              </a:ln>
            </p:spPr>
          </p:cxnSp>
          <p:cxnSp>
            <p:nvCxnSpPr>
              <p:cNvPr id="341" name="Google Shape;341;p59"/>
              <p:cNvCxnSpPr/>
              <p:nvPr/>
            </p:nvCxnSpPr>
            <p:spPr>
              <a:xfrm flipH="1" rot="10800000">
                <a:off x="3335" y="3428"/>
                <a:ext cx="49" cy="21"/>
              </a:xfrm>
              <a:prstGeom prst="straightConnector1">
                <a:avLst/>
              </a:prstGeom>
              <a:noFill/>
              <a:ln cap="flat" cmpd="sng" w="19050">
                <a:solidFill>
                  <a:schemeClr val="dk1"/>
                </a:solidFill>
                <a:prstDash val="solid"/>
                <a:round/>
                <a:headEnd len="sm" w="sm" type="none"/>
                <a:tailEnd len="sm" w="sm" type="none"/>
              </a:ln>
            </p:spPr>
          </p:cxnSp>
          <p:cxnSp>
            <p:nvCxnSpPr>
              <p:cNvPr id="342" name="Google Shape;342;p59"/>
              <p:cNvCxnSpPr/>
              <p:nvPr/>
            </p:nvCxnSpPr>
            <p:spPr>
              <a:xfrm>
                <a:off x="3247" y="3558"/>
                <a:ext cx="95" cy="36"/>
              </a:xfrm>
              <a:prstGeom prst="straightConnector1">
                <a:avLst/>
              </a:prstGeom>
              <a:noFill/>
              <a:ln cap="flat" cmpd="sng" w="19050">
                <a:solidFill>
                  <a:schemeClr val="dk1"/>
                </a:solidFill>
                <a:prstDash val="solid"/>
                <a:round/>
                <a:headEnd len="sm" w="sm" type="none"/>
                <a:tailEnd len="sm" w="sm" type="none"/>
              </a:ln>
            </p:spPr>
          </p:cxnSp>
          <p:cxnSp>
            <p:nvCxnSpPr>
              <p:cNvPr id="343" name="Google Shape;343;p59"/>
              <p:cNvCxnSpPr/>
              <p:nvPr/>
            </p:nvCxnSpPr>
            <p:spPr>
              <a:xfrm>
                <a:off x="3289" y="3422"/>
                <a:ext cx="55" cy="36"/>
              </a:xfrm>
              <a:prstGeom prst="straightConnector1">
                <a:avLst/>
              </a:prstGeom>
              <a:noFill/>
              <a:ln cap="flat" cmpd="sng" w="19050">
                <a:solidFill>
                  <a:schemeClr val="dk1"/>
                </a:solidFill>
                <a:prstDash val="solid"/>
                <a:round/>
                <a:headEnd len="sm" w="sm" type="none"/>
                <a:tailEnd len="sm" w="sm" type="none"/>
              </a:ln>
            </p:spPr>
          </p:cxnSp>
        </p:grpSp>
        <p:pic>
          <p:nvPicPr>
            <p:cNvPr descr="cell_tower_radiation copy" id="344" name="Google Shape;344;p59"/>
            <p:cNvPicPr preferRelativeResize="0"/>
            <p:nvPr/>
          </p:nvPicPr>
          <p:blipFill rotWithShape="1">
            <a:blip r:embed="rId12">
              <a:alphaModFix/>
            </a:blip>
            <a:srcRect b="0" l="0" r="0" t="0"/>
            <a:stretch/>
          </p:blipFill>
          <p:spPr>
            <a:xfrm>
              <a:off x="742" y="2409"/>
              <a:ext cx="576" cy="464"/>
            </a:xfrm>
            <a:prstGeom prst="rect">
              <a:avLst/>
            </a:prstGeom>
            <a:noFill/>
            <a:ln>
              <a:noFill/>
            </a:ln>
          </p:spPr>
        </p:pic>
        <p:sp>
          <p:nvSpPr>
            <p:cNvPr id="345" name="Google Shape;345;p59"/>
            <p:cNvSpPr/>
            <p:nvPr/>
          </p:nvSpPr>
          <p:spPr>
            <a:xfrm>
              <a:off x="986" y="2597"/>
              <a:ext cx="66" cy="69"/>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46" name="Google Shape;346;p59"/>
          <p:cNvGrpSpPr/>
          <p:nvPr/>
        </p:nvGrpSpPr>
        <p:grpSpPr>
          <a:xfrm>
            <a:off x="10326536" y="5434449"/>
            <a:ext cx="227013" cy="481013"/>
            <a:chOff x="4140" y="429"/>
            <a:chExt cx="1425" cy="2396"/>
          </a:xfrm>
        </p:grpSpPr>
        <p:sp>
          <p:nvSpPr>
            <p:cNvPr id="347" name="Google Shape;347;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5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9" name="Google Shape;349;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5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52" name="Google Shape;352;p59"/>
            <p:cNvGrpSpPr/>
            <p:nvPr/>
          </p:nvGrpSpPr>
          <p:grpSpPr>
            <a:xfrm>
              <a:off x="4748" y="666"/>
              <a:ext cx="578" cy="150"/>
              <a:chOff x="613" y="2566"/>
              <a:chExt cx="721" cy="144"/>
            </a:xfrm>
          </p:grpSpPr>
          <p:sp>
            <p:nvSpPr>
              <p:cNvPr id="353" name="Google Shape;353;p5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4" name="Google Shape;354;p5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5" name="Google Shape;355;p5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56" name="Google Shape;356;p59"/>
            <p:cNvGrpSpPr/>
            <p:nvPr/>
          </p:nvGrpSpPr>
          <p:grpSpPr>
            <a:xfrm>
              <a:off x="4748" y="990"/>
              <a:ext cx="578" cy="134"/>
              <a:chOff x="615" y="2564"/>
              <a:chExt cx="721" cy="139"/>
            </a:xfrm>
          </p:grpSpPr>
          <p:sp>
            <p:nvSpPr>
              <p:cNvPr id="357" name="Google Shape;357;p5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8" name="Google Shape;358;p5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9" name="Google Shape;359;p5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0" name="Google Shape;360;p5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61" name="Google Shape;361;p59"/>
            <p:cNvGrpSpPr/>
            <p:nvPr/>
          </p:nvGrpSpPr>
          <p:grpSpPr>
            <a:xfrm>
              <a:off x="4738" y="1639"/>
              <a:ext cx="578" cy="142"/>
              <a:chOff x="618" y="2579"/>
              <a:chExt cx="720" cy="131"/>
            </a:xfrm>
          </p:grpSpPr>
          <p:sp>
            <p:nvSpPr>
              <p:cNvPr id="362" name="Google Shape;362;p59"/>
              <p:cNvSpPr/>
              <p:nvPr/>
            </p:nvSpPr>
            <p:spPr>
              <a:xfrm>
                <a:off x="618" y="2579"/>
                <a:ext cx="720"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3" name="Google Shape;363;p5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4" name="Google Shape;364;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5" name="Google Shape;365;p59"/>
            <p:cNvGrpSpPr/>
            <p:nvPr/>
          </p:nvGrpSpPr>
          <p:grpSpPr>
            <a:xfrm>
              <a:off x="4738" y="1330"/>
              <a:ext cx="588" cy="134"/>
              <a:chOff x="613" y="2571"/>
              <a:chExt cx="732" cy="134"/>
            </a:xfrm>
          </p:grpSpPr>
          <p:sp>
            <p:nvSpPr>
              <p:cNvPr id="366" name="Google Shape;366;p5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7" name="Google Shape;367;p5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68" name="Google Shape;368;p5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9" name="Google Shape;369;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2" name="Google Shape;372;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4" name="Google Shape;374;p59"/>
            <p:cNvSpPr/>
            <p:nvPr/>
          </p:nvSpPr>
          <p:spPr>
            <a:xfrm>
              <a:off x="4210" y="2714"/>
              <a:ext cx="1066" cy="79"/>
            </a:xfrm>
            <a:prstGeom prst="roundRect">
              <a:avLst>
                <a:gd fmla="val 50000" name="adj"/>
              </a:avLst>
            </a:prstGeom>
            <a:gradFill>
              <a:gsLst>
                <a:gs pos="0">
                  <a:schemeClr val="lt2"/>
                </a:gs>
                <a:gs pos="100000">
                  <a:schemeClr val="dk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5" name="Google Shape;375;p5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6" name="Google Shape;376;p5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77" name="Google Shape;377;p5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8" name="Google Shape;378;p5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79" name="Google Shape;379;p59"/>
          <p:cNvGrpSpPr/>
          <p:nvPr/>
        </p:nvGrpSpPr>
        <p:grpSpPr>
          <a:xfrm>
            <a:off x="10010623" y="5736074"/>
            <a:ext cx="227012" cy="481013"/>
            <a:chOff x="4140" y="429"/>
            <a:chExt cx="1425" cy="2396"/>
          </a:xfrm>
        </p:grpSpPr>
        <p:sp>
          <p:nvSpPr>
            <p:cNvPr id="380" name="Google Shape;380;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5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2" name="Google Shape;382;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5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85" name="Google Shape;385;p59"/>
            <p:cNvGrpSpPr/>
            <p:nvPr/>
          </p:nvGrpSpPr>
          <p:grpSpPr>
            <a:xfrm>
              <a:off x="4748" y="666"/>
              <a:ext cx="578" cy="150"/>
              <a:chOff x="613" y="2566"/>
              <a:chExt cx="721" cy="144"/>
            </a:xfrm>
          </p:grpSpPr>
          <p:sp>
            <p:nvSpPr>
              <p:cNvPr id="386" name="Google Shape;386;p5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7" name="Google Shape;387;p5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88" name="Google Shape;388;p5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89" name="Google Shape;389;p59"/>
            <p:cNvGrpSpPr/>
            <p:nvPr/>
          </p:nvGrpSpPr>
          <p:grpSpPr>
            <a:xfrm>
              <a:off x="4748" y="990"/>
              <a:ext cx="578" cy="134"/>
              <a:chOff x="615" y="2564"/>
              <a:chExt cx="721" cy="139"/>
            </a:xfrm>
          </p:grpSpPr>
          <p:sp>
            <p:nvSpPr>
              <p:cNvPr id="390" name="Google Shape;390;p5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1" name="Google Shape;391;p5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2" name="Google Shape;392;p5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3" name="Google Shape;393;p5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394" name="Google Shape;394;p59"/>
            <p:cNvGrpSpPr/>
            <p:nvPr/>
          </p:nvGrpSpPr>
          <p:grpSpPr>
            <a:xfrm>
              <a:off x="4738" y="1639"/>
              <a:ext cx="578" cy="142"/>
              <a:chOff x="618" y="2579"/>
              <a:chExt cx="720" cy="131"/>
            </a:xfrm>
          </p:grpSpPr>
          <p:sp>
            <p:nvSpPr>
              <p:cNvPr id="395" name="Google Shape;395;p59"/>
              <p:cNvSpPr/>
              <p:nvPr/>
            </p:nvSpPr>
            <p:spPr>
              <a:xfrm>
                <a:off x="618" y="2579"/>
                <a:ext cx="720" cy="13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6" name="Google Shape;396;p5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7" name="Google Shape;397;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8" name="Google Shape;398;p59"/>
            <p:cNvGrpSpPr/>
            <p:nvPr/>
          </p:nvGrpSpPr>
          <p:grpSpPr>
            <a:xfrm>
              <a:off x="4738" y="1330"/>
              <a:ext cx="588" cy="134"/>
              <a:chOff x="613" y="2571"/>
              <a:chExt cx="732" cy="134"/>
            </a:xfrm>
          </p:grpSpPr>
          <p:sp>
            <p:nvSpPr>
              <p:cNvPr id="399" name="Google Shape;399;p5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0" name="Google Shape;400;p5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01" name="Google Shape;401;p5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2" name="Google Shape;402;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5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5" name="Google Shape;405;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5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7" name="Google Shape;407;p59"/>
            <p:cNvSpPr/>
            <p:nvPr/>
          </p:nvSpPr>
          <p:spPr>
            <a:xfrm>
              <a:off x="4210" y="2714"/>
              <a:ext cx="1066" cy="79"/>
            </a:xfrm>
            <a:prstGeom prst="roundRect">
              <a:avLst>
                <a:gd fmla="val 50000" name="adj"/>
              </a:avLst>
            </a:prstGeom>
            <a:gradFill>
              <a:gsLst>
                <a:gs pos="0">
                  <a:schemeClr val="lt2"/>
                </a:gs>
                <a:gs pos="100000">
                  <a:schemeClr val="dk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8" name="Google Shape;408;p5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 name="Google Shape;409;p5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10" name="Google Shape;410;p5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5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12" name="Google Shape;412;p59"/>
          <p:cNvGrpSpPr/>
          <p:nvPr/>
        </p:nvGrpSpPr>
        <p:grpSpPr>
          <a:xfrm>
            <a:off x="7388074" y="2475348"/>
            <a:ext cx="534987" cy="413719"/>
            <a:chOff x="877" y="1008"/>
            <a:chExt cx="2747" cy="2626"/>
          </a:xfrm>
        </p:grpSpPr>
        <p:pic>
          <p:nvPicPr>
            <p:cNvPr descr="antenna_stylized" id="413" name="Google Shape;413;p59"/>
            <p:cNvPicPr preferRelativeResize="0"/>
            <p:nvPr/>
          </p:nvPicPr>
          <p:blipFill rotWithShape="1">
            <a:blip r:embed="rId13">
              <a:alphaModFix/>
            </a:blip>
            <a:srcRect b="0" l="0" r="0" t="0"/>
            <a:stretch/>
          </p:blipFill>
          <p:spPr>
            <a:xfrm>
              <a:off x="877" y="1008"/>
              <a:ext cx="2725" cy="1421"/>
            </a:xfrm>
            <a:prstGeom prst="rect">
              <a:avLst/>
            </a:prstGeom>
            <a:noFill/>
            <a:ln>
              <a:noFill/>
            </a:ln>
          </p:spPr>
        </p:pic>
        <p:pic>
          <p:nvPicPr>
            <p:cNvPr descr="laptop_keyboard" id="414" name="Google Shape;414;p59"/>
            <p:cNvPicPr preferRelativeResize="0"/>
            <p:nvPr/>
          </p:nvPicPr>
          <p:blipFill rotWithShape="1">
            <a:blip r:embed="rId14">
              <a:alphaModFix/>
            </a:blip>
            <a:srcRect b="0" l="0" r="0" t="0"/>
            <a:stretch/>
          </p:blipFill>
          <p:spPr>
            <a:xfrm flipH="1" rot="109064">
              <a:off x="1009" y="2586"/>
              <a:ext cx="2245" cy="1013"/>
            </a:xfrm>
            <a:prstGeom prst="rect">
              <a:avLst/>
            </a:prstGeom>
            <a:noFill/>
            <a:ln>
              <a:noFill/>
            </a:ln>
          </p:spPr>
        </p:pic>
        <p:sp>
          <p:nvSpPr>
            <p:cNvPr id="415" name="Google Shape;415;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16" name="Google Shape;416;p59"/>
            <p:cNvPicPr preferRelativeResize="0"/>
            <p:nvPr/>
          </p:nvPicPr>
          <p:blipFill rotWithShape="1">
            <a:blip r:embed="rId15">
              <a:alphaModFix/>
            </a:blip>
            <a:srcRect b="0" l="0" r="0" t="0"/>
            <a:stretch/>
          </p:blipFill>
          <p:spPr>
            <a:xfrm>
              <a:off x="1842" y="1637"/>
              <a:ext cx="1642" cy="1203"/>
            </a:xfrm>
            <a:prstGeom prst="rect">
              <a:avLst/>
            </a:prstGeom>
            <a:noFill/>
            <a:ln>
              <a:noFill/>
            </a:ln>
          </p:spPr>
        </p:pic>
        <p:sp>
          <p:nvSpPr>
            <p:cNvPr id="417" name="Google Shape;417;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3" name="Google Shape;423;p59"/>
            <p:cNvGrpSpPr/>
            <p:nvPr/>
          </p:nvGrpSpPr>
          <p:grpSpPr>
            <a:xfrm>
              <a:off x="1709" y="3008"/>
              <a:ext cx="507" cy="234"/>
              <a:chOff x="1740" y="2642"/>
              <a:chExt cx="752" cy="327"/>
            </a:xfrm>
          </p:grpSpPr>
          <p:sp>
            <p:nvSpPr>
              <p:cNvPr id="424" name="Google Shape;424;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0" name="Google Shape;430;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6" name="Google Shape;436;p59"/>
          <p:cNvGrpSpPr/>
          <p:nvPr/>
        </p:nvGrpSpPr>
        <p:grpSpPr>
          <a:xfrm>
            <a:off x="8958111" y="5918637"/>
            <a:ext cx="474663" cy="413718"/>
            <a:chOff x="877" y="1008"/>
            <a:chExt cx="2747" cy="2626"/>
          </a:xfrm>
        </p:grpSpPr>
        <p:pic>
          <p:nvPicPr>
            <p:cNvPr descr="antenna_stylized" id="437" name="Google Shape;437;p59"/>
            <p:cNvPicPr preferRelativeResize="0"/>
            <p:nvPr/>
          </p:nvPicPr>
          <p:blipFill rotWithShape="1">
            <a:blip r:embed="rId16">
              <a:alphaModFix/>
            </a:blip>
            <a:srcRect b="0" l="0" r="0" t="0"/>
            <a:stretch/>
          </p:blipFill>
          <p:spPr>
            <a:xfrm>
              <a:off x="877" y="1008"/>
              <a:ext cx="2725" cy="1421"/>
            </a:xfrm>
            <a:prstGeom prst="rect">
              <a:avLst/>
            </a:prstGeom>
            <a:noFill/>
            <a:ln>
              <a:noFill/>
            </a:ln>
          </p:spPr>
        </p:pic>
        <p:pic>
          <p:nvPicPr>
            <p:cNvPr descr="laptop_keyboard" id="438" name="Google Shape;438;p59"/>
            <p:cNvPicPr preferRelativeResize="0"/>
            <p:nvPr/>
          </p:nvPicPr>
          <p:blipFill rotWithShape="1">
            <a:blip r:embed="rId17">
              <a:alphaModFix/>
            </a:blip>
            <a:srcRect b="0" l="0" r="0" t="0"/>
            <a:stretch/>
          </p:blipFill>
          <p:spPr>
            <a:xfrm flipH="1" rot="109064">
              <a:off x="1009" y="2586"/>
              <a:ext cx="2245" cy="1013"/>
            </a:xfrm>
            <a:prstGeom prst="rect">
              <a:avLst/>
            </a:prstGeom>
            <a:noFill/>
            <a:ln>
              <a:noFill/>
            </a:ln>
          </p:spPr>
        </p:pic>
        <p:sp>
          <p:nvSpPr>
            <p:cNvPr id="439" name="Google Shape;439;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40" name="Google Shape;440;p59"/>
            <p:cNvPicPr preferRelativeResize="0"/>
            <p:nvPr/>
          </p:nvPicPr>
          <p:blipFill rotWithShape="1">
            <a:blip r:embed="rId18">
              <a:alphaModFix/>
            </a:blip>
            <a:srcRect b="0" l="0" r="0" t="0"/>
            <a:stretch/>
          </p:blipFill>
          <p:spPr>
            <a:xfrm>
              <a:off x="1842" y="1637"/>
              <a:ext cx="1642" cy="1203"/>
            </a:xfrm>
            <a:prstGeom prst="rect">
              <a:avLst/>
            </a:prstGeom>
            <a:noFill/>
            <a:ln>
              <a:noFill/>
            </a:ln>
          </p:spPr>
        </p:pic>
        <p:sp>
          <p:nvSpPr>
            <p:cNvPr id="441" name="Google Shape;441;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7" name="Google Shape;447;p59"/>
            <p:cNvGrpSpPr/>
            <p:nvPr/>
          </p:nvGrpSpPr>
          <p:grpSpPr>
            <a:xfrm>
              <a:off x="1709" y="3008"/>
              <a:ext cx="507" cy="234"/>
              <a:chOff x="1740" y="2642"/>
              <a:chExt cx="752" cy="327"/>
            </a:xfrm>
          </p:grpSpPr>
          <p:sp>
            <p:nvSpPr>
              <p:cNvPr id="448" name="Google Shape;448;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4" name="Google Shape;454;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0" name="Google Shape;460;p59"/>
          <p:cNvGrpSpPr/>
          <p:nvPr/>
        </p:nvGrpSpPr>
        <p:grpSpPr>
          <a:xfrm>
            <a:off x="7646835" y="3473887"/>
            <a:ext cx="444500" cy="413718"/>
            <a:chOff x="877" y="1008"/>
            <a:chExt cx="2747" cy="2626"/>
          </a:xfrm>
        </p:grpSpPr>
        <p:pic>
          <p:nvPicPr>
            <p:cNvPr descr="antenna_stylized" id="461" name="Google Shape;461;p5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62" name="Google Shape;462;p5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63" name="Google Shape;463;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64" name="Google Shape;464;p5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65" name="Google Shape;465;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1" name="Google Shape;471;p59"/>
            <p:cNvGrpSpPr/>
            <p:nvPr/>
          </p:nvGrpSpPr>
          <p:grpSpPr>
            <a:xfrm>
              <a:off x="1709" y="3008"/>
              <a:ext cx="507" cy="234"/>
              <a:chOff x="1740" y="2642"/>
              <a:chExt cx="752" cy="327"/>
            </a:xfrm>
          </p:grpSpPr>
          <p:sp>
            <p:nvSpPr>
              <p:cNvPr id="472" name="Google Shape;472;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8" name="Google Shape;478;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59"/>
          <p:cNvGrpSpPr/>
          <p:nvPr/>
        </p:nvGrpSpPr>
        <p:grpSpPr>
          <a:xfrm flipH="1">
            <a:off x="8026249" y="3654861"/>
            <a:ext cx="414337" cy="373062"/>
            <a:chOff x="2839" y="3501"/>
            <a:chExt cx="755" cy="803"/>
          </a:xfrm>
        </p:grpSpPr>
        <p:pic>
          <p:nvPicPr>
            <p:cNvPr descr="desktop_computer_stylized_medium" id="485" name="Google Shape;485;p59"/>
            <p:cNvPicPr preferRelativeResize="0"/>
            <p:nvPr/>
          </p:nvPicPr>
          <p:blipFill rotWithShape="1">
            <a:blip r:embed="rId3">
              <a:alphaModFix/>
            </a:blip>
            <a:srcRect b="0" l="0" r="0" t="0"/>
            <a:stretch/>
          </p:blipFill>
          <p:spPr>
            <a:xfrm>
              <a:off x="2839" y="3501"/>
              <a:ext cx="755" cy="803"/>
            </a:xfrm>
            <a:prstGeom prst="rect">
              <a:avLst/>
            </a:prstGeom>
            <a:noFill/>
            <a:ln>
              <a:noFill/>
            </a:ln>
          </p:spPr>
        </p:pic>
        <p:sp>
          <p:nvSpPr>
            <p:cNvPr id="486" name="Google Shape;486;p5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7" name="Google Shape;487;p59"/>
          <p:cNvGrpSpPr/>
          <p:nvPr/>
        </p:nvGrpSpPr>
        <p:grpSpPr>
          <a:xfrm>
            <a:off x="9393086" y="5855137"/>
            <a:ext cx="474663" cy="413718"/>
            <a:chOff x="877" y="1008"/>
            <a:chExt cx="2747" cy="2626"/>
          </a:xfrm>
        </p:grpSpPr>
        <p:pic>
          <p:nvPicPr>
            <p:cNvPr descr="antenna_stylized" id="488" name="Google Shape;488;p59"/>
            <p:cNvPicPr preferRelativeResize="0"/>
            <p:nvPr/>
          </p:nvPicPr>
          <p:blipFill rotWithShape="1">
            <a:blip r:embed="rId16">
              <a:alphaModFix/>
            </a:blip>
            <a:srcRect b="0" l="0" r="0" t="0"/>
            <a:stretch/>
          </p:blipFill>
          <p:spPr>
            <a:xfrm>
              <a:off x="877" y="1008"/>
              <a:ext cx="2725" cy="1421"/>
            </a:xfrm>
            <a:prstGeom prst="rect">
              <a:avLst/>
            </a:prstGeom>
            <a:noFill/>
            <a:ln>
              <a:noFill/>
            </a:ln>
          </p:spPr>
        </p:pic>
        <p:pic>
          <p:nvPicPr>
            <p:cNvPr descr="laptop_keyboard" id="489" name="Google Shape;489;p59"/>
            <p:cNvPicPr preferRelativeResize="0"/>
            <p:nvPr/>
          </p:nvPicPr>
          <p:blipFill rotWithShape="1">
            <a:blip r:embed="rId17">
              <a:alphaModFix/>
            </a:blip>
            <a:srcRect b="0" l="0" r="0" t="0"/>
            <a:stretch/>
          </p:blipFill>
          <p:spPr>
            <a:xfrm flipH="1" rot="109064">
              <a:off x="1009" y="2586"/>
              <a:ext cx="2245" cy="1013"/>
            </a:xfrm>
            <a:prstGeom prst="rect">
              <a:avLst/>
            </a:prstGeom>
            <a:noFill/>
            <a:ln>
              <a:noFill/>
            </a:ln>
          </p:spPr>
        </p:pic>
        <p:sp>
          <p:nvSpPr>
            <p:cNvPr id="490" name="Google Shape;490;p5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creen" id="491" name="Google Shape;491;p59"/>
            <p:cNvPicPr preferRelativeResize="0"/>
            <p:nvPr/>
          </p:nvPicPr>
          <p:blipFill rotWithShape="1">
            <a:blip r:embed="rId18">
              <a:alphaModFix/>
            </a:blip>
            <a:srcRect b="0" l="0" r="0" t="0"/>
            <a:stretch/>
          </p:blipFill>
          <p:spPr>
            <a:xfrm>
              <a:off x="1842" y="1637"/>
              <a:ext cx="1642" cy="1203"/>
            </a:xfrm>
            <a:prstGeom prst="rect">
              <a:avLst/>
            </a:prstGeom>
            <a:noFill/>
            <a:ln>
              <a:noFill/>
            </a:ln>
          </p:spPr>
        </p:pic>
        <p:sp>
          <p:nvSpPr>
            <p:cNvPr id="492" name="Google Shape;492;p5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5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8" name="Google Shape;498;p59"/>
            <p:cNvGrpSpPr/>
            <p:nvPr/>
          </p:nvGrpSpPr>
          <p:grpSpPr>
            <a:xfrm>
              <a:off x="1709" y="3008"/>
              <a:ext cx="507" cy="234"/>
              <a:chOff x="1740" y="2642"/>
              <a:chExt cx="752" cy="327"/>
            </a:xfrm>
          </p:grpSpPr>
          <p:sp>
            <p:nvSpPr>
              <p:cNvPr id="499" name="Google Shape;499;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5" name="Google Shape;505;p5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5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1" name="Google Shape;511;p59"/>
          <p:cNvGrpSpPr/>
          <p:nvPr/>
        </p:nvGrpSpPr>
        <p:grpSpPr>
          <a:xfrm>
            <a:off x="7742085" y="1584761"/>
            <a:ext cx="1047750" cy="996950"/>
            <a:chOff x="3402" y="719"/>
            <a:chExt cx="660" cy="628"/>
          </a:xfrm>
        </p:grpSpPr>
        <p:sp>
          <p:nvSpPr>
            <p:cNvPr id="512" name="Google Shape;512;p59"/>
            <p:cNvSpPr/>
            <p:nvPr/>
          </p:nvSpPr>
          <p:spPr>
            <a:xfrm>
              <a:off x="3402" y="753"/>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3" name="Google Shape;513;p59"/>
            <p:cNvGrpSpPr/>
            <p:nvPr/>
          </p:nvGrpSpPr>
          <p:grpSpPr>
            <a:xfrm>
              <a:off x="3549" y="719"/>
              <a:ext cx="513" cy="547"/>
              <a:chOff x="2956" y="969"/>
              <a:chExt cx="513" cy="547"/>
            </a:xfrm>
          </p:grpSpPr>
          <p:sp>
            <p:nvSpPr>
              <p:cNvPr id="514" name="Google Shape;514;p59"/>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5" name="Google Shape;515;p59"/>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6" name="Google Shape;516;p59"/>
              <p:cNvSpPr/>
              <p:nvPr/>
            </p:nvSpPr>
            <p:spPr>
              <a:xfrm>
                <a:off x="3000" y="1185"/>
                <a:ext cx="432" cy="10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7" name="Google Shape;517;p59"/>
              <p:cNvSpPr txBox="1"/>
              <p:nvPr/>
            </p:nvSpPr>
            <p:spPr>
              <a:xfrm>
                <a:off x="2956" y="978"/>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cxnSp>
            <p:nvCxnSpPr>
              <p:cNvPr id="518" name="Google Shape;518;p59"/>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519" name="Google Shape;519;p59"/>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520" name="Google Shape;520;p59"/>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521" name="Google Shape;521;p59"/>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pSp>
        <p:nvGrpSpPr>
          <p:cNvPr id="522" name="Google Shape;522;p59"/>
          <p:cNvGrpSpPr/>
          <p:nvPr/>
        </p:nvGrpSpPr>
        <p:grpSpPr>
          <a:xfrm>
            <a:off x="10437660" y="4591486"/>
            <a:ext cx="1047750" cy="996950"/>
            <a:chOff x="3402" y="719"/>
            <a:chExt cx="660" cy="628"/>
          </a:xfrm>
        </p:grpSpPr>
        <p:sp>
          <p:nvSpPr>
            <p:cNvPr id="523" name="Google Shape;523;p59"/>
            <p:cNvSpPr/>
            <p:nvPr/>
          </p:nvSpPr>
          <p:spPr>
            <a:xfrm>
              <a:off x="3402" y="753"/>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4" name="Google Shape;524;p59"/>
            <p:cNvGrpSpPr/>
            <p:nvPr/>
          </p:nvGrpSpPr>
          <p:grpSpPr>
            <a:xfrm>
              <a:off x="3549" y="719"/>
              <a:ext cx="513" cy="547"/>
              <a:chOff x="2956" y="969"/>
              <a:chExt cx="513" cy="547"/>
            </a:xfrm>
          </p:grpSpPr>
          <p:sp>
            <p:nvSpPr>
              <p:cNvPr id="525" name="Google Shape;525;p59"/>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6" name="Google Shape;526;p59"/>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7" name="Google Shape;527;p59"/>
              <p:cNvSpPr/>
              <p:nvPr/>
            </p:nvSpPr>
            <p:spPr>
              <a:xfrm>
                <a:off x="3000" y="1185"/>
                <a:ext cx="432" cy="10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8" name="Google Shape;528;p59"/>
              <p:cNvSpPr txBox="1"/>
              <p:nvPr/>
            </p:nvSpPr>
            <p:spPr>
              <a:xfrm>
                <a:off x="2956" y="978"/>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cxnSp>
            <p:nvCxnSpPr>
              <p:cNvPr id="529" name="Google Shape;529;p59"/>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530" name="Google Shape;530;p59"/>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531" name="Google Shape;531;p59"/>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532" name="Google Shape;532;p59"/>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pSp>
        <p:nvGrpSpPr>
          <p:cNvPr id="533" name="Google Shape;533;p59"/>
          <p:cNvGrpSpPr/>
          <p:nvPr/>
        </p:nvGrpSpPr>
        <p:grpSpPr>
          <a:xfrm>
            <a:off x="8194523" y="2207061"/>
            <a:ext cx="2546350" cy="3429000"/>
            <a:chOff x="3674" y="1148"/>
            <a:chExt cx="1604" cy="2160"/>
          </a:xfrm>
        </p:grpSpPr>
        <p:grpSp>
          <p:nvGrpSpPr>
            <p:cNvPr id="534" name="Google Shape;534;p59"/>
            <p:cNvGrpSpPr/>
            <p:nvPr/>
          </p:nvGrpSpPr>
          <p:grpSpPr>
            <a:xfrm>
              <a:off x="3701" y="1305"/>
              <a:ext cx="513" cy="442"/>
              <a:chOff x="3937" y="633"/>
              <a:chExt cx="513" cy="442"/>
            </a:xfrm>
          </p:grpSpPr>
          <p:cxnSp>
            <p:nvCxnSpPr>
              <p:cNvPr id="535" name="Google Shape;53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36" name="Google Shape;53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37" name="Google Shape;53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38" name="Google Shape;53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39" name="Google Shape;53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40" name="Google Shape;54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41" name="Google Shape;54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42" name="Google Shape;542;p59"/>
              <p:cNvGrpSpPr/>
              <p:nvPr/>
            </p:nvGrpSpPr>
            <p:grpSpPr>
              <a:xfrm>
                <a:off x="4120" y="809"/>
                <a:ext cx="156" cy="55"/>
                <a:chOff x="2848" y="848"/>
                <a:chExt cx="140" cy="98"/>
              </a:xfrm>
            </p:grpSpPr>
            <p:cxnSp>
              <p:nvCxnSpPr>
                <p:cNvPr id="543" name="Google Shape;54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44" name="Google Shape;54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45" name="Google Shape;54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46" name="Google Shape;546;p59"/>
              <p:cNvGrpSpPr/>
              <p:nvPr/>
            </p:nvGrpSpPr>
            <p:grpSpPr>
              <a:xfrm flipH="1" rot="10800000">
                <a:off x="4120" y="808"/>
                <a:ext cx="156" cy="56"/>
                <a:chOff x="2848" y="848"/>
                <a:chExt cx="140" cy="98"/>
              </a:xfrm>
            </p:grpSpPr>
            <p:cxnSp>
              <p:nvCxnSpPr>
                <p:cNvPr id="547" name="Google Shape;54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48" name="Google Shape;54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49" name="Google Shape;54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50" name="Google Shape;55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1" name="Google Shape;55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52" name="Google Shape;55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53" name="Google Shape;55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54" name="Google Shape;55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C0000"/>
                  </a:solidFill>
                  <a:latin typeface="Comic Sans MS"/>
                  <a:ea typeface="Comic Sans MS"/>
                  <a:cs typeface="Comic Sans MS"/>
                  <a:sym typeface="Comic Sans MS"/>
                </a:endParaRPr>
              </a:p>
            </p:txBody>
          </p:sp>
          <p:sp>
            <p:nvSpPr>
              <p:cNvPr id="555" name="Google Shape;55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56" name="Google Shape;556;p59"/>
            <p:cNvGrpSpPr/>
            <p:nvPr/>
          </p:nvGrpSpPr>
          <p:grpSpPr>
            <a:xfrm>
              <a:off x="4207" y="1532"/>
              <a:ext cx="513" cy="442"/>
              <a:chOff x="3937" y="633"/>
              <a:chExt cx="513" cy="442"/>
            </a:xfrm>
          </p:grpSpPr>
          <p:cxnSp>
            <p:nvCxnSpPr>
              <p:cNvPr id="557" name="Google Shape;55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58" name="Google Shape;55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59" name="Google Shape;55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60" name="Google Shape;56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61" name="Google Shape;56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62" name="Google Shape;56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63" name="Google Shape;56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64" name="Google Shape;564;p59"/>
              <p:cNvGrpSpPr/>
              <p:nvPr/>
            </p:nvGrpSpPr>
            <p:grpSpPr>
              <a:xfrm>
                <a:off x="4120" y="809"/>
                <a:ext cx="156" cy="55"/>
                <a:chOff x="2848" y="848"/>
                <a:chExt cx="140" cy="98"/>
              </a:xfrm>
            </p:grpSpPr>
            <p:cxnSp>
              <p:nvCxnSpPr>
                <p:cNvPr id="565" name="Google Shape;56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66" name="Google Shape;56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67" name="Google Shape;56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68" name="Google Shape;568;p59"/>
              <p:cNvGrpSpPr/>
              <p:nvPr/>
            </p:nvGrpSpPr>
            <p:grpSpPr>
              <a:xfrm flipH="1" rot="10800000">
                <a:off x="4120" y="808"/>
                <a:ext cx="156" cy="56"/>
                <a:chOff x="2848" y="848"/>
                <a:chExt cx="140" cy="98"/>
              </a:xfrm>
            </p:grpSpPr>
            <p:cxnSp>
              <p:nvCxnSpPr>
                <p:cNvPr id="569" name="Google Shape;56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70" name="Google Shape;57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71" name="Google Shape;57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72" name="Google Shape;57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3" name="Google Shape;57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74" name="Google Shape;57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75" name="Google Shape;57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76" name="Google Shape;57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7" name="Google Shape;57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578" name="Google Shape;578;p59"/>
            <p:cNvGrpSpPr/>
            <p:nvPr/>
          </p:nvGrpSpPr>
          <p:grpSpPr>
            <a:xfrm>
              <a:off x="4661" y="1148"/>
              <a:ext cx="513" cy="442"/>
              <a:chOff x="3937" y="633"/>
              <a:chExt cx="513" cy="442"/>
            </a:xfrm>
          </p:grpSpPr>
          <p:cxnSp>
            <p:nvCxnSpPr>
              <p:cNvPr id="579" name="Google Shape;579;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580" name="Google Shape;580;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581" name="Google Shape;581;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82" name="Google Shape;582;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583" name="Google Shape;583;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584" name="Google Shape;584;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85" name="Google Shape;585;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86" name="Google Shape;586;p59"/>
              <p:cNvGrpSpPr/>
              <p:nvPr/>
            </p:nvGrpSpPr>
            <p:grpSpPr>
              <a:xfrm>
                <a:off x="4120" y="809"/>
                <a:ext cx="156" cy="55"/>
                <a:chOff x="2848" y="848"/>
                <a:chExt cx="140" cy="98"/>
              </a:xfrm>
            </p:grpSpPr>
            <p:cxnSp>
              <p:nvCxnSpPr>
                <p:cNvPr id="587" name="Google Shape;58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88" name="Google Shape;58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89" name="Google Shape;58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590" name="Google Shape;590;p59"/>
              <p:cNvGrpSpPr/>
              <p:nvPr/>
            </p:nvGrpSpPr>
            <p:grpSpPr>
              <a:xfrm flipH="1" rot="10800000">
                <a:off x="4120" y="808"/>
                <a:ext cx="156" cy="56"/>
                <a:chOff x="2848" y="848"/>
                <a:chExt cx="140" cy="98"/>
              </a:xfrm>
            </p:grpSpPr>
            <p:cxnSp>
              <p:nvCxnSpPr>
                <p:cNvPr id="591" name="Google Shape;59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592" name="Google Shape;59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593" name="Google Shape;59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594" name="Google Shape;594;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5" name="Google Shape;595;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96" name="Google Shape;596;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597" name="Google Shape;597;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598" name="Google Shape;598;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9" name="Google Shape;599;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00" name="Google Shape;600;p59"/>
            <p:cNvGrpSpPr/>
            <p:nvPr/>
          </p:nvGrpSpPr>
          <p:grpSpPr>
            <a:xfrm>
              <a:off x="4702" y="1523"/>
              <a:ext cx="513" cy="442"/>
              <a:chOff x="3937" y="633"/>
              <a:chExt cx="513" cy="442"/>
            </a:xfrm>
          </p:grpSpPr>
          <p:cxnSp>
            <p:nvCxnSpPr>
              <p:cNvPr id="601" name="Google Shape;601;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02" name="Google Shape;602;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03" name="Google Shape;603;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04" name="Google Shape;604;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05" name="Google Shape;605;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06" name="Google Shape;606;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07" name="Google Shape;607;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08" name="Google Shape;608;p59"/>
              <p:cNvGrpSpPr/>
              <p:nvPr/>
            </p:nvGrpSpPr>
            <p:grpSpPr>
              <a:xfrm>
                <a:off x="4120" y="809"/>
                <a:ext cx="156" cy="55"/>
                <a:chOff x="2848" y="848"/>
                <a:chExt cx="140" cy="98"/>
              </a:xfrm>
            </p:grpSpPr>
            <p:cxnSp>
              <p:nvCxnSpPr>
                <p:cNvPr id="609" name="Google Shape;60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10" name="Google Shape;61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11" name="Google Shape;61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12" name="Google Shape;612;p59"/>
              <p:cNvGrpSpPr/>
              <p:nvPr/>
            </p:nvGrpSpPr>
            <p:grpSpPr>
              <a:xfrm flipH="1" rot="10800000">
                <a:off x="4120" y="808"/>
                <a:ext cx="156" cy="56"/>
                <a:chOff x="2848" y="848"/>
                <a:chExt cx="140" cy="98"/>
              </a:xfrm>
            </p:grpSpPr>
            <p:cxnSp>
              <p:nvCxnSpPr>
                <p:cNvPr id="613" name="Google Shape;61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14" name="Google Shape;61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15" name="Google Shape;61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16" name="Google Shape;616;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7" name="Google Shape;617;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18" name="Google Shape;618;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19" name="Google Shape;619;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20" name="Google Shape;620;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1" name="Google Shape;621;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22" name="Google Shape;622;p59"/>
            <p:cNvGrpSpPr/>
            <p:nvPr/>
          </p:nvGrpSpPr>
          <p:grpSpPr>
            <a:xfrm>
              <a:off x="4197" y="1157"/>
              <a:ext cx="513" cy="442"/>
              <a:chOff x="3937" y="633"/>
              <a:chExt cx="513" cy="442"/>
            </a:xfrm>
          </p:grpSpPr>
          <p:cxnSp>
            <p:nvCxnSpPr>
              <p:cNvPr id="623" name="Google Shape;623;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24" name="Google Shape;624;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25" name="Google Shape;625;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26" name="Google Shape;626;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27" name="Google Shape;627;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28" name="Google Shape;628;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29" name="Google Shape;629;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30" name="Google Shape;630;p59"/>
              <p:cNvGrpSpPr/>
              <p:nvPr/>
            </p:nvGrpSpPr>
            <p:grpSpPr>
              <a:xfrm>
                <a:off x="4120" y="809"/>
                <a:ext cx="156" cy="55"/>
                <a:chOff x="2848" y="848"/>
                <a:chExt cx="140" cy="98"/>
              </a:xfrm>
            </p:grpSpPr>
            <p:cxnSp>
              <p:nvCxnSpPr>
                <p:cNvPr id="631" name="Google Shape;63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32" name="Google Shape;63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33" name="Google Shape;63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34" name="Google Shape;634;p59"/>
              <p:cNvGrpSpPr/>
              <p:nvPr/>
            </p:nvGrpSpPr>
            <p:grpSpPr>
              <a:xfrm flipH="1" rot="10800000">
                <a:off x="4120" y="808"/>
                <a:ext cx="156" cy="56"/>
                <a:chOff x="2848" y="848"/>
                <a:chExt cx="140" cy="98"/>
              </a:xfrm>
            </p:grpSpPr>
            <p:cxnSp>
              <p:nvCxnSpPr>
                <p:cNvPr id="635" name="Google Shape;63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36" name="Google Shape;63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37" name="Google Shape;63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38" name="Google Shape;638;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9" name="Google Shape;639;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40" name="Google Shape;640;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41" name="Google Shape;641;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42" name="Google Shape;642;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44" name="Google Shape;644;p59"/>
            <p:cNvGrpSpPr/>
            <p:nvPr/>
          </p:nvGrpSpPr>
          <p:grpSpPr>
            <a:xfrm>
              <a:off x="4389" y="2239"/>
              <a:ext cx="513" cy="442"/>
              <a:chOff x="3937" y="633"/>
              <a:chExt cx="513" cy="442"/>
            </a:xfrm>
          </p:grpSpPr>
          <p:cxnSp>
            <p:nvCxnSpPr>
              <p:cNvPr id="645" name="Google Shape;64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46" name="Google Shape;64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47" name="Google Shape;64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48" name="Google Shape;64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49" name="Google Shape;64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50" name="Google Shape;65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51" name="Google Shape;65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52" name="Google Shape;652;p59"/>
              <p:cNvGrpSpPr/>
              <p:nvPr/>
            </p:nvGrpSpPr>
            <p:grpSpPr>
              <a:xfrm>
                <a:off x="4120" y="809"/>
                <a:ext cx="156" cy="55"/>
                <a:chOff x="2848" y="848"/>
                <a:chExt cx="140" cy="98"/>
              </a:xfrm>
            </p:grpSpPr>
            <p:cxnSp>
              <p:nvCxnSpPr>
                <p:cNvPr id="653" name="Google Shape;65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54" name="Google Shape;65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55" name="Google Shape;65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56" name="Google Shape;656;p59"/>
              <p:cNvGrpSpPr/>
              <p:nvPr/>
            </p:nvGrpSpPr>
            <p:grpSpPr>
              <a:xfrm flipH="1" rot="10800000">
                <a:off x="4120" y="808"/>
                <a:ext cx="156" cy="56"/>
                <a:chOff x="2848" y="848"/>
                <a:chExt cx="140" cy="98"/>
              </a:xfrm>
            </p:grpSpPr>
            <p:cxnSp>
              <p:nvCxnSpPr>
                <p:cNvPr id="657" name="Google Shape;65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58" name="Google Shape;65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59" name="Google Shape;65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60" name="Google Shape;66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1" name="Google Shape;66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62" name="Google Shape;66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63" name="Google Shape;66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64" name="Google Shape;66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5" name="Google Shape;66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66" name="Google Shape;666;p59"/>
            <p:cNvGrpSpPr/>
            <p:nvPr/>
          </p:nvGrpSpPr>
          <p:grpSpPr>
            <a:xfrm>
              <a:off x="4765" y="1995"/>
              <a:ext cx="513" cy="442"/>
              <a:chOff x="3937" y="633"/>
              <a:chExt cx="513" cy="442"/>
            </a:xfrm>
          </p:grpSpPr>
          <p:cxnSp>
            <p:nvCxnSpPr>
              <p:cNvPr id="667" name="Google Shape;667;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68" name="Google Shape;668;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69" name="Google Shape;669;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70" name="Google Shape;670;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71" name="Google Shape;671;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72" name="Google Shape;672;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73" name="Google Shape;673;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74" name="Google Shape;674;p59"/>
              <p:cNvGrpSpPr/>
              <p:nvPr/>
            </p:nvGrpSpPr>
            <p:grpSpPr>
              <a:xfrm>
                <a:off x="4120" y="809"/>
                <a:ext cx="156" cy="55"/>
                <a:chOff x="2848" y="848"/>
                <a:chExt cx="140" cy="98"/>
              </a:xfrm>
            </p:grpSpPr>
            <p:cxnSp>
              <p:nvCxnSpPr>
                <p:cNvPr id="675" name="Google Shape;67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76" name="Google Shape;67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77" name="Google Shape;67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678" name="Google Shape;678;p59"/>
              <p:cNvGrpSpPr/>
              <p:nvPr/>
            </p:nvGrpSpPr>
            <p:grpSpPr>
              <a:xfrm flipH="1" rot="10800000">
                <a:off x="4120" y="808"/>
                <a:ext cx="156" cy="56"/>
                <a:chOff x="2848" y="848"/>
                <a:chExt cx="140" cy="98"/>
              </a:xfrm>
            </p:grpSpPr>
            <p:cxnSp>
              <p:nvCxnSpPr>
                <p:cNvPr id="679" name="Google Shape;67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80" name="Google Shape;68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81" name="Google Shape;68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682" name="Google Shape;682;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3" name="Google Shape;683;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84" name="Google Shape;684;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685" name="Google Shape;685;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686" name="Google Shape;686;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7" name="Google Shape;687;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688" name="Google Shape;688;p59"/>
            <p:cNvGrpSpPr/>
            <p:nvPr/>
          </p:nvGrpSpPr>
          <p:grpSpPr>
            <a:xfrm>
              <a:off x="4128" y="2003"/>
              <a:ext cx="513" cy="442"/>
              <a:chOff x="3937" y="633"/>
              <a:chExt cx="513" cy="442"/>
            </a:xfrm>
          </p:grpSpPr>
          <p:cxnSp>
            <p:nvCxnSpPr>
              <p:cNvPr id="689" name="Google Shape;689;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690" name="Google Shape;690;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691" name="Google Shape;691;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92" name="Google Shape;692;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693" name="Google Shape;693;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694" name="Google Shape;694;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695" name="Google Shape;695;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696" name="Google Shape;696;p59"/>
              <p:cNvGrpSpPr/>
              <p:nvPr/>
            </p:nvGrpSpPr>
            <p:grpSpPr>
              <a:xfrm>
                <a:off x="4120" y="809"/>
                <a:ext cx="156" cy="55"/>
                <a:chOff x="2848" y="848"/>
                <a:chExt cx="140" cy="98"/>
              </a:xfrm>
            </p:grpSpPr>
            <p:cxnSp>
              <p:nvCxnSpPr>
                <p:cNvPr id="697" name="Google Shape;69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698" name="Google Shape;69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699" name="Google Shape;69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00" name="Google Shape;700;p59"/>
              <p:cNvGrpSpPr/>
              <p:nvPr/>
            </p:nvGrpSpPr>
            <p:grpSpPr>
              <a:xfrm flipH="1" rot="10800000">
                <a:off x="4120" y="808"/>
                <a:ext cx="156" cy="56"/>
                <a:chOff x="2848" y="848"/>
                <a:chExt cx="140" cy="98"/>
              </a:xfrm>
            </p:grpSpPr>
            <p:cxnSp>
              <p:nvCxnSpPr>
                <p:cNvPr id="701" name="Google Shape;70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02" name="Google Shape;70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03" name="Google Shape;70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04" name="Google Shape;704;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5" name="Google Shape;705;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06" name="Google Shape;706;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07" name="Google Shape;707;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08" name="Google Shape;708;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9" name="Google Shape;709;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10" name="Google Shape;710;p59"/>
            <p:cNvGrpSpPr/>
            <p:nvPr/>
          </p:nvGrpSpPr>
          <p:grpSpPr>
            <a:xfrm>
              <a:off x="4608" y="2771"/>
              <a:ext cx="513" cy="442"/>
              <a:chOff x="3937" y="633"/>
              <a:chExt cx="513" cy="442"/>
            </a:xfrm>
          </p:grpSpPr>
          <p:cxnSp>
            <p:nvCxnSpPr>
              <p:cNvPr id="711" name="Google Shape;711;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12" name="Google Shape;712;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13" name="Google Shape;713;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14" name="Google Shape;714;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15" name="Google Shape;715;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16" name="Google Shape;716;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17" name="Google Shape;717;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18" name="Google Shape;718;p59"/>
              <p:cNvGrpSpPr/>
              <p:nvPr/>
            </p:nvGrpSpPr>
            <p:grpSpPr>
              <a:xfrm>
                <a:off x="4120" y="809"/>
                <a:ext cx="156" cy="55"/>
                <a:chOff x="2848" y="848"/>
                <a:chExt cx="140" cy="98"/>
              </a:xfrm>
            </p:grpSpPr>
            <p:cxnSp>
              <p:nvCxnSpPr>
                <p:cNvPr id="719" name="Google Shape;719;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20" name="Google Shape;720;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21" name="Google Shape;721;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22" name="Google Shape;722;p59"/>
              <p:cNvGrpSpPr/>
              <p:nvPr/>
            </p:nvGrpSpPr>
            <p:grpSpPr>
              <a:xfrm flipH="1" rot="10800000">
                <a:off x="4120" y="808"/>
                <a:ext cx="156" cy="56"/>
                <a:chOff x="2848" y="848"/>
                <a:chExt cx="140" cy="98"/>
              </a:xfrm>
            </p:grpSpPr>
            <p:cxnSp>
              <p:nvCxnSpPr>
                <p:cNvPr id="723" name="Google Shape;72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24" name="Google Shape;72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25" name="Google Shape;72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26" name="Google Shape;726;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7" name="Google Shape;727;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28" name="Google Shape;728;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29" name="Google Shape;729;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30" name="Google Shape;730;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1" name="Google Shape;731;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32" name="Google Shape;732;p59"/>
            <p:cNvGrpSpPr/>
            <p:nvPr/>
          </p:nvGrpSpPr>
          <p:grpSpPr>
            <a:xfrm>
              <a:off x="4119" y="2640"/>
              <a:ext cx="513" cy="442"/>
              <a:chOff x="3937" y="633"/>
              <a:chExt cx="513" cy="442"/>
            </a:xfrm>
          </p:grpSpPr>
          <p:cxnSp>
            <p:nvCxnSpPr>
              <p:cNvPr id="733" name="Google Shape;733;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34" name="Google Shape;734;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35" name="Google Shape;735;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36" name="Google Shape;736;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37" name="Google Shape;737;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38" name="Google Shape;738;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39" name="Google Shape;739;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40" name="Google Shape;740;p59"/>
              <p:cNvGrpSpPr/>
              <p:nvPr/>
            </p:nvGrpSpPr>
            <p:grpSpPr>
              <a:xfrm>
                <a:off x="4120" y="809"/>
                <a:ext cx="156" cy="55"/>
                <a:chOff x="2848" y="848"/>
                <a:chExt cx="140" cy="98"/>
              </a:xfrm>
            </p:grpSpPr>
            <p:cxnSp>
              <p:nvCxnSpPr>
                <p:cNvPr id="741" name="Google Shape;741;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42" name="Google Shape;742;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43" name="Google Shape;743;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44" name="Google Shape;744;p59"/>
              <p:cNvGrpSpPr/>
              <p:nvPr/>
            </p:nvGrpSpPr>
            <p:grpSpPr>
              <a:xfrm flipH="1" rot="10800000">
                <a:off x="4120" y="808"/>
                <a:ext cx="156" cy="56"/>
                <a:chOff x="2848" y="848"/>
                <a:chExt cx="140" cy="98"/>
              </a:xfrm>
            </p:grpSpPr>
            <p:cxnSp>
              <p:nvCxnSpPr>
                <p:cNvPr id="745" name="Google Shape;745;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46" name="Google Shape;746;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47" name="Google Shape;747;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48" name="Google Shape;748;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9" name="Google Shape;749;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50" name="Google Shape;750;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51" name="Google Shape;751;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52" name="Google Shape;752;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53" name="Google Shape;753;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nvGrpSpPr>
            <p:cNvPr id="754" name="Google Shape;754;p59"/>
            <p:cNvGrpSpPr/>
            <p:nvPr/>
          </p:nvGrpSpPr>
          <p:grpSpPr>
            <a:xfrm>
              <a:off x="3674" y="2866"/>
              <a:ext cx="513" cy="442"/>
              <a:chOff x="3937" y="633"/>
              <a:chExt cx="513" cy="442"/>
            </a:xfrm>
          </p:grpSpPr>
          <p:cxnSp>
            <p:nvCxnSpPr>
              <p:cNvPr id="755" name="Google Shape;755;p59"/>
              <p:cNvCxnSpPr/>
              <p:nvPr/>
            </p:nvCxnSpPr>
            <p:spPr>
              <a:xfrm>
                <a:off x="4061" y="1035"/>
                <a:ext cx="312" cy="1"/>
              </a:xfrm>
              <a:prstGeom prst="straightConnector1">
                <a:avLst/>
              </a:prstGeom>
              <a:noFill/>
              <a:ln cap="flat" cmpd="sng" w="12700">
                <a:solidFill>
                  <a:schemeClr val="dk1"/>
                </a:solidFill>
                <a:prstDash val="solid"/>
                <a:round/>
                <a:headEnd len="sm" w="sm" type="none"/>
                <a:tailEnd len="sm" w="sm" type="none"/>
              </a:ln>
            </p:spPr>
          </p:cxnSp>
          <p:cxnSp>
            <p:nvCxnSpPr>
              <p:cNvPr id="756" name="Google Shape;756;p59"/>
              <p:cNvCxnSpPr/>
              <p:nvPr/>
            </p:nvCxnSpPr>
            <p:spPr>
              <a:xfrm flipH="1" rot="10800000">
                <a:off x="4212" y="929"/>
                <a:ext cx="1" cy="103"/>
              </a:xfrm>
              <a:prstGeom prst="straightConnector1">
                <a:avLst/>
              </a:prstGeom>
              <a:noFill/>
              <a:ln cap="flat" cmpd="sng" w="12700">
                <a:solidFill>
                  <a:schemeClr val="dk1"/>
                </a:solidFill>
                <a:prstDash val="solid"/>
                <a:round/>
                <a:headEnd len="sm" w="sm" type="none"/>
                <a:tailEnd len="sm" w="sm" type="none"/>
              </a:ln>
            </p:spPr>
          </p:cxnSp>
          <p:sp>
            <p:nvSpPr>
              <p:cNvPr id="757" name="Google Shape;757;p59"/>
              <p:cNvSpPr/>
              <p:nvPr/>
            </p:nvSpPr>
            <p:spPr>
              <a:xfrm>
                <a:off x="4048" y="854"/>
                <a:ext cx="313" cy="81"/>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58" name="Google Shape;758;p59"/>
              <p:cNvCxnSpPr/>
              <p:nvPr/>
            </p:nvCxnSpPr>
            <p:spPr>
              <a:xfrm>
                <a:off x="4048" y="847"/>
                <a:ext cx="0" cy="50"/>
              </a:xfrm>
              <a:prstGeom prst="straightConnector1">
                <a:avLst/>
              </a:prstGeom>
              <a:noFill/>
              <a:ln cap="flat" cmpd="sng" w="12700">
                <a:solidFill>
                  <a:schemeClr val="dk1"/>
                </a:solidFill>
                <a:prstDash val="solid"/>
                <a:round/>
                <a:headEnd len="sm" w="sm" type="none"/>
                <a:tailEnd len="sm" w="sm" type="none"/>
              </a:ln>
            </p:spPr>
          </p:cxnSp>
          <p:cxnSp>
            <p:nvCxnSpPr>
              <p:cNvPr id="759" name="Google Shape;759;p59"/>
              <p:cNvCxnSpPr/>
              <p:nvPr/>
            </p:nvCxnSpPr>
            <p:spPr>
              <a:xfrm>
                <a:off x="4361" y="847"/>
                <a:ext cx="0" cy="50"/>
              </a:xfrm>
              <a:prstGeom prst="straightConnector1">
                <a:avLst/>
              </a:prstGeom>
              <a:noFill/>
              <a:ln cap="flat" cmpd="sng" w="12700">
                <a:solidFill>
                  <a:schemeClr val="dk1"/>
                </a:solidFill>
                <a:prstDash val="solid"/>
                <a:round/>
                <a:headEnd len="sm" w="sm" type="none"/>
                <a:tailEnd len="sm" w="sm" type="none"/>
              </a:ln>
            </p:spPr>
          </p:cxnSp>
          <p:sp>
            <p:nvSpPr>
              <p:cNvPr id="760" name="Google Shape;760;p59"/>
              <p:cNvSpPr/>
              <p:nvPr/>
            </p:nvSpPr>
            <p:spPr>
              <a:xfrm>
                <a:off x="4048" y="847"/>
                <a:ext cx="310" cy="4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761" name="Google Shape;761;p59"/>
              <p:cNvSpPr/>
              <p:nvPr/>
            </p:nvSpPr>
            <p:spPr>
              <a:xfrm>
                <a:off x="4045" y="788"/>
                <a:ext cx="313" cy="95"/>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762" name="Google Shape;762;p59"/>
              <p:cNvGrpSpPr/>
              <p:nvPr/>
            </p:nvGrpSpPr>
            <p:grpSpPr>
              <a:xfrm>
                <a:off x="4120" y="809"/>
                <a:ext cx="156" cy="55"/>
                <a:chOff x="2848" y="848"/>
                <a:chExt cx="140" cy="98"/>
              </a:xfrm>
            </p:grpSpPr>
            <p:cxnSp>
              <p:nvCxnSpPr>
                <p:cNvPr id="763" name="Google Shape;763;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64" name="Google Shape;764;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65" name="Google Shape;765;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766" name="Google Shape;766;p59"/>
              <p:cNvGrpSpPr/>
              <p:nvPr/>
            </p:nvGrpSpPr>
            <p:grpSpPr>
              <a:xfrm flipH="1" rot="10800000">
                <a:off x="4120" y="808"/>
                <a:ext cx="156" cy="56"/>
                <a:chOff x="2848" y="848"/>
                <a:chExt cx="140" cy="98"/>
              </a:xfrm>
            </p:grpSpPr>
            <p:cxnSp>
              <p:nvCxnSpPr>
                <p:cNvPr id="767" name="Google Shape;767;p59"/>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768" name="Google Shape;768;p59"/>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769" name="Google Shape;769;p59"/>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sp>
            <p:nvSpPr>
              <p:cNvPr id="770" name="Google Shape;770;p59"/>
              <p:cNvSpPr/>
              <p:nvPr/>
            </p:nvSpPr>
            <p:spPr>
              <a:xfrm>
                <a:off x="3996" y="732"/>
                <a:ext cx="426" cy="30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1" name="Google Shape;771;p59"/>
              <p:cNvSpPr/>
              <p:nvPr/>
            </p:nvSpPr>
            <p:spPr>
              <a:xfrm>
                <a:off x="3969" y="753"/>
                <a:ext cx="435" cy="31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72" name="Google Shape;772;p59"/>
              <p:cNvCxnSpPr/>
              <p:nvPr/>
            </p:nvCxnSpPr>
            <p:spPr>
              <a:xfrm>
                <a:off x="3966" y="945"/>
                <a:ext cx="435" cy="3"/>
              </a:xfrm>
              <a:prstGeom prst="straightConnector1">
                <a:avLst/>
              </a:prstGeom>
              <a:noFill/>
              <a:ln cap="flat" cmpd="sng" w="12700">
                <a:solidFill>
                  <a:schemeClr val="dk1"/>
                </a:solidFill>
                <a:prstDash val="solid"/>
                <a:round/>
                <a:headEnd len="sm" w="sm" type="none"/>
                <a:tailEnd len="sm" w="sm" type="none"/>
              </a:ln>
            </p:spPr>
          </p:cxnSp>
          <p:cxnSp>
            <p:nvCxnSpPr>
              <p:cNvPr id="773" name="Google Shape;773;p59"/>
              <p:cNvCxnSpPr/>
              <p:nvPr/>
            </p:nvCxnSpPr>
            <p:spPr>
              <a:xfrm>
                <a:off x="3972" y="849"/>
                <a:ext cx="435" cy="3"/>
              </a:xfrm>
              <a:prstGeom prst="straightConnector1">
                <a:avLst/>
              </a:prstGeom>
              <a:noFill/>
              <a:ln cap="flat" cmpd="sng" w="12700">
                <a:solidFill>
                  <a:schemeClr val="dk1"/>
                </a:solidFill>
                <a:prstDash val="solid"/>
                <a:round/>
                <a:headEnd len="sm" w="sm" type="none"/>
                <a:tailEnd len="sm" w="sm" type="none"/>
              </a:ln>
            </p:spPr>
          </p:cxnSp>
          <p:sp>
            <p:nvSpPr>
              <p:cNvPr id="774" name="Google Shape;774;p59"/>
              <p:cNvSpPr/>
              <p:nvPr/>
            </p:nvSpPr>
            <p:spPr>
              <a:xfrm>
                <a:off x="3966" y="756"/>
                <a:ext cx="435" cy="93"/>
              </a:xfrm>
              <a:prstGeom prst="rect">
                <a:avLst/>
              </a:prstGeom>
              <a:solidFill>
                <a:srgbClr val="CC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5" name="Google Shape;775;p59"/>
              <p:cNvSpPr txBox="1"/>
              <p:nvPr/>
            </p:nvSpPr>
            <p:spPr>
              <a:xfrm>
                <a:off x="3937" y="633"/>
                <a:ext cx="51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Arial"/>
                    <a:ea typeface="Arial"/>
                    <a:cs typeface="Arial"/>
                    <a:sym typeface="Arial"/>
                  </a:rPr>
                  <a:t>network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physical</a:t>
                </a:r>
                <a:endParaRPr b="0" i="0" sz="2400" u="none" cap="none" strike="noStrike">
                  <a:solidFill>
                    <a:schemeClr val="dk1"/>
                  </a:solidFill>
                  <a:latin typeface="Arial"/>
                  <a:ea typeface="Arial"/>
                  <a:cs typeface="Arial"/>
                  <a:sym typeface="Arial"/>
                </a:endParaRPr>
              </a:p>
            </p:txBody>
          </p:sp>
        </p:grpSp>
      </p:grpSp>
      <p:sp>
        <p:nvSpPr>
          <p:cNvPr id="776" name="Google Shape;776;p59"/>
          <p:cNvSpPr/>
          <p:nvPr/>
        </p:nvSpPr>
        <p:spPr>
          <a:xfrm>
            <a:off x="8062760" y="1302186"/>
            <a:ext cx="388938" cy="1381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7" name="Google Shape;777;p59"/>
          <p:cNvSpPr/>
          <p:nvPr/>
        </p:nvSpPr>
        <p:spPr>
          <a:xfrm>
            <a:off x="8292948" y="1967350"/>
            <a:ext cx="596900" cy="13811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8" name="Google Shape;778;p59"/>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The Network Layer</a:t>
            </a:r>
            <a:endParaRPr/>
          </a:p>
        </p:txBody>
      </p:sp>
      <p:sp>
        <p:nvSpPr>
          <p:cNvPr id="779" name="Google Shape;779;p59"/>
          <p:cNvSpPr txBox="1"/>
          <p:nvPr>
            <p:ph idx="1" type="body"/>
          </p:nvPr>
        </p:nvSpPr>
        <p:spPr>
          <a:xfrm>
            <a:off x="1195769" y="966537"/>
            <a:ext cx="5437891" cy="6126594"/>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100000"/>
              </a:lnSpc>
              <a:spcBef>
                <a:spcPts val="0"/>
              </a:spcBef>
              <a:spcAft>
                <a:spcPts val="0"/>
              </a:spcAft>
              <a:buSzPts val="4160"/>
              <a:buChar char="•"/>
            </a:pPr>
            <a:r>
              <a:rPr lang="en-US" sz="3200"/>
              <a:t>Encapsulates data into </a:t>
            </a:r>
            <a:r>
              <a:rPr b="1" lang="en-US" sz="3200">
                <a:solidFill>
                  <a:srgbClr val="7D28CD"/>
                </a:solidFill>
              </a:rPr>
              <a:t>packets</a:t>
            </a:r>
            <a:r>
              <a:rPr lang="en-US" sz="3200"/>
              <a:t> on the sending side.</a:t>
            </a:r>
            <a:endParaRPr/>
          </a:p>
          <a:p>
            <a:pPr indent="-21590" lvl="0" marL="285750" rtl="0" algn="l">
              <a:lnSpc>
                <a:spcPct val="100000"/>
              </a:lnSpc>
              <a:spcBef>
                <a:spcPts val="0"/>
              </a:spcBef>
              <a:spcAft>
                <a:spcPts val="0"/>
              </a:spcAft>
              <a:buSzPts val="4160"/>
              <a:buNone/>
            </a:pPr>
            <a:r>
              <a:t/>
            </a:r>
            <a:endParaRPr sz="3200"/>
          </a:p>
          <a:p>
            <a:pPr indent="-285750" lvl="0" marL="285750" rtl="0" algn="l">
              <a:lnSpc>
                <a:spcPct val="100000"/>
              </a:lnSpc>
              <a:spcBef>
                <a:spcPts val="0"/>
              </a:spcBef>
              <a:spcAft>
                <a:spcPts val="0"/>
              </a:spcAft>
              <a:buSzPts val="4160"/>
              <a:buChar char="•"/>
            </a:pPr>
            <a:r>
              <a:rPr lang="en-US" sz="3200"/>
              <a:t>Network Layer protocols operates on </a:t>
            </a:r>
            <a:r>
              <a:rPr b="1" lang="en-US" sz="3200">
                <a:solidFill>
                  <a:srgbClr val="7D28CD"/>
                </a:solidFill>
              </a:rPr>
              <a:t>hosts</a:t>
            </a:r>
            <a:r>
              <a:rPr lang="en-US" sz="3200"/>
              <a:t> and </a:t>
            </a:r>
            <a:r>
              <a:rPr b="1" lang="en-US" sz="3200">
                <a:solidFill>
                  <a:srgbClr val="7D28CD"/>
                </a:solidFill>
              </a:rPr>
              <a:t>routers</a:t>
            </a:r>
            <a:r>
              <a:rPr lang="en-US" sz="3200">
                <a:solidFill>
                  <a:srgbClr val="7D28CD"/>
                </a:solidFill>
              </a:rPr>
              <a:t>.</a:t>
            </a:r>
            <a:endParaRPr>
              <a:solidFill>
                <a:srgbClr val="7D28CD"/>
              </a:solidFill>
            </a:endParaRPr>
          </a:p>
          <a:p>
            <a:pPr indent="-21590" lvl="0" marL="285750" rtl="0" algn="l">
              <a:lnSpc>
                <a:spcPct val="100000"/>
              </a:lnSpc>
              <a:spcBef>
                <a:spcPts val="0"/>
              </a:spcBef>
              <a:spcAft>
                <a:spcPts val="0"/>
              </a:spcAft>
              <a:buSzPts val="4160"/>
              <a:buNone/>
            </a:pPr>
            <a:r>
              <a:t/>
            </a:r>
            <a:endParaRPr b="1" sz="3200">
              <a:solidFill>
                <a:srgbClr val="7D28CD"/>
              </a:solidFill>
            </a:endParaRPr>
          </a:p>
          <a:p>
            <a:pPr indent="-285750" lvl="0" marL="285750" rtl="0" algn="l">
              <a:lnSpc>
                <a:spcPct val="100000"/>
              </a:lnSpc>
              <a:spcBef>
                <a:spcPts val="0"/>
              </a:spcBef>
              <a:spcAft>
                <a:spcPts val="0"/>
              </a:spcAft>
              <a:buSzPts val="4160"/>
              <a:buChar char="•"/>
            </a:pPr>
            <a:r>
              <a:rPr b="1" lang="en-US" sz="3200">
                <a:solidFill>
                  <a:srgbClr val="7D28CD"/>
                </a:solidFill>
              </a:rPr>
              <a:t>Routers</a:t>
            </a:r>
            <a:r>
              <a:rPr lang="en-US" sz="3200"/>
              <a:t> inspect IP header fields for forwarding.</a:t>
            </a:r>
            <a:endParaRPr/>
          </a:p>
          <a:p>
            <a:pPr indent="-21590" lvl="0" marL="285750" rtl="0" algn="l">
              <a:lnSpc>
                <a:spcPct val="100000"/>
              </a:lnSpc>
              <a:spcBef>
                <a:spcPts val="0"/>
              </a:spcBef>
              <a:spcAft>
                <a:spcPts val="0"/>
              </a:spcAft>
              <a:buSzPts val="4160"/>
              <a:buNone/>
            </a:pPr>
            <a:r>
              <a:t/>
            </a:r>
            <a:endParaRPr sz="3200"/>
          </a:p>
          <a:p>
            <a:pPr indent="-285750" lvl="0" marL="285750" rtl="0" algn="l">
              <a:lnSpc>
                <a:spcPct val="100000"/>
              </a:lnSpc>
              <a:spcBef>
                <a:spcPts val="0"/>
              </a:spcBef>
              <a:spcAft>
                <a:spcPts val="0"/>
              </a:spcAft>
              <a:buSzPts val="4160"/>
              <a:buChar char="•"/>
            </a:pPr>
            <a:r>
              <a:rPr lang="en-US" sz="3200"/>
              <a:t>Delivers segments to the </a:t>
            </a:r>
            <a:r>
              <a:rPr b="1" lang="en-US" sz="3200">
                <a:solidFill>
                  <a:srgbClr val="0070C0"/>
                </a:solidFill>
              </a:rPr>
              <a:t>transport layer</a:t>
            </a:r>
            <a:r>
              <a:rPr lang="en-US" sz="3200">
                <a:solidFill>
                  <a:srgbClr val="0070C0"/>
                </a:solidFill>
              </a:rPr>
              <a:t> </a:t>
            </a:r>
            <a:r>
              <a:rPr lang="en-US" sz="3200"/>
              <a:t>on the receiving side.</a:t>
            </a:r>
            <a:endParaRPr sz="3200"/>
          </a:p>
          <a:p>
            <a:pPr indent="-64770" lvl="0" marL="285750" rtl="0" algn="l">
              <a:lnSpc>
                <a:spcPct val="100000"/>
              </a:lnSpc>
              <a:spcBef>
                <a:spcPts val="1080"/>
              </a:spcBef>
              <a:spcAft>
                <a:spcPts val="0"/>
              </a:spcAft>
              <a:buSzPts val="3120"/>
              <a:buNone/>
            </a:pPr>
            <a:r>
              <a:t/>
            </a:r>
            <a:endParaRPr sz="2400"/>
          </a:p>
          <a:p>
            <a:pPr indent="-64770" lvl="0" marL="285750" rtl="0" algn="l">
              <a:lnSpc>
                <a:spcPct val="100000"/>
              </a:lnSpc>
              <a:spcBef>
                <a:spcPts val="1080"/>
              </a:spcBef>
              <a:spcAft>
                <a:spcPts val="0"/>
              </a:spcAft>
              <a:buSzPts val="3120"/>
              <a:buNone/>
            </a:pPr>
            <a:r>
              <a:t/>
            </a:r>
            <a:endParaRPr sz="2400"/>
          </a:p>
          <a:p>
            <a:pPr indent="-64770" lvl="0" marL="285750" rtl="0" algn="l">
              <a:lnSpc>
                <a:spcPct val="100000"/>
              </a:lnSpc>
              <a:spcBef>
                <a:spcPts val="1080"/>
              </a:spcBef>
              <a:spcAft>
                <a:spcPts val="0"/>
              </a:spcAft>
              <a:buSzPts val="3480"/>
              <a:buNone/>
            </a:pPr>
            <a:r>
              <a:t/>
            </a:r>
            <a:endParaRPr sz="2400"/>
          </a:p>
          <a:p>
            <a:pPr indent="-64770" lvl="0" marL="285750" rtl="0" algn="l">
              <a:lnSpc>
                <a:spcPct val="100000"/>
              </a:lnSpc>
              <a:spcBef>
                <a:spcPts val="1080"/>
              </a:spcBef>
              <a:spcAft>
                <a:spcPts val="0"/>
              </a:spcAft>
              <a:buSzPts val="3480"/>
              <a:buNone/>
            </a:pPr>
            <a:r>
              <a:t/>
            </a:r>
            <a:endParaRPr sz="2400"/>
          </a:p>
        </p:txBody>
      </p:sp>
      <p:pic>
        <p:nvPicPr>
          <p:cNvPr id="780" name="Google Shape;780;p59"/>
          <p:cNvPicPr preferRelativeResize="0"/>
          <p:nvPr/>
        </p:nvPicPr>
        <p:blipFill rotWithShape="1">
          <a:blip r:embed="rId22">
            <a:alphaModFix/>
          </a:blip>
          <a:srcRect b="0" l="0" r="0" t="0"/>
          <a:stretch/>
        </p:blipFill>
        <p:spPr>
          <a:xfrm>
            <a:off x="11029276" y="69275"/>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Functions of Network Layer</a:t>
            </a:r>
            <a:endParaRPr/>
          </a:p>
        </p:txBody>
      </p:sp>
      <p:sp>
        <p:nvSpPr>
          <p:cNvPr id="786" name="Google Shape;786;p4"/>
          <p:cNvSpPr txBox="1"/>
          <p:nvPr>
            <p:ph idx="1" type="body"/>
          </p:nvPr>
        </p:nvSpPr>
        <p:spPr>
          <a:xfrm>
            <a:off x="795334" y="1066798"/>
            <a:ext cx="5700368" cy="56768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1080"/>
              </a:spcBef>
              <a:spcAft>
                <a:spcPts val="0"/>
              </a:spcAft>
              <a:buSzPts val="3480"/>
              <a:buChar char="•"/>
            </a:pPr>
            <a:r>
              <a:rPr b="1" lang="en-US" sz="2800">
                <a:solidFill>
                  <a:srgbClr val="7D28CD"/>
                </a:solidFill>
              </a:rPr>
              <a:t>Routing:</a:t>
            </a:r>
            <a:r>
              <a:rPr b="1" lang="en-US" sz="2800"/>
              <a:t> </a:t>
            </a:r>
            <a:endParaRPr b="1" sz="2800"/>
          </a:p>
          <a:p>
            <a:pPr indent="-285750" lvl="0" marL="285750" rtl="0" algn="l">
              <a:lnSpc>
                <a:spcPct val="100000"/>
              </a:lnSpc>
              <a:spcBef>
                <a:spcPts val="1080"/>
              </a:spcBef>
              <a:spcAft>
                <a:spcPts val="0"/>
              </a:spcAft>
              <a:buSzPts val="3480"/>
              <a:buChar char="•"/>
            </a:pPr>
            <a:r>
              <a:rPr lang="en-US"/>
              <a:t>Finds the best path from source → destination</a:t>
            </a:r>
            <a:endParaRPr/>
          </a:p>
          <a:p>
            <a:pPr indent="-285750" lvl="0" marL="285750" rtl="0" algn="l">
              <a:lnSpc>
                <a:spcPct val="100000"/>
              </a:lnSpc>
              <a:spcBef>
                <a:spcPts val="1080"/>
              </a:spcBef>
              <a:spcAft>
                <a:spcPts val="0"/>
              </a:spcAft>
              <a:buSzPts val="3480"/>
              <a:buChar char="•"/>
            </a:pPr>
            <a:r>
              <a:rPr lang="en-US" sz="2400"/>
              <a:t>Done by routing algorithms</a:t>
            </a:r>
            <a:endParaRPr/>
          </a:p>
          <a:p>
            <a:pPr indent="-285750" lvl="0" marL="285750" rtl="0" algn="l">
              <a:lnSpc>
                <a:spcPct val="100000"/>
              </a:lnSpc>
              <a:spcBef>
                <a:spcPts val="1080"/>
              </a:spcBef>
              <a:spcAft>
                <a:spcPts val="0"/>
              </a:spcAft>
              <a:buSzPts val="3480"/>
              <a:buChar char="•"/>
            </a:pPr>
            <a:r>
              <a:rPr lang="en-US"/>
              <a:t>Analogy: planning a trip before you travel</a:t>
            </a:r>
            <a:endParaRPr/>
          </a:p>
          <a:p>
            <a:pPr indent="-64770" lvl="0" marL="285750" rtl="0" algn="l">
              <a:lnSpc>
                <a:spcPct val="100000"/>
              </a:lnSpc>
              <a:spcBef>
                <a:spcPts val="1080"/>
              </a:spcBef>
              <a:spcAft>
                <a:spcPts val="0"/>
              </a:spcAft>
              <a:buSzPts val="3480"/>
              <a:buNone/>
            </a:pPr>
            <a:r>
              <a:t/>
            </a:r>
            <a:endParaRPr/>
          </a:p>
          <a:p>
            <a:pPr indent="-285750" lvl="0" marL="285750" rtl="0" algn="l">
              <a:lnSpc>
                <a:spcPct val="100000"/>
              </a:lnSpc>
              <a:spcBef>
                <a:spcPts val="0"/>
              </a:spcBef>
              <a:spcAft>
                <a:spcPts val="0"/>
              </a:spcAft>
              <a:buSzPts val="3480"/>
              <a:buChar char="•"/>
            </a:pPr>
            <a:r>
              <a:rPr b="1" lang="en-US" sz="2800">
                <a:solidFill>
                  <a:srgbClr val="7D28CD"/>
                </a:solidFill>
              </a:rPr>
              <a:t>Forwarding:</a:t>
            </a:r>
            <a:r>
              <a:rPr b="1" lang="en-US" sz="2800"/>
              <a:t> </a:t>
            </a:r>
            <a:endParaRPr b="1" sz="2800"/>
          </a:p>
          <a:p>
            <a:pPr indent="-285750" lvl="0" marL="285750" rtl="0" algn="l">
              <a:lnSpc>
                <a:spcPct val="100000"/>
              </a:lnSpc>
              <a:spcBef>
                <a:spcPts val="0"/>
              </a:spcBef>
              <a:spcAft>
                <a:spcPts val="0"/>
              </a:spcAft>
              <a:buSzPts val="3480"/>
              <a:buChar char="•"/>
            </a:pPr>
            <a:r>
              <a:rPr lang="en-US"/>
              <a:t>move packets from router’s input to appropriate router output</a:t>
            </a:r>
            <a:endParaRPr sz="2000"/>
          </a:p>
          <a:p>
            <a:pPr indent="-285750" lvl="0" marL="285750" rtl="0" algn="l">
              <a:lnSpc>
                <a:spcPct val="100000"/>
              </a:lnSpc>
              <a:spcBef>
                <a:spcPts val="1000"/>
              </a:spcBef>
              <a:spcAft>
                <a:spcPts val="0"/>
              </a:spcAft>
              <a:buSzPts val="2900"/>
              <a:buChar char="•"/>
            </a:pPr>
            <a:r>
              <a:rPr lang="en-US"/>
              <a:t>Analogy: process of getting through a single interchange</a:t>
            </a:r>
            <a:endParaRPr sz="2000"/>
          </a:p>
          <a:p>
            <a:pPr indent="-101600" lvl="1" marL="742950" rtl="0" algn="l">
              <a:lnSpc>
                <a:spcPct val="100000"/>
              </a:lnSpc>
              <a:spcBef>
                <a:spcPts val="1000"/>
              </a:spcBef>
              <a:spcAft>
                <a:spcPts val="0"/>
              </a:spcAft>
              <a:buSzPts val="2900"/>
              <a:buNone/>
            </a:pPr>
            <a:r>
              <a:t/>
            </a:r>
            <a:endParaRPr sz="2400"/>
          </a:p>
          <a:p>
            <a:pPr indent="-64770" lvl="0" marL="285750" rtl="0" algn="l">
              <a:lnSpc>
                <a:spcPct val="100000"/>
              </a:lnSpc>
              <a:spcBef>
                <a:spcPts val="1080"/>
              </a:spcBef>
              <a:spcAft>
                <a:spcPts val="0"/>
              </a:spcAft>
              <a:buSzPts val="3480"/>
              <a:buNone/>
            </a:pPr>
            <a:r>
              <a:t/>
            </a:r>
            <a:endParaRPr/>
          </a:p>
        </p:txBody>
      </p:sp>
      <p:pic>
        <p:nvPicPr>
          <p:cNvPr id="787" name="Google Shape;787;p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grpSp>
        <p:nvGrpSpPr>
          <p:cNvPr id="788" name="Google Shape;788;p4"/>
          <p:cNvGrpSpPr/>
          <p:nvPr/>
        </p:nvGrpSpPr>
        <p:grpSpPr>
          <a:xfrm>
            <a:off x="6142693" y="1181193"/>
            <a:ext cx="5416556" cy="5245113"/>
            <a:chOff x="470" y="129"/>
            <a:chExt cx="3412" cy="3304"/>
          </a:xfrm>
        </p:grpSpPr>
        <p:sp>
          <p:nvSpPr>
            <p:cNvPr id="789" name="Google Shape;789;p4"/>
            <p:cNvSpPr/>
            <p:nvPr/>
          </p:nvSpPr>
          <p:spPr>
            <a:xfrm>
              <a:off x="2031" y="2058"/>
              <a:ext cx="1794" cy="933"/>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790" name="Google Shape;790;p4"/>
            <p:cNvSpPr/>
            <p:nvPr/>
          </p:nvSpPr>
          <p:spPr>
            <a:xfrm>
              <a:off x="1090" y="1594"/>
              <a:ext cx="1443" cy="816"/>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791" name="Google Shape;791;p4"/>
            <p:cNvSpPr/>
            <p:nvPr/>
          </p:nvSpPr>
          <p:spPr>
            <a:xfrm>
              <a:off x="1084" y="129"/>
              <a:ext cx="1460" cy="1470"/>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2" name="Google Shape;792;p4"/>
            <p:cNvSpPr/>
            <p:nvPr/>
          </p:nvSpPr>
          <p:spPr>
            <a:xfrm>
              <a:off x="1163" y="162"/>
              <a:ext cx="1320" cy="381"/>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3" name="Google Shape;793;p4"/>
            <p:cNvSpPr/>
            <p:nvPr/>
          </p:nvSpPr>
          <p:spPr>
            <a:xfrm>
              <a:off x="2433" y="2249"/>
              <a:ext cx="342" cy="186"/>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794" name="Google Shape;794;p4"/>
            <p:cNvGrpSpPr/>
            <p:nvPr/>
          </p:nvGrpSpPr>
          <p:grpSpPr>
            <a:xfrm>
              <a:off x="2122" y="2359"/>
              <a:ext cx="316" cy="147"/>
              <a:chOff x="3600" y="219"/>
              <a:chExt cx="360" cy="175"/>
            </a:xfrm>
          </p:grpSpPr>
          <p:sp>
            <p:nvSpPr>
              <p:cNvPr id="795" name="Google Shape;795;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796" name="Google Shape;796;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797" name="Google Shape;797;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798" name="Google Shape;798;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9" name="Google Shape;799;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00" name="Google Shape;800;p4"/>
              <p:cNvGrpSpPr/>
              <p:nvPr/>
            </p:nvGrpSpPr>
            <p:grpSpPr>
              <a:xfrm>
                <a:off x="3686" y="244"/>
                <a:ext cx="177" cy="66"/>
                <a:chOff x="2848" y="848"/>
                <a:chExt cx="140" cy="98"/>
              </a:xfrm>
            </p:grpSpPr>
            <p:cxnSp>
              <p:nvCxnSpPr>
                <p:cNvPr id="801" name="Google Shape;80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02" name="Google Shape;80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03" name="Google Shape;80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04" name="Google Shape;804;p4"/>
              <p:cNvGrpSpPr/>
              <p:nvPr/>
            </p:nvGrpSpPr>
            <p:grpSpPr>
              <a:xfrm flipH="1" rot="10800000">
                <a:off x="3686" y="243"/>
                <a:ext cx="177" cy="66"/>
                <a:chOff x="2848" y="848"/>
                <a:chExt cx="140" cy="98"/>
              </a:xfrm>
            </p:grpSpPr>
            <p:cxnSp>
              <p:nvCxnSpPr>
                <p:cNvPr id="805" name="Google Shape;80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06" name="Google Shape;80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07" name="Google Shape;80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08" name="Google Shape;808;p4"/>
            <p:cNvGrpSpPr/>
            <p:nvPr/>
          </p:nvGrpSpPr>
          <p:grpSpPr>
            <a:xfrm>
              <a:off x="2344" y="2761"/>
              <a:ext cx="316" cy="147"/>
              <a:chOff x="3600" y="219"/>
              <a:chExt cx="360" cy="175"/>
            </a:xfrm>
          </p:grpSpPr>
          <p:sp>
            <p:nvSpPr>
              <p:cNvPr id="809" name="Google Shape;809;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10" name="Google Shape;810;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11" name="Google Shape;811;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12" name="Google Shape;812;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3" name="Google Shape;813;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14" name="Google Shape;814;p4"/>
              <p:cNvGrpSpPr/>
              <p:nvPr/>
            </p:nvGrpSpPr>
            <p:grpSpPr>
              <a:xfrm>
                <a:off x="3686" y="244"/>
                <a:ext cx="177" cy="66"/>
                <a:chOff x="2848" y="848"/>
                <a:chExt cx="140" cy="98"/>
              </a:xfrm>
            </p:grpSpPr>
            <p:cxnSp>
              <p:nvCxnSpPr>
                <p:cNvPr id="815" name="Google Shape;81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16" name="Google Shape;81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17" name="Google Shape;81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18" name="Google Shape;818;p4"/>
              <p:cNvGrpSpPr/>
              <p:nvPr/>
            </p:nvGrpSpPr>
            <p:grpSpPr>
              <a:xfrm flipH="1" rot="10800000">
                <a:off x="3686" y="243"/>
                <a:ext cx="177" cy="66"/>
                <a:chOff x="2848" y="848"/>
                <a:chExt cx="140" cy="98"/>
              </a:xfrm>
            </p:grpSpPr>
            <p:cxnSp>
              <p:nvCxnSpPr>
                <p:cNvPr id="819" name="Google Shape;819;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20" name="Google Shape;820;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21" name="Google Shape;821;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22" name="Google Shape;822;p4"/>
            <p:cNvGrpSpPr/>
            <p:nvPr/>
          </p:nvGrpSpPr>
          <p:grpSpPr>
            <a:xfrm>
              <a:off x="2769" y="2167"/>
              <a:ext cx="316" cy="147"/>
              <a:chOff x="3600" y="219"/>
              <a:chExt cx="360" cy="175"/>
            </a:xfrm>
          </p:grpSpPr>
          <p:sp>
            <p:nvSpPr>
              <p:cNvPr id="823" name="Google Shape;823;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24" name="Google Shape;824;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25" name="Google Shape;825;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26" name="Google Shape;826;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7" name="Google Shape;827;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28" name="Google Shape;828;p4"/>
              <p:cNvGrpSpPr/>
              <p:nvPr/>
            </p:nvGrpSpPr>
            <p:grpSpPr>
              <a:xfrm>
                <a:off x="3686" y="244"/>
                <a:ext cx="177" cy="66"/>
                <a:chOff x="2848" y="848"/>
                <a:chExt cx="140" cy="98"/>
              </a:xfrm>
            </p:grpSpPr>
            <p:cxnSp>
              <p:nvCxnSpPr>
                <p:cNvPr id="829" name="Google Shape;829;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30" name="Google Shape;830;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31" name="Google Shape;831;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32" name="Google Shape;832;p4"/>
              <p:cNvGrpSpPr/>
              <p:nvPr/>
            </p:nvGrpSpPr>
            <p:grpSpPr>
              <a:xfrm flipH="1" rot="10800000">
                <a:off x="3686" y="243"/>
                <a:ext cx="177" cy="66"/>
                <a:chOff x="2848" y="848"/>
                <a:chExt cx="140" cy="98"/>
              </a:xfrm>
            </p:grpSpPr>
            <p:cxnSp>
              <p:nvCxnSpPr>
                <p:cNvPr id="833" name="Google Shape;833;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34" name="Google Shape;834;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35" name="Google Shape;835;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36" name="Google Shape;836;p4"/>
            <p:cNvGrpSpPr/>
            <p:nvPr/>
          </p:nvGrpSpPr>
          <p:grpSpPr>
            <a:xfrm>
              <a:off x="2720" y="2586"/>
              <a:ext cx="315" cy="147"/>
              <a:chOff x="3600" y="219"/>
              <a:chExt cx="360" cy="175"/>
            </a:xfrm>
          </p:grpSpPr>
          <p:sp>
            <p:nvSpPr>
              <p:cNvPr id="837" name="Google Shape;837;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38" name="Google Shape;838;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39" name="Google Shape;839;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40" name="Google Shape;840;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1" name="Google Shape;841;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42" name="Google Shape;842;p4"/>
              <p:cNvGrpSpPr/>
              <p:nvPr/>
            </p:nvGrpSpPr>
            <p:grpSpPr>
              <a:xfrm>
                <a:off x="3686" y="244"/>
                <a:ext cx="177" cy="66"/>
                <a:chOff x="2848" y="848"/>
                <a:chExt cx="140" cy="98"/>
              </a:xfrm>
            </p:grpSpPr>
            <p:cxnSp>
              <p:nvCxnSpPr>
                <p:cNvPr id="843" name="Google Shape;843;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44" name="Google Shape;844;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45" name="Google Shape;845;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46" name="Google Shape;846;p4"/>
              <p:cNvGrpSpPr/>
              <p:nvPr/>
            </p:nvGrpSpPr>
            <p:grpSpPr>
              <a:xfrm flipH="1" rot="10800000">
                <a:off x="3686" y="243"/>
                <a:ext cx="177" cy="66"/>
                <a:chOff x="2848" y="848"/>
                <a:chExt cx="140" cy="98"/>
              </a:xfrm>
            </p:grpSpPr>
            <p:cxnSp>
              <p:nvCxnSpPr>
                <p:cNvPr id="847" name="Google Shape;84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48" name="Google Shape;84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49" name="Google Shape;84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50" name="Google Shape;850;p4"/>
            <p:cNvGrpSpPr/>
            <p:nvPr/>
          </p:nvGrpSpPr>
          <p:grpSpPr>
            <a:xfrm>
              <a:off x="3120" y="2773"/>
              <a:ext cx="316" cy="147"/>
              <a:chOff x="3600" y="219"/>
              <a:chExt cx="360" cy="175"/>
            </a:xfrm>
          </p:grpSpPr>
          <p:sp>
            <p:nvSpPr>
              <p:cNvPr id="851" name="Google Shape;851;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52" name="Google Shape;852;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53" name="Google Shape;853;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54" name="Google Shape;854;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5" name="Google Shape;855;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56" name="Google Shape;856;p4"/>
              <p:cNvGrpSpPr/>
              <p:nvPr/>
            </p:nvGrpSpPr>
            <p:grpSpPr>
              <a:xfrm>
                <a:off x="3686" y="244"/>
                <a:ext cx="177" cy="66"/>
                <a:chOff x="2848" y="848"/>
                <a:chExt cx="140" cy="98"/>
              </a:xfrm>
            </p:grpSpPr>
            <p:cxnSp>
              <p:nvCxnSpPr>
                <p:cNvPr id="857" name="Google Shape;857;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58" name="Google Shape;858;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59" name="Google Shape;859;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60" name="Google Shape;860;p4"/>
              <p:cNvGrpSpPr/>
              <p:nvPr/>
            </p:nvGrpSpPr>
            <p:grpSpPr>
              <a:xfrm flipH="1" rot="10800000">
                <a:off x="3686" y="243"/>
                <a:ext cx="177" cy="66"/>
                <a:chOff x="2848" y="848"/>
                <a:chExt cx="140" cy="98"/>
              </a:xfrm>
            </p:grpSpPr>
            <p:cxnSp>
              <p:nvCxnSpPr>
                <p:cNvPr id="861" name="Google Shape;86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62" name="Google Shape;86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63" name="Google Shape;86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864" name="Google Shape;864;p4"/>
            <p:cNvGrpSpPr/>
            <p:nvPr/>
          </p:nvGrpSpPr>
          <p:grpSpPr>
            <a:xfrm>
              <a:off x="3400" y="2360"/>
              <a:ext cx="316" cy="147"/>
              <a:chOff x="3600" y="219"/>
              <a:chExt cx="360" cy="175"/>
            </a:xfrm>
          </p:grpSpPr>
          <p:sp>
            <p:nvSpPr>
              <p:cNvPr id="865" name="Google Shape;865;p4"/>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66" name="Google Shape;866;p4"/>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867" name="Google Shape;867;p4"/>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868" name="Google Shape;868;p4"/>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9" name="Google Shape;869;p4"/>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870" name="Google Shape;870;p4"/>
              <p:cNvGrpSpPr/>
              <p:nvPr/>
            </p:nvGrpSpPr>
            <p:grpSpPr>
              <a:xfrm>
                <a:off x="3686" y="244"/>
                <a:ext cx="177" cy="66"/>
                <a:chOff x="2848" y="848"/>
                <a:chExt cx="140" cy="98"/>
              </a:xfrm>
            </p:grpSpPr>
            <p:cxnSp>
              <p:nvCxnSpPr>
                <p:cNvPr id="871" name="Google Shape;871;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72" name="Google Shape;872;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73" name="Google Shape;873;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874" name="Google Shape;874;p4"/>
              <p:cNvGrpSpPr/>
              <p:nvPr/>
            </p:nvGrpSpPr>
            <p:grpSpPr>
              <a:xfrm flipH="1" rot="10800000">
                <a:off x="3686" y="243"/>
                <a:ext cx="177" cy="66"/>
                <a:chOff x="2848" y="848"/>
                <a:chExt cx="140" cy="98"/>
              </a:xfrm>
            </p:grpSpPr>
            <p:cxnSp>
              <p:nvCxnSpPr>
                <p:cNvPr id="875" name="Google Shape;875;p4"/>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876" name="Google Shape;876;p4"/>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877" name="Google Shape;877;p4"/>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sp>
          <p:nvSpPr>
            <p:cNvPr id="878" name="Google Shape;878;p4"/>
            <p:cNvSpPr/>
            <p:nvPr/>
          </p:nvSpPr>
          <p:spPr>
            <a:xfrm>
              <a:off x="3089" y="2245"/>
              <a:ext cx="318" cy="194"/>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79" name="Google Shape;879;p4"/>
            <p:cNvSpPr/>
            <p:nvPr/>
          </p:nvSpPr>
          <p:spPr>
            <a:xfrm>
              <a:off x="2418" y="2492"/>
              <a:ext cx="303" cy="150"/>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80" name="Google Shape;880;p4"/>
            <p:cNvSpPr/>
            <p:nvPr/>
          </p:nvSpPr>
          <p:spPr>
            <a:xfrm>
              <a:off x="3015" y="2477"/>
              <a:ext cx="396" cy="156"/>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81" name="Google Shape;881;p4"/>
            <p:cNvSpPr/>
            <p:nvPr/>
          </p:nvSpPr>
          <p:spPr>
            <a:xfrm>
              <a:off x="3435" y="2511"/>
              <a:ext cx="130" cy="32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82" name="Google Shape;882;p4"/>
            <p:cNvSpPr/>
            <p:nvPr/>
          </p:nvSpPr>
          <p:spPr>
            <a:xfrm>
              <a:off x="2657" y="2847"/>
              <a:ext cx="464" cy="47"/>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83" name="Google Shape;883;p4"/>
            <p:cNvSpPr/>
            <p:nvPr/>
          </p:nvSpPr>
          <p:spPr>
            <a:xfrm>
              <a:off x="2319" y="2507"/>
              <a:ext cx="122" cy="268"/>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884" name="Google Shape;884;p4"/>
            <p:cNvSpPr/>
            <p:nvPr/>
          </p:nvSpPr>
          <p:spPr>
            <a:xfrm>
              <a:off x="1128" y="2264"/>
              <a:ext cx="728"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5" name="Google Shape;885;p4"/>
            <p:cNvSpPr/>
            <p:nvPr/>
          </p:nvSpPr>
          <p:spPr>
            <a:xfrm>
              <a:off x="1113" y="2279"/>
              <a:ext cx="723"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886" name="Google Shape;886;p4"/>
            <p:cNvCxnSpPr/>
            <p:nvPr/>
          </p:nvCxnSpPr>
          <p:spPr>
            <a:xfrm>
              <a:off x="1759" y="2362"/>
              <a:ext cx="266" cy="0"/>
            </a:xfrm>
            <a:prstGeom prst="straightConnector1">
              <a:avLst/>
            </a:prstGeom>
            <a:noFill/>
            <a:ln cap="flat" cmpd="sng" w="9525">
              <a:solidFill>
                <a:schemeClr val="accent2"/>
              </a:solidFill>
              <a:prstDash val="solid"/>
              <a:round/>
              <a:headEnd len="sm" w="sm" type="none"/>
              <a:tailEnd len="med" w="med" type="triangle"/>
            </a:ln>
          </p:spPr>
        </p:cxnSp>
        <p:sp>
          <p:nvSpPr>
            <p:cNvPr id="887" name="Google Shape;887;p4"/>
            <p:cNvSpPr txBox="1"/>
            <p:nvPr/>
          </p:nvSpPr>
          <p:spPr>
            <a:xfrm>
              <a:off x="2390" y="2183"/>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888" name="Google Shape;888;p4"/>
            <p:cNvSpPr txBox="1"/>
            <p:nvPr/>
          </p:nvSpPr>
          <p:spPr>
            <a:xfrm>
              <a:off x="2336" y="2459"/>
              <a:ext cx="18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889" name="Google Shape;889;p4"/>
            <p:cNvSpPr txBox="1"/>
            <p:nvPr/>
          </p:nvSpPr>
          <p:spPr>
            <a:xfrm>
              <a:off x="2178" y="2505"/>
              <a:ext cx="187"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890" name="Google Shape;890;p4"/>
            <p:cNvSpPr/>
            <p:nvPr/>
          </p:nvSpPr>
          <p:spPr>
            <a:xfrm>
              <a:off x="1509" y="2281"/>
              <a:ext cx="269" cy="151"/>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1" name="Google Shape;891;p4"/>
            <p:cNvSpPr txBox="1"/>
            <p:nvPr/>
          </p:nvSpPr>
          <p:spPr>
            <a:xfrm>
              <a:off x="1479" y="2264"/>
              <a:ext cx="328"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0111</a:t>
              </a:r>
              <a:endParaRPr b="0" i="0" sz="1400" u="none" cap="none" strike="noStrike">
                <a:solidFill>
                  <a:srgbClr val="000000"/>
                </a:solidFill>
                <a:latin typeface="Arial"/>
                <a:ea typeface="Arial"/>
                <a:cs typeface="Arial"/>
                <a:sym typeface="Arial"/>
              </a:endParaRPr>
            </a:p>
          </p:txBody>
        </p:sp>
        <p:sp>
          <p:nvSpPr>
            <p:cNvPr id="892" name="Google Shape;892;p4"/>
            <p:cNvSpPr txBox="1"/>
            <p:nvPr/>
          </p:nvSpPr>
          <p:spPr>
            <a:xfrm>
              <a:off x="470" y="2579"/>
              <a:ext cx="1019"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value in arriving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packet’s header</a:t>
              </a:r>
              <a:endParaRPr b="0" i="0" sz="1400" u="none" cap="none" strike="noStrike">
                <a:solidFill>
                  <a:srgbClr val="000000"/>
                </a:solidFill>
                <a:latin typeface="Arial"/>
                <a:ea typeface="Arial"/>
                <a:cs typeface="Arial"/>
                <a:sym typeface="Arial"/>
              </a:endParaRPr>
            </a:p>
          </p:txBody>
        </p:sp>
        <p:cxnSp>
          <p:nvCxnSpPr>
            <p:cNvPr id="893" name="Google Shape;893;p4"/>
            <p:cNvCxnSpPr/>
            <p:nvPr/>
          </p:nvCxnSpPr>
          <p:spPr>
            <a:xfrm rot="10800000">
              <a:off x="1269" y="2444"/>
              <a:ext cx="850" cy="0"/>
            </a:xfrm>
            <a:prstGeom prst="straightConnector1">
              <a:avLst/>
            </a:prstGeom>
            <a:noFill/>
            <a:ln cap="flat" cmpd="sng" w="9525">
              <a:solidFill>
                <a:schemeClr val="dk1"/>
              </a:solidFill>
              <a:prstDash val="solid"/>
              <a:round/>
              <a:headEnd len="sm" w="sm" type="none"/>
              <a:tailEnd len="sm" w="sm" type="none"/>
            </a:ln>
          </p:spPr>
        </p:cxnSp>
        <p:sp>
          <p:nvSpPr>
            <p:cNvPr id="894" name="Google Shape;894;p4"/>
            <p:cNvSpPr txBox="1"/>
            <p:nvPr/>
          </p:nvSpPr>
          <p:spPr>
            <a:xfrm>
              <a:off x="1244" y="261"/>
              <a:ext cx="1174"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routing algorithm</a:t>
              </a:r>
              <a:endParaRPr b="0" i="0" sz="1400" u="none" cap="none" strike="noStrike">
                <a:solidFill>
                  <a:srgbClr val="000000"/>
                </a:solidFill>
                <a:latin typeface="Arial"/>
                <a:ea typeface="Arial"/>
                <a:cs typeface="Arial"/>
                <a:sym typeface="Arial"/>
              </a:endParaRPr>
            </a:p>
          </p:txBody>
        </p:sp>
        <p:sp>
          <p:nvSpPr>
            <p:cNvPr id="895" name="Google Shape;895;p4"/>
            <p:cNvSpPr/>
            <p:nvPr/>
          </p:nvSpPr>
          <p:spPr>
            <a:xfrm>
              <a:off x="1197" y="732"/>
              <a:ext cx="1263" cy="80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6" name="Google Shape;896;p4"/>
            <p:cNvSpPr txBox="1"/>
            <p:nvPr/>
          </p:nvSpPr>
          <p:spPr>
            <a:xfrm>
              <a:off x="1248" y="702"/>
              <a:ext cx="1171"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local forwarding table</a:t>
              </a:r>
              <a:endParaRPr b="0" i="0" sz="1400" u="none" cap="none" strike="noStrike">
                <a:solidFill>
                  <a:srgbClr val="000000"/>
                </a:solidFill>
                <a:latin typeface="Arial"/>
                <a:ea typeface="Arial"/>
                <a:cs typeface="Arial"/>
                <a:sym typeface="Arial"/>
              </a:endParaRPr>
            </a:p>
          </p:txBody>
        </p:sp>
        <p:sp>
          <p:nvSpPr>
            <p:cNvPr id="897" name="Google Shape;897;p4"/>
            <p:cNvSpPr txBox="1"/>
            <p:nvPr/>
          </p:nvSpPr>
          <p:spPr>
            <a:xfrm>
              <a:off x="1174" y="858"/>
              <a:ext cx="764"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header value</a:t>
              </a:r>
              <a:endParaRPr b="0" i="0" sz="1400" u="none" cap="none" strike="noStrike">
                <a:solidFill>
                  <a:srgbClr val="000000"/>
                </a:solidFill>
                <a:latin typeface="Arial"/>
                <a:ea typeface="Arial"/>
                <a:cs typeface="Arial"/>
                <a:sym typeface="Arial"/>
              </a:endParaRPr>
            </a:p>
          </p:txBody>
        </p:sp>
        <p:sp>
          <p:nvSpPr>
            <p:cNvPr id="898" name="Google Shape;898;p4"/>
            <p:cNvSpPr txBox="1"/>
            <p:nvPr/>
          </p:nvSpPr>
          <p:spPr>
            <a:xfrm>
              <a:off x="1846" y="859"/>
              <a:ext cx="6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output link</a:t>
              </a:r>
              <a:endParaRPr b="0" i="0" sz="1400" u="none" cap="none" strike="noStrike">
                <a:solidFill>
                  <a:srgbClr val="000000"/>
                </a:solidFill>
                <a:latin typeface="Arial"/>
                <a:ea typeface="Arial"/>
                <a:cs typeface="Arial"/>
                <a:sym typeface="Arial"/>
              </a:endParaRPr>
            </a:p>
          </p:txBody>
        </p:sp>
        <p:cxnSp>
          <p:nvCxnSpPr>
            <p:cNvPr id="899" name="Google Shape;899;p4"/>
            <p:cNvCxnSpPr/>
            <p:nvPr/>
          </p:nvCxnSpPr>
          <p:spPr>
            <a:xfrm>
              <a:off x="1908" y="866"/>
              <a:ext cx="5" cy="672"/>
            </a:xfrm>
            <a:prstGeom prst="straightConnector1">
              <a:avLst/>
            </a:prstGeom>
            <a:noFill/>
            <a:ln cap="flat" cmpd="sng" w="9525">
              <a:solidFill>
                <a:schemeClr val="dk1"/>
              </a:solidFill>
              <a:prstDash val="solid"/>
              <a:round/>
              <a:headEnd len="sm" w="sm" type="none"/>
              <a:tailEnd len="sm" w="sm" type="none"/>
            </a:ln>
          </p:spPr>
        </p:cxnSp>
        <p:sp>
          <p:nvSpPr>
            <p:cNvPr id="900" name="Google Shape;900;p4"/>
            <p:cNvSpPr txBox="1"/>
            <p:nvPr/>
          </p:nvSpPr>
          <p:spPr>
            <a:xfrm>
              <a:off x="1587" y="1037"/>
              <a:ext cx="328" cy="5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0100</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0101</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0111</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1001</a:t>
              </a:r>
              <a:endParaRPr b="0" i="0" sz="1400" u="none" cap="none" strike="noStrike">
                <a:solidFill>
                  <a:srgbClr val="000000"/>
                </a:solidFill>
                <a:latin typeface="Arial"/>
                <a:ea typeface="Arial"/>
                <a:cs typeface="Arial"/>
                <a:sym typeface="Arial"/>
              </a:endParaRPr>
            </a:p>
          </p:txBody>
        </p:sp>
        <p:sp>
          <p:nvSpPr>
            <p:cNvPr id="901" name="Google Shape;901;p4"/>
            <p:cNvSpPr txBox="1"/>
            <p:nvPr/>
          </p:nvSpPr>
          <p:spPr>
            <a:xfrm>
              <a:off x="1918" y="1037"/>
              <a:ext cx="169" cy="5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cxnSp>
          <p:nvCxnSpPr>
            <p:cNvPr id="902" name="Google Shape;902;p4"/>
            <p:cNvCxnSpPr/>
            <p:nvPr/>
          </p:nvCxnSpPr>
          <p:spPr>
            <a:xfrm>
              <a:off x="1197" y="1028"/>
              <a:ext cx="1264" cy="0"/>
            </a:xfrm>
            <a:prstGeom prst="straightConnector1">
              <a:avLst/>
            </a:prstGeom>
            <a:noFill/>
            <a:ln cap="flat" cmpd="sng" w="9525">
              <a:solidFill>
                <a:schemeClr val="dk1"/>
              </a:solidFill>
              <a:prstDash val="solid"/>
              <a:round/>
              <a:headEnd len="sm" w="sm" type="none"/>
              <a:tailEnd len="sm" w="sm" type="none"/>
            </a:ln>
          </p:spPr>
        </p:cxnSp>
        <p:cxnSp>
          <p:nvCxnSpPr>
            <p:cNvPr id="903" name="Google Shape;903;p4"/>
            <p:cNvCxnSpPr/>
            <p:nvPr/>
          </p:nvCxnSpPr>
          <p:spPr>
            <a:xfrm>
              <a:off x="1192" y="872"/>
              <a:ext cx="1264" cy="0"/>
            </a:xfrm>
            <a:prstGeom prst="straightConnector1">
              <a:avLst/>
            </a:prstGeom>
            <a:noFill/>
            <a:ln cap="flat" cmpd="sng" w="9525">
              <a:solidFill>
                <a:schemeClr val="dk1"/>
              </a:solidFill>
              <a:prstDash val="solid"/>
              <a:round/>
              <a:headEnd len="sm" w="sm" type="none"/>
              <a:tailEnd len="sm" w="sm" type="none"/>
            </a:ln>
          </p:spPr>
        </p:cxnSp>
        <p:sp>
          <p:nvSpPr>
            <p:cNvPr id="904" name="Google Shape;904;p4"/>
            <p:cNvSpPr/>
            <p:nvPr/>
          </p:nvSpPr>
          <p:spPr>
            <a:xfrm rot="5400000">
              <a:off x="1763" y="548"/>
              <a:ext cx="151" cy="172"/>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05" name="Google Shape;905;p4"/>
            <p:cNvCxnSpPr/>
            <p:nvPr/>
          </p:nvCxnSpPr>
          <p:spPr>
            <a:xfrm flipH="1" rot="10800000">
              <a:off x="1479" y="2419"/>
              <a:ext cx="138" cy="241"/>
            </a:xfrm>
            <a:prstGeom prst="straightConnector1">
              <a:avLst/>
            </a:prstGeom>
            <a:noFill/>
            <a:ln cap="flat" cmpd="sng" w="9525">
              <a:solidFill>
                <a:schemeClr val="dk1"/>
              </a:solidFill>
              <a:prstDash val="solid"/>
              <a:round/>
              <a:headEnd len="sm" w="sm" type="none"/>
              <a:tailEnd len="med" w="med" type="triangle"/>
            </a:ln>
          </p:spPr>
        </p:cxnSp>
        <p:sp>
          <p:nvSpPr>
            <p:cNvPr id="906" name="Google Shape;906;p4"/>
            <p:cNvSpPr/>
            <p:nvPr/>
          </p:nvSpPr>
          <p:spPr>
            <a:xfrm flipH="1">
              <a:off x="3518" y="2127"/>
              <a:ext cx="364"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07" name="Google Shape;907;p4"/>
            <p:cNvSpPr/>
            <p:nvPr/>
          </p:nvSpPr>
          <p:spPr>
            <a:xfrm flipH="1">
              <a:off x="2881" y="1948"/>
              <a:ext cx="364"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08" name="Google Shape;908;p4"/>
            <p:cNvSpPr/>
            <p:nvPr/>
          </p:nvSpPr>
          <p:spPr>
            <a:xfrm rot="10800000">
              <a:off x="3302" y="2922"/>
              <a:ext cx="342"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09" name="Google Shape;909;p4"/>
            <p:cNvSpPr/>
            <p:nvPr/>
          </p:nvSpPr>
          <p:spPr>
            <a:xfrm rot="10800000">
              <a:off x="2452" y="2912"/>
              <a:ext cx="342" cy="234"/>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10" name="Google Shape;910;p4"/>
            <p:cNvSpPr/>
            <p:nvPr/>
          </p:nvSpPr>
          <p:spPr>
            <a:xfrm rot="10800000">
              <a:off x="2855" y="2728"/>
              <a:ext cx="342" cy="285"/>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chemeClr val="accent1"/>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911" name="Google Shape;911;p4"/>
            <p:cNvGrpSpPr/>
            <p:nvPr/>
          </p:nvGrpSpPr>
          <p:grpSpPr>
            <a:xfrm>
              <a:off x="2886" y="1668"/>
              <a:ext cx="347" cy="285"/>
              <a:chOff x="2886" y="1668"/>
              <a:chExt cx="347" cy="285"/>
            </a:xfrm>
          </p:grpSpPr>
          <p:sp>
            <p:nvSpPr>
              <p:cNvPr id="912" name="Google Shape;912;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3" name="Google Shape;913;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4" name="Google Shape;914;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15" name="Google Shape;915;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916" name="Google Shape;916;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917" name="Google Shape;917;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918" name="Google Shape;918;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919" name="Google Shape;919;p4"/>
            <p:cNvGrpSpPr/>
            <p:nvPr/>
          </p:nvGrpSpPr>
          <p:grpSpPr>
            <a:xfrm>
              <a:off x="3524" y="1840"/>
              <a:ext cx="347" cy="285"/>
              <a:chOff x="2886" y="1668"/>
              <a:chExt cx="347" cy="285"/>
            </a:xfrm>
          </p:grpSpPr>
          <p:sp>
            <p:nvSpPr>
              <p:cNvPr id="920" name="Google Shape;920;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1" name="Google Shape;921;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2" name="Google Shape;922;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23" name="Google Shape;923;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924" name="Google Shape;924;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925" name="Google Shape;925;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926" name="Google Shape;926;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927" name="Google Shape;927;p4"/>
            <p:cNvGrpSpPr/>
            <p:nvPr/>
          </p:nvGrpSpPr>
          <p:grpSpPr>
            <a:xfrm>
              <a:off x="3291" y="3148"/>
              <a:ext cx="347" cy="285"/>
              <a:chOff x="2886" y="1668"/>
              <a:chExt cx="347" cy="285"/>
            </a:xfrm>
          </p:grpSpPr>
          <p:sp>
            <p:nvSpPr>
              <p:cNvPr id="928" name="Google Shape;928;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9" name="Google Shape;929;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0" name="Google Shape;930;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31" name="Google Shape;931;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932" name="Google Shape;932;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933" name="Google Shape;933;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934" name="Google Shape;934;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935" name="Google Shape;935;p4"/>
            <p:cNvGrpSpPr/>
            <p:nvPr/>
          </p:nvGrpSpPr>
          <p:grpSpPr>
            <a:xfrm>
              <a:off x="2853" y="3010"/>
              <a:ext cx="347" cy="285"/>
              <a:chOff x="2886" y="1668"/>
              <a:chExt cx="347" cy="285"/>
            </a:xfrm>
          </p:grpSpPr>
          <p:sp>
            <p:nvSpPr>
              <p:cNvPr id="936" name="Google Shape;936;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7" name="Google Shape;937;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8" name="Google Shape;938;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39" name="Google Shape;939;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940" name="Google Shape;940;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941" name="Google Shape;941;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942" name="Google Shape;942;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943" name="Google Shape;943;p4"/>
            <p:cNvGrpSpPr/>
            <p:nvPr/>
          </p:nvGrpSpPr>
          <p:grpSpPr>
            <a:xfrm>
              <a:off x="2440" y="3131"/>
              <a:ext cx="347" cy="285"/>
              <a:chOff x="2886" y="1668"/>
              <a:chExt cx="347" cy="285"/>
            </a:xfrm>
          </p:grpSpPr>
          <p:sp>
            <p:nvSpPr>
              <p:cNvPr id="944" name="Google Shape;944;p4"/>
              <p:cNvSpPr/>
              <p:nvPr/>
            </p:nvSpPr>
            <p:spPr>
              <a:xfrm>
                <a:off x="2886" y="1668"/>
                <a:ext cx="347" cy="28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5" name="Google Shape;945;p4"/>
              <p:cNvSpPr/>
              <p:nvPr/>
            </p:nvSpPr>
            <p:spPr>
              <a:xfrm>
                <a:off x="2905" y="1674"/>
                <a:ext cx="314" cy="74"/>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46" name="Google Shape;946;p4"/>
              <p:cNvSpPr/>
              <p:nvPr/>
            </p:nvSpPr>
            <p:spPr>
              <a:xfrm>
                <a:off x="2913" y="1785"/>
                <a:ext cx="300" cy="156"/>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947" name="Google Shape;947;p4"/>
              <p:cNvCxnSpPr/>
              <p:nvPr/>
            </p:nvCxnSpPr>
            <p:spPr>
              <a:xfrm>
                <a:off x="3082" y="1811"/>
                <a:ext cx="1" cy="130"/>
              </a:xfrm>
              <a:prstGeom prst="straightConnector1">
                <a:avLst/>
              </a:prstGeom>
              <a:noFill/>
              <a:ln cap="flat" cmpd="sng" w="9525">
                <a:solidFill>
                  <a:schemeClr val="dk1"/>
                </a:solidFill>
                <a:prstDash val="solid"/>
                <a:round/>
                <a:headEnd len="sm" w="sm" type="none"/>
                <a:tailEnd len="sm" w="sm" type="none"/>
              </a:ln>
            </p:spPr>
          </p:cxnSp>
          <p:cxnSp>
            <p:nvCxnSpPr>
              <p:cNvPr id="948" name="Google Shape;948;p4"/>
              <p:cNvCxnSpPr/>
              <p:nvPr/>
            </p:nvCxnSpPr>
            <p:spPr>
              <a:xfrm>
                <a:off x="2913" y="1842"/>
                <a:ext cx="300" cy="0"/>
              </a:xfrm>
              <a:prstGeom prst="straightConnector1">
                <a:avLst/>
              </a:prstGeom>
              <a:noFill/>
              <a:ln cap="flat" cmpd="sng" w="9525">
                <a:solidFill>
                  <a:schemeClr val="dk1"/>
                </a:solidFill>
                <a:prstDash val="solid"/>
                <a:round/>
                <a:headEnd len="sm" w="sm" type="none"/>
                <a:tailEnd len="sm" w="sm" type="none"/>
              </a:ln>
            </p:spPr>
          </p:cxnSp>
          <p:cxnSp>
            <p:nvCxnSpPr>
              <p:cNvPr id="949" name="Google Shape;949;p4"/>
              <p:cNvCxnSpPr/>
              <p:nvPr/>
            </p:nvCxnSpPr>
            <p:spPr>
              <a:xfrm>
                <a:off x="2912" y="1812"/>
                <a:ext cx="300" cy="0"/>
              </a:xfrm>
              <a:prstGeom prst="straightConnector1">
                <a:avLst/>
              </a:prstGeom>
              <a:noFill/>
              <a:ln cap="flat" cmpd="sng" w="9525">
                <a:solidFill>
                  <a:schemeClr val="dk1"/>
                </a:solidFill>
                <a:prstDash val="solid"/>
                <a:round/>
                <a:headEnd len="sm" w="sm" type="none"/>
                <a:tailEnd len="sm" w="sm" type="none"/>
              </a:ln>
            </p:spPr>
          </p:cxnSp>
          <p:sp>
            <p:nvSpPr>
              <p:cNvPr id="950" name="Google Shape;950;p4"/>
              <p:cNvSpPr/>
              <p:nvPr/>
            </p:nvSpPr>
            <p:spPr>
              <a:xfrm rot="5400000">
                <a:off x="3051" y="1745"/>
                <a:ext cx="29" cy="41"/>
              </a:xfrm>
              <a:prstGeom prst="rightArrow">
                <a:avLst>
                  <a:gd fmla="val 51167" name="adj1"/>
                  <a:gd fmla="val 39736" name="adj2"/>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sp>
        <p:nvSpPr>
          <p:cNvPr id="951" name="Google Shape;951;p4"/>
          <p:cNvSpPr/>
          <p:nvPr/>
        </p:nvSpPr>
        <p:spPr>
          <a:xfrm>
            <a:off x="8441397" y="4764984"/>
            <a:ext cx="1030812" cy="508000"/>
          </a:xfrm>
          <a:prstGeom prst="arc">
            <a:avLst>
              <a:gd fmla="val 16200000" name="adj1"/>
              <a:gd fmla="val 0" name="adj2"/>
            </a:avLst>
          </a:prstGeom>
          <a:noFill/>
          <a:ln cap="flat" cmpd="sng" w="57150">
            <a:solidFill>
              <a:srgbClr val="D444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2" name="Google Shape;952;p4"/>
          <p:cNvSpPr/>
          <p:nvPr/>
        </p:nvSpPr>
        <p:spPr>
          <a:xfrm>
            <a:off x="7792107" y="2978331"/>
            <a:ext cx="1062039" cy="248195"/>
          </a:xfrm>
          <a:prstGeom prst="ellipse">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5"/>
          <p:cNvSpPr txBox="1"/>
          <p:nvPr>
            <p:ph type="title"/>
          </p:nvPr>
        </p:nvSpPr>
        <p:spPr>
          <a:xfrm>
            <a:off x="1470456" y="1525030"/>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6000"/>
              <a:t>Packet Switching</a:t>
            </a:r>
            <a:br>
              <a:rPr lang="en-US" sz="6000"/>
            </a:br>
            <a:endParaRPr/>
          </a:p>
        </p:txBody>
      </p:sp>
      <p:pic>
        <p:nvPicPr>
          <p:cNvPr id="958" name="Google Shape;958;p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3"/>
          <p:cNvSpPr txBox="1"/>
          <p:nvPr>
            <p:ph type="title"/>
          </p:nvPr>
        </p:nvSpPr>
        <p:spPr>
          <a:xfrm>
            <a:off x="1616196" y="61546"/>
            <a:ext cx="10018713" cy="83526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Packet Switching</a:t>
            </a:r>
            <a:endParaRPr/>
          </a:p>
        </p:txBody>
      </p:sp>
      <p:sp>
        <p:nvSpPr>
          <p:cNvPr id="964" name="Google Shape;964;p3"/>
          <p:cNvSpPr txBox="1"/>
          <p:nvPr>
            <p:ph idx="1" type="body"/>
          </p:nvPr>
        </p:nvSpPr>
        <p:spPr>
          <a:xfrm>
            <a:off x="1457935" y="1009099"/>
            <a:ext cx="10018713" cy="1324709"/>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2610"/>
              <a:buChar char="•"/>
            </a:pPr>
            <a:r>
              <a:rPr lang="en-US" sz="2800"/>
              <a:t>Packet Switching is a method of transferring data across a network by breaking it into smaller packets.</a:t>
            </a:r>
            <a:endParaRPr sz="2800"/>
          </a:p>
        </p:txBody>
      </p:sp>
      <p:sp>
        <p:nvSpPr>
          <p:cNvPr id="965" name="Google Shape;965;p3"/>
          <p:cNvSpPr txBox="1"/>
          <p:nvPr/>
        </p:nvSpPr>
        <p:spPr>
          <a:xfrm>
            <a:off x="1457935" y="2549769"/>
            <a:ext cx="10018713" cy="1324709"/>
          </a:xfrm>
          <a:prstGeom prst="rect">
            <a:avLst/>
          </a:prstGeom>
          <a:noFill/>
          <a:ln>
            <a:noFill/>
          </a:ln>
        </p:spPr>
        <p:txBody>
          <a:bodyPr anchorCtr="0" anchor="ctr" bIns="45700" lIns="91425" spcFirstLastPara="1" rIns="91425" wrap="square" tIns="45700">
            <a:noAutofit/>
          </a:bodyPr>
          <a:lstStyle/>
          <a:p>
            <a:pPr indent="-394335" lvl="0" marL="457200" marR="0" rtl="0" algn="l">
              <a:lnSpc>
                <a:spcPct val="100000"/>
              </a:lnSpc>
              <a:spcBef>
                <a:spcPts val="360"/>
              </a:spcBef>
              <a:spcAft>
                <a:spcPts val="0"/>
              </a:spcAft>
              <a:buClr>
                <a:srgbClr val="1186C3"/>
              </a:buClr>
              <a:buSzPts val="2610"/>
              <a:buFont typeface="Arial"/>
              <a:buChar char="•"/>
            </a:pPr>
            <a:r>
              <a:rPr b="0" i="0" lang="en-US" sz="2800" u="none" cap="none" strike="noStrike">
                <a:solidFill>
                  <a:schemeClr val="dk1"/>
                </a:solidFill>
                <a:latin typeface="Corbel"/>
                <a:ea typeface="Corbel"/>
                <a:cs typeface="Corbel"/>
                <a:sym typeface="Corbel"/>
              </a:rPr>
              <a:t>Two type of networks based on packet switching </a:t>
            </a:r>
            <a:endParaRPr b="0" i="0" sz="1400" u="none" cap="none" strike="noStrike">
              <a:solidFill>
                <a:srgbClr val="000000"/>
              </a:solidFill>
              <a:latin typeface="Arial"/>
              <a:ea typeface="Arial"/>
              <a:cs typeface="Arial"/>
              <a:sym typeface="Arial"/>
            </a:endParaRPr>
          </a:p>
          <a:p>
            <a:pPr indent="-394335" lvl="1" marL="914400" marR="0" rtl="0" algn="l">
              <a:lnSpc>
                <a:spcPct val="100000"/>
              </a:lnSpc>
              <a:spcBef>
                <a:spcPts val="600"/>
              </a:spcBef>
              <a:spcAft>
                <a:spcPts val="0"/>
              </a:spcAft>
              <a:buClr>
                <a:srgbClr val="1186C3"/>
              </a:buClr>
              <a:buSzPts val="2610"/>
              <a:buFont typeface="Arial"/>
              <a:buChar char="•"/>
            </a:pPr>
            <a:r>
              <a:rPr b="1" i="0" lang="en-US" sz="2400" u="none" cap="none" strike="noStrike">
                <a:solidFill>
                  <a:srgbClr val="0070C0"/>
                </a:solidFill>
                <a:latin typeface="Corbel"/>
                <a:ea typeface="Corbel"/>
                <a:cs typeface="Corbel"/>
                <a:sym typeface="Corbel"/>
              </a:rPr>
              <a:t>Datagram Networks</a:t>
            </a:r>
            <a:endParaRPr b="0" i="0" sz="1400" u="none" cap="none" strike="noStrike">
              <a:solidFill>
                <a:srgbClr val="000000"/>
              </a:solidFill>
              <a:latin typeface="Arial"/>
              <a:ea typeface="Arial"/>
              <a:cs typeface="Arial"/>
              <a:sym typeface="Arial"/>
            </a:endParaRPr>
          </a:p>
          <a:p>
            <a:pPr indent="-394335" lvl="1" marL="914400" marR="0" rtl="0" algn="l">
              <a:lnSpc>
                <a:spcPct val="100000"/>
              </a:lnSpc>
              <a:spcBef>
                <a:spcPts val="600"/>
              </a:spcBef>
              <a:spcAft>
                <a:spcPts val="0"/>
              </a:spcAft>
              <a:buClr>
                <a:srgbClr val="1186C3"/>
              </a:buClr>
              <a:buSzPts val="2610"/>
              <a:buFont typeface="Arial"/>
              <a:buChar char="•"/>
            </a:pPr>
            <a:r>
              <a:rPr b="1" i="0" lang="en-US" sz="2400" u="none" cap="none" strike="noStrike">
                <a:solidFill>
                  <a:srgbClr val="0070C0"/>
                </a:solidFill>
                <a:latin typeface="Corbel"/>
                <a:ea typeface="Corbel"/>
                <a:cs typeface="Corbel"/>
                <a:sym typeface="Corbel"/>
              </a:rPr>
              <a:t>Virtual Circuit Networks</a:t>
            </a:r>
            <a:endParaRPr b="1" i="0" sz="2400" u="none" cap="none" strike="noStrike">
              <a:solidFill>
                <a:srgbClr val="0070C0"/>
              </a:solidFill>
              <a:latin typeface="Corbel"/>
              <a:ea typeface="Corbel"/>
              <a:cs typeface="Corbel"/>
              <a:sym typeface="Corbel"/>
            </a:endParaRPr>
          </a:p>
        </p:txBody>
      </p:sp>
      <p:pic>
        <p:nvPicPr>
          <p:cNvPr descr="Computer Network | Switching Techniques - javatpoint" id="966" name="Google Shape;966;p3"/>
          <p:cNvPicPr preferRelativeResize="0"/>
          <p:nvPr/>
        </p:nvPicPr>
        <p:blipFill rotWithShape="1">
          <a:blip r:embed="rId3">
            <a:alphaModFix/>
          </a:blip>
          <a:srcRect b="0" l="0" r="0" t="0"/>
          <a:stretch/>
        </p:blipFill>
        <p:spPr>
          <a:xfrm>
            <a:off x="3118583" y="4306399"/>
            <a:ext cx="6208646" cy="22878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7"/>
          <p:cNvSpPr txBox="1"/>
          <p:nvPr>
            <p:ph type="title"/>
          </p:nvPr>
        </p:nvSpPr>
        <p:spPr>
          <a:xfrm>
            <a:off x="1502941" y="255683"/>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Datagram networks</a:t>
            </a:r>
            <a:endParaRPr/>
          </a:p>
        </p:txBody>
      </p:sp>
      <p:pic>
        <p:nvPicPr>
          <p:cNvPr id="972" name="Google Shape;972;p7"/>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cxnSp>
        <p:nvCxnSpPr>
          <p:cNvPr id="973" name="Google Shape;973;p7"/>
          <p:cNvCxnSpPr/>
          <p:nvPr/>
        </p:nvCxnSpPr>
        <p:spPr>
          <a:xfrm flipH="1" rot="-5400000">
            <a:off x="4770811" y="5093632"/>
            <a:ext cx="6350" cy="1577975"/>
          </a:xfrm>
          <a:prstGeom prst="straightConnector1">
            <a:avLst/>
          </a:prstGeom>
          <a:noFill/>
          <a:ln cap="flat" cmpd="sng" w="12700">
            <a:solidFill>
              <a:schemeClr val="dk1"/>
            </a:solidFill>
            <a:prstDash val="solid"/>
            <a:round/>
            <a:headEnd len="sm" w="sm" type="none"/>
            <a:tailEnd len="sm" w="sm" type="none"/>
          </a:ln>
        </p:spPr>
      </p:cxnSp>
      <p:grpSp>
        <p:nvGrpSpPr>
          <p:cNvPr id="974" name="Google Shape;974;p7"/>
          <p:cNvGrpSpPr/>
          <p:nvPr/>
        </p:nvGrpSpPr>
        <p:grpSpPr>
          <a:xfrm>
            <a:off x="2543548" y="4014133"/>
            <a:ext cx="1566863" cy="1987550"/>
            <a:chOff x="2366" y="929"/>
            <a:chExt cx="987" cy="1252"/>
          </a:xfrm>
        </p:grpSpPr>
        <p:graphicFrame>
          <p:nvGraphicFramePr>
            <p:cNvPr id="975" name="Google Shape;975;p7"/>
            <p:cNvGraphicFramePr/>
            <p:nvPr/>
          </p:nvGraphicFramePr>
          <p:xfrm>
            <a:off x="2741" y="929"/>
            <a:ext cx="333" cy="264"/>
          </p:xfrm>
          <a:graphic>
            <a:graphicData uri="http://schemas.openxmlformats.org/presentationml/2006/ole">
              <mc:AlternateContent>
                <mc:Choice Requires="v">
                  <p:oleObj r:id="rId5" imgH="264" imgW="333" progId="" spid="_x0000_s1">
                    <p:embed/>
                  </p:oleObj>
                </mc:Choice>
                <mc:Fallback>
                  <p:oleObj r:id="rId6" imgH="264" imgW="333" progId="">
                    <p:embed/>
                    <p:pic>
                      <p:nvPicPr>
                        <p:cNvPr id="975" name="Google Shape;975;p7"/>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976" name="Google Shape;976;p7"/>
            <p:cNvGrpSpPr/>
            <p:nvPr/>
          </p:nvGrpSpPr>
          <p:grpSpPr>
            <a:xfrm>
              <a:off x="2366" y="1145"/>
              <a:ext cx="987" cy="1036"/>
              <a:chOff x="2956" y="969"/>
              <a:chExt cx="513" cy="529"/>
            </a:xfrm>
          </p:grpSpPr>
          <p:sp>
            <p:nvSpPr>
              <p:cNvPr id="977" name="Google Shape;977;p7"/>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8" name="Google Shape;978;p7"/>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9" name="Google Shape;979;p7"/>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0" name="Google Shape;980;p7"/>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981" name="Google Shape;981;p7"/>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982" name="Google Shape;982;p7"/>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983" name="Google Shape;983;p7"/>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984" name="Google Shape;984;p7"/>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graphicFrame>
        <p:nvGraphicFramePr>
          <p:cNvPr id="985" name="Google Shape;985;p7"/>
          <p:cNvGraphicFramePr/>
          <p:nvPr/>
        </p:nvGraphicFramePr>
        <p:xfrm>
          <a:off x="9920661" y="4185583"/>
          <a:ext cx="528637" cy="419100"/>
        </p:xfrm>
        <a:graphic>
          <a:graphicData uri="http://schemas.openxmlformats.org/presentationml/2006/ole">
            <mc:AlternateContent>
              <mc:Choice Requires="v">
                <p:oleObj r:id="rId8" imgH="419100" imgW="528637" progId="" spid="_x0000_s2">
                  <p:embed/>
                </p:oleObj>
              </mc:Choice>
              <mc:Fallback>
                <p:oleObj r:id="rId9" imgH="419100" imgW="528637" progId="">
                  <p:embed/>
                  <p:pic>
                    <p:nvPicPr>
                      <p:cNvPr id="985" name="Google Shape;985;p7"/>
                      <p:cNvPicPr preferRelativeResize="0"/>
                      <p:nvPr/>
                    </p:nvPicPr>
                    <p:blipFill rotWithShape="1">
                      <a:blip r:embed="rId7">
                        <a:alphaModFix/>
                      </a:blip>
                      <a:srcRect b="0" l="0" r="0" t="0"/>
                      <a:stretch/>
                    </p:blipFill>
                    <p:spPr>
                      <a:xfrm>
                        <a:off x="9920661" y="4185583"/>
                        <a:ext cx="528637" cy="419100"/>
                      </a:xfrm>
                      <a:prstGeom prst="rect">
                        <a:avLst/>
                      </a:prstGeom>
                      <a:noFill/>
                      <a:ln>
                        <a:noFill/>
                      </a:ln>
                    </p:spPr>
                  </p:pic>
                </p:oleObj>
              </mc:Fallback>
            </mc:AlternateContent>
          </a:graphicData>
        </a:graphic>
      </p:graphicFrame>
      <p:grpSp>
        <p:nvGrpSpPr>
          <p:cNvPr id="986" name="Google Shape;986;p7"/>
          <p:cNvGrpSpPr/>
          <p:nvPr/>
        </p:nvGrpSpPr>
        <p:grpSpPr>
          <a:xfrm>
            <a:off x="9325348" y="4528483"/>
            <a:ext cx="1566863" cy="1644650"/>
            <a:chOff x="2956" y="969"/>
            <a:chExt cx="513" cy="529"/>
          </a:xfrm>
        </p:grpSpPr>
        <p:sp>
          <p:nvSpPr>
            <p:cNvPr id="987" name="Google Shape;987;p7"/>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8" name="Google Shape;988;p7"/>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9" name="Google Shape;989;p7"/>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90" name="Google Shape;990;p7"/>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991" name="Google Shape;991;p7"/>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992" name="Google Shape;992;p7"/>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993" name="Google Shape;993;p7"/>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994" name="Google Shape;994;p7"/>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cxnSp>
        <p:nvCxnSpPr>
          <p:cNvPr id="995" name="Google Shape;995;p7"/>
          <p:cNvCxnSpPr/>
          <p:nvPr/>
        </p:nvCxnSpPr>
        <p:spPr>
          <a:xfrm rot="5400000">
            <a:off x="8766548" y="5276195"/>
            <a:ext cx="6350" cy="1403350"/>
          </a:xfrm>
          <a:prstGeom prst="straightConnector1">
            <a:avLst/>
          </a:prstGeom>
          <a:noFill/>
          <a:ln cap="flat" cmpd="sng" w="12700">
            <a:solidFill>
              <a:schemeClr val="dk1"/>
            </a:solidFill>
            <a:prstDash val="solid"/>
            <a:round/>
            <a:headEnd len="sm" w="sm" type="none"/>
            <a:tailEnd len="sm" w="sm" type="none"/>
          </a:ln>
        </p:spPr>
      </p:cxnSp>
      <p:sp>
        <p:nvSpPr>
          <p:cNvPr id="996" name="Google Shape;996;p7"/>
          <p:cNvSpPr txBox="1"/>
          <p:nvPr/>
        </p:nvSpPr>
        <p:spPr>
          <a:xfrm>
            <a:off x="4062786" y="5219045"/>
            <a:ext cx="14970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1. Send data</a:t>
            </a:r>
            <a:endParaRPr b="0" i="0" sz="2400" u="none" cap="none" strike="noStrike">
              <a:solidFill>
                <a:schemeClr val="dk1"/>
              </a:solidFill>
              <a:latin typeface="Times New Roman"/>
              <a:ea typeface="Times New Roman"/>
              <a:cs typeface="Times New Roman"/>
              <a:sym typeface="Times New Roman"/>
            </a:endParaRPr>
          </a:p>
        </p:txBody>
      </p:sp>
      <p:sp>
        <p:nvSpPr>
          <p:cNvPr id="997" name="Google Shape;997;p7"/>
          <p:cNvSpPr txBox="1"/>
          <p:nvPr/>
        </p:nvSpPr>
        <p:spPr>
          <a:xfrm>
            <a:off x="7682286" y="5285720"/>
            <a:ext cx="18065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2. Receive data</a:t>
            </a:r>
            <a:endParaRPr b="0" i="0" sz="2400" u="none" cap="none" strike="noStrike">
              <a:solidFill>
                <a:schemeClr val="dk1"/>
              </a:solidFill>
              <a:latin typeface="Times New Roman"/>
              <a:ea typeface="Times New Roman"/>
              <a:cs typeface="Times New Roman"/>
              <a:sym typeface="Times New Roman"/>
            </a:endParaRPr>
          </a:p>
        </p:txBody>
      </p:sp>
      <p:sp>
        <p:nvSpPr>
          <p:cNvPr id="998" name="Google Shape;998;p7"/>
          <p:cNvSpPr/>
          <p:nvPr/>
        </p:nvSpPr>
        <p:spPr>
          <a:xfrm>
            <a:off x="4092948" y="5187295"/>
            <a:ext cx="304800" cy="657225"/>
          </a:xfrm>
          <a:custGeom>
            <a:rect b="b" l="l" r="r" t="t"/>
            <a:pathLst>
              <a:path extrusionOk="0" h="414" w="192">
                <a:moveTo>
                  <a:pt x="0" y="0"/>
                </a:moveTo>
                <a:lnTo>
                  <a:pt x="0" y="414"/>
                </a:lnTo>
                <a:lnTo>
                  <a:pt x="192" y="408"/>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999" name="Google Shape;999;p7"/>
          <p:cNvSpPr/>
          <p:nvPr/>
        </p:nvSpPr>
        <p:spPr>
          <a:xfrm>
            <a:off x="8726861" y="5630208"/>
            <a:ext cx="609600" cy="295275"/>
          </a:xfrm>
          <a:custGeom>
            <a:rect b="b" l="l" r="r" t="t"/>
            <a:pathLst>
              <a:path extrusionOk="0" h="186" w="384">
                <a:moveTo>
                  <a:pt x="0" y="186"/>
                </a:moveTo>
                <a:lnTo>
                  <a:pt x="384" y="186"/>
                </a:lnTo>
                <a:lnTo>
                  <a:pt x="384" y="0"/>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00" name="Google Shape;1000;p7"/>
          <p:cNvGrpSpPr/>
          <p:nvPr/>
        </p:nvGrpSpPr>
        <p:grpSpPr>
          <a:xfrm>
            <a:off x="4450136" y="5625445"/>
            <a:ext cx="361950" cy="261938"/>
            <a:chOff x="1548" y="3723"/>
            <a:chExt cx="228" cy="165"/>
          </a:xfrm>
        </p:grpSpPr>
        <p:sp>
          <p:nvSpPr>
            <p:cNvPr id="1001" name="Google Shape;1001;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2" name="Google Shape;1002;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03" name="Google Shape;1003;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1004" name="Google Shape;1004;p7"/>
          <p:cNvGrpSpPr/>
          <p:nvPr/>
        </p:nvGrpSpPr>
        <p:grpSpPr>
          <a:xfrm>
            <a:off x="5240711" y="5350808"/>
            <a:ext cx="3024187" cy="1481137"/>
            <a:chOff x="2001" y="3199"/>
            <a:chExt cx="1905" cy="933"/>
          </a:xfrm>
        </p:grpSpPr>
        <p:sp>
          <p:nvSpPr>
            <p:cNvPr id="1005" name="Google Shape;1005;p7"/>
            <p:cNvSpPr/>
            <p:nvPr/>
          </p:nvSpPr>
          <p:spPr>
            <a:xfrm>
              <a:off x="2112" y="3199"/>
              <a:ext cx="1794" cy="933"/>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06" name="Google Shape;1006;p7"/>
            <p:cNvSpPr/>
            <p:nvPr/>
          </p:nvSpPr>
          <p:spPr>
            <a:xfrm>
              <a:off x="2514" y="3384"/>
              <a:ext cx="342" cy="186"/>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07" name="Google Shape;1007;p7"/>
            <p:cNvGrpSpPr/>
            <p:nvPr/>
          </p:nvGrpSpPr>
          <p:grpSpPr>
            <a:xfrm>
              <a:off x="2203" y="3494"/>
              <a:ext cx="316" cy="147"/>
              <a:chOff x="3600" y="219"/>
              <a:chExt cx="360" cy="175"/>
            </a:xfrm>
          </p:grpSpPr>
          <p:sp>
            <p:nvSpPr>
              <p:cNvPr id="1008" name="Google Shape;1008;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09" name="Google Shape;1009;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10" name="Google Shape;1010;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11" name="Google Shape;1011;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2" name="Google Shape;1012;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13" name="Google Shape;1013;p7"/>
              <p:cNvGrpSpPr/>
              <p:nvPr/>
            </p:nvGrpSpPr>
            <p:grpSpPr>
              <a:xfrm>
                <a:off x="3686" y="244"/>
                <a:ext cx="177" cy="66"/>
                <a:chOff x="2848" y="848"/>
                <a:chExt cx="140" cy="98"/>
              </a:xfrm>
            </p:grpSpPr>
            <p:cxnSp>
              <p:nvCxnSpPr>
                <p:cNvPr id="1014" name="Google Shape;101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15" name="Google Shape;101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16" name="Google Shape;101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17" name="Google Shape;1017;p7"/>
              <p:cNvGrpSpPr/>
              <p:nvPr/>
            </p:nvGrpSpPr>
            <p:grpSpPr>
              <a:xfrm flipH="1" rot="10800000">
                <a:off x="3686" y="243"/>
                <a:ext cx="177" cy="66"/>
                <a:chOff x="2848" y="848"/>
                <a:chExt cx="140" cy="98"/>
              </a:xfrm>
            </p:grpSpPr>
            <p:cxnSp>
              <p:nvCxnSpPr>
                <p:cNvPr id="1018" name="Google Shape;101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19" name="Google Shape;101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20" name="Google Shape;102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21" name="Google Shape;1021;p7"/>
            <p:cNvGrpSpPr/>
            <p:nvPr/>
          </p:nvGrpSpPr>
          <p:grpSpPr>
            <a:xfrm>
              <a:off x="2425" y="3896"/>
              <a:ext cx="316" cy="147"/>
              <a:chOff x="3600" y="219"/>
              <a:chExt cx="360" cy="175"/>
            </a:xfrm>
          </p:grpSpPr>
          <p:sp>
            <p:nvSpPr>
              <p:cNvPr id="1022" name="Google Shape;1022;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23" name="Google Shape;1023;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24" name="Google Shape;1024;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25" name="Google Shape;1025;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26" name="Google Shape;1026;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27" name="Google Shape;1027;p7"/>
              <p:cNvGrpSpPr/>
              <p:nvPr/>
            </p:nvGrpSpPr>
            <p:grpSpPr>
              <a:xfrm>
                <a:off x="3686" y="244"/>
                <a:ext cx="177" cy="66"/>
                <a:chOff x="2848" y="848"/>
                <a:chExt cx="140" cy="98"/>
              </a:xfrm>
            </p:grpSpPr>
            <p:cxnSp>
              <p:nvCxnSpPr>
                <p:cNvPr id="1028" name="Google Shape;102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29" name="Google Shape;102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30" name="Google Shape;103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31" name="Google Shape;1031;p7"/>
              <p:cNvGrpSpPr/>
              <p:nvPr/>
            </p:nvGrpSpPr>
            <p:grpSpPr>
              <a:xfrm flipH="1" rot="10800000">
                <a:off x="3686" y="243"/>
                <a:ext cx="177" cy="66"/>
                <a:chOff x="2848" y="848"/>
                <a:chExt cx="140" cy="98"/>
              </a:xfrm>
            </p:grpSpPr>
            <p:cxnSp>
              <p:nvCxnSpPr>
                <p:cNvPr id="1032" name="Google Shape;103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33" name="Google Shape;103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34" name="Google Shape;103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35" name="Google Shape;1035;p7"/>
            <p:cNvGrpSpPr/>
            <p:nvPr/>
          </p:nvGrpSpPr>
          <p:grpSpPr>
            <a:xfrm>
              <a:off x="2850" y="3302"/>
              <a:ext cx="316" cy="147"/>
              <a:chOff x="3600" y="219"/>
              <a:chExt cx="360" cy="175"/>
            </a:xfrm>
          </p:grpSpPr>
          <p:sp>
            <p:nvSpPr>
              <p:cNvPr id="1036" name="Google Shape;1036;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37" name="Google Shape;1037;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38" name="Google Shape;1038;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39" name="Google Shape;1039;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40" name="Google Shape;1040;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41" name="Google Shape;1041;p7"/>
              <p:cNvGrpSpPr/>
              <p:nvPr/>
            </p:nvGrpSpPr>
            <p:grpSpPr>
              <a:xfrm>
                <a:off x="3686" y="244"/>
                <a:ext cx="177" cy="66"/>
                <a:chOff x="2848" y="848"/>
                <a:chExt cx="140" cy="98"/>
              </a:xfrm>
            </p:grpSpPr>
            <p:cxnSp>
              <p:nvCxnSpPr>
                <p:cNvPr id="1042" name="Google Shape;1042;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43" name="Google Shape;1043;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44" name="Google Shape;1044;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45" name="Google Shape;1045;p7"/>
              <p:cNvGrpSpPr/>
              <p:nvPr/>
            </p:nvGrpSpPr>
            <p:grpSpPr>
              <a:xfrm flipH="1" rot="10800000">
                <a:off x="3686" y="243"/>
                <a:ext cx="177" cy="66"/>
                <a:chOff x="2848" y="848"/>
                <a:chExt cx="140" cy="98"/>
              </a:xfrm>
            </p:grpSpPr>
            <p:cxnSp>
              <p:nvCxnSpPr>
                <p:cNvPr id="1046" name="Google Shape;104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47" name="Google Shape;104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48" name="Google Shape;104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49" name="Google Shape;1049;p7"/>
            <p:cNvGrpSpPr/>
            <p:nvPr/>
          </p:nvGrpSpPr>
          <p:grpSpPr>
            <a:xfrm>
              <a:off x="2801" y="3721"/>
              <a:ext cx="315" cy="147"/>
              <a:chOff x="3600" y="219"/>
              <a:chExt cx="360" cy="175"/>
            </a:xfrm>
          </p:grpSpPr>
          <p:sp>
            <p:nvSpPr>
              <p:cNvPr id="1050" name="Google Shape;1050;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51" name="Google Shape;1051;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52" name="Google Shape;1052;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53" name="Google Shape;1053;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54" name="Google Shape;1054;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55" name="Google Shape;1055;p7"/>
              <p:cNvGrpSpPr/>
              <p:nvPr/>
            </p:nvGrpSpPr>
            <p:grpSpPr>
              <a:xfrm>
                <a:off x="3686" y="244"/>
                <a:ext cx="177" cy="66"/>
                <a:chOff x="2848" y="848"/>
                <a:chExt cx="140" cy="98"/>
              </a:xfrm>
            </p:grpSpPr>
            <p:cxnSp>
              <p:nvCxnSpPr>
                <p:cNvPr id="1056" name="Google Shape;1056;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57" name="Google Shape;1057;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58" name="Google Shape;1058;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59" name="Google Shape;1059;p7"/>
              <p:cNvGrpSpPr/>
              <p:nvPr/>
            </p:nvGrpSpPr>
            <p:grpSpPr>
              <a:xfrm flipH="1" rot="10800000">
                <a:off x="3686" y="243"/>
                <a:ext cx="177" cy="66"/>
                <a:chOff x="2848" y="848"/>
                <a:chExt cx="140" cy="98"/>
              </a:xfrm>
            </p:grpSpPr>
            <p:cxnSp>
              <p:nvCxnSpPr>
                <p:cNvPr id="1060" name="Google Shape;1060;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61" name="Google Shape;1061;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62" name="Google Shape;1062;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63" name="Google Shape;1063;p7"/>
            <p:cNvGrpSpPr/>
            <p:nvPr/>
          </p:nvGrpSpPr>
          <p:grpSpPr>
            <a:xfrm>
              <a:off x="3201" y="3908"/>
              <a:ext cx="316" cy="147"/>
              <a:chOff x="3600" y="219"/>
              <a:chExt cx="360" cy="175"/>
            </a:xfrm>
          </p:grpSpPr>
          <p:sp>
            <p:nvSpPr>
              <p:cNvPr id="1064" name="Google Shape;1064;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65" name="Google Shape;1065;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66" name="Google Shape;1066;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67" name="Google Shape;1067;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68" name="Google Shape;1068;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69" name="Google Shape;1069;p7"/>
              <p:cNvGrpSpPr/>
              <p:nvPr/>
            </p:nvGrpSpPr>
            <p:grpSpPr>
              <a:xfrm>
                <a:off x="3686" y="244"/>
                <a:ext cx="177" cy="66"/>
                <a:chOff x="2848" y="848"/>
                <a:chExt cx="140" cy="98"/>
              </a:xfrm>
            </p:grpSpPr>
            <p:cxnSp>
              <p:nvCxnSpPr>
                <p:cNvPr id="1070" name="Google Shape;1070;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71" name="Google Shape;1071;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72" name="Google Shape;1072;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73" name="Google Shape;1073;p7"/>
              <p:cNvGrpSpPr/>
              <p:nvPr/>
            </p:nvGrpSpPr>
            <p:grpSpPr>
              <a:xfrm flipH="1" rot="10800000">
                <a:off x="3686" y="243"/>
                <a:ext cx="177" cy="66"/>
                <a:chOff x="2848" y="848"/>
                <a:chExt cx="140" cy="98"/>
              </a:xfrm>
            </p:grpSpPr>
            <p:cxnSp>
              <p:nvCxnSpPr>
                <p:cNvPr id="1074" name="Google Shape;107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75" name="Google Shape;107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76" name="Google Shape;107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077" name="Google Shape;1077;p7"/>
            <p:cNvGrpSpPr/>
            <p:nvPr/>
          </p:nvGrpSpPr>
          <p:grpSpPr>
            <a:xfrm>
              <a:off x="3481" y="3495"/>
              <a:ext cx="316" cy="147"/>
              <a:chOff x="3600" y="219"/>
              <a:chExt cx="360" cy="175"/>
            </a:xfrm>
          </p:grpSpPr>
          <p:sp>
            <p:nvSpPr>
              <p:cNvPr id="1078" name="Google Shape;1078;p7"/>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079" name="Google Shape;1079;p7"/>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080" name="Google Shape;1080;p7"/>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081" name="Google Shape;1081;p7"/>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82" name="Google Shape;1082;p7"/>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083" name="Google Shape;1083;p7"/>
              <p:cNvGrpSpPr/>
              <p:nvPr/>
            </p:nvGrpSpPr>
            <p:grpSpPr>
              <a:xfrm>
                <a:off x="3686" y="244"/>
                <a:ext cx="177" cy="66"/>
                <a:chOff x="2848" y="848"/>
                <a:chExt cx="140" cy="98"/>
              </a:xfrm>
            </p:grpSpPr>
            <p:cxnSp>
              <p:nvCxnSpPr>
                <p:cNvPr id="1084" name="Google Shape;1084;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85" name="Google Shape;1085;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86" name="Google Shape;1086;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087" name="Google Shape;1087;p7"/>
              <p:cNvGrpSpPr/>
              <p:nvPr/>
            </p:nvGrpSpPr>
            <p:grpSpPr>
              <a:xfrm flipH="1" rot="10800000">
                <a:off x="3686" y="243"/>
                <a:ext cx="177" cy="66"/>
                <a:chOff x="2848" y="848"/>
                <a:chExt cx="140" cy="98"/>
              </a:xfrm>
            </p:grpSpPr>
            <p:cxnSp>
              <p:nvCxnSpPr>
                <p:cNvPr id="1088" name="Google Shape;1088;p7"/>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089" name="Google Shape;1089;p7"/>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090" name="Google Shape;1090;p7"/>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sp>
          <p:nvSpPr>
            <p:cNvPr id="1091" name="Google Shape;1091;p7"/>
            <p:cNvSpPr/>
            <p:nvPr/>
          </p:nvSpPr>
          <p:spPr>
            <a:xfrm>
              <a:off x="3170" y="3380"/>
              <a:ext cx="318" cy="194"/>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92" name="Google Shape;1092;p7"/>
            <p:cNvSpPr/>
            <p:nvPr/>
          </p:nvSpPr>
          <p:spPr>
            <a:xfrm>
              <a:off x="2499" y="3627"/>
              <a:ext cx="303" cy="150"/>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93" name="Google Shape;1093;p7"/>
            <p:cNvSpPr/>
            <p:nvPr/>
          </p:nvSpPr>
          <p:spPr>
            <a:xfrm>
              <a:off x="3096" y="3612"/>
              <a:ext cx="396" cy="156"/>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94" name="Google Shape;1094;p7"/>
            <p:cNvSpPr/>
            <p:nvPr/>
          </p:nvSpPr>
          <p:spPr>
            <a:xfrm>
              <a:off x="3516" y="3646"/>
              <a:ext cx="130" cy="32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95" name="Google Shape;1095;p7"/>
            <p:cNvSpPr/>
            <p:nvPr/>
          </p:nvSpPr>
          <p:spPr>
            <a:xfrm>
              <a:off x="2738" y="3982"/>
              <a:ext cx="464" cy="47"/>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096" name="Google Shape;1096;p7"/>
            <p:cNvSpPr/>
            <p:nvPr/>
          </p:nvSpPr>
          <p:spPr>
            <a:xfrm>
              <a:off x="2400" y="3642"/>
              <a:ext cx="122" cy="268"/>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097" name="Google Shape;1097;p7"/>
            <p:cNvGrpSpPr/>
            <p:nvPr/>
          </p:nvGrpSpPr>
          <p:grpSpPr>
            <a:xfrm>
              <a:off x="2001" y="3375"/>
              <a:ext cx="228" cy="165"/>
              <a:chOff x="1548" y="3723"/>
              <a:chExt cx="228" cy="165"/>
            </a:xfrm>
          </p:grpSpPr>
          <p:sp>
            <p:nvSpPr>
              <p:cNvPr id="1098" name="Google Shape;1098;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9" name="Google Shape;1099;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00" name="Google Shape;1100;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1101" name="Google Shape;1101;p7"/>
            <p:cNvGrpSpPr/>
            <p:nvPr/>
          </p:nvGrpSpPr>
          <p:grpSpPr>
            <a:xfrm>
              <a:off x="3180" y="3306"/>
              <a:ext cx="228" cy="165"/>
              <a:chOff x="1548" y="3723"/>
              <a:chExt cx="228" cy="165"/>
            </a:xfrm>
          </p:grpSpPr>
          <p:sp>
            <p:nvSpPr>
              <p:cNvPr id="1102" name="Google Shape;1102;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3" name="Google Shape;1103;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04" name="Google Shape;1104;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1105" name="Google Shape;1105;p7"/>
            <p:cNvGrpSpPr/>
            <p:nvPr/>
          </p:nvGrpSpPr>
          <p:grpSpPr>
            <a:xfrm>
              <a:off x="2850" y="3897"/>
              <a:ext cx="228" cy="165"/>
              <a:chOff x="1548" y="3723"/>
              <a:chExt cx="228" cy="165"/>
            </a:xfrm>
          </p:grpSpPr>
          <p:sp>
            <p:nvSpPr>
              <p:cNvPr id="1106" name="Google Shape;1106;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7" name="Google Shape;1107;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08" name="Google Shape;1108;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nvGrpSpPr>
            <p:cNvPr id="1109" name="Google Shape;1109;p7"/>
            <p:cNvGrpSpPr/>
            <p:nvPr/>
          </p:nvGrpSpPr>
          <p:grpSpPr>
            <a:xfrm>
              <a:off x="2586" y="3597"/>
              <a:ext cx="228" cy="165"/>
              <a:chOff x="1548" y="3723"/>
              <a:chExt cx="228" cy="165"/>
            </a:xfrm>
          </p:grpSpPr>
          <p:sp>
            <p:nvSpPr>
              <p:cNvPr id="1110" name="Google Shape;1110;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1" name="Google Shape;1111;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12" name="Google Shape;1112;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grpSp>
      <p:grpSp>
        <p:nvGrpSpPr>
          <p:cNvPr id="1113" name="Google Shape;1113;p7"/>
          <p:cNvGrpSpPr/>
          <p:nvPr/>
        </p:nvGrpSpPr>
        <p:grpSpPr>
          <a:xfrm>
            <a:off x="8522073" y="5706408"/>
            <a:ext cx="361950" cy="261937"/>
            <a:chOff x="1548" y="3723"/>
            <a:chExt cx="228" cy="165"/>
          </a:xfrm>
        </p:grpSpPr>
        <p:sp>
          <p:nvSpPr>
            <p:cNvPr id="1114" name="Google Shape;1114;p7"/>
            <p:cNvSpPr/>
            <p:nvPr/>
          </p:nvSpPr>
          <p:spPr>
            <a:xfrm>
              <a:off x="1563" y="3723"/>
              <a:ext cx="102" cy="15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5" name="Google Shape;1115;p7"/>
            <p:cNvSpPr/>
            <p:nvPr/>
          </p:nvSpPr>
          <p:spPr>
            <a:xfrm>
              <a:off x="1548" y="3738"/>
              <a:ext cx="102" cy="15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16" name="Google Shape;1116;p7"/>
            <p:cNvCxnSpPr/>
            <p:nvPr/>
          </p:nvCxnSpPr>
          <p:spPr>
            <a:xfrm>
              <a:off x="1650" y="3816"/>
              <a:ext cx="126" cy="0"/>
            </a:xfrm>
            <a:prstGeom prst="straightConnector1">
              <a:avLst/>
            </a:prstGeom>
            <a:noFill/>
            <a:ln cap="flat" cmpd="sng" w="9525">
              <a:solidFill>
                <a:schemeClr val="accent2"/>
              </a:solidFill>
              <a:prstDash val="solid"/>
              <a:round/>
              <a:headEnd len="sm" w="sm" type="none"/>
              <a:tailEnd len="med" w="med" type="triangle"/>
            </a:ln>
          </p:spPr>
        </p:cxnSp>
      </p:grpSp>
      <p:pic>
        <p:nvPicPr>
          <p:cNvPr id="1117" name="Google Shape;1117;p7"/>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118" name="Google Shape;1118;p7"/>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1119" name="Google Shape;1119;p7"/>
          <p:cNvSpPr txBox="1"/>
          <p:nvPr/>
        </p:nvSpPr>
        <p:spPr>
          <a:xfrm>
            <a:off x="1253159" y="967145"/>
            <a:ext cx="10518276" cy="304698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No Call Setup</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Devices can send data immediately without establishing a connection.</a:t>
            </a:r>
            <a:endParaRPr b="1" i="0" sz="24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Stateless Routers</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Routers forward packets independently based on their destination IP 	address.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Packet Forwarding</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Packets from the same source may take different paths to reach the 	destination.</a:t>
            </a:r>
            <a:endParaRPr b="0" i="0" sz="1400" u="none" cap="none" strike="noStrike">
              <a:solidFill>
                <a:srgbClr val="000000"/>
              </a:solidFill>
              <a:latin typeface="Corbel"/>
              <a:ea typeface="Corbel"/>
              <a:cs typeface="Corbel"/>
              <a:sym typeface="Corbel"/>
            </a:endParaRPr>
          </a:p>
        </p:txBody>
      </p:sp>
      <p:pic>
        <p:nvPicPr>
          <p:cNvPr id="1120" name="Google Shape;1120;p7"/>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121" name="Google Shape;1121;p7"/>
          <p:cNvPicPr preferRelativeResize="0"/>
          <p:nvPr/>
        </p:nvPicPr>
        <p:blipFill rotWithShape="1">
          <a:blip r:embed="rId7">
            <a:alphaModFix/>
          </a:blip>
          <a:srcRect b="0" l="0" r="0" t="0"/>
          <a:stretch/>
        </p:blipFill>
        <p:spPr>
          <a:xfrm>
            <a:off x="0" y="0"/>
            <a:ext cx="0" cy="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500"/>
                                        <p:tgtEl>
                                          <p:spTgt spid="9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500"/>
                                        <p:tgtEl>
                                          <p:spTgt spid="9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8"/>
          <p:cNvSpPr txBox="1"/>
          <p:nvPr>
            <p:ph type="title"/>
          </p:nvPr>
        </p:nvSpPr>
        <p:spPr>
          <a:xfrm>
            <a:off x="1519376" y="154620"/>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Virtual Circuits: Signaling Protocols</a:t>
            </a:r>
            <a:endParaRPr/>
          </a:p>
        </p:txBody>
      </p:sp>
      <p:pic>
        <p:nvPicPr>
          <p:cNvPr id="1127" name="Google Shape;1127;p8"/>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128" name="Google Shape;1128;p8"/>
          <p:cNvSpPr/>
          <p:nvPr/>
        </p:nvSpPr>
        <p:spPr>
          <a:xfrm>
            <a:off x="5180532" y="4880989"/>
            <a:ext cx="2847975"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cxnSp>
        <p:nvCxnSpPr>
          <p:cNvPr id="1129" name="Google Shape;1129;p8"/>
          <p:cNvCxnSpPr/>
          <p:nvPr/>
        </p:nvCxnSpPr>
        <p:spPr>
          <a:xfrm flipH="1" rot="-5400000">
            <a:off x="4534420" y="4623813"/>
            <a:ext cx="6350" cy="1577975"/>
          </a:xfrm>
          <a:prstGeom prst="straightConnector1">
            <a:avLst/>
          </a:prstGeom>
          <a:noFill/>
          <a:ln cap="flat" cmpd="sng" w="12700">
            <a:solidFill>
              <a:schemeClr val="dk1"/>
            </a:solidFill>
            <a:prstDash val="solid"/>
            <a:round/>
            <a:headEnd len="sm" w="sm" type="none"/>
            <a:tailEnd len="sm" w="sm" type="none"/>
          </a:ln>
        </p:spPr>
      </p:cxnSp>
      <p:sp>
        <p:nvSpPr>
          <p:cNvPr id="1130" name="Google Shape;1130;p8"/>
          <p:cNvSpPr/>
          <p:nvPr/>
        </p:nvSpPr>
        <p:spPr>
          <a:xfrm>
            <a:off x="5818707" y="5174676"/>
            <a:ext cx="542925" cy="295275"/>
          </a:xfrm>
          <a:custGeom>
            <a:rect b="b" l="l" r="r" t="t"/>
            <a:pathLst>
              <a:path extrusionOk="0" h="186" w="342">
                <a:moveTo>
                  <a:pt x="0" y="186"/>
                </a:moveTo>
                <a:lnTo>
                  <a:pt x="342"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131" name="Google Shape;1131;p8"/>
          <p:cNvGrpSpPr/>
          <p:nvPr/>
        </p:nvGrpSpPr>
        <p:grpSpPr>
          <a:xfrm>
            <a:off x="5324995" y="5349301"/>
            <a:ext cx="501650" cy="233363"/>
            <a:chOff x="3600" y="219"/>
            <a:chExt cx="360" cy="175"/>
          </a:xfrm>
        </p:grpSpPr>
        <p:sp>
          <p:nvSpPr>
            <p:cNvPr id="1132" name="Google Shape;1132;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33" name="Google Shape;1133;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34" name="Google Shape;1134;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35" name="Google Shape;1135;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36" name="Google Shape;1136;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37" name="Google Shape;1137;p8"/>
            <p:cNvGrpSpPr/>
            <p:nvPr/>
          </p:nvGrpSpPr>
          <p:grpSpPr>
            <a:xfrm>
              <a:off x="3686" y="244"/>
              <a:ext cx="177" cy="66"/>
              <a:chOff x="2848" y="848"/>
              <a:chExt cx="140" cy="98"/>
            </a:xfrm>
          </p:grpSpPr>
          <p:cxnSp>
            <p:nvCxnSpPr>
              <p:cNvPr id="1138" name="Google Shape;113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39" name="Google Shape;113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40" name="Google Shape;114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41" name="Google Shape;1141;p8"/>
            <p:cNvGrpSpPr/>
            <p:nvPr/>
          </p:nvGrpSpPr>
          <p:grpSpPr>
            <a:xfrm flipH="1" rot="10800000">
              <a:off x="3686" y="243"/>
              <a:ext cx="177" cy="66"/>
              <a:chOff x="2848" y="848"/>
              <a:chExt cx="140" cy="98"/>
            </a:xfrm>
          </p:grpSpPr>
          <p:cxnSp>
            <p:nvCxnSpPr>
              <p:cNvPr id="1142" name="Google Shape;114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43" name="Google Shape;114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44" name="Google Shape;114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45" name="Google Shape;1145;p8"/>
          <p:cNvGrpSpPr/>
          <p:nvPr/>
        </p:nvGrpSpPr>
        <p:grpSpPr>
          <a:xfrm>
            <a:off x="5677420" y="5987476"/>
            <a:ext cx="501650" cy="233363"/>
            <a:chOff x="3600" y="219"/>
            <a:chExt cx="360" cy="175"/>
          </a:xfrm>
        </p:grpSpPr>
        <p:sp>
          <p:nvSpPr>
            <p:cNvPr id="1146" name="Google Shape;1146;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47" name="Google Shape;1147;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48" name="Google Shape;1148;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49" name="Google Shape;1149;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50" name="Google Shape;1150;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51" name="Google Shape;1151;p8"/>
            <p:cNvGrpSpPr/>
            <p:nvPr/>
          </p:nvGrpSpPr>
          <p:grpSpPr>
            <a:xfrm>
              <a:off x="3686" y="244"/>
              <a:ext cx="177" cy="66"/>
              <a:chOff x="2848" y="848"/>
              <a:chExt cx="140" cy="98"/>
            </a:xfrm>
          </p:grpSpPr>
          <p:cxnSp>
            <p:nvCxnSpPr>
              <p:cNvPr id="1152" name="Google Shape;115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53" name="Google Shape;115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54" name="Google Shape;115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55" name="Google Shape;1155;p8"/>
            <p:cNvGrpSpPr/>
            <p:nvPr/>
          </p:nvGrpSpPr>
          <p:grpSpPr>
            <a:xfrm flipH="1" rot="10800000">
              <a:off x="3686" y="243"/>
              <a:ext cx="177" cy="66"/>
              <a:chOff x="2848" y="848"/>
              <a:chExt cx="140" cy="98"/>
            </a:xfrm>
          </p:grpSpPr>
          <p:cxnSp>
            <p:nvCxnSpPr>
              <p:cNvPr id="1156" name="Google Shape;115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57" name="Google Shape;115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58" name="Google Shape;115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59" name="Google Shape;1159;p8"/>
          <p:cNvGrpSpPr/>
          <p:nvPr/>
        </p:nvGrpSpPr>
        <p:grpSpPr>
          <a:xfrm>
            <a:off x="6352107" y="5044501"/>
            <a:ext cx="501650" cy="233363"/>
            <a:chOff x="3600" y="219"/>
            <a:chExt cx="360" cy="175"/>
          </a:xfrm>
        </p:grpSpPr>
        <p:sp>
          <p:nvSpPr>
            <p:cNvPr id="1160" name="Google Shape;1160;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61" name="Google Shape;1161;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62" name="Google Shape;1162;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63" name="Google Shape;1163;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64" name="Google Shape;1164;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65" name="Google Shape;1165;p8"/>
            <p:cNvGrpSpPr/>
            <p:nvPr/>
          </p:nvGrpSpPr>
          <p:grpSpPr>
            <a:xfrm>
              <a:off x="3686" y="244"/>
              <a:ext cx="177" cy="66"/>
              <a:chOff x="2848" y="848"/>
              <a:chExt cx="140" cy="98"/>
            </a:xfrm>
          </p:grpSpPr>
          <p:cxnSp>
            <p:nvCxnSpPr>
              <p:cNvPr id="1166" name="Google Shape;1166;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67" name="Google Shape;1167;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68" name="Google Shape;1168;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69" name="Google Shape;1169;p8"/>
            <p:cNvGrpSpPr/>
            <p:nvPr/>
          </p:nvGrpSpPr>
          <p:grpSpPr>
            <a:xfrm flipH="1" rot="10800000">
              <a:off x="3686" y="243"/>
              <a:ext cx="177" cy="66"/>
              <a:chOff x="2848" y="848"/>
              <a:chExt cx="140" cy="98"/>
            </a:xfrm>
          </p:grpSpPr>
          <p:cxnSp>
            <p:nvCxnSpPr>
              <p:cNvPr id="1170" name="Google Shape;117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71" name="Google Shape;117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72" name="Google Shape;117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73" name="Google Shape;1173;p8"/>
          <p:cNvGrpSpPr/>
          <p:nvPr/>
        </p:nvGrpSpPr>
        <p:grpSpPr>
          <a:xfrm>
            <a:off x="6274320" y="5709664"/>
            <a:ext cx="500062" cy="233362"/>
            <a:chOff x="3600" y="219"/>
            <a:chExt cx="360" cy="175"/>
          </a:xfrm>
        </p:grpSpPr>
        <p:sp>
          <p:nvSpPr>
            <p:cNvPr id="1174" name="Google Shape;1174;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75" name="Google Shape;1175;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76" name="Google Shape;1176;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77" name="Google Shape;1177;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78" name="Google Shape;1178;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79" name="Google Shape;1179;p8"/>
            <p:cNvGrpSpPr/>
            <p:nvPr/>
          </p:nvGrpSpPr>
          <p:grpSpPr>
            <a:xfrm>
              <a:off x="3686" y="244"/>
              <a:ext cx="177" cy="66"/>
              <a:chOff x="2848" y="848"/>
              <a:chExt cx="140" cy="98"/>
            </a:xfrm>
          </p:grpSpPr>
          <p:cxnSp>
            <p:nvCxnSpPr>
              <p:cNvPr id="1180" name="Google Shape;1180;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81" name="Google Shape;1181;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82" name="Google Shape;1182;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83" name="Google Shape;1183;p8"/>
            <p:cNvGrpSpPr/>
            <p:nvPr/>
          </p:nvGrpSpPr>
          <p:grpSpPr>
            <a:xfrm flipH="1" rot="10800000">
              <a:off x="3686" y="243"/>
              <a:ext cx="177" cy="66"/>
              <a:chOff x="2848" y="848"/>
              <a:chExt cx="140" cy="98"/>
            </a:xfrm>
          </p:grpSpPr>
          <p:cxnSp>
            <p:nvCxnSpPr>
              <p:cNvPr id="1184" name="Google Shape;1184;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85" name="Google Shape;1185;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86" name="Google Shape;1186;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187" name="Google Shape;1187;p8"/>
          <p:cNvGrpSpPr/>
          <p:nvPr/>
        </p:nvGrpSpPr>
        <p:grpSpPr>
          <a:xfrm>
            <a:off x="6909320" y="6006526"/>
            <a:ext cx="501650" cy="233363"/>
            <a:chOff x="3600" y="219"/>
            <a:chExt cx="360" cy="175"/>
          </a:xfrm>
        </p:grpSpPr>
        <p:sp>
          <p:nvSpPr>
            <p:cNvPr id="1188" name="Google Shape;1188;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189" name="Google Shape;1189;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190" name="Google Shape;1190;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191" name="Google Shape;1191;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92" name="Google Shape;1192;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193" name="Google Shape;1193;p8"/>
            <p:cNvGrpSpPr/>
            <p:nvPr/>
          </p:nvGrpSpPr>
          <p:grpSpPr>
            <a:xfrm>
              <a:off x="3686" y="244"/>
              <a:ext cx="177" cy="66"/>
              <a:chOff x="2848" y="848"/>
              <a:chExt cx="140" cy="98"/>
            </a:xfrm>
          </p:grpSpPr>
          <p:cxnSp>
            <p:nvCxnSpPr>
              <p:cNvPr id="1194" name="Google Shape;1194;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95" name="Google Shape;1195;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196" name="Google Shape;1196;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197" name="Google Shape;1197;p8"/>
            <p:cNvGrpSpPr/>
            <p:nvPr/>
          </p:nvGrpSpPr>
          <p:grpSpPr>
            <a:xfrm flipH="1" rot="10800000">
              <a:off x="3686" y="243"/>
              <a:ext cx="177" cy="66"/>
              <a:chOff x="2848" y="848"/>
              <a:chExt cx="140" cy="98"/>
            </a:xfrm>
          </p:grpSpPr>
          <p:cxnSp>
            <p:nvCxnSpPr>
              <p:cNvPr id="1198" name="Google Shape;119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199" name="Google Shape;119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00" name="Google Shape;120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01" name="Google Shape;1201;p8"/>
          <p:cNvGrpSpPr/>
          <p:nvPr/>
        </p:nvGrpSpPr>
        <p:grpSpPr>
          <a:xfrm>
            <a:off x="7353820" y="5350889"/>
            <a:ext cx="501650" cy="233362"/>
            <a:chOff x="3600" y="219"/>
            <a:chExt cx="360" cy="175"/>
          </a:xfrm>
        </p:grpSpPr>
        <p:sp>
          <p:nvSpPr>
            <p:cNvPr id="1202" name="Google Shape;1202;p8"/>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03" name="Google Shape;1203;p8"/>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204" name="Google Shape;1204;p8"/>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205" name="Google Shape;1205;p8"/>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06" name="Google Shape;1206;p8"/>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07" name="Google Shape;1207;p8"/>
            <p:cNvGrpSpPr/>
            <p:nvPr/>
          </p:nvGrpSpPr>
          <p:grpSpPr>
            <a:xfrm>
              <a:off x="3686" y="244"/>
              <a:ext cx="177" cy="66"/>
              <a:chOff x="2848" y="848"/>
              <a:chExt cx="140" cy="98"/>
            </a:xfrm>
          </p:grpSpPr>
          <p:cxnSp>
            <p:nvCxnSpPr>
              <p:cNvPr id="1208" name="Google Shape;1208;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09" name="Google Shape;1209;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10" name="Google Shape;1210;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11" name="Google Shape;1211;p8"/>
            <p:cNvGrpSpPr/>
            <p:nvPr/>
          </p:nvGrpSpPr>
          <p:grpSpPr>
            <a:xfrm flipH="1" rot="10800000">
              <a:off x="3686" y="243"/>
              <a:ext cx="177" cy="66"/>
              <a:chOff x="2848" y="848"/>
              <a:chExt cx="140" cy="98"/>
            </a:xfrm>
          </p:grpSpPr>
          <p:cxnSp>
            <p:nvCxnSpPr>
              <p:cNvPr id="1212" name="Google Shape;1212;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13" name="Google Shape;1213;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14" name="Google Shape;1214;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15" name="Google Shape;1215;p8"/>
          <p:cNvGrpSpPr/>
          <p:nvPr/>
        </p:nvGrpSpPr>
        <p:grpSpPr>
          <a:xfrm>
            <a:off x="2307157" y="3544314"/>
            <a:ext cx="1566863" cy="1987550"/>
            <a:chOff x="2366" y="929"/>
            <a:chExt cx="987" cy="1252"/>
          </a:xfrm>
        </p:grpSpPr>
        <p:graphicFrame>
          <p:nvGraphicFramePr>
            <p:cNvPr id="1216" name="Google Shape;1216;p8"/>
            <p:cNvGraphicFramePr/>
            <p:nvPr/>
          </p:nvGraphicFramePr>
          <p:xfrm>
            <a:off x="2741" y="929"/>
            <a:ext cx="333" cy="264"/>
          </p:xfrm>
          <a:graphic>
            <a:graphicData uri="http://schemas.openxmlformats.org/presentationml/2006/ole">
              <mc:AlternateContent>
                <mc:Choice Requires="v">
                  <p:oleObj r:id="rId5" imgH="264" imgW="333" progId="" spid="_x0000_s1">
                    <p:embed/>
                  </p:oleObj>
                </mc:Choice>
                <mc:Fallback>
                  <p:oleObj r:id="rId6" imgH="264" imgW="333" progId="">
                    <p:embed/>
                    <p:pic>
                      <p:nvPicPr>
                        <p:cNvPr id="1216" name="Google Shape;1216;p8"/>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1217" name="Google Shape;1217;p8"/>
            <p:cNvGrpSpPr/>
            <p:nvPr/>
          </p:nvGrpSpPr>
          <p:grpSpPr>
            <a:xfrm>
              <a:off x="2366" y="1145"/>
              <a:ext cx="987" cy="1036"/>
              <a:chOff x="2956" y="969"/>
              <a:chExt cx="513" cy="529"/>
            </a:xfrm>
          </p:grpSpPr>
          <p:sp>
            <p:nvSpPr>
              <p:cNvPr id="1218" name="Google Shape;1218;p8"/>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9" name="Google Shape;1219;p8"/>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0" name="Google Shape;1220;p8"/>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1" name="Google Shape;1221;p8"/>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1222" name="Google Shape;1222;p8"/>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1223" name="Google Shape;1223;p8"/>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1224" name="Google Shape;1224;p8"/>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1225" name="Google Shape;1225;p8"/>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sp>
        <p:nvSpPr>
          <p:cNvPr id="1226" name="Google Shape;1226;p8"/>
          <p:cNvSpPr/>
          <p:nvPr/>
        </p:nvSpPr>
        <p:spPr>
          <a:xfrm>
            <a:off x="6860107" y="5168326"/>
            <a:ext cx="504825" cy="307975"/>
          </a:xfrm>
          <a:custGeom>
            <a:rect b="b" l="l" r="r" t="t"/>
            <a:pathLst>
              <a:path extrusionOk="0" h="194" w="318">
                <a:moveTo>
                  <a:pt x="0" y="0"/>
                </a:moveTo>
                <a:lnTo>
                  <a:pt x="318" y="19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7" name="Google Shape;1227;p8"/>
          <p:cNvSpPr/>
          <p:nvPr/>
        </p:nvSpPr>
        <p:spPr>
          <a:xfrm>
            <a:off x="5794895" y="5560439"/>
            <a:ext cx="481012" cy="238125"/>
          </a:xfrm>
          <a:custGeom>
            <a:rect b="b" l="l" r="r" t="t"/>
            <a:pathLst>
              <a:path extrusionOk="0" h="174" w="294">
                <a:moveTo>
                  <a:pt x="0" y="0"/>
                </a:moveTo>
                <a:lnTo>
                  <a:pt x="294" y="17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8" name="Google Shape;1228;p8"/>
          <p:cNvSpPr/>
          <p:nvPr/>
        </p:nvSpPr>
        <p:spPr>
          <a:xfrm>
            <a:off x="6742632" y="5536626"/>
            <a:ext cx="628650" cy="247650"/>
          </a:xfrm>
          <a:custGeom>
            <a:rect b="b" l="l" r="r" t="t"/>
            <a:pathLst>
              <a:path extrusionOk="0" h="174" w="378">
                <a:moveTo>
                  <a:pt x="0" y="174"/>
                </a:moveTo>
                <a:lnTo>
                  <a:pt x="37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29" name="Google Shape;1229;p8"/>
          <p:cNvSpPr/>
          <p:nvPr/>
        </p:nvSpPr>
        <p:spPr>
          <a:xfrm>
            <a:off x="7409382" y="5590601"/>
            <a:ext cx="206375" cy="508000"/>
          </a:xfrm>
          <a:custGeom>
            <a:rect b="b" l="l" r="r" t="t"/>
            <a:pathLst>
              <a:path extrusionOk="0" h="500" w="118">
                <a:moveTo>
                  <a:pt x="0" y="500"/>
                </a:moveTo>
                <a:lnTo>
                  <a:pt x="118"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0" name="Google Shape;1230;p8"/>
          <p:cNvSpPr/>
          <p:nvPr/>
        </p:nvSpPr>
        <p:spPr>
          <a:xfrm>
            <a:off x="6174307" y="6124001"/>
            <a:ext cx="736600" cy="74613"/>
          </a:xfrm>
          <a:custGeom>
            <a:rect b="b" l="l" r="r" t="t"/>
            <a:pathLst>
              <a:path extrusionOk="0" h="32" w="370">
                <a:moveTo>
                  <a:pt x="370" y="32"/>
                </a:move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31" name="Google Shape;1231;p8"/>
          <p:cNvSpPr/>
          <p:nvPr/>
        </p:nvSpPr>
        <p:spPr>
          <a:xfrm>
            <a:off x="5637732" y="5584251"/>
            <a:ext cx="193675" cy="425450"/>
          </a:xfrm>
          <a:custGeom>
            <a:rect b="b" l="l" r="r" t="t"/>
            <a:pathLst>
              <a:path extrusionOk="0" h="412" w="176">
                <a:moveTo>
                  <a:pt x="162" y="408"/>
                </a:moveTo>
                <a:lnTo>
                  <a:pt x="176" y="412"/>
                </a:lnTo>
                <a:lnTo>
                  <a:pt x="0" y="0"/>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232" name="Google Shape;1232;p8"/>
          <p:cNvGrpSpPr/>
          <p:nvPr/>
        </p:nvGrpSpPr>
        <p:grpSpPr>
          <a:xfrm>
            <a:off x="9088957" y="3715764"/>
            <a:ext cx="1566863" cy="1987550"/>
            <a:chOff x="2366" y="929"/>
            <a:chExt cx="987" cy="1252"/>
          </a:xfrm>
        </p:grpSpPr>
        <p:graphicFrame>
          <p:nvGraphicFramePr>
            <p:cNvPr id="1233" name="Google Shape;1233;p8"/>
            <p:cNvGraphicFramePr/>
            <p:nvPr/>
          </p:nvGraphicFramePr>
          <p:xfrm>
            <a:off x="2741" y="929"/>
            <a:ext cx="333" cy="264"/>
          </p:xfrm>
          <a:graphic>
            <a:graphicData uri="http://schemas.openxmlformats.org/presentationml/2006/ole">
              <mc:AlternateContent>
                <mc:Choice Requires="v">
                  <p:oleObj r:id="rId8" imgH="264" imgW="333" progId="" spid="_x0000_s2">
                    <p:embed/>
                  </p:oleObj>
                </mc:Choice>
                <mc:Fallback>
                  <p:oleObj r:id="rId9" imgH="264" imgW="333" progId="">
                    <p:embed/>
                    <p:pic>
                      <p:nvPicPr>
                        <p:cNvPr id="1233" name="Google Shape;1233;p8"/>
                        <p:cNvPicPr preferRelativeResize="0"/>
                        <p:nvPr/>
                      </p:nvPicPr>
                      <p:blipFill rotWithShape="1">
                        <a:blip r:embed="rId7">
                          <a:alphaModFix/>
                        </a:blip>
                        <a:srcRect b="0" l="0" r="0" t="0"/>
                        <a:stretch/>
                      </p:blipFill>
                      <p:spPr>
                        <a:xfrm>
                          <a:off x="2741" y="929"/>
                          <a:ext cx="333" cy="264"/>
                        </a:xfrm>
                        <a:prstGeom prst="rect">
                          <a:avLst/>
                        </a:prstGeom>
                        <a:noFill/>
                        <a:ln>
                          <a:noFill/>
                        </a:ln>
                      </p:spPr>
                    </p:pic>
                  </p:oleObj>
                </mc:Fallback>
              </mc:AlternateContent>
            </a:graphicData>
          </a:graphic>
        </p:graphicFrame>
        <p:grpSp>
          <p:nvGrpSpPr>
            <p:cNvPr id="1234" name="Google Shape;1234;p8"/>
            <p:cNvGrpSpPr/>
            <p:nvPr/>
          </p:nvGrpSpPr>
          <p:grpSpPr>
            <a:xfrm>
              <a:off x="2366" y="1145"/>
              <a:ext cx="987" cy="1036"/>
              <a:chOff x="2956" y="969"/>
              <a:chExt cx="513" cy="529"/>
            </a:xfrm>
          </p:grpSpPr>
          <p:sp>
            <p:nvSpPr>
              <p:cNvPr id="1235" name="Google Shape;1235;p8"/>
              <p:cNvSpPr/>
              <p:nvPr/>
            </p:nvSpPr>
            <p:spPr>
              <a:xfrm>
                <a:off x="3018" y="969"/>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6" name="Google Shape;1236;p8"/>
              <p:cNvSpPr/>
              <p:nvPr/>
            </p:nvSpPr>
            <p:spPr>
              <a:xfrm>
                <a:off x="2997" y="984"/>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7" name="Google Shape;1237;p8"/>
              <p:cNvSpPr/>
              <p:nvPr/>
            </p:nvSpPr>
            <p:spPr>
              <a:xfrm>
                <a:off x="3000" y="1185"/>
                <a:ext cx="432"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8" name="Google Shape;1238;p8"/>
              <p:cNvSpPr txBox="1"/>
              <p:nvPr/>
            </p:nvSpPr>
            <p:spPr>
              <a:xfrm>
                <a:off x="2956" y="978"/>
                <a:ext cx="513" cy="5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transport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network</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data link</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physical</a:t>
                </a:r>
                <a:endParaRPr b="0" i="0" sz="2000" u="none" cap="none" strike="noStrike">
                  <a:solidFill>
                    <a:schemeClr val="dk1"/>
                  </a:solidFill>
                  <a:latin typeface="Times New Roman"/>
                  <a:ea typeface="Times New Roman"/>
                  <a:cs typeface="Times New Roman"/>
                  <a:sym typeface="Times New Roman"/>
                </a:endParaRPr>
              </a:p>
            </p:txBody>
          </p:sp>
          <p:cxnSp>
            <p:nvCxnSpPr>
              <p:cNvPr id="1239" name="Google Shape;1239;p8"/>
              <p:cNvCxnSpPr/>
              <p:nvPr/>
            </p:nvCxnSpPr>
            <p:spPr>
              <a:xfrm>
                <a:off x="2997" y="1194"/>
                <a:ext cx="435" cy="3"/>
              </a:xfrm>
              <a:prstGeom prst="straightConnector1">
                <a:avLst/>
              </a:prstGeom>
              <a:noFill/>
              <a:ln cap="flat" cmpd="sng" w="12700">
                <a:solidFill>
                  <a:schemeClr val="dk1"/>
                </a:solidFill>
                <a:prstDash val="solid"/>
                <a:round/>
                <a:headEnd len="sm" w="sm" type="none"/>
                <a:tailEnd len="sm" w="sm" type="none"/>
              </a:ln>
            </p:spPr>
          </p:cxnSp>
          <p:cxnSp>
            <p:nvCxnSpPr>
              <p:cNvPr id="1240" name="Google Shape;1240;p8"/>
              <p:cNvCxnSpPr/>
              <p:nvPr/>
            </p:nvCxnSpPr>
            <p:spPr>
              <a:xfrm>
                <a:off x="3003" y="1290"/>
                <a:ext cx="435" cy="3"/>
              </a:xfrm>
              <a:prstGeom prst="straightConnector1">
                <a:avLst/>
              </a:prstGeom>
              <a:noFill/>
              <a:ln cap="flat" cmpd="sng" w="12700">
                <a:solidFill>
                  <a:schemeClr val="dk1"/>
                </a:solidFill>
                <a:prstDash val="solid"/>
                <a:round/>
                <a:headEnd len="sm" w="sm" type="none"/>
                <a:tailEnd len="sm" w="sm" type="none"/>
              </a:ln>
            </p:spPr>
          </p:cxnSp>
          <p:cxnSp>
            <p:nvCxnSpPr>
              <p:cNvPr id="1241" name="Google Shape;1241;p8"/>
              <p:cNvCxnSpPr/>
              <p:nvPr/>
            </p:nvCxnSpPr>
            <p:spPr>
              <a:xfrm>
                <a:off x="3003" y="1374"/>
                <a:ext cx="435" cy="3"/>
              </a:xfrm>
              <a:prstGeom prst="straightConnector1">
                <a:avLst/>
              </a:prstGeom>
              <a:noFill/>
              <a:ln cap="flat" cmpd="sng" w="12700">
                <a:solidFill>
                  <a:schemeClr val="dk1"/>
                </a:solidFill>
                <a:prstDash val="solid"/>
                <a:round/>
                <a:headEnd len="sm" w="sm" type="none"/>
                <a:tailEnd len="sm" w="sm" type="none"/>
              </a:ln>
            </p:spPr>
          </p:cxnSp>
          <p:cxnSp>
            <p:nvCxnSpPr>
              <p:cNvPr id="1242" name="Google Shape;1242;p8"/>
              <p:cNvCxnSpPr/>
              <p:nvPr/>
            </p:nvCxnSpPr>
            <p:spPr>
              <a:xfrm>
                <a:off x="3003" y="1092"/>
                <a:ext cx="435" cy="3"/>
              </a:xfrm>
              <a:prstGeom prst="straightConnector1">
                <a:avLst/>
              </a:prstGeom>
              <a:noFill/>
              <a:ln cap="flat" cmpd="sng" w="12700">
                <a:solidFill>
                  <a:schemeClr val="dk1"/>
                </a:solidFill>
                <a:prstDash val="solid"/>
                <a:round/>
                <a:headEnd len="sm" w="sm" type="none"/>
                <a:tailEnd len="sm" w="sm" type="none"/>
              </a:ln>
            </p:spPr>
          </p:cxnSp>
        </p:grpSp>
      </p:grpSp>
      <p:cxnSp>
        <p:nvCxnSpPr>
          <p:cNvPr id="1243" name="Google Shape;1243;p8"/>
          <p:cNvCxnSpPr/>
          <p:nvPr/>
        </p:nvCxnSpPr>
        <p:spPr>
          <a:xfrm rot="5400000">
            <a:off x="8530157" y="4806376"/>
            <a:ext cx="6350" cy="1403350"/>
          </a:xfrm>
          <a:prstGeom prst="straightConnector1">
            <a:avLst/>
          </a:prstGeom>
          <a:noFill/>
          <a:ln cap="flat" cmpd="sng" w="12700">
            <a:solidFill>
              <a:schemeClr val="dk1"/>
            </a:solidFill>
            <a:prstDash val="solid"/>
            <a:round/>
            <a:headEnd len="sm" w="sm" type="none"/>
            <a:tailEnd len="sm" w="sm" type="none"/>
          </a:ln>
        </p:spPr>
      </p:cxnSp>
      <p:sp>
        <p:nvSpPr>
          <p:cNvPr id="1244" name="Google Shape;1244;p8"/>
          <p:cNvSpPr txBox="1"/>
          <p:nvPr/>
        </p:nvSpPr>
        <p:spPr>
          <a:xfrm>
            <a:off x="3735907" y="4749226"/>
            <a:ext cx="16700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1. Initiate call</a:t>
            </a:r>
            <a:endParaRPr b="0" i="0" sz="2400" u="none" cap="none" strike="noStrike">
              <a:solidFill>
                <a:schemeClr val="dk1"/>
              </a:solidFill>
              <a:latin typeface="Times New Roman"/>
              <a:ea typeface="Times New Roman"/>
              <a:cs typeface="Times New Roman"/>
              <a:sym typeface="Times New Roman"/>
            </a:endParaRPr>
          </a:p>
        </p:txBody>
      </p:sp>
      <p:sp>
        <p:nvSpPr>
          <p:cNvPr id="1245" name="Google Shape;1245;p8"/>
          <p:cNvSpPr/>
          <p:nvPr/>
        </p:nvSpPr>
        <p:spPr>
          <a:xfrm>
            <a:off x="3866082" y="5098476"/>
            <a:ext cx="5305425" cy="862013"/>
          </a:xfrm>
          <a:custGeom>
            <a:rect b="b" l="l" r="r" t="t"/>
            <a:pathLst>
              <a:path extrusionOk="0" h="543" w="3342">
                <a:moveTo>
                  <a:pt x="0" y="0"/>
                </a:moveTo>
                <a:lnTo>
                  <a:pt x="3" y="234"/>
                </a:lnTo>
                <a:lnTo>
                  <a:pt x="939" y="234"/>
                </a:lnTo>
                <a:lnTo>
                  <a:pt x="1617" y="543"/>
                </a:lnTo>
                <a:lnTo>
                  <a:pt x="1818" y="543"/>
                </a:lnTo>
                <a:lnTo>
                  <a:pt x="2364" y="300"/>
                </a:lnTo>
                <a:lnTo>
                  <a:pt x="3342" y="306"/>
                </a:lnTo>
                <a:lnTo>
                  <a:pt x="3336" y="12"/>
                </a:lnTo>
              </a:path>
            </a:pathLst>
          </a:custGeom>
          <a:noFill/>
          <a:ln cap="flat" cmpd="sng" w="28575">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46" name="Google Shape;1246;p8"/>
          <p:cNvSpPr txBox="1"/>
          <p:nvPr/>
        </p:nvSpPr>
        <p:spPr>
          <a:xfrm>
            <a:off x="7455420" y="4815901"/>
            <a:ext cx="17780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2. incoming call</a:t>
            </a:r>
            <a:endParaRPr b="0" i="0" sz="2400" u="none" cap="none" strike="noStrike">
              <a:solidFill>
                <a:schemeClr val="dk1"/>
              </a:solidFill>
              <a:latin typeface="Times New Roman"/>
              <a:ea typeface="Times New Roman"/>
              <a:cs typeface="Times New Roman"/>
              <a:sym typeface="Times New Roman"/>
            </a:endParaRPr>
          </a:p>
        </p:txBody>
      </p:sp>
      <p:sp>
        <p:nvSpPr>
          <p:cNvPr id="1247" name="Google Shape;1247;p8"/>
          <p:cNvSpPr txBox="1"/>
          <p:nvPr/>
        </p:nvSpPr>
        <p:spPr>
          <a:xfrm>
            <a:off x="7577657" y="4482526"/>
            <a:ext cx="16335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3. Accept call</a:t>
            </a:r>
            <a:endParaRPr b="0" i="0" sz="2400" u="none" cap="none" strike="noStrike">
              <a:solidFill>
                <a:schemeClr val="dk1"/>
              </a:solidFill>
              <a:latin typeface="Times New Roman"/>
              <a:ea typeface="Times New Roman"/>
              <a:cs typeface="Times New Roman"/>
              <a:sym typeface="Times New Roman"/>
            </a:endParaRPr>
          </a:p>
        </p:txBody>
      </p:sp>
      <p:sp>
        <p:nvSpPr>
          <p:cNvPr id="1248" name="Google Shape;1248;p8"/>
          <p:cNvSpPr/>
          <p:nvPr/>
        </p:nvSpPr>
        <p:spPr>
          <a:xfrm>
            <a:off x="3970857" y="4746051"/>
            <a:ext cx="5057775" cy="1123950"/>
          </a:xfrm>
          <a:custGeom>
            <a:rect b="b" l="l" r="r" t="t"/>
            <a:pathLst>
              <a:path extrusionOk="0" h="708" w="3186">
                <a:moveTo>
                  <a:pt x="0" y="12"/>
                </a:moveTo>
                <a:lnTo>
                  <a:pt x="0" y="381"/>
                </a:lnTo>
                <a:lnTo>
                  <a:pt x="882" y="384"/>
                </a:lnTo>
                <a:lnTo>
                  <a:pt x="1551" y="708"/>
                </a:lnTo>
                <a:lnTo>
                  <a:pt x="1742" y="708"/>
                </a:lnTo>
                <a:lnTo>
                  <a:pt x="2273" y="476"/>
                </a:lnTo>
                <a:lnTo>
                  <a:pt x="3186" y="470"/>
                </a:lnTo>
                <a:lnTo>
                  <a:pt x="3180" y="0"/>
                </a:lnTo>
              </a:path>
            </a:pathLst>
          </a:custGeom>
          <a:noFill/>
          <a:ln cap="flat" cmpd="sng" w="28575">
            <a:solidFill>
              <a:srgbClr val="FF0000"/>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49" name="Google Shape;1249;p8"/>
          <p:cNvSpPr txBox="1"/>
          <p:nvPr/>
        </p:nvSpPr>
        <p:spPr>
          <a:xfrm>
            <a:off x="3700982" y="4463476"/>
            <a:ext cx="19843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4. Call connected</a:t>
            </a:r>
            <a:endParaRPr b="0" i="0" sz="2400" u="none" cap="none" strike="noStrike">
              <a:solidFill>
                <a:schemeClr val="dk1"/>
              </a:solidFill>
              <a:latin typeface="Times New Roman"/>
              <a:ea typeface="Times New Roman"/>
              <a:cs typeface="Times New Roman"/>
              <a:sym typeface="Times New Roman"/>
            </a:endParaRPr>
          </a:p>
        </p:txBody>
      </p:sp>
      <p:sp>
        <p:nvSpPr>
          <p:cNvPr id="1250" name="Google Shape;1250;p8"/>
          <p:cNvSpPr txBox="1"/>
          <p:nvPr/>
        </p:nvSpPr>
        <p:spPr>
          <a:xfrm>
            <a:off x="3731145" y="4158676"/>
            <a:ext cx="22240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800"/>
              <a:buFont typeface="Arial"/>
              <a:buNone/>
            </a:pPr>
            <a:r>
              <a:rPr b="0" i="0" lang="en-US" sz="1800" u="none" cap="none" strike="noStrike">
                <a:solidFill>
                  <a:schemeClr val="accent2"/>
                </a:solidFill>
                <a:latin typeface="Arial"/>
                <a:ea typeface="Arial"/>
                <a:cs typeface="Arial"/>
                <a:sym typeface="Arial"/>
              </a:rPr>
              <a:t>5. Data flow begins</a:t>
            </a:r>
            <a:endParaRPr b="0" i="0" sz="2400" u="none" cap="none" strike="noStrike">
              <a:solidFill>
                <a:schemeClr val="dk1"/>
              </a:solidFill>
              <a:latin typeface="Times New Roman"/>
              <a:ea typeface="Times New Roman"/>
              <a:cs typeface="Times New Roman"/>
              <a:sym typeface="Times New Roman"/>
            </a:endParaRPr>
          </a:p>
        </p:txBody>
      </p:sp>
      <p:sp>
        <p:nvSpPr>
          <p:cNvPr id="1251" name="Google Shape;1251;p8"/>
          <p:cNvSpPr txBox="1"/>
          <p:nvPr/>
        </p:nvSpPr>
        <p:spPr>
          <a:xfrm>
            <a:off x="7412557" y="4111051"/>
            <a:ext cx="18065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1800"/>
              <a:buFont typeface="Arial"/>
              <a:buNone/>
            </a:pPr>
            <a:r>
              <a:rPr b="0" i="0" lang="en-US" sz="1800" u="none" cap="none" strike="noStrike">
                <a:solidFill>
                  <a:schemeClr val="accent2"/>
                </a:solidFill>
                <a:latin typeface="Arial"/>
                <a:ea typeface="Arial"/>
                <a:cs typeface="Arial"/>
                <a:sym typeface="Arial"/>
              </a:rPr>
              <a:t>6. Receive data</a:t>
            </a:r>
            <a:endParaRPr b="0" i="0" sz="2400" u="none" cap="none" strike="noStrike">
              <a:solidFill>
                <a:schemeClr val="dk1"/>
              </a:solidFill>
              <a:latin typeface="Times New Roman"/>
              <a:ea typeface="Times New Roman"/>
              <a:cs typeface="Times New Roman"/>
              <a:sym typeface="Times New Roman"/>
            </a:endParaRPr>
          </a:p>
        </p:txBody>
      </p:sp>
      <p:sp>
        <p:nvSpPr>
          <p:cNvPr id="1252" name="Google Shape;1252;p8"/>
          <p:cNvSpPr/>
          <p:nvPr/>
        </p:nvSpPr>
        <p:spPr>
          <a:xfrm>
            <a:off x="4037532" y="4422201"/>
            <a:ext cx="4895850" cy="1343025"/>
          </a:xfrm>
          <a:custGeom>
            <a:rect b="b" l="l" r="r" t="t"/>
            <a:pathLst>
              <a:path extrusionOk="0" h="846" w="3084">
                <a:moveTo>
                  <a:pt x="0" y="18"/>
                </a:moveTo>
                <a:lnTo>
                  <a:pt x="0" y="531"/>
                </a:lnTo>
                <a:lnTo>
                  <a:pt x="846" y="534"/>
                </a:lnTo>
                <a:lnTo>
                  <a:pt x="1485" y="846"/>
                </a:lnTo>
                <a:lnTo>
                  <a:pt x="1698" y="843"/>
                </a:lnTo>
                <a:lnTo>
                  <a:pt x="2238" y="633"/>
                </a:lnTo>
                <a:lnTo>
                  <a:pt x="3084" y="633"/>
                </a:lnTo>
                <a:lnTo>
                  <a:pt x="3081" y="0"/>
                </a:lnTo>
              </a:path>
            </a:pathLst>
          </a:custGeom>
          <a:noFill/>
          <a:ln cap="flat" cmpd="sng" w="57150">
            <a:solidFill>
              <a:schemeClr val="accent2"/>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253" name="Google Shape;1253;p8"/>
          <p:cNvGrpSpPr/>
          <p:nvPr/>
        </p:nvGrpSpPr>
        <p:grpSpPr>
          <a:xfrm>
            <a:off x="5323407" y="5339776"/>
            <a:ext cx="2530475" cy="600075"/>
            <a:chOff x="2214" y="3302"/>
            <a:chExt cx="1594" cy="378"/>
          </a:xfrm>
        </p:grpSpPr>
        <p:grpSp>
          <p:nvGrpSpPr>
            <p:cNvPr id="1254" name="Google Shape;1254;p8"/>
            <p:cNvGrpSpPr/>
            <p:nvPr/>
          </p:nvGrpSpPr>
          <p:grpSpPr>
            <a:xfrm>
              <a:off x="2214" y="3302"/>
              <a:ext cx="316" cy="147"/>
              <a:chOff x="3120" y="2318"/>
              <a:chExt cx="316" cy="147"/>
            </a:xfrm>
          </p:grpSpPr>
          <p:sp>
            <p:nvSpPr>
              <p:cNvPr id="1255" name="Google Shape;1255;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56" name="Google Shape;1256;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257" name="Google Shape;1257;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258" name="Google Shape;1258;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59" name="Google Shape;1259;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60" name="Google Shape;1260;p8"/>
              <p:cNvGrpSpPr/>
              <p:nvPr/>
            </p:nvGrpSpPr>
            <p:grpSpPr>
              <a:xfrm>
                <a:off x="3195" y="2339"/>
                <a:ext cx="156" cy="55"/>
                <a:chOff x="2848" y="848"/>
                <a:chExt cx="140" cy="98"/>
              </a:xfrm>
            </p:grpSpPr>
            <p:cxnSp>
              <p:nvCxnSpPr>
                <p:cNvPr id="1261" name="Google Shape;1261;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62" name="Google Shape;1262;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63" name="Google Shape;1263;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64" name="Google Shape;1264;p8"/>
              <p:cNvGrpSpPr/>
              <p:nvPr/>
            </p:nvGrpSpPr>
            <p:grpSpPr>
              <a:xfrm flipH="1" rot="10800000">
                <a:off x="3195" y="2338"/>
                <a:ext cx="156" cy="56"/>
                <a:chOff x="2848" y="848"/>
                <a:chExt cx="140" cy="98"/>
              </a:xfrm>
            </p:grpSpPr>
            <p:cxnSp>
              <p:nvCxnSpPr>
                <p:cNvPr id="1265" name="Google Shape;1265;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66" name="Google Shape;1266;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67" name="Google Shape;1267;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68" name="Google Shape;1268;p8"/>
            <p:cNvGrpSpPr/>
            <p:nvPr/>
          </p:nvGrpSpPr>
          <p:grpSpPr>
            <a:xfrm>
              <a:off x="2808" y="3533"/>
              <a:ext cx="316" cy="147"/>
              <a:chOff x="3120" y="2318"/>
              <a:chExt cx="316" cy="147"/>
            </a:xfrm>
          </p:grpSpPr>
          <p:sp>
            <p:nvSpPr>
              <p:cNvPr id="1269" name="Google Shape;1269;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70" name="Google Shape;1270;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271" name="Google Shape;1271;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272" name="Google Shape;1272;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73" name="Google Shape;1273;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74" name="Google Shape;1274;p8"/>
              <p:cNvGrpSpPr/>
              <p:nvPr/>
            </p:nvGrpSpPr>
            <p:grpSpPr>
              <a:xfrm>
                <a:off x="3195" y="2339"/>
                <a:ext cx="156" cy="55"/>
                <a:chOff x="2848" y="848"/>
                <a:chExt cx="140" cy="98"/>
              </a:xfrm>
            </p:grpSpPr>
            <p:cxnSp>
              <p:nvCxnSpPr>
                <p:cNvPr id="1275" name="Google Shape;1275;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76" name="Google Shape;1276;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77" name="Google Shape;1277;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78" name="Google Shape;1278;p8"/>
              <p:cNvGrpSpPr/>
              <p:nvPr/>
            </p:nvGrpSpPr>
            <p:grpSpPr>
              <a:xfrm flipH="1" rot="10800000">
                <a:off x="3195" y="2338"/>
                <a:ext cx="156" cy="56"/>
                <a:chOff x="2848" y="848"/>
                <a:chExt cx="140" cy="98"/>
              </a:xfrm>
            </p:grpSpPr>
            <p:cxnSp>
              <p:nvCxnSpPr>
                <p:cNvPr id="1279" name="Google Shape;1279;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80" name="Google Shape;1280;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81" name="Google Shape;1281;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282" name="Google Shape;1282;p8"/>
            <p:cNvGrpSpPr/>
            <p:nvPr/>
          </p:nvGrpSpPr>
          <p:grpSpPr>
            <a:xfrm>
              <a:off x="3492" y="3302"/>
              <a:ext cx="316" cy="147"/>
              <a:chOff x="3120" y="2318"/>
              <a:chExt cx="316" cy="147"/>
            </a:xfrm>
          </p:grpSpPr>
          <p:sp>
            <p:nvSpPr>
              <p:cNvPr id="1283" name="Google Shape;1283;p8"/>
              <p:cNvSpPr/>
              <p:nvPr/>
            </p:nvSpPr>
            <p:spPr>
              <a:xfrm>
                <a:off x="3123" y="2384"/>
                <a:ext cx="313" cy="81"/>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1284" name="Google Shape;1284;p8"/>
              <p:cNvCxnSpPr/>
              <p:nvPr/>
            </p:nvCxnSpPr>
            <p:spPr>
              <a:xfrm>
                <a:off x="3123" y="2377"/>
                <a:ext cx="0" cy="50"/>
              </a:xfrm>
              <a:prstGeom prst="straightConnector1">
                <a:avLst/>
              </a:prstGeom>
              <a:noFill/>
              <a:ln cap="flat" cmpd="sng" w="12700">
                <a:solidFill>
                  <a:schemeClr val="dk1"/>
                </a:solidFill>
                <a:prstDash val="solid"/>
                <a:round/>
                <a:headEnd len="sm" w="sm" type="none"/>
                <a:tailEnd len="sm" w="sm" type="none"/>
              </a:ln>
            </p:spPr>
          </p:cxnSp>
          <p:cxnSp>
            <p:nvCxnSpPr>
              <p:cNvPr id="1285" name="Google Shape;1285;p8"/>
              <p:cNvCxnSpPr/>
              <p:nvPr/>
            </p:nvCxnSpPr>
            <p:spPr>
              <a:xfrm>
                <a:off x="3436" y="2377"/>
                <a:ext cx="0" cy="50"/>
              </a:xfrm>
              <a:prstGeom prst="straightConnector1">
                <a:avLst/>
              </a:prstGeom>
              <a:noFill/>
              <a:ln cap="flat" cmpd="sng" w="12700">
                <a:solidFill>
                  <a:schemeClr val="dk1"/>
                </a:solidFill>
                <a:prstDash val="solid"/>
                <a:round/>
                <a:headEnd len="sm" w="sm" type="none"/>
                <a:tailEnd len="sm" w="sm" type="none"/>
              </a:ln>
            </p:spPr>
          </p:cxnSp>
          <p:sp>
            <p:nvSpPr>
              <p:cNvPr id="1286" name="Google Shape;1286;p8"/>
              <p:cNvSpPr/>
              <p:nvPr/>
            </p:nvSpPr>
            <p:spPr>
              <a:xfrm>
                <a:off x="3123" y="2377"/>
                <a:ext cx="310" cy="4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87" name="Google Shape;1287;p8"/>
              <p:cNvSpPr/>
              <p:nvPr/>
            </p:nvSpPr>
            <p:spPr>
              <a:xfrm>
                <a:off x="3120" y="2318"/>
                <a:ext cx="313" cy="95"/>
              </a:xfrm>
              <a:prstGeom prst="ellipse">
                <a:avLst/>
              </a:prstGeom>
              <a:solidFill>
                <a:srgbClr val="FF00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1288" name="Google Shape;1288;p8"/>
              <p:cNvGrpSpPr/>
              <p:nvPr/>
            </p:nvGrpSpPr>
            <p:grpSpPr>
              <a:xfrm>
                <a:off x="3195" y="2339"/>
                <a:ext cx="156" cy="55"/>
                <a:chOff x="2848" y="848"/>
                <a:chExt cx="140" cy="98"/>
              </a:xfrm>
            </p:grpSpPr>
            <p:cxnSp>
              <p:nvCxnSpPr>
                <p:cNvPr id="1289" name="Google Shape;1289;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90" name="Google Shape;1290;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91" name="Google Shape;1291;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292" name="Google Shape;1292;p8"/>
              <p:cNvGrpSpPr/>
              <p:nvPr/>
            </p:nvGrpSpPr>
            <p:grpSpPr>
              <a:xfrm flipH="1" rot="10800000">
                <a:off x="3195" y="2338"/>
                <a:ext cx="156" cy="56"/>
                <a:chOff x="2848" y="848"/>
                <a:chExt cx="140" cy="98"/>
              </a:xfrm>
            </p:grpSpPr>
            <p:cxnSp>
              <p:nvCxnSpPr>
                <p:cNvPr id="1293" name="Google Shape;1293;p8"/>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294" name="Google Shape;1294;p8"/>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295" name="Google Shape;1295;p8"/>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pic>
        <p:nvPicPr>
          <p:cNvPr id="1296" name="Google Shape;1296;p8"/>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id="1297" name="Google Shape;1297;p8"/>
          <p:cNvPicPr preferRelativeResize="0"/>
          <p:nvPr/>
        </p:nvPicPr>
        <p:blipFill rotWithShape="1">
          <a:blip r:embed="rId7">
            <a:alphaModFix/>
          </a:blip>
          <a:srcRect b="0" l="0" r="0" t="0"/>
          <a:stretch/>
        </p:blipFill>
        <p:spPr>
          <a:xfrm>
            <a:off x="0" y="0"/>
            <a:ext cx="0" cy="0"/>
          </a:xfrm>
          <a:prstGeom prst="rect">
            <a:avLst/>
          </a:prstGeom>
          <a:noFill/>
          <a:ln>
            <a:noFill/>
          </a:ln>
        </p:spPr>
      </p:pic>
      <p:sp>
        <p:nvSpPr>
          <p:cNvPr id="1298" name="Google Shape;1298;p8"/>
          <p:cNvSpPr txBox="1"/>
          <p:nvPr/>
        </p:nvSpPr>
        <p:spPr>
          <a:xfrm>
            <a:off x="1248550" y="866658"/>
            <a:ext cx="10538638" cy="267765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Call Setup</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A connection (virtual circuit) is established between sender and receiver before data transfer</a:t>
            </a:r>
            <a:r>
              <a:rPr b="0" i="0" lang="en-US" sz="1800" u="none" cap="none" strike="noStrike">
                <a:solidFill>
                  <a:srgbClr val="000000"/>
                </a:solidFill>
                <a:latin typeface="Corbel"/>
                <a:ea typeface="Corbel"/>
                <a:cs typeface="Corbel"/>
                <a:sym typeface="Corbel"/>
              </a:rPr>
              <a:t>.</a:t>
            </a:r>
            <a:endParaRPr b="1" i="0" sz="24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Stateful Routers</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Routers maintain information about active connections (virtual circuits).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70C0"/>
              </a:buClr>
              <a:buSzPts val="4800"/>
              <a:buFont typeface="Arial"/>
              <a:buChar char="•"/>
            </a:pPr>
            <a:r>
              <a:rPr b="1" i="0" lang="en-US" sz="2400" u="none" cap="none" strike="noStrike">
                <a:solidFill>
                  <a:srgbClr val="7D28CD"/>
                </a:solidFill>
                <a:latin typeface="Corbel"/>
                <a:ea typeface="Corbel"/>
                <a:cs typeface="Corbel"/>
                <a:sym typeface="Corbel"/>
              </a:rPr>
              <a:t>Packet Forwarding</a:t>
            </a:r>
            <a:r>
              <a:rPr b="0" i="0" lang="en-US" sz="2400" u="none" cap="none" strike="noStrike">
                <a:solidFill>
                  <a:srgbClr val="7D28CD"/>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rbel"/>
                <a:ea typeface="Corbel"/>
                <a:cs typeface="Corbel"/>
                <a:sym typeface="Corbel"/>
              </a:rPr>
              <a:t>	All packets follow the same path through the network.</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500"/>
                                        <p:tgtEl>
                                          <p:spTgt spid="12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500"/>
                                        <p:tgtEl>
                                          <p:spTgt spid="12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500"/>
                                        <p:tgtEl>
                                          <p:spTgt spid="125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500"/>
                                        <p:tgtEl>
                                          <p:spTgt spid="1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7"/>
                                        </p:tgtEl>
                                        <p:attrNameLst>
                                          <p:attrName>style.visibility</p:attrName>
                                        </p:attrNameLst>
                                      </p:cBhvr>
                                      <p:to>
                                        <p:strVal val="visible"/>
                                      </p:to>
                                    </p:set>
                                    <p:animEffect filter="fade" transition="in">
                                      <p:cBhvr>
                                        <p:cTn dur="500"/>
                                        <p:tgtEl>
                                          <p:spTgt spid="12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48"/>
                                        </p:tgtEl>
                                        <p:attrNameLst>
                                          <p:attrName>style.visibility</p:attrName>
                                        </p:attrNameLst>
                                      </p:cBhvr>
                                      <p:to>
                                        <p:strVal val="visible"/>
                                      </p:to>
                                    </p:set>
                                    <p:animEffect filter="fade" transition="in">
                                      <p:cBhvr>
                                        <p:cTn dur="500"/>
                                        <p:tgtEl>
                                          <p:spTgt spid="12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500"/>
                                        <p:tgtEl>
                                          <p:spTgt spid="1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2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Router architecture overview</a:t>
            </a:r>
            <a:endParaRPr sz="4800"/>
          </a:p>
        </p:txBody>
      </p:sp>
      <p:sp>
        <p:nvSpPr>
          <p:cNvPr id="1305" name="Google Shape;1305;p27"/>
          <p:cNvSpPr/>
          <p:nvPr/>
        </p:nvSpPr>
        <p:spPr>
          <a:xfrm>
            <a:off x="874641" y="1443590"/>
            <a:ext cx="1078727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b="0" i="0" sz="1400" u="none" cap="none" strike="noStrike">
              <a:solidFill>
                <a:srgbClr val="000000"/>
              </a:solidFill>
              <a:latin typeface="Arial"/>
              <a:ea typeface="Arial"/>
              <a:cs typeface="Arial"/>
              <a:sym typeface="Arial"/>
            </a:endParaRPr>
          </a:p>
        </p:txBody>
      </p:sp>
      <p:grpSp>
        <p:nvGrpSpPr>
          <p:cNvPr id="1306" name="Google Shape;1306;p27"/>
          <p:cNvGrpSpPr/>
          <p:nvPr/>
        </p:nvGrpSpPr>
        <p:grpSpPr>
          <a:xfrm>
            <a:off x="4324902" y="3466272"/>
            <a:ext cx="1609725" cy="2343150"/>
            <a:chOff x="2418" y="1882"/>
            <a:chExt cx="1014" cy="1476"/>
          </a:xfrm>
        </p:grpSpPr>
        <p:sp>
          <p:nvSpPr>
            <p:cNvPr id="1307" name="Google Shape;1307;p27"/>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8" name="Google Shape;1308;p27"/>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grpSp>
      <p:grpSp>
        <p:nvGrpSpPr>
          <p:cNvPr id="1309" name="Google Shape;1309;p27"/>
          <p:cNvGrpSpPr/>
          <p:nvPr/>
        </p:nvGrpSpPr>
        <p:grpSpPr>
          <a:xfrm>
            <a:off x="4342365" y="2504247"/>
            <a:ext cx="1590675" cy="1090613"/>
            <a:chOff x="4342365" y="2504247"/>
            <a:chExt cx="1590675" cy="1090613"/>
          </a:xfrm>
        </p:grpSpPr>
        <p:sp>
          <p:nvSpPr>
            <p:cNvPr id="1310" name="Google Shape;1310;p27"/>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1" name="Google Shape;1311;p27"/>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b="0" i="0" sz="1400" u="none" cap="none" strike="noStrike">
                <a:solidFill>
                  <a:srgbClr val="000000"/>
                </a:solidFill>
                <a:latin typeface="Arial"/>
                <a:ea typeface="Arial"/>
                <a:cs typeface="Arial"/>
                <a:sym typeface="Arial"/>
              </a:endParaRPr>
            </a:p>
          </p:txBody>
        </p:sp>
        <p:cxnSp>
          <p:nvCxnSpPr>
            <p:cNvPr id="1312" name="Google Shape;1312;p27"/>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1313" name="Google Shape;1313;p27"/>
          <p:cNvGrpSpPr/>
          <p:nvPr/>
        </p:nvGrpSpPr>
        <p:grpSpPr>
          <a:xfrm>
            <a:off x="2281790" y="3480560"/>
            <a:ext cx="2033587" cy="566737"/>
            <a:chOff x="930" y="1989"/>
            <a:chExt cx="1482" cy="357"/>
          </a:xfrm>
        </p:grpSpPr>
        <p:sp>
          <p:nvSpPr>
            <p:cNvPr id="1314" name="Google Shape;1314;p27"/>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5" name="Google Shape;1315;p2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6" name="Google Shape;1316;p2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7" name="Google Shape;1317;p2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18" name="Google Shape;1318;p27"/>
            <p:cNvCxnSpPr/>
            <p:nvPr/>
          </p:nvCxnSpPr>
          <p:spPr>
            <a:xfrm>
              <a:off x="930" y="2169"/>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19" name="Google Shape;1319;p27"/>
          <p:cNvGrpSpPr/>
          <p:nvPr/>
        </p:nvGrpSpPr>
        <p:grpSpPr>
          <a:xfrm>
            <a:off x="2270677" y="5218872"/>
            <a:ext cx="2058988" cy="566738"/>
            <a:chOff x="930" y="1989"/>
            <a:chExt cx="1482" cy="357"/>
          </a:xfrm>
        </p:grpSpPr>
        <p:sp>
          <p:nvSpPr>
            <p:cNvPr id="1320" name="Google Shape;1320;p27"/>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1" name="Google Shape;1321;p2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2" name="Google Shape;1322;p2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3" name="Google Shape;1323;p2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24" name="Google Shape;1324;p27"/>
            <p:cNvCxnSpPr/>
            <p:nvPr/>
          </p:nvCxnSpPr>
          <p:spPr>
            <a:xfrm>
              <a:off x="930" y="2169"/>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25" name="Google Shape;1325;p27"/>
          <p:cNvGrpSpPr/>
          <p:nvPr/>
        </p:nvGrpSpPr>
        <p:grpSpPr>
          <a:xfrm rot="2656396">
            <a:off x="2898642" y="4368931"/>
            <a:ext cx="546100" cy="546100"/>
            <a:chOff x="352" y="2715"/>
            <a:chExt cx="344" cy="344"/>
          </a:xfrm>
        </p:grpSpPr>
        <p:sp>
          <p:nvSpPr>
            <p:cNvPr id="1326" name="Google Shape;1326;p27"/>
            <p:cNvSpPr/>
            <p:nvPr/>
          </p:nvSpPr>
          <p:spPr>
            <a:xfrm>
              <a:off x="352" y="2715"/>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27"/>
            <p:cNvSpPr/>
            <p:nvPr/>
          </p:nvSpPr>
          <p:spPr>
            <a:xfrm>
              <a:off x="450" y="2811"/>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8" name="Google Shape;1328;p27"/>
            <p:cNvSpPr/>
            <p:nvPr/>
          </p:nvSpPr>
          <p:spPr>
            <a:xfrm>
              <a:off x="545" y="2907"/>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9" name="Google Shape;1329;p27"/>
            <p:cNvSpPr/>
            <p:nvPr/>
          </p:nvSpPr>
          <p:spPr>
            <a:xfrm>
              <a:off x="640" y="3003"/>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30" name="Google Shape;1330;p27"/>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b="0" i="0" sz="1400" u="none" cap="none" strike="noStrike">
              <a:solidFill>
                <a:srgbClr val="000000"/>
              </a:solidFill>
              <a:latin typeface="Arial"/>
              <a:ea typeface="Arial"/>
              <a:cs typeface="Arial"/>
              <a:sym typeface="Arial"/>
            </a:endParaRPr>
          </a:p>
        </p:txBody>
      </p:sp>
      <p:grpSp>
        <p:nvGrpSpPr>
          <p:cNvPr id="1331" name="Google Shape;1331;p27"/>
          <p:cNvGrpSpPr/>
          <p:nvPr/>
        </p:nvGrpSpPr>
        <p:grpSpPr>
          <a:xfrm>
            <a:off x="5882240" y="3485322"/>
            <a:ext cx="1957387" cy="566738"/>
            <a:chOff x="-51" y="2454"/>
            <a:chExt cx="1482" cy="357"/>
          </a:xfrm>
        </p:grpSpPr>
        <p:grpSp>
          <p:nvGrpSpPr>
            <p:cNvPr id="1332" name="Google Shape;1332;p27"/>
            <p:cNvGrpSpPr/>
            <p:nvPr/>
          </p:nvGrpSpPr>
          <p:grpSpPr>
            <a:xfrm flipH="1">
              <a:off x="173" y="2454"/>
              <a:ext cx="1084" cy="357"/>
              <a:chOff x="171" y="2454"/>
              <a:chExt cx="1084" cy="357"/>
            </a:xfrm>
          </p:grpSpPr>
          <p:sp>
            <p:nvSpPr>
              <p:cNvPr id="1333" name="Google Shape;1333;p2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4" name="Google Shape;1334;p27"/>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5" name="Google Shape;1335;p2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6" name="Google Shape;1336;p27"/>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37" name="Google Shape;1337;p27"/>
            <p:cNvCxnSpPr/>
            <p:nvPr/>
          </p:nvCxnSpPr>
          <p:spPr>
            <a:xfrm>
              <a:off x="-51" y="2634"/>
              <a:ext cx="1482" cy="0"/>
            </a:xfrm>
            <a:prstGeom prst="straightConnector1">
              <a:avLst/>
            </a:prstGeom>
            <a:noFill/>
            <a:ln cap="flat" cmpd="sng" w="28575">
              <a:solidFill>
                <a:schemeClr val="dk1"/>
              </a:solidFill>
              <a:prstDash val="solid"/>
              <a:round/>
              <a:headEnd len="sm" w="sm" type="none"/>
              <a:tailEnd len="med" w="med" type="triangle"/>
            </a:ln>
            <a:effectLst>
              <a:outerShdw blurRad="50800" rotWithShape="0" algn="tl" dir="2700000" dist="38100">
                <a:srgbClr val="000000">
                  <a:alpha val="40000"/>
                </a:srgbClr>
              </a:outerShdw>
            </a:effectLst>
          </p:spPr>
        </p:cxnSp>
      </p:grpSp>
      <p:grpSp>
        <p:nvGrpSpPr>
          <p:cNvPr id="1338" name="Google Shape;1338;p27"/>
          <p:cNvGrpSpPr/>
          <p:nvPr/>
        </p:nvGrpSpPr>
        <p:grpSpPr>
          <a:xfrm>
            <a:off x="5901290" y="5218872"/>
            <a:ext cx="2011362" cy="566738"/>
            <a:chOff x="-51" y="2454"/>
            <a:chExt cx="1482" cy="357"/>
          </a:xfrm>
        </p:grpSpPr>
        <p:grpSp>
          <p:nvGrpSpPr>
            <p:cNvPr id="1339" name="Google Shape;1339;p27"/>
            <p:cNvGrpSpPr/>
            <p:nvPr/>
          </p:nvGrpSpPr>
          <p:grpSpPr>
            <a:xfrm flipH="1">
              <a:off x="173" y="2454"/>
              <a:ext cx="1084" cy="357"/>
              <a:chOff x="171" y="2454"/>
              <a:chExt cx="1084" cy="357"/>
            </a:xfrm>
          </p:grpSpPr>
          <p:sp>
            <p:nvSpPr>
              <p:cNvPr id="1340" name="Google Shape;1340;p2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1" name="Google Shape;1341;p27"/>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2" name="Google Shape;1342;p2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27"/>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44" name="Google Shape;1344;p27"/>
            <p:cNvCxnSpPr/>
            <p:nvPr/>
          </p:nvCxnSpPr>
          <p:spPr>
            <a:xfrm>
              <a:off x="-51" y="2634"/>
              <a:ext cx="1482" cy="0"/>
            </a:xfrm>
            <a:prstGeom prst="straightConnector1">
              <a:avLst/>
            </a:prstGeom>
            <a:noFill/>
            <a:ln cap="flat" cmpd="sng" w="28575">
              <a:solidFill>
                <a:schemeClr val="dk1"/>
              </a:solidFill>
              <a:prstDash val="solid"/>
              <a:round/>
              <a:headEnd len="sm" w="sm" type="none"/>
              <a:tailEnd len="med" w="med" type="triangle"/>
            </a:ln>
          </p:spPr>
        </p:cxnSp>
      </p:grpSp>
      <p:grpSp>
        <p:nvGrpSpPr>
          <p:cNvPr id="1345" name="Google Shape;1345;p27"/>
          <p:cNvGrpSpPr/>
          <p:nvPr/>
        </p:nvGrpSpPr>
        <p:grpSpPr>
          <a:xfrm rot="2656396">
            <a:off x="6765792" y="4359406"/>
            <a:ext cx="546100" cy="546100"/>
            <a:chOff x="352" y="2715"/>
            <a:chExt cx="344" cy="344"/>
          </a:xfrm>
        </p:grpSpPr>
        <p:sp>
          <p:nvSpPr>
            <p:cNvPr id="1346" name="Google Shape;1346;p27"/>
            <p:cNvSpPr/>
            <p:nvPr/>
          </p:nvSpPr>
          <p:spPr>
            <a:xfrm>
              <a:off x="352" y="2715"/>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27"/>
            <p:cNvSpPr/>
            <p:nvPr/>
          </p:nvSpPr>
          <p:spPr>
            <a:xfrm>
              <a:off x="450" y="2811"/>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27"/>
            <p:cNvSpPr/>
            <p:nvPr/>
          </p:nvSpPr>
          <p:spPr>
            <a:xfrm>
              <a:off x="545" y="2907"/>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27"/>
            <p:cNvSpPr/>
            <p:nvPr/>
          </p:nvSpPr>
          <p:spPr>
            <a:xfrm>
              <a:off x="640" y="3003"/>
              <a:ext cx="56" cy="56"/>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50" name="Google Shape;1350;p27"/>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b="0" i="0" sz="1400" u="none" cap="none" strike="noStrike">
              <a:solidFill>
                <a:srgbClr val="000000"/>
              </a:solidFill>
              <a:latin typeface="Arial"/>
              <a:ea typeface="Arial"/>
              <a:cs typeface="Arial"/>
              <a:sym typeface="Arial"/>
            </a:endParaRPr>
          </a:p>
        </p:txBody>
      </p:sp>
      <p:cxnSp>
        <p:nvCxnSpPr>
          <p:cNvPr id="1351" name="Google Shape;1351;p27"/>
          <p:cNvCxnSpPr/>
          <p:nvPr/>
        </p:nvCxnSpPr>
        <p:spPr>
          <a:xfrm>
            <a:off x="2270677" y="3275772"/>
            <a:ext cx="7802563" cy="12700"/>
          </a:xfrm>
          <a:prstGeom prst="straightConnector1">
            <a:avLst/>
          </a:prstGeom>
          <a:noFill/>
          <a:ln cap="flat" cmpd="sng" w="9525">
            <a:solidFill>
              <a:schemeClr val="dk1"/>
            </a:solidFill>
            <a:prstDash val="dash"/>
            <a:round/>
            <a:headEnd len="sm" w="sm" type="none"/>
            <a:tailEnd len="sm" w="sm" type="none"/>
          </a:ln>
        </p:spPr>
      </p:cxnSp>
      <p:sp>
        <p:nvSpPr>
          <p:cNvPr id="1352" name="Google Shape;1352;p27"/>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1" i="0" lang="en-US" sz="1600" u="none" cap="none" strike="noStrike">
                <a:solidFill>
                  <a:srgbClr val="7D28CD"/>
                </a:solidFill>
                <a:latin typeface="Arial"/>
                <a:ea typeface="Arial"/>
                <a:cs typeface="Arial"/>
                <a:sym typeface="Arial"/>
              </a:rPr>
              <a:t>(hardware) </a:t>
            </a:r>
            <a:r>
              <a:rPr b="0" i="0" lang="en-US" sz="1600" u="none" cap="none" strike="noStrike">
                <a:solidFill>
                  <a:srgbClr val="000000"/>
                </a:solidFill>
                <a:latin typeface="Arial"/>
                <a:ea typeface="Arial"/>
                <a:cs typeface="Arial"/>
                <a:sym typeface="Arial"/>
              </a:rPr>
              <a:t>operates in nanosecond timeframe</a:t>
            </a:r>
            <a:endParaRPr b="0" i="0" sz="1400" u="none" cap="none" strike="noStrike">
              <a:solidFill>
                <a:srgbClr val="000000"/>
              </a:solidFill>
              <a:latin typeface="Arial"/>
              <a:ea typeface="Arial"/>
              <a:cs typeface="Arial"/>
              <a:sym typeface="Arial"/>
            </a:endParaRPr>
          </a:p>
        </p:txBody>
      </p:sp>
      <p:sp>
        <p:nvSpPr>
          <p:cNvPr id="1353" name="Google Shape;1353;p27"/>
          <p:cNvSpPr/>
          <p:nvPr/>
        </p:nvSpPr>
        <p:spPr>
          <a:xfrm>
            <a:off x="7490377" y="2208972"/>
            <a:ext cx="2879725" cy="1076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1" i="0" lang="en-US" sz="1600" u="none" cap="none" strike="noStrike">
                <a:solidFill>
                  <a:srgbClr val="7D28CD"/>
                </a:solidFill>
                <a:latin typeface="Arial"/>
                <a:ea typeface="Arial"/>
                <a:cs typeface="Arial"/>
                <a:sym typeface="Arial"/>
              </a:rPr>
              <a:t>(software)</a:t>
            </a:r>
            <a:endParaRPr b="1" i="0" sz="1400" u="none" cap="none" strike="noStrike">
              <a:solidFill>
                <a:srgbClr val="7D28CD"/>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b="0" i="0" sz="1400" u="none" cap="none" strike="noStrike">
              <a:solidFill>
                <a:srgbClr val="000000"/>
              </a:solidFill>
              <a:latin typeface="Arial"/>
              <a:ea typeface="Arial"/>
              <a:cs typeface="Arial"/>
              <a:sym typeface="Arial"/>
            </a:endParaRPr>
          </a:p>
        </p:txBody>
      </p:sp>
      <p:sp>
        <p:nvSpPr>
          <p:cNvPr id="1354" name="Google Shape;1354;p27"/>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5" name="Google Shape;1355;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pic>
        <p:nvPicPr>
          <p:cNvPr descr="Brain logo icon human brain icon creative simple mind symbol vector  illustration | Premium AI-generated image" id="1356" name="Google Shape;1356;p27"/>
          <p:cNvPicPr preferRelativeResize="0"/>
          <p:nvPr/>
        </p:nvPicPr>
        <p:blipFill rotWithShape="1">
          <a:blip r:embed="rId3">
            <a:alphaModFix/>
          </a:blip>
          <a:srcRect b="0" l="0" r="0" t="0"/>
          <a:stretch/>
        </p:blipFill>
        <p:spPr>
          <a:xfrm>
            <a:off x="10372906" y="2294878"/>
            <a:ext cx="980894" cy="980894"/>
          </a:xfrm>
          <a:prstGeom prst="rect">
            <a:avLst/>
          </a:prstGeom>
          <a:noFill/>
          <a:ln>
            <a:noFill/>
          </a:ln>
        </p:spPr>
      </p:pic>
      <p:sp>
        <p:nvSpPr>
          <p:cNvPr descr="data:image/jpeg;base64,/9j/4AAQSkZJRgABAQAAAQABAAD/2wCEAAkGBwgHBgkIBwgKCgkLDRYPDQwMDRsUFRAWIB0iIiAdHx8kKDQsJCYxJx8fLT0tMTU3Ojo6Iys/RD84QzQ5OjcBCgoKDQwNGg8PGjclHyU3Nzc3Nzc3Nzc3Nzc3Nzc3Nzc3Nzc3Nzc3Nzc3Nzc3Nzc3Nzc3Nzc3Nzc3Nzc3Nzc3N//AABEIAJMBCAMBIgACEQEDEQH/xAAbAAACAgMBAAAAAAAAAAAAAAAABgQFAQMHAv/EAE4QAAIBAwEFBAUIAw4EBgMAAAECAwAEEQUGEiExQRNRYZEiMnGBwQcUI0JSobHRYqLwFRYkMzQ1Q3JzgpKTssJUdNLhJSY2U4PxY4SU/8QAGgEAAgMBAQAAAAAAAAAAAAAAAwQBAgUABv/EACwRAAICAQQABQQCAwEBAAAAAAECAAMRBBIhMQUTMjNBFCJRYSNxQoGRJBX/2gAMAwEAAhEDEQA/AHRI5Jp0hgXflk9FFLYA6kk9Bwrbd2tzZSot1EgEmSrI+8CR0zgca9WFwLW9hnxwHouO4HGf28KYtWgXUdKcwMrkDtI2B4ZHH7+XvNNu5V/1MWjTpbUcdyDsowMV7F9YThh/VKKAfNTVXrRX925nHo/RemegwSB8anbLtvXk5TkY1DjqDk4z3fWquu4nudWuLQg9q7rDjru4BJ9nFjQwcWZjDAtpQuOZe6XpVv8AuchvbaOSaZQ8vaoGwTx3fdy92eZNLUQxvKDndd0Utz3QxAz44AFN2s3i2Vox47xGAB18PfSnGCsYDek5yzN3sTk/eTVqclswevCIiqO56oorZbWV7e7zWUKMqHDNK+4ue4EAknj3YphmC9zOrrZzhRma0x29tkAj5xCcZ5fSLx/buph2rnMekSIvDtBuE9wJx8aXlgv5J47c2UwlZ93fTiid5JODgDjThqdil/avDJwDKV8xg0pcyluJsaOt0rIIxE4YxwGBjOO4VmsTpNZTNb3/AAkUZD8hKPtDx7xQjpJGsiMGRuTKcg02rBhxMiyt0JDCZoo9486KtBwoozRUSMzVcByitEMyRssiDPMqQce/GPfTrpl4l9ZpNGc7yjj30n1Z7JyGK8u7XJ3MCZfDeJyPNSf71L3r8zU8Ot5KSnjKQp2JkXMeU4nj6JwfwrYzopAZ1BY4AJ5+ymfSreO3u9SEaHLXO8Sw44IDeWWbzNadL060jk1G3eJXzKQ2+Mgow3go8ADjHhUfUfqXbw7JyGi/4Ur7X6/caVNBb2ir2jrvvJIM4GcYHkaaZEEU00RP8VIyAtzIBIGfHGDSJ8oiAXVjJ1aNx5EH/dRLGOzIimmqHn7GjHsxqr6vpvbyqqyxybjY5EgZyPMeVLm2Wz3YNJqNkmYmP08Q+oTzIHcfuNS/k7k/g19F9l1bzBHwpuKggqyhkPNT1zzFcBvQZlnsOnvO3qJGym1JgC2OqSExHCxTk8V8G8O4/sHgceXGudbV7OnTJGu7RN6zkPHHHsfD2d1Y0Dae401Ba3R7W1GFVmJJh78faHhwqiWFDtaHu0wvAsqnRutFayZIZ0gmlilaSMurxIQGAxwxk9461s7/AA7qOrBhkTOsrattrdwrNtILfVLKZsFBLuMT9Xe5HzAHvrFa5I5J9Pafs5Vt2BC3GPR8GHgMA7x4Hnmq2YIxmE0+4OGAziM21Y/8HZjjKzQ7p7syKD9xIqq2ctBdanPcyAOlqAsakcA7DJPkR7MnvqZrdyLnZOG5k4GU274HHiXQ4FbdOC6Lo5nuge0c7xQHLMx5KPHkKUB+3E2WTNwc9CRtqDGt7abq4laN94j7II5+88Pf40VVO81xcy3VyVM0uMhc4VRndUHuGc+0k8M0U1WjBeZkam5WsJECKtNnZ2jumtST2Mik7vc/M47gRnPiPEk1dTNGl3NWtQwwXZk/VJ+FdaMoZ2jYi4YjNb28FoSkCqpf0m73PAZ8eleVitheGXCfOmTDEH0tzPD3Z+Na9YhNxZGNCUnLKIJF5xvnAf3ZyR1GRxzW+ztI7SPcjLMxO88jnLO3Vie//wChSM9BiLu0bPJqgjbO4kYcDvJyAfd6XnVf0zTRqulpqG4wlMcsedx8AjB5gjqPI8OfPMBNnV7PN1fuf0o0CD780xVaqrzMvU6S223cOpS9R41ZbP3dzCk1vFZSXFskhO/FgbhPEg5PE5OeGcZ8BmteNoJmiLb5BBR+W8vQkft8KsdD1OW1Etq1tLPBH9J2sK7zIGJ4MvM8c8s8PZxvac17hBaJTXeVMvra87aYxGCWLC7wLrjPGptQbXUYLqbso1mV90t9JEyHAIzzHiKm0pNmVG0aBbOO6A+ktpRID4fWHvXI99Ke1Wp6foWtNFcs0a3CLOgWMnGfRI4cvVz7TTJtLdiSOKwi9KSZwpA6KPW8hn3kUn7d6L++PWIp4LwRpbQLCwaPOWyWPXuIq9e7P2wGpWtk+84kP9+GjH+ml/yjXk7Y6P8Abn/yjVO2wlz9S+gPtRh+Fam2G1JfUubM/wB5h/to++z8TPFWkP8AlL5dstHL4JnXPNmiJC+7NMEbrIivGwZGAKsOIIPWuersTqhcBntQDzbtCfhT5Y2q2dnBaoSyxRhMnm2BzolZY+qA1NdSgeWczfU7QLOa5vZp45WjgVBG7LwZjz3Qegw3E8+PA5qDVxstdxxLPayHdPab4JGN4N188j3VW7O2W8PANvMsI7GwnXt7NhHPy7eJvpARw9In1vY2fZUB7bVnvbiaOa27ZVVQPSCuuMhgeakknIyenv2ahoQE095ZX0tlNKcu6N6JOAOKnIPLuz0yKlRmDSNNeeeYyH15ZGbeaRuWB3noB7KT5zNwnGYp2zdpAJCSTLmViwxktx/bwxSl8oqZj0+ToGkX/T+VN8O+Ik7TG/uje9tKvyiD+B2XhK34U7YMVzC0xzqf+yJ8nLHttQTvSM/jTxSL8nR/ht6O+JfxNPVdT6JGv98zDokkbRyIGjcYZTyI7jS7HsRs9JNFNNrZRTgy6eigyluZReOcf3Tw45xTHnhWFk3Lq33VdpRLG27HGWbd3xvHAGcYzx91dcoIltFca324zmXEOiG/gllnzbM5HYhcZhAzge3ic8wckcRzqZ4Lmyl7G6Kn0t1JE9U9eI6H7vwp0huElA3VlGejxMv4iqHaF0liud0DCwkcO8cc+6lUcrNTUadbV65lQOeO6r/Z+/t/3vrvlQLKLsplHHG4MH2g4yPAil5Dj0T6W6zJnvwcfCvVtZC70qJo5Xt5ZYWV3TmQ2chh14knoRyBGaNeRgGJeHgq7LGSytrpbYQJbwwW4Y9ks3psqc90qOHDiB6XLFQ9oLK4WFLlrpp4oW33jkReGRjIIA4AE8D0J498Kz1TaK7j7OGO1Mgbs+2c+uQcFgoHq8M86vNTQW+gXa3Ldp9A4kc9cjBpdWwZp2LvQrFgnFFeVB3E3vWxxrNaM8wQMzNY9MMjRnEiEOpPIEEHj4cKzWCMjGM9cMMj2Ed1cRkSUOGBjHFrUlxbRyRwlGZc4evNxtFDbxlp4pI2BA9JGIySAOIBHWqbU9r9JsmiXW7aWNpM7skJ3gcd+MHr3VAvLyy1q1E2jpM0UuVFxOxxHxIJRSc73PBwPb354QlsT0ZuUV788Swu9TvbxuJ7GLoOBb4gff7RUQ/ON7K3twPAhGH3qT5EV7NFOCpAMYmI2qtZs5mAH5vI0j54s2OPuAAx7q22d1PY3TXEADbyhHRjjIHI5495861jjyqPbX1pdNIttdQytH64RwStSygjbBo9gfeOTLx9orhx6FmQ3e+Mfcx/Cok+q6lNwEkcfuLfgV/Co1YZgilm5AZPCqilAIc665sDM1fN96QzTSyvNjHaA4IH2VxyHh18a2KgVd1QQO4+/jnvrxJHcRSo08biJvqwkb644kZIIJxxxgdwJNWkukym3F3Zzi6gK7wQrhyPAjgfIVC2Vg8S76XUuu5v+SADnHeaMipOnWFxqUMs8A7NV/i99CBNwzkE9OPPBpen2n0m2nlgnuWSSJyjqYX4MDgjl4UTzFz3FzprgBgdy4yKKo/33aJ/xZ/yZP8AprKbV6IxAF7z74nHwrt6/mV+nsH+Jl3WicIzQgzm3csVWdTjs+fuPEDgeGce/fkUNxG6QCKlhkYlan8t8y207T9RMatPLFOnRi/Z73jgIcedatetbOIIVuH+fDBWINvg9CSvRcA8eHh3HlW2Fzc2mtyQWlxNDB2SHs4pWRRw7hwp40co2lWciIiiSJJG3RujJUZPnSiV5bE2NRqdtIbHcmUo/KIR80s/GU/hTdSZ8orehYJ3tIR+r+dMW+gzN0fviR/k7/l154RD8ae6R/k6H01+/ckY+8/lTxXU+gS2u98zy7FQd0ZfGFXvbOAPvpx03T47C3CR4LtxlkxgyN3n9uA4UmycJLck4CXELMT9lZFJPkKfuFB1B5jfhqDaWmHXfQqeo40q3+Vj7Nvt4Y/oji3mBj301bwAyTSZqd2k8rmNgVmLLGR1Qn0n9nQHvpcAk4mjYwVcmRYgwgTfGHKjeHj1rfpLOkb76btoxMkUhIHMkn3Zyc+PdWuo93tBNsxam7SKOeAuAYG4MSTzVunU4OfdTdykpxMbRWAW8/MvLfUraxcScTGEwSEJGPAgYqHqWs/u1FGtupWybDlmGO0HMYHPHt59OBzUfTNrtK11XuItBd5YmG80qResfHOfurG88k0szxpGZXLGNTkJnuP357yaFTXk5Mc1l+xMKeZmiiinJiwooorp0QPlCl3tSt4s8EgDH2lj+VNWy0Yi2dsVH1ot/wAzn40l7cvvbQyqfqxoPuz8ae9FXs9HsEPS3jz/AIRQK/caaGoGNMgk6g8OdZ64pL2v2j3TJp1hKd4jE8qnl+iPiaK7BRmKU1Na21Zr2u2lMpaw06U7g9GWVTxb9EeHef2ONg9JnWf91GzHEqFIwR6+eZ9nDzqr2W0E6vddpMMWcLel03z9kfnXSkjVECIoVQMBRyAHKg1gud5juodKE8lO56rVdH+DTetwXeOOfDurbQfZnw76YIyJnKcHM2XURe3cww3rNjfTM3DeHFT63fjmDV/s1KHs5UT1UkyvgrAMo8iKXtPMS2saubtmXKej2zA7pxzHDkKstj5lVpoOI9EesMHKkx8j/Z1mYwTPTqQQDJtxdvp8626ohR5Sygk5CkM2P8QOPDFc12g2Vk1faDUbuO5jiDzAlCh9bcUnr308bSBv3bikVt1o4VZAeIJy4OQCOjcONVqJuhix3izFmP2mJJpiqrdyYjq9V5f2r3Er94c3/Hxf5J/OsNsHOQV/dCM56mI8Pvp5oo3kpEfrrvzPEadmirne3VAz34Fe6KKNjEUPM5vtz/6hl/sk/CnbZpt/QNPPdCB5cKR9tznaGbHREB/w057Jn/y9Y/1CP1jS1fuGaWqH/lSW9I3yjP8AwqwTuRiPeR+VPOa55t9J2mton1Y4FHmWPxFXv9EBoBm4Sy+TlPob9+91A9wJ+NONLHyfx7uizSAcXuDj2AKPxBpnqauFEHrDm8zy6b6bpOORyOPEVLXU70D+OuFGP6GVD5B0Y/rGo1L2t7V2+lXnzUWsk7oQZPSCgZGccQcnB9ldYFPqltNZapxX/cZri9uLmIIyM36c8pk/UUKmfE1oRN3LMxd2OWZ+bH9vLpitdncJd2sNzCGMcqB13uBGehrdUqiryJW7UWWcMYUofKJcFbaytwfXdpCPYAP91N9c++UCUtrEUX1Y4QfNj+Qqtxwsvol3XCXuwUO5opkxxlmZvbyX4UyVU7KxiLZ+xA5tEX/xEt8atqvWMIIHUHda39woooq0FCiiiunTl+17b20d6e4oB/gWuj6YP/DLT+wT/SK5ttZ/6ivh+kP9K09S6imm7Lw3rYYrbxhBn1iQMDzpes/cxmnqULVVgSDtfr/7nxfMrRgbuUemw/olPxPTzpO0PSpdXv8AsYvRiHpTP9kc/PnUdRc6rfhRvTXVw5BLdSev7dK6joulxaTZJbwjebnJJj127/y8KqP5GhXK6SrC8kyRaW0NlbQ29sgSJF3VHx99bqxIxjjLgZI5Ci8jl064+b3zK8rgNGYo2O8M4OBxPDPvz0pjcq8TMFVlgLYmaK1rPGxx6SNz3ZEKHHfggGtmQOdTkHqDKsvq4nqymhWJo2vxCyyNvKXQYycjmM8iOtYsrhLbUz2U4lDuCWUqcFhwzjhzVv8AGK8pcS2TPJGgdJSN5QcFSOGevTh7q1alcxXcahpbKOVBgdpdmNiMgkcVyOIBBHIqD0pGxW3dTe01yGscy11v+F3NrPJCzRoHjk7N2DYOCG4YPDd/WNV9zE1nPGjP2kEuVjLcwQCSvDwBwfDjXm11uLsgkzpJID6ySoCfcTz/AKufhWmR5b27juZkCJE29GOPpEgjrx68SQOQA4AlrVFgZTV+Uazu7ko8MePKjv4Hhz8K03KytbSrbndlKMELdDjga5TcLqNnNvXPzqCX6xcsCff/AN6ZezZ8TN0+n87POJ1w8Kx1xXJY9Y1NPV1K7H/zsa8zarqM6bkt9csPsNM2PLNU+oH4jA8NbPqkjaadZ9fvWDBlDhQRx9UBfhXQdmkMez1jkY+iDefH41z3Q9FutYuEWGNlgJ+knI4KM9D1PQV1ILHbwKAQsSJjJOAqgcaioHO4y2uZdi1rPWXa4jijUF3UtktgKAQOJ59fuqg2i+TzWtTvpdRtJ7GQSBcRiVgRgAcPRweXWm7S9EOoqlxeqyW+9vxxcQzDoT1Ge7hw58yAywWVtCweOCNGxjeA4+dDtfJxGNHpxWu49znWz+nXGkabDY3sLQ3I32dG6nePI8j05Zqyq52pknRYYWjjMMkgKyljvRspzjGOORnj7efWmo9TZWZ2trCWn9wrmu267u0EpH1kQ/dj4V0qud7fru66pHJrZW+9h8K68fZL+Hn+b/UcdmjnQNPI6QLVnVTsqc7O2JH/ALZHkTVtRE9Iit3uNCuY7YS9rtFdgnhGUUezdHxzXTq5LtFJ2mt6i44/TOPI4+FAv6Ec8O9xj+p0/SY+y0uzQDitug+4VLrXAu5DEv2VA8hWymB1iIMcsTCiiiukQooorp05ftaMbSX2ftL/AKVprl099Y2NsYYcCZYY3TPVgMY9/GlnbVN3aOf9JUb9UD4U57Iydps5ZsOJAKj3MR8KWTlis1tQxWhHE5tc2t1ZSBLmGa3K8t5SPI15F5N/xMn+aa7GeOO48+teRGn2R5VP05HRlf8A6Qx9yzkkSX9047CO6lz0QM34V2jQIL75rptvqzMdRjtlEzM+8wVmbAJ6nCjPiKiNlsqxPHhnJ4VP2bt5ZNWubyWZpJN0CV2+sTy4DAGAO76x947KivOYfTatbTtxiW2paTDLanC8F4kHj7x+35UsL6B3evAgd3MEeYI9mKe3wyMvPIINI8wxMpH1ZJV9uWDfnUUsQ2JbW1q1ROJgH0sgYNALAc93uPfXlsKpZiAAMkk8q51tDrLavqAitS5gjJWBV5u2MZ8+XnTNj7e5l6eg25xwBOjn1u7uHcawWCq7s2ABneJ5Comkw3NvpttFeSdpOseJD8M9cd9ado/5ivhxA7I5I7u6rZwuZQJlwuZNt7q3uVLW00cqjmY2DY8q2HjgZ4HoeQFJfye4W4vFUj1EJGMdT/3pz/b7qhG3rky19Xk2FRIsuladN/G2FpJ/WhX8q8x6NpcT5j0+0B+0IVzU3FH7fdU7RB72/MIY5ZJDDZ2sk7KMssRVd0cOrED41P07RJ7m5jm1KJYLdCGW33g7yMORcglQAeOATnryqNpl+unTyh2WNJDlWcejyAIJ6Yx16V7vtXnvz2VuxjgHrSqvrHuTPPxby8F2Lk7QJp0rQib2OTHBZFOMcBXosAcZqi2W7VtLIlYtiV1Xe5hQxA+4CrjeWQhkIZTyK8RS5mkpBAlTtSV+Z2wbmbgbp/ut8M1QVa7UTFr20txxCI0rDuzgD/dVVTlA+2YniDZthnhSF8oSj90rZsjjBjh4Mfzp6lcxxSSAZ3FyAOOTUbavYS41y3tLjSr23kZFYP2hIWTOPVIzjkeea69htxJ8PQmzcOpD2Q47N2WOgYfrNVxUe10gbPbN29rcSxtqSb7FI3LLJliQuOnEgZGO+pFWqYMsFq6SlhhXH9TO/qF4erTyf6jXYBXHL4/wq5PXtX/E0O/4jPhvbTsKeovsr1XlfUX2Zr1TAmafVCiiiukQooorp055t8m7raMPr26n35I+FMGwUvaaFuA/xUzjzAPxqq+USBhNZ3KqSm6yMw5A5yPjUz5PFkGn3TFSImlG4x5McYOPIUuoxbNSwhtIvMbKMjv5UV4fs2ZEm3txpFVwqliy5BYYHHkDR2IAMza03sFlppGjm+jFzcF47duMcatus47yRxHgBx7+6rhdDsIw3YQtAx5vDIyEnvODx99ajtNoyei1/ApH1WcKfI1pk2kspOFrcRO36DiRv8K5NIM5Y5M9HVUlQwsnzytaWvZyS9pI3BWxgn4eXlSjKd5I3XPpXcvkodfhVhJe3M7sYLd2Y/0sw3APd63ux5VWzOiMqRsWito9zfH12PEn7h7yamoZbMFqmAqIMVdutY+bwjTbdsSSjemI6Kenv/CtOw2jbkY1S5XJOfm6Y5Dq35e/vpe09H13X4xcsf4VKXk9mMkeQwK6kihEVFUBVGFUfVA4AD3UdBvYkxG8+RUta9nueqrdpP5hv/CE1ZVW7SfzDqH9g34UdvSYhV7g/uK/ydDF5fYOfQX8TTzikb5Ov5Zff2a/iaeqHT6IxrveP+oVjFeuuOtYo36ikOOOB48KwqPPLHbxD6eQ4U93ef26kd9Zqdsy0Uep3TTsBIEVUJ6JjP4l/wBsUK1iq5HcY0qCywA9S0uLf5tY2ml2xKfOHEbsDxWMDLEe4Bc/pA1LulHa2tpFlEZizKh3fQUchjxK8O7NRHuI7jaaARuGFtbOGIPDekK49+EPnWyS5j/fDuM4xFag8+Rdj/0UjPQ9CUmuMW1q5J+pGkf3Fv8AdUSt1/Klzqd5LEwZGlADDrhVU/eDWmn6xhBPO6ps3MYAn0CCAc8Md1W2iaTaXVgJZI0Ldq+Mopz6R8KqOJZI0jMkjsFjjTmx/br0pm0rTru1sxFNdbjAk7sCjA3iSclsk8+fD2ULUEYxG/DUbJb4lVrMItYnjhAVUdMADpkd3gTVfV5remXUltIYrxn31KuJUUjlzG7jH3+yqBWfeaKddyUKN5fWB8QeoqKGHUt4jWchxPYrjt6P4VdDqJGH6xrsVUlzsrpVxfNdvFIGZt5olf0GPeRz++iWoW6i+k1C0k7pbWx3raFj1QZ8qr7naHTLTUF0+SUiYsFJ3OCE8smpOq38el6dLdsoJjX0V+03ICue7OWUmsa5vXB31DdtOx+tg/E/dmudypAE6mkOrWN0J06iiiixSFFFFdImGUMm4VBXOcHFZAwoUAADliiiu+cycnGIVghuG626wOQ4xkdOoI5Ejl1rNGa7uQCV5Hcz85vxw7eAj9OE595DV5aW9c8byRD3IiD8VNIO3Oqma9+YxMwjt/SkIPNyO/wB/GmrZeK7h0S3+eytLI+XXe5op5Dy/GgAIWK4mjY161Cwt38SyZC/ozSzSr1DvkH3cvurDoOxZFCgbhAAHDu+NbKMZowUDqJF2Yjcczl+xp/8xWI/rf6GrqFcu2W9DaSx/tWH6prqNBo6Mb8Q9wH9Qqu2i/mHUP8Al2/CrGq7aH+YdQ/5Z/wNGboxOr1j+xFb5O/5Ze+MS/iaeqRfk7/lt4P/AMS/jT1Q6fRGNf7xitt1qlzYR2tvZzNEZd5pGU4OBjA/bur3sPqF3fWVyLuVpRC6qjMcnBHLx5ffVL8oMhbV4I+i248yxz+Aq2+TxMaXdMfrXGPJR+dUBJth3rVdIDiNVeHiSTdLZDLkKwYgj2EYIr3RTBGZnAkHImuKNoWY20skIY7zBSCGbHM7wPHx5+2gRHed2lmZ3I7Ru1I38cOmAOHditlFV2L+ITzrMYzMBVQKqqFUd3ICs57vbVps9pdne6Y0tzCr3JkcPJkh1OcAA8wAOHDnzOSSTWSxPb3M1tId5oX3d77YwGUnxwRnxzVEsBOIW7StWocnMudmbXJmvXA3ieyiPcowWI9rcP7opipSsL62gto7ee1lBQBe1t33Sw72OQc9/PjmpIv9NXkNRP8A+1J/10s6sWziatFtS1gAiMZAIORz5ilPXIY1DyFlRoGPZuTjP6PsI4eR6VJOp2H/ALOo/wD9Lf8AXVU0sYleaCyiWVifTkbLAe3iT7M1ARwc4l7L6SpBM1o6yIHQ5U8jWTwrwi7qANxPNjyznnw9tQdd1JdK0yS4yN/gIwerHl5c/dT2cDmefC7n2j5iht3qnzi9WwiP0VucuR1fHHyHxq/2I075lo4nYfTXOHORyX6o8sn30kaNZPq+qRQylj2jl5mPdzY/t1NdXA3VAUDA5KOgoNQ3MWM0NWwqrWlZmiiijzNhRkA4orTBdRNcNHIjSohwU31UE+OWBx/3qruEHMNTS1rbRNw41npnB8qsoLjTG3EuNMtoxJwXMKDe9jDIz4VsvtD+jFxpjFupgds73sY8QfA8OnChLeCeY2/h7gZU5lRULWL9dN02a8bgyDCqepPIVMjMcjwCRnSF2GXCZYZHDAIPXA5dah7Z7KT6zpiyaJefOPm7F3tXAVmOOnAYOOhHXnV7LAvHzBaXStYcnodznezmnvrGsqk5LRqe2nP2hnP3n411HHM8M9wqg2L002GlCeQYmuSHbI4hfqjw7/fV/UVLgZPzI1lu+wgdCFAoqVplg+oNN2UiokXoFscSxAOB3cCOPH2URmCjJgKq2scKs5Po47Lay3UAgC7KjzIrp2RnmOWaV02E1y32sjme2LWbXZl7eOVCQm8T1HrY8MZpqu4TaOqtJvo7lFJxkYBPHHA8u4UvS4BxNHXUswD/AInmq/aD+YdR/wCWf/SasKL3SLvUtn7x7RS5mgkWGNMZc4IAzkAAnrxozsFXmIaetnfj4iJ8nf8ALrw9OyH4090t/J/s1q8GpX0d3aT2pWMDemT0WOe/PH3ZpnljeGVopF3XU4I7uAPDzqlLDGIzr62D78cTnG338/J/YL+LVefJ6QdHnx/xLf6Vqr+US33NRtbjo0Rj/wAJJ/3VK+Tu5HZXlnn0t4SqOp4YOPIVQcWw9g3aMYjlRQTjnRkU1MmGRjOeFFeHdw8UcILTyuI44843mPj0GMknuFbXs7w3408qqz4Dl1YMAnRhkc+mCOeTxA40Z1U8w1dD2DK9S32Tcg3oOdztRjwO6M1Xaqwk1e9ZT6O8FyPBQD9+RTRp1hHYWqQQphV58c5PP8aobvQ7/wCeTPbiF4HkMi70hVlLHJBG6Rz6/lStbjfkzV1FL+QqL3K0nHPhWOGM1awbP3r/AMfcQRDqIwZCfYTjB9xqfDs5YJxkaedvtPMR9y4H3UY6hREk8PtYc8Rc6Z6Uc+VStYs4bC/hit3O5MjN2bMSUwV45PHBz93CjS9POpXDrKSLWLhJjgZGxkJ4YGCfaPGr+YNu6B+kY2+XIUZeeeJLaGedA+JWhTO6MHgG9UHlwJ6mt2sbPaLqsUaapDq1v2Wd1+JCZHE5AZeg506RRRwxrHEioqjAVBgAeArZjh40m9habNGmSoTlmlbO22z95NJDc/O4rnhBcboHAcSpx1PPPI45Crip+1GmR21xBqMAZU7QCeINhSzeir4+0MkZ7j1wKgU1Qftx+JmeILi3MKKKKLEYVM0xFTT4Sqgb7ZbA5lgST7c0UUvqOppeG+tpD08fOEt2m9L52spmH1WKtgHHIcO6mHZmR3s/TYn6NTx7+P5ViilR3NcyDYQRNtXeRMgMaBnVegYrGSfOR/P2UX7tbzdpAxR0mWMMOe6WAIPf76KKl+4KsAKf7lUOElwByErEe/JP317oop9PSJ56/wBxoVlQYZVkhklidniVjHIy7wJxxwePDvrFFRZ6ITS+6JaXV5cxxRRrO+6SQcnJPv51XyW8cU0bKZCzR5y8jPji3LJOOQ4Ciik6fXNjWeyZrrxp+oXdpqnzSCZlgJLbhAbiTx4njRRTN/pmfoD/ACy+1PULqBHMUu6QcD0R+VUFvI9wgnmYvLJuszN1JWiih0dxzxL0LFzb5FbQkkYZZLgBT3cxXPxJJDJvwuyMpwpU4IrFFRd65Gi5pMtLXafWo7vsRfyMnc4Vj5kZq/tNf1N/Xuc//Gv5UUVbJlWrT8Rn2Lu5r3aS3W5cOI7eSRPRAw2VXPDwZh76a9H9PaHVmfiVlCKT0ARCB+s3nRRQX7junAFfEv68sfRzWKKpCiL+0GoXVtEewlK58BSXe7S6ynq3z+9VPwoooiRVyQZP0aSS7tIbu5dpJ5vXYn8ByHupo0xjHsw8sfoyKszBh3hz+VFFEt9MW0Zzc0vyOFZNFFLzTlTtSAdnr/I/oifKlk0UU1p/mZHifYhRRRTEzJ//2Q==" id="1357" name="Google Shape;1357;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58" name="Google Shape;1358;p27"/>
          <p:cNvPicPr preferRelativeResize="0"/>
          <p:nvPr/>
        </p:nvPicPr>
        <p:blipFill rotWithShape="1">
          <a:blip r:embed="rId4">
            <a:alphaModFix/>
          </a:blip>
          <a:srcRect b="0" l="0" r="0" t="0"/>
          <a:stretch/>
        </p:blipFill>
        <p:spPr>
          <a:xfrm>
            <a:off x="10438019" y="3590223"/>
            <a:ext cx="1094340" cy="6093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6"/>
                                        </p:tgtEl>
                                        <p:attrNameLst>
                                          <p:attrName>style.visibility</p:attrName>
                                        </p:attrNameLst>
                                      </p:cBhvr>
                                      <p:to>
                                        <p:strVal val="visible"/>
                                      </p:to>
                                    </p:set>
                                    <p:animEffect filter="fade" transition="in">
                                      <p:cBhvr>
                                        <p:cTn dur="1000"/>
                                        <p:tgtEl>
                                          <p:spTgt spid="1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9"/>
                                        </p:tgtEl>
                                        <p:attrNameLst>
                                          <p:attrName>style.visibility</p:attrName>
                                        </p:attrNameLst>
                                      </p:cBhvr>
                                      <p:to>
                                        <p:strVal val="visible"/>
                                      </p:to>
                                    </p:set>
                                    <p:animEffect filter="fade" transition="in">
                                      <p:cBhvr>
                                        <p:cTn dur="500"/>
                                        <p:tgtEl>
                                          <p:spTgt spid="1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500"/>
                                        <p:tgtEl>
                                          <p:spTgt spid="1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500"/>
                                        <p:tgtEl>
                                          <p:spTgt spid="1353"/>
                                        </p:tgtEl>
                                      </p:cBhvr>
                                    </p:animEffect>
                                  </p:childTnLst>
                                </p:cTn>
                              </p:par>
                              <p:par>
                                <p:cTn fill="hold" nodeType="withEffect" presetClass="entr" presetID="1" presetSubtype="0">
                                  <p:stCondLst>
                                    <p:cond delay="0"/>
                                  </p:stCondLst>
                                  <p:childTnLst>
                                    <p:set>
                                      <p:cBhvr>
                                        <p:cTn dur="1" fill="hold">
                                          <p:stCondLst>
                                            <p:cond delay="0"/>
                                          </p:stCondLst>
                                        </p:cTn>
                                        <p:tgtEl>
                                          <p:spTgt spid="1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500"/>
                                        <p:tgtEl>
                                          <p:spTgt spid="1352"/>
                                        </p:tgtEl>
                                      </p:cBhvr>
                                    </p:animEffect>
                                  </p:childTnLst>
                                </p:cTn>
                              </p:par>
                              <p:par>
                                <p:cTn fill="hold" nodeType="with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6"/>
          <p:cNvSpPr txBox="1"/>
          <p:nvPr>
            <p:ph type="title"/>
          </p:nvPr>
        </p:nvSpPr>
        <p:spPr>
          <a:xfrm>
            <a:off x="1236117" y="0"/>
            <a:ext cx="10018713" cy="111034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Plane – the brain!</a:t>
            </a:r>
            <a:endParaRPr/>
          </a:p>
        </p:txBody>
      </p:sp>
      <p:sp>
        <p:nvSpPr>
          <p:cNvPr id="1364" name="Google Shape;1364;p6"/>
          <p:cNvSpPr txBox="1"/>
          <p:nvPr>
            <p:ph idx="1" type="body"/>
          </p:nvPr>
        </p:nvSpPr>
        <p:spPr>
          <a:xfrm>
            <a:off x="1236117" y="1651911"/>
            <a:ext cx="10833963" cy="4676503"/>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4800"/>
              <a:buChar char="•"/>
            </a:pPr>
            <a:r>
              <a:rPr lang="en-US" sz="3200"/>
              <a:t>Control plane builds the </a:t>
            </a:r>
            <a:r>
              <a:rPr b="1" lang="en-US" sz="3200">
                <a:solidFill>
                  <a:srgbClr val="7D28CD"/>
                </a:solidFill>
              </a:rPr>
              <a:t>routing table </a:t>
            </a:r>
            <a:r>
              <a:rPr lang="en-US" sz="3200"/>
              <a:t>using routing protocols.</a:t>
            </a:r>
            <a:endParaRPr/>
          </a:p>
          <a:p>
            <a:pPr indent="-394335" lvl="0" marL="457200" rtl="0" algn="l">
              <a:lnSpc>
                <a:spcPct val="100000"/>
              </a:lnSpc>
              <a:spcBef>
                <a:spcPts val="360"/>
              </a:spcBef>
              <a:spcAft>
                <a:spcPts val="0"/>
              </a:spcAft>
              <a:buSzPts val="4800"/>
              <a:buChar char="•"/>
            </a:pPr>
            <a:r>
              <a:rPr lang="en-US" sz="3200"/>
              <a:t>It creates the </a:t>
            </a:r>
            <a:r>
              <a:rPr b="1" lang="en-US" sz="3200">
                <a:solidFill>
                  <a:srgbClr val="7D28CD"/>
                </a:solidFill>
              </a:rPr>
              <a:t>forwarding table FIB </a:t>
            </a:r>
            <a:r>
              <a:rPr lang="en-US" sz="3200"/>
              <a:t>(Forwarding Information Base), a simplified version of routing table. </a:t>
            </a:r>
            <a:endParaRPr/>
          </a:p>
          <a:p>
            <a:pPr indent="-89534" lvl="0" marL="457200" rtl="0" algn="l">
              <a:lnSpc>
                <a:spcPct val="100000"/>
              </a:lnSpc>
              <a:spcBef>
                <a:spcPts val="360"/>
              </a:spcBef>
              <a:spcAft>
                <a:spcPts val="0"/>
              </a:spcAft>
              <a:buSzPts val="4800"/>
              <a:buNone/>
            </a:pPr>
            <a:r>
              <a:t/>
            </a:r>
            <a:endParaRPr sz="3200"/>
          </a:p>
          <a:p>
            <a:pPr indent="-394335" lvl="0" marL="457200" rtl="0" algn="l">
              <a:lnSpc>
                <a:spcPct val="100000"/>
              </a:lnSpc>
              <a:spcBef>
                <a:spcPts val="360"/>
              </a:spcBef>
              <a:spcAft>
                <a:spcPts val="0"/>
              </a:spcAft>
              <a:buSzPts val="4800"/>
              <a:buChar char="•"/>
            </a:pPr>
            <a:r>
              <a:rPr lang="en-US" sz="3200"/>
              <a:t>The FIB may be created using</a:t>
            </a:r>
            <a:endParaRPr/>
          </a:p>
          <a:p>
            <a:pPr indent="-375919" lvl="1" marL="914400" rtl="0" algn="l">
              <a:lnSpc>
                <a:spcPct val="100000"/>
              </a:lnSpc>
              <a:spcBef>
                <a:spcPts val="600"/>
              </a:spcBef>
              <a:spcAft>
                <a:spcPts val="0"/>
              </a:spcAft>
              <a:buSzPts val="4500"/>
              <a:buChar char="•"/>
            </a:pPr>
            <a:r>
              <a:rPr lang="en-US" sz="3000"/>
              <a:t>simple destination-based rules </a:t>
            </a:r>
            <a:endParaRPr sz="3000"/>
          </a:p>
          <a:p>
            <a:pPr indent="-375919" lvl="1" marL="914400" rtl="0" algn="l">
              <a:lnSpc>
                <a:spcPct val="100000"/>
              </a:lnSpc>
              <a:spcBef>
                <a:spcPts val="600"/>
              </a:spcBef>
              <a:spcAft>
                <a:spcPts val="0"/>
              </a:spcAft>
              <a:buSzPts val="4500"/>
              <a:buChar char="•"/>
            </a:pPr>
            <a:r>
              <a:rPr lang="en-US" sz="3000"/>
              <a:t>or more advanced generalized rules.</a:t>
            </a:r>
            <a:endParaRPr/>
          </a:p>
          <a:p>
            <a:pPr indent="-90169" lvl="1" marL="914400" rtl="0" algn="l">
              <a:lnSpc>
                <a:spcPct val="100000"/>
              </a:lnSpc>
              <a:spcBef>
                <a:spcPts val="600"/>
              </a:spcBef>
              <a:spcAft>
                <a:spcPts val="0"/>
              </a:spcAft>
              <a:buSzPts val="4500"/>
              <a:buNone/>
            </a:pPr>
            <a:r>
              <a:t/>
            </a:r>
            <a:endParaRPr sz="3000"/>
          </a:p>
          <a:p>
            <a:pPr indent="-394335" lvl="0" marL="457200" rtl="0" algn="l">
              <a:lnSpc>
                <a:spcPct val="100000"/>
              </a:lnSpc>
              <a:spcBef>
                <a:spcPts val="360"/>
              </a:spcBef>
              <a:spcAft>
                <a:spcPts val="0"/>
              </a:spcAft>
              <a:buSzPts val="4800"/>
              <a:buChar char="•"/>
            </a:pPr>
            <a:r>
              <a:rPr lang="en-US" sz="3200"/>
              <a:t>Control plane installs this FIB into every input port.</a:t>
            </a:r>
            <a:endParaRPr/>
          </a:p>
          <a:p>
            <a:pPr indent="-90169" lvl="1" marL="914400" rtl="0" algn="l">
              <a:lnSpc>
                <a:spcPct val="100000"/>
              </a:lnSpc>
              <a:spcBef>
                <a:spcPts val="600"/>
              </a:spcBef>
              <a:spcAft>
                <a:spcPts val="0"/>
              </a:spcAft>
              <a:buSzPts val="4500"/>
              <a:buNone/>
            </a:pPr>
            <a:r>
              <a:t/>
            </a:r>
            <a:endParaRPr sz="3000"/>
          </a:p>
          <a:p>
            <a:pPr indent="-108584" lvl="0" marL="457200" rtl="0" algn="l">
              <a:lnSpc>
                <a:spcPct val="100000"/>
              </a:lnSpc>
              <a:spcBef>
                <a:spcPts val="360"/>
              </a:spcBef>
              <a:spcAft>
                <a:spcPts val="0"/>
              </a:spcAft>
              <a:buSzPts val="4500"/>
              <a:buNone/>
            </a:pPr>
            <a:r>
              <a:t/>
            </a:r>
            <a:endParaRPr sz="3000"/>
          </a:p>
        </p:txBody>
      </p:sp>
      <p:sp>
        <p:nvSpPr>
          <p:cNvPr id="1365" name="Google Shape;1365;p6"/>
          <p:cNvSpPr/>
          <p:nvPr/>
        </p:nvSpPr>
        <p:spPr>
          <a:xfrm>
            <a:off x="6833302" y="6211669"/>
            <a:ext cx="467467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0099"/>
                </a:solidFill>
                <a:latin typeface="Calibri"/>
                <a:ea typeface="Calibri"/>
                <a:cs typeface="Calibri"/>
                <a:sym typeface="Calibri"/>
              </a:rPr>
              <a:t>Decentralized Switching</a:t>
            </a:r>
            <a:endParaRPr b="0" i="0" sz="3600" u="none" cap="none" strike="noStrike">
              <a:solidFill>
                <a:srgbClr val="000000"/>
              </a:solidFill>
              <a:latin typeface="Arial"/>
              <a:ea typeface="Arial"/>
              <a:cs typeface="Arial"/>
              <a:sym typeface="Arial"/>
            </a:endParaRPr>
          </a:p>
        </p:txBody>
      </p:sp>
      <p:cxnSp>
        <p:nvCxnSpPr>
          <p:cNvPr id="1366" name="Google Shape;1366;p6"/>
          <p:cNvCxnSpPr>
            <a:stCxn id="1365" idx="1"/>
          </p:cNvCxnSpPr>
          <p:nvPr/>
        </p:nvCxnSpPr>
        <p:spPr>
          <a:xfrm rot="10800000">
            <a:off x="6139402" y="6211735"/>
            <a:ext cx="693900" cy="323100"/>
          </a:xfrm>
          <a:prstGeom prst="straightConnector1">
            <a:avLst/>
          </a:prstGeom>
          <a:noFill/>
          <a:ln cap="flat" cmpd="sng" w="57150">
            <a:solidFill>
              <a:srgbClr val="C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5"/>
                                        </p:tgtEl>
                                        <p:attrNameLst>
                                          <p:attrName>style.visibility</p:attrName>
                                        </p:attrNameLst>
                                      </p:cBhvr>
                                      <p:to>
                                        <p:strVal val="visible"/>
                                      </p:to>
                                    </p:set>
                                    <p:anim calcmode="lin" valueType="num">
                                      <p:cBhvr additive="base">
                                        <p:cTn dur="500"/>
                                        <p:tgtEl>
                                          <p:spTgt spid="13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66"/>
                                        </p:tgtEl>
                                        <p:attrNameLst>
                                          <p:attrName>style.visibility</p:attrName>
                                        </p:attrNameLst>
                                      </p:cBhvr>
                                      <p:to>
                                        <p:strVal val="visible"/>
                                      </p:to>
                                    </p:set>
                                    <p:anim calcmode="lin" valueType="num">
                                      <p:cBhvr additive="base">
                                        <p:cTn dur="500"/>
                                        <p:tgtEl>
                                          <p:spTgt spid="136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
          <p:cNvSpPr txBox="1"/>
          <p:nvPr>
            <p:ph type="title"/>
          </p:nvPr>
        </p:nvSpPr>
        <p:spPr>
          <a:xfrm>
            <a:off x="1236117" y="0"/>
            <a:ext cx="10018713" cy="111034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Data Plane – the hands and legs!</a:t>
            </a:r>
            <a:endParaRPr/>
          </a:p>
        </p:txBody>
      </p:sp>
      <p:sp>
        <p:nvSpPr>
          <p:cNvPr id="1372" name="Google Shape;1372;p9"/>
          <p:cNvSpPr txBox="1"/>
          <p:nvPr>
            <p:ph idx="1" type="body"/>
          </p:nvPr>
        </p:nvSpPr>
        <p:spPr>
          <a:xfrm>
            <a:off x="1236117" y="1345474"/>
            <a:ext cx="10664146" cy="5238206"/>
          </a:xfrm>
          <a:prstGeom prst="rect">
            <a:avLst/>
          </a:prstGeom>
          <a:noFill/>
          <a:ln>
            <a:noFill/>
          </a:ln>
        </p:spPr>
        <p:txBody>
          <a:bodyPr anchorCtr="0" anchor="ctr" bIns="45700" lIns="91425" spcFirstLastPara="1" rIns="91425" wrap="square" tIns="45700">
            <a:noAutofit/>
          </a:bodyPr>
          <a:lstStyle/>
          <a:p>
            <a:pPr indent="-394335" lvl="0" marL="457200" rtl="0" algn="l">
              <a:lnSpc>
                <a:spcPct val="100000"/>
              </a:lnSpc>
              <a:spcBef>
                <a:spcPts val="360"/>
              </a:spcBef>
              <a:spcAft>
                <a:spcPts val="0"/>
              </a:spcAft>
              <a:buSzPts val="4800"/>
              <a:buChar char="•"/>
            </a:pPr>
            <a:r>
              <a:rPr lang="en-US" sz="3200">
                <a:solidFill>
                  <a:schemeClr val="dk1"/>
                </a:solidFill>
                <a:latin typeface="Calibri"/>
                <a:ea typeface="Calibri"/>
                <a:cs typeface="Calibri"/>
                <a:sym typeface="Calibri"/>
              </a:rPr>
              <a:t>How input ports use the FIB?</a:t>
            </a:r>
            <a:endParaRPr/>
          </a:p>
          <a:p>
            <a:pPr indent="-394335" lvl="0" marL="457200" rtl="0" algn="l">
              <a:lnSpc>
                <a:spcPct val="100000"/>
              </a:lnSpc>
              <a:spcBef>
                <a:spcPts val="360"/>
              </a:spcBef>
              <a:spcAft>
                <a:spcPts val="0"/>
              </a:spcAft>
              <a:buSzPts val="4800"/>
              <a:buChar char="•"/>
            </a:pPr>
            <a:r>
              <a:rPr lang="en-US" sz="3200">
                <a:solidFill>
                  <a:schemeClr val="dk1"/>
                </a:solidFill>
                <a:latin typeface="Calibri"/>
                <a:ea typeface="Calibri"/>
                <a:cs typeface="Calibri"/>
                <a:sym typeface="Calibri"/>
              </a:rPr>
              <a:t>Forwarding rules can be:</a:t>
            </a:r>
            <a:endParaRPr/>
          </a:p>
          <a:p>
            <a:pPr indent="-375919" lvl="1" marL="914400" rtl="0" algn="l">
              <a:lnSpc>
                <a:spcPct val="100000"/>
              </a:lnSpc>
              <a:spcBef>
                <a:spcPts val="600"/>
              </a:spcBef>
              <a:spcAft>
                <a:spcPts val="0"/>
              </a:spcAft>
              <a:buSzPts val="4500"/>
              <a:buChar char="•"/>
            </a:pPr>
            <a:r>
              <a:rPr b="1" lang="en-US" sz="3000">
                <a:solidFill>
                  <a:srgbClr val="7D28CD"/>
                </a:solidFill>
                <a:latin typeface="Calibri"/>
                <a:ea typeface="Calibri"/>
                <a:cs typeface="Calibri"/>
                <a:sym typeface="Calibri"/>
              </a:rPr>
              <a:t>Destination-based forwarding :</a:t>
            </a:r>
            <a:endParaRPr/>
          </a:p>
          <a:p>
            <a:pPr indent="-357505" lvl="2" marL="1371600" rtl="0" algn="l">
              <a:lnSpc>
                <a:spcPct val="100000"/>
              </a:lnSpc>
              <a:spcBef>
                <a:spcPts val="600"/>
              </a:spcBef>
              <a:spcAft>
                <a:spcPts val="0"/>
              </a:spcAft>
              <a:buSzPts val="3900"/>
              <a:buChar char="•"/>
            </a:pPr>
            <a:r>
              <a:rPr lang="en-US" sz="2600"/>
              <a:t>Uses </a:t>
            </a:r>
            <a:r>
              <a:rPr b="1" lang="en-US" sz="2600"/>
              <a:t>only destination IP</a:t>
            </a:r>
            <a:r>
              <a:rPr lang="en-US" sz="2600"/>
              <a:t> to choose output port</a:t>
            </a:r>
            <a:endParaRPr b="1" sz="2400">
              <a:solidFill>
                <a:srgbClr val="7D28CD"/>
              </a:solidFill>
              <a:latin typeface="Calibri"/>
              <a:ea typeface="Calibri"/>
              <a:cs typeface="Calibri"/>
              <a:sym typeface="Calibri"/>
            </a:endParaRPr>
          </a:p>
          <a:p>
            <a:pPr indent="-357505" lvl="2" marL="1371600" rtl="0" algn="l">
              <a:lnSpc>
                <a:spcPct val="100000"/>
              </a:lnSpc>
              <a:spcBef>
                <a:spcPts val="600"/>
              </a:spcBef>
              <a:spcAft>
                <a:spcPts val="0"/>
              </a:spcAft>
              <a:buSzPts val="3600"/>
              <a:buChar char="•"/>
            </a:pPr>
            <a:r>
              <a:rPr lang="en-US" sz="2400"/>
              <a:t>If destination = 200.20.20.0/24 → send to port s0/0/0.</a:t>
            </a:r>
            <a:endParaRPr/>
          </a:p>
          <a:p>
            <a:pPr indent="-108584" lvl="0" marL="457200" rtl="0" algn="l">
              <a:lnSpc>
                <a:spcPct val="100000"/>
              </a:lnSpc>
              <a:spcBef>
                <a:spcPts val="360"/>
              </a:spcBef>
              <a:spcAft>
                <a:spcPts val="0"/>
              </a:spcAft>
              <a:buClr>
                <a:srgbClr val="0070C0"/>
              </a:buClr>
              <a:buSzPts val="4500"/>
              <a:buNone/>
            </a:pPr>
            <a:r>
              <a:t/>
            </a:r>
            <a:endParaRPr sz="3000"/>
          </a:p>
          <a:p>
            <a:pPr indent="-375919" lvl="1" marL="914400" rtl="0" algn="l">
              <a:lnSpc>
                <a:spcPct val="100000"/>
              </a:lnSpc>
              <a:spcBef>
                <a:spcPts val="600"/>
              </a:spcBef>
              <a:spcAft>
                <a:spcPts val="0"/>
              </a:spcAft>
              <a:buClr>
                <a:srgbClr val="0070C0"/>
              </a:buClr>
              <a:buSzPts val="4500"/>
              <a:buChar char="•"/>
            </a:pPr>
            <a:r>
              <a:rPr b="1" lang="en-US" sz="3000">
                <a:solidFill>
                  <a:srgbClr val="7D28CD"/>
                </a:solidFill>
                <a:latin typeface="Calibri"/>
                <a:ea typeface="Calibri"/>
                <a:cs typeface="Calibri"/>
                <a:sym typeface="Calibri"/>
              </a:rPr>
              <a:t>Generalized forwarding</a:t>
            </a:r>
            <a:r>
              <a:rPr b="1" lang="en-US" sz="3000">
                <a:solidFill>
                  <a:srgbClr val="CC0000"/>
                </a:solidFill>
                <a:latin typeface="Calibri"/>
                <a:ea typeface="Calibri"/>
                <a:cs typeface="Calibri"/>
                <a:sym typeface="Calibri"/>
              </a:rPr>
              <a:t> </a:t>
            </a:r>
            <a:r>
              <a:rPr b="1" lang="en-US" sz="3000">
                <a:solidFill>
                  <a:srgbClr val="7D28CD"/>
                </a:solidFill>
                <a:latin typeface="Calibri"/>
                <a:ea typeface="Calibri"/>
                <a:cs typeface="Calibri"/>
                <a:sym typeface="Calibri"/>
              </a:rPr>
              <a:t>:</a:t>
            </a:r>
            <a:r>
              <a:rPr b="1" lang="en-US" sz="3000">
                <a:solidFill>
                  <a:srgbClr val="CC0000"/>
                </a:solidFill>
                <a:latin typeface="Calibri"/>
                <a:ea typeface="Calibri"/>
                <a:cs typeface="Calibri"/>
                <a:sym typeface="Calibri"/>
              </a:rPr>
              <a:t> </a:t>
            </a:r>
            <a:endParaRPr/>
          </a:p>
          <a:p>
            <a:pPr indent="-357505" lvl="2" marL="1371600" rtl="0" algn="l">
              <a:lnSpc>
                <a:spcPct val="100000"/>
              </a:lnSpc>
              <a:spcBef>
                <a:spcPts val="600"/>
              </a:spcBef>
              <a:spcAft>
                <a:spcPts val="0"/>
              </a:spcAft>
              <a:buClr>
                <a:srgbClr val="0070C0"/>
              </a:buClr>
              <a:buSzPts val="3900"/>
              <a:buChar char="•"/>
            </a:pPr>
            <a:r>
              <a:rPr lang="en-US" sz="2600"/>
              <a:t>Admins can add </a:t>
            </a:r>
            <a:r>
              <a:rPr b="1" lang="en-US" sz="2600"/>
              <a:t>multiple header fields </a:t>
            </a:r>
            <a:r>
              <a:rPr lang="en-US" sz="2600"/>
              <a:t>(IP, protocol, port, etc.) Or  special rules (QoS)</a:t>
            </a:r>
            <a:endParaRPr/>
          </a:p>
          <a:p>
            <a:pPr indent="-357505" lvl="2" marL="1371600" rtl="0" algn="l">
              <a:lnSpc>
                <a:spcPct val="100000"/>
              </a:lnSpc>
              <a:spcBef>
                <a:spcPts val="600"/>
              </a:spcBef>
              <a:spcAft>
                <a:spcPts val="0"/>
              </a:spcAft>
              <a:buClr>
                <a:srgbClr val="0070C0"/>
              </a:buClr>
              <a:buSzPts val="3900"/>
              <a:buChar char="•"/>
            </a:pPr>
            <a:r>
              <a:rPr lang="en-US" sz="2600"/>
              <a:t>If video packet (UDP, port 5000) → high-priority queue.</a:t>
            </a:r>
            <a:endParaRPr/>
          </a:p>
          <a:p>
            <a:pPr indent="-394335" lvl="0" marL="457200" rtl="0" algn="l">
              <a:lnSpc>
                <a:spcPct val="100000"/>
              </a:lnSpc>
              <a:spcBef>
                <a:spcPts val="360"/>
              </a:spcBef>
              <a:spcAft>
                <a:spcPts val="0"/>
              </a:spcAft>
              <a:buClr>
                <a:srgbClr val="0070C0"/>
              </a:buClr>
              <a:buSzPts val="4800"/>
              <a:buChar char="•"/>
            </a:pPr>
            <a:r>
              <a:rPr lang="en-US" sz="3200"/>
              <a:t>These rules are stored in the FIB created by the control plane</a:t>
            </a:r>
            <a:endParaRPr sz="3000"/>
          </a:p>
          <a:p>
            <a:pPr indent="-108584" lvl="0" marL="457200" rtl="0" algn="l">
              <a:lnSpc>
                <a:spcPct val="100000"/>
              </a:lnSpc>
              <a:spcBef>
                <a:spcPts val="360"/>
              </a:spcBef>
              <a:spcAft>
                <a:spcPts val="0"/>
              </a:spcAft>
              <a:buSzPts val="4500"/>
              <a:buNone/>
            </a:pPr>
            <a:r>
              <a:t/>
            </a:r>
            <a:endParaRPr sz="3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28"/>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Input port functions</a:t>
            </a:r>
            <a:endParaRPr sz="4800"/>
          </a:p>
        </p:txBody>
      </p:sp>
      <p:sp>
        <p:nvSpPr>
          <p:cNvPr id="1379" name="Google Shape;1379;p28"/>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80" name="Google Shape;1380;p28"/>
          <p:cNvCxnSpPr>
            <a:endCxn id="1379" idx="1"/>
          </p:cNvCxnSpPr>
          <p:nvPr/>
        </p:nvCxnSpPr>
        <p:spPr>
          <a:xfrm flipH="1" rot="10800000">
            <a:off x="1633508" y="2436917"/>
            <a:ext cx="642000" cy="8700"/>
          </a:xfrm>
          <a:prstGeom prst="straightConnector1">
            <a:avLst/>
          </a:prstGeom>
          <a:noFill/>
          <a:ln cap="flat" cmpd="sng" w="28575">
            <a:solidFill>
              <a:srgbClr val="000000"/>
            </a:solidFill>
            <a:prstDash val="solid"/>
            <a:round/>
            <a:headEnd len="sm" w="sm" type="none"/>
            <a:tailEnd len="med" w="med" type="triangle"/>
          </a:ln>
        </p:spPr>
      </p:cxnSp>
      <p:cxnSp>
        <p:nvCxnSpPr>
          <p:cNvPr id="1381" name="Google Shape;1381;p28"/>
          <p:cNvCxnSpPr/>
          <p:nvPr/>
        </p:nvCxnSpPr>
        <p:spPr>
          <a:xfrm>
            <a:off x="7326933" y="902598"/>
            <a:ext cx="11113" cy="2865437"/>
          </a:xfrm>
          <a:prstGeom prst="straightConnector1">
            <a:avLst/>
          </a:prstGeom>
          <a:noFill/>
          <a:ln cap="flat" cmpd="sng" w="9525">
            <a:solidFill>
              <a:srgbClr val="C00000"/>
            </a:solidFill>
            <a:prstDash val="solid"/>
            <a:round/>
            <a:headEnd len="sm" w="sm" type="none"/>
            <a:tailEnd len="sm" w="sm" type="none"/>
          </a:ln>
        </p:spPr>
      </p:cxnSp>
      <p:sp>
        <p:nvSpPr>
          <p:cNvPr id="1382" name="Google Shape;1382;p28"/>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sp>
        <p:nvSpPr>
          <p:cNvPr id="1383" name="Google Shape;1383;p28"/>
          <p:cNvSpPr/>
          <p:nvPr/>
        </p:nvSpPr>
        <p:spPr>
          <a:xfrm>
            <a:off x="2339028" y="1998689"/>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b="0" i="0" sz="1400" u="none" cap="none" strike="noStrike">
              <a:solidFill>
                <a:srgbClr val="000000"/>
              </a:solidFill>
              <a:latin typeface="Arial"/>
              <a:ea typeface="Arial"/>
              <a:cs typeface="Arial"/>
              <a:sym typeface="Arial"/>
            </a:endParaRPr>
          </a:p>
        </p:txBody>
      </p:sp>
      <p:sp>
        <p:nvSpPr>
          <p:cNvPr id="1384" name="Google Shape;1384;p28"/>
          <p:cNvSpPr txBox="1"/>
          <p:nvPr/>
        </p:nvSpPr>
        <p:spPr>
          <a:xfrm>
            <a:off x="1230931" y="3640705"/>
            <a:ext cx="3641515"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Arial"/>
              <a:buNone/>
            </a:pPr>
            <a:r>
              <a:rPr b="0" i="0" lang="en-US" sz="2400" u="none" cap="none" strike="noStrike">
                <a:solidFill>
                  <a:srgbClr val="000099"/>
                </a:solidFill>
                <a:latin typeface="Calibri"/>
                <a:ea typeface="Calibri"/>
                <a:cs typeface="Calibri"/>
                <a:sym typeface="Calibri"/>
              </a:rPr>
              <a:t>physical layer: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Converts signal → digital bits</a:t>
            </a:r>
            <a:endParaRPr b="0" i="0" sz="2000" u="none" cap="none" strike="noStrike">
              <a:solidFill>
                <a:srgbClr val="000000"/>
              </a:solidFill>
              <a:latin typeface="Calibri"/>
              <a:ea typeface="Calibri"/>
              <a:cs typeface="Calibri"/>
              <a:sym typeface="Calibri"/>
            </a:endParaRPr>
          </a:p>
        </p:txBody>
      </p:sp>
      <p:cxnSp>
        <p:nvCxnSpPr>
          <p:cNvPr id="1385" name="Google Shape;1385;p28"/>
          <p:cNvCxnSpPr/>
          <p:nvPr/>
        </p:nvCxnSpPr>
        <p:spPr>
          <a:xfrm flipH="1" rot="10800000">
            <a:off x="2521131" y="2859986"/>
            <a:ext cx="681299" cy="780719"/>
          </a:xfrm>
          <a:prstGeom prst="straightConnector1">
            <a:avLst/>
          </a:prstGeom>
          <a:noFill/>
          <a:ln cap="flat" cmpd="sng" w="28575">
            <a:solidFill>
              <a:srgbClr val="CC0000"/>
            </a:solidFill>
            <a:prstDash val="solid"/>
            <a:round/>
            <a:headEnd len="sm" w="sm" type="none"/>
            <a:tailEnd len="sm" w="sm" type="none"/>
          </a:ln>
        </p:spPr>
      </p:cxnSp>
      <p:sp>
        <p:nvSpPr>
          <p:cNvPr id="1386" name="Google Shape;1386;p28"/>
          <p:cNvSpPr/>
          <p:nvPr/>
        </p:nvSpPr>
        <p:spPr>
          <a:xfrm>
            <a:off x="3847465" y="1874733"/>
            <a:ext cx="1556440" cy="88207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b="0" i="0" sz="1400" u="none" cap="none" strike="noStrike">
              <a:solidFill>
                <a:srgbClr val="000000"/>
              </a:solidFill>
              <a:latin typeface="Arial"/>
              <a:ea typeface="Arial"/>
              <a:cs typeface="Arial"/>
              <a:sym typeface="Arial"/>
            </a:endParaRPr>
          </a:p>
        </p:txBody>
      </p:sp>
      <p:sp>
        <p:nvSpPr>
          <p:cNvPr id="1387" name="Google Shape;1387;p28"/>
          <p:cNvSpPr/>
          <p:nvPr/>
        </p:nvSpPr>
        <p:spPr>
          <a:xfrm>
            <a:off x="4037557" y="1633499"/>
            <a:ext cx="1119564" cy="1455353"/>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88" name="Google Shape;1388;p28"/>
          <p:cNvCxnSpPr>
            <a:stCxn id="1383" idx="3"/>
          </p:cNvCxnSpPr>
          <p:nvPr/>
        </p:nvCxnSpPr>
        <p:spPr>
          <a:xfrm>
            <a:off x="3756666" y="2413027"/>
            <a:ext cx="284700" cy="6000"/>
          </a:xfrm>
          <a:prstGeom prst="straightConnector1">
            <a:avLst/>
          </a:prstGeom>
          <a:noFill/>
          <a:ln cap="flat" cmpd="sng" w="28575">
            <a:solidFill>
              <a:srgbClr val="000000"/>
            </a:solidFill>
            <a:prstDash val="solid"/>
            <a:round/>
            <a:headEnd len="sm" w="sm" type="none"/>
            <a:tailEnd len="med" w="med" type="triangle"/>
          </a:ln>
        </p:spPr>
      </p:cxnSp>
      <p:sp>
        <p:nvSpPr>
          <p:cNvPr id="1389" name="Google Shape;1389;p28"/>
          <p:cNvSpPr txBox="1"/>
          <p:nvPr/>
        </p:nvSpPr>
        <p:spPr>
          <a:xfrm>
            <a:off x="4559920" y="4731036"/>
            <a:ext cx="4659696" cy="1785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99"/>
                </a:solidFill>
                <a:latin typeface="Calibri"/>
                <a:ea typeface="Calibri"/>
                <a:cs typeface="Calibri"/>
                <a:sym typeface="Calibri"/>
              </a:rPr>
              <a:t>link layer:</a:t>
            </a:r>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Removes data link header/trailer</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Checks for errors</a:t>
            </a:r>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Extracts the IP packet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390" name="Google Shape;1390;p28"/>
          <p:cNvCxnSpPr/>
          <p:nvPr/>
        </p:nvCxnSpPr>
        <p:spPr>
          <a:xfrm rot="10800000">
            <a:off x="4442915" y="3088852"/>
            <a:ext cx="1160933" cy="1642184"/>
          </a:xfrm>
          <a:prstGeom prst="straightConnector1">
            <a:avLst/>
          </a:prstGeom>
          <a:noFill/>
          <a:ln cap="flat" cmpd="sng" w="28575">
            <a:solidFill>
              <a:srgbClr val="CC0000"/>
            </a:solidFill>
            <a:prstDash val="solid"/>
            <a:round/>
            <a:headEnd len="sm" w="sm" type="none"/>
            <a:tailEnd len="sm" w="sm" type="none"/>
          </a:ln>
        </p:spPr>
      </p:cxnSp>
      <p:sp>
        <p:nvSpPr>
          <p:cNvPr id="1391" name="Google Shape;1391;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grpSp>
        <p:nvGrpSpPr>
          <p:cNvPr id="1392" name="Google Shape;1392;p28"/>
          <p:cNvGrpSpPr/>
          <p:nvPr/>
        </p:nvGrpSpPr>
        <p:grpSpPr>
          <a:xfrm>
            <a:off x="8046427" y="5747591"/>
            <a:ext cx="2137372" cy="695498"/>
            <a:chOff x="646967" y="5446716"/>
            <a:chExt cx="2137372" cy="695498"/>
          </a:xfrm>
        </p:grpSpPr>
        <p:pic>
          <p:nvPicPr>
            <p:cNvPr descr="Icon&#10;&#10;Description automatically generated" id="1393" name="Google Shape;1393;p28"/>
            <p:cNvPicPr preferRelativeResize="0"/>
            <p:nvPr/>
          </p:nvPicPr>
          <p:blipFill rotWithShape="1">
            <a:blip r:embed="rId3">
              <a:alphaModFix/>
            </a:blip>
            <a:srcRect b="0" l="0" r="0" t="0"/>
            <a:stretch/>
          </p:blipFill>
          <p:spPr>
            <a:xfrm>
              <a:off x="646967" y="5446716"/>
              <a:ext cx="505593" cy="695498"/>
            </a:xfrm>
            <a:prstGeom prst="rect">
              <a:avLst/>
            </a:prstGeom>
            <a:noFill/>
            <a:ln>
              <a:noFill/>
            </a:ln>
          </p:spPr>
        </p:pic>
        <p:sp>
          <p:nvSpPr>
            <p:cNvPr id="1394" name="Google Shape;1394;p28"/>
            <p:cNvSpPr txBox="1"/>
            <p:nvPr/>
          </p:nvSpPr>
          <p:spPr>
            <a:xfrm>
              <a:off x="1171610" y="5609799"/>
              <a:ext cx="161272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a:t>
              </a:r>
              <a:r>
                <a:rPr b="0" i="0" lang="en-US" sz="1800" u="none" cap="none" strike="noStrike">
                  <a:solidFill>
                    <a:srgbClr val="000000"/>
                  </a:solidFill>
                  <a:latin typeface="Calibri"/>
                  <a:ea typeface="Calibri"/>
                  <a:cs typeface="Calibri"/>
                  <a:sym typeface="Calibri"/>
                </a:rPr>
                <a:t>rame</a:t>
              </a:r>
              <a:endParaRPr b="0" i="0" sz="1400" u="none" cap="none" strike="noStrike">
                <a:solidFill>
                  <a:srgbClr val="000000"/>
                </a:solidFill>
                <a:latin typeface="Arial"/>
                <a:ea typeface="Arial"/>
                <a:cs typeface="Arial"/>
                <a:sym typeface="Arial"/>
              </a:endParaRPr>
            </a:p>
          </p:txBody>
        </p:sp>
      </p:grpSp>
      <p:cxnSp>
        <p:nvCxnSpPr>
          <p:cNvPr id="1395" name="Google Shape;1395;p28"/>
          <p:cNvCxnSpPr/>
          <p:nvPr/>
        </p:nvCxnSpPr>
        <p:spPr>
          <a:xfrm flipH="1" rot="10800000">
            <a:off x="6746936" y="2448433"/>
            <a:ext cx="736600" cy="1588"/>
          </a:xfrm>
          <a:prstGeom prst="straightConnector1">
            <a:avLst/>
          </a:prstGeom>
          <a:noFill/>
          <a:ln cap="flat" cmpd="sng" w="28575">
            <a:solidFill>
              <a:srgbClr val="000000"/>
            </a:solidFill>
            <a:prstDash val="solid"/>
            <a:round/>
            <a:headEnd len="sm" w="sm" type="none"/>
            <a:tailEnd len="med" w="med" type="triangle"/>
          </a:ln>
        </p:spPr>
      </p:cxnSp>
      <p:sp>
        <p:nvSpPr>
          <p:cNvPr id="1396" name="Google Shape;1396;p28"/>
          <p:cNvSpPr txBox="1"/>
          <p:nvPr/>
        </p:nvSpPr>
        <p:spPr>
          <a:xfrm>
            <a:off x="5583298" y="1694371"/>
            <a:ext cx="1250950" cy="1465262"/>
          </a:xfrm>
          <a:prstGeom prst="rect">
            <a:avLst/>
          </a:pr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b="0" i="0" sz="1400" u="none" cap="none" strike="noStrike">
              <a:solidFill>
                <a:srgbClr val="000000"/>
              </a:solidFill>
              <a:latin typeface="Arial"/>
              <a:ea typeface="Arial"/>
              <a:cs typeface="Arial"/>
              <a:sym typeface="Arial"/>
            </a:endParaRPr>
          </a:p>
        </p:txBody>
      </p:sp>
      <p:grpSp>
        <p:nvGrpSpPr>
          <p:cNvPr id="1397" name="Google Shape;1397;p28"/>
          <p:cNvGrpSpPr/>
          <p:nvPr/>
        </p:nvGrpSpPr>
        <p:grpSpPr>
          <a:xfrm>
            <a:off x="5678548" y="2300796"/>
            <a:ext cx="993775" cy="468312"/>
            <a:chOff x="310" y="3526"/>
            <a:chExt cx="1040" cy="457"/>
          </a:xfrm>
        </p:grpSpPr>
        <p:sp>
          <p:nvSpPr>
            <p:cNvPr id="1398" name="Google Shape;1398;p2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9" name="Google Shape;1399;p28"/>
            <p:cNvCxnSpPr/>
            <p:nvPr/>
          </p:nvCxnSpPr>
          <p:spPr>
            <a:xfrm>
              <a:off x="446"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00" name="Google Shape;1400;p28"/>
            <p:cNvCxnSpPr/>
            <p:nvPr/>
          </p:nvCxnSpPr>
          <p:spPr>
            <a:xfrm>
              <a:off x="558" y="3538"/>
              <a:ext cx="2" cy="435"/>
            </a:xfrm>
            <a:prstGeom prst="straightConnector1">
              <a:avLst/>
            </a:prstGeom>
            <a:noFill/>
            <a:ln cap="flat" cmpd="sng" w="38100">
              <a:solidFill>
                <a:srgbClr val="FFFFFF"/>
              </a:solidFill>
              <a:prstDash val="solid"/>
              <a:round/>
              <a:headEnd len="sm" w="sm" type="none"/>
              <a:tailEnd len="sm" w="sm" type="none"/>
            </a:ln>
          </p:spPr>
        </p:cxnSp>
        <p:cxnSp>
          <p:nvCxnSpPr>
            <p:cNvPr id="1401" name="Google Shape;1401;p28"/>
            <p:cNvCxnSpPr/>
            <p:nvPr/>
          </p:nvCxnSpPr>
          <p:spPr>
            <a:xfrm>
              <a:off x="671"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02" name="Google Shape;1402;p28"/>
            <p:cNvCxnSpPr/>
            <p:nvPr/>
          </p:nvCxnSpPr>
          <p:spPr>
            <a:xfrm>
              <a:off x="782"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03" name="Google Shape;1403;p28"/>
            <p:cNvCxnSpPr/>
            <p:nvPr/>
          </p:nvCxnSpPr>
          <p:spPr>
            <a:xfrm>
              <a:off x="895"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04" name="Google Shape;1404;p28"/>
            <p:cNvCxnSpPr/>
            <p:nvPr/>
          </p:nvCxnSpPr>
          <p:spPr>
            <a:xfrm>
              <a:off x="1006"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05" name="Google Shape;1405;p28"/>
            <p:cNvCxnSpPr/>
            <p:nvPr/>
          </p:nvCxnSpPr>
          <p:spPr>
            <a:xfrm>
              <a:off x="1121"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06" name="Google Shape;1406;p28"/>
            <p:cNvCxnSpPr/>
            <p:nvPr/>
          </p:nvCxnSpPr>
          <p:spPr>
            <a:xfrm>
              <a:off x="1229" y="3538"/>
              <a:ext cx="2" cy="435"/>
            </a:xfrm>
            <a:prstGeom prst="straightConnector1">
              <a:avLst/>
            </a:prstGeom>
            <a:noFill/>
            <a:ln cap="flat" cmpd="sng" w="38100">
              <a:solidFill>
                <a:srgbClr val="FFFFFF"/>
              </a:solidFill>
              <a:prstDash val="solid"/>
              <a:round/>
              <a:headEnd len="sm" w="sm" type="none"/>
              <a:tailEnd len="sm" w="sm" type="none"/>
            </a:ln>
          </p:spPr>
        </p:cxnSp>
      </p:grpSp>
      <p:cxnSp>
        <p:nvCxnSpPr>
          <p:cNvPr id="1407" name="Google Shape;1407;p28"/>
          <p:cNvCxnSpPr/>
          <p:nvPr/>
        </p:nvCxnSpPr>
        <p:spPr>
          <a:xfrm>
            <a:off x="5195948" y="2427002"/>
            <a:ext cx="396010" cy="0"/>
          </a:xfrm>
          <a:prstGeom prst="straightConnector1">
            <a:avLst/>
          </a:prstGeom>
          <a:noFill/>
          <a:ln cap="flat" cmpd="sng" w="28575">
            <a:solidFill>
              <a:srgbClr val="00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9"/>
                                        </p:tgtEl>
                                        <p:attrNameLst>
                                          <p:attrName>style.visibility</p:attrName>
                                        </p:attrNameLst>
                                      </p:cBhvr>
                                      <p:to>
                                        <p:strVal val="visible"/>
                                      </p:to>
                                    </p:set>
                                    <p:animEffect filter="fade" transition="in">
                                      <p:cBhvr>
                                        <p:cTn dur="1000"/>
                                        <p:tgtEl>
                                          <p:spTgt spid="1389"/>
                                        </p:tgtEl>
                                      </p:cBhvr>
                                    </p:animEffect>
                                  </p:childTnLst>
                                </p:cTn>
                              </p:par>
                              <p:par>
                                <p:cTn fill="hold" nodeType="with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1000"/>
                                        <p:tgtEl>
                                          <p:spTgt spid="1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2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800"/>
              <a:t>Input port functions</a:t>
            </a:r>
            <a:endParaRPr sz="4800"/>
          </a:p>
        </p:txBody>
      </p:sp>
      <p:sp>
        <p:nvSpPr>
          <p:cNvPr id="1414" name="Google Shape;1414;p29"/>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5" name="Google Shape;1415;p29"/>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b="0" i="0" sz="1400" u="none" cap="none" strike="noStrike">
              <a:solidFill>
                <a:srgbClr val="000000"/>
              </a:solidFill>
              <a:latin typeface="Arial"/>
              <a:ea typeface="Arial"/>
              <a:cs typeface="Arial"/>
              <a:sym typeface="Arial"/>
            </a:endParaRPr>
          </a:p>
        </p:txBody>
      </p:sp>
      <p:sp>
        <p:nvSpPr>
          <p:cNvPr id="1416" name="Google Shape;1416;p29"/>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17" name="Google Shape;1417;p29"/>
          <p:cNvCxnSpPr/>
          <p:nvPr/>
        </p:nvCxnSpPr>
        <p:spPr>
          <a:xfrm>
            <a:off x="1999283" y="2444060"/>
            <a:ext cx="423863" cy="0"/>
          </a:xfrm>
          <a:prstGeom prst="straightConnector1">
            <a:avLst/>
          </a:prstGeom>
          <a:noFill/>
          <a:ln cap="flat" cmpd="sng" w="28575">
            <a:solidFill>
              <a:srgbClr val="000000"/>
            </a:solidFill>
            <a:prstDash val="solid"/>
            <a:round/>
            <a:headEnd len="sm" w="sm" type="none"/>
            <a:tailEnd len="med" w="med" type="triangle"/>
          </a:ln>
        </p:spPr>
      </p:cxnSp>
      <p:cxnSp>
        <p:nvCxnSpPr>
          <p:cNvPr id="1418" name="Google Shape;1418;p29"/>
          <p:cNvCxnSpPr/>
          <p:nvPr/>
        </p:nvCxnSpPr>
        <p:spPr>
          <a:xfrm>
            <a:off x="3867771" y="2423423"/>
            <a:ext cx="190500" cy="1587"/>
          </a:xfrm>
          <a:prstGeom prst="straightConnector1">
            <a:avLst/>
          </a:prstGeom>
          <a:noFill/>
          <a:ln cap="flat" cmpd="sng" w="28575">
            <a:solidFill>
              <a:srgbClr val="000000"/>
            </a:solidFill>
            <a:prstDash val="solid"/>
            <a:round/>
            <a:headEnd len="sm" w="sm" type="none"/>
            <a:tailEnd len="med" w="med" type="triangle"/>
          </a:ln>
        </p:spPr>
      </p:cxnSp>
      <p:cxnSp>
        <p:nvCxnSpPr>
          <p:cNvPr id="1419" name="Google Shape;1419;p29"/>
          <p:cNvCxnSpPr/>
          <p:nvPr/>
        </p:nvCxnSpPr>
        <p:spPr>
          <a:xfrm>
            <a:off x="5210796" y="2380560"/>
            <a:ext cx="190500" cy="1588"/>
          </a:xfrm>
          <a:prstGeom prst="straightConnector1">
            <a:avLst/>
          </a:prstGeom>
          <a:noFill/>
          <a:ln cap="flat" cmpd="sng" w="28575">
            <a:solidFill>
              <a:srgbClr val="000000"/>
            </a:solidFill>
            <a:prstDash val="solid"/>
            <a:round/>
            <a:headEnd len="sm" w="sm" type="none"/>
            <a:tailEnd len="med" w="med" type="triangle"/>
          </a:ln>
        </p:spPr>
      </p:cxnSp>
      <p:cxnSp>
        <p:nvCxnSpPr>
          <p:cNvPr id="1420" name="Google Shape;1420;p29"/>
          <p:cNvCxnSpPr/>
          <p:nvPr/>
        </p:nvCxnSpPr>
        <p:spPr>
          <a:xfrm flipH="1" rot="10800000">
            <a:off x="6601446" y="2421835"/>
            <a:ext cx="736600" cy="1588"/>
          </a:xfrm>
          <a:prstGeom prst="straightConnector1">
            <a:avLst/>
          </a:prstGeom>
          <a:noFill/>
          <a:ln cap="flat" cmpd="sng" w="28575">
            <a:solidFill>
              <a:srgbClr val="000000"/>
            </a:solidFill>
            <a:prstDash val="solid"/>
            <a:round/>
            <a:headEnd len="sm" w="sm" type="none"/>
            <a:tailEnd len="med" w="med" type="triangle"/>
          </a:ln>
        </p:spPr>
      </p:cxnSp>
      <p:sp>
        <p:nvSpPr>
          <p:cNvPr id="1421" name="Google Shape;1421;p29"/>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b="0" i="0" sz="1400" u="none" cap="none" strike="noStrike">
              <a:solidFill>
                <a:srgbClr val="000000"/>
              </a:solidFill>
              <a:latin typeface="Arial"/>
              <a:ea typeface="Arial"/>
              <a:cs typeface="Arial"/>
              <a:sym typeface="Arial"/>
            </a:endParaRPr>
          </a:p>
        </p:txBody>
      </p:sp>
      <p:sp>
        <p:nvSpPr>
          <p:cNvPr id="1422" name="Google Shape;1422;p29"/>
          <p:cNvSpPr txBox="1"/>
          <p:nvPr/>
        </p:nvSpPr>
        <p:spPr>
          <a:xfrm>
            <a:off x="2103201" y="3814445"/>
            <a:ext cx="8189844" cy="156624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1" i="0" lang="en-US" sz="2800" u="none" cap="none" strike="noStrike">
                <a:solidFill>
                  <a:srgbClr val="0070C0"/>
                </a:solidFill>
                <a:latin typeface="Calibri"/>
                <a:ea typeface="Calibri"/>
                <a:cs typeface="Calibri"/>
                <a:sym typeface="Calibri"/>
              </a:rPr>
              <a:t>Network layer</a:t>
            </a:r>
            <a:r>
              <a:rPr b="1" i="1" lang="en-US" sz="2800" u="none" cap="none" strike="noStrike">
                <a:solidFill>
                  <a:srgbClr val="0070C0"/>
                </a:solidFill>
                <a:latin typeface="Calibri"/>
                <a:ea typeface="Calibri"/>
                <a:cs typeface="Calibri"/>
                <a:sym typeface="Calibri"/>
              </a:rPr>
              <a:t>:</a:t>
            </a:r>
            <a:r>
              <a:rPr b="1" i="0" lang="en-US" sz="2800" u="none" cap="none" strike="noStrike">
                <a:solidFill>
                  <a:srgbClr val="0070C0"/>
                </a:solidFill>
                <a:latin typeface="Calibri"/>
                <a:ea typeface="Calibri"/>
                <a:cs typeface="Calibri"/>
                <a:sym typeface="Calibri"/>
              </a:rPr>
              <a:t> </a:t>
            </a:r>
            <a:endParaRPr b="1" i="0" sz="1400" u="none" cap="none" strike="noStrike">
              <a:solidFill>
                <a:srgbClr val="0070C0"/>
              </a:solidFill>
              <a:latin typeface="Arial"/>
              <a:ea typeface="Arial"/>
              <a:cs typeface="Arial"/>
              <a:sym typeface="Arial"/>
            </a:endParaRPr>
          </a:p>
          <a:p>
            <a:pPr indent="-342900" lvl="0" marL="342900" marR="0" rtl="0" algn="l">
              <a:lnSpc>
                <a:spcPct val="90000"/>
              </a:lnSpc>
              <a:spcBef>
                <a:spcPts val="480"/>
              </a:spcBef>
              <a:spcAft>
                <a:spcPts val="0"/>
              </a:spcAft>
              <a:buClr>
                <a:srgbClr val="0070C0"/>
              </a:buClr>
              <a:buSzPts val="2400"/>
              <a:buFont typeface="Arial"/>
              <a:buChar char="•"/>
            </a:pPr>
            <a:r>
              <a:rPr b="0" i="0" lang="en-US" sz="2400" u="none" cap="none" strike="noStrike">
                <a:solidFill>
                  <a:srgbClr val="000000"/>
                </a:solidFill>
                <a:latin typeface="Calibri"/>
                <a:ea typeface="Calibri"/>
                <a:cs typeface="Calibri"/>
                <a:sym typeface="Calibri"/>
              </a:rPr>
              <a:t>Input port checks packet header</a:t>
            </a:r>
            <a:endParaRPr/>
          </a:p>
          <a:p>
            <a:pPr indent="-342900" lvl="0" marL="342900" marR="0" rtl="0" algn="l">
              <a:lnSpc>
                <a:spcPct val="90000"/>
              </a:lnSpc>
              <a:spcBef>
                <a:spcPts val="480"/>
              </a:spcBef>
              <a:spcAft>
                <a:spcPts val="0"/>
              </a:spcAft>
              <a:buClr>
                <a:srgbClr val="0070C0"/>
              </a:buClr>
              <a:buSzPts val="2400"/>
              <a:buFont typeface="Arial"/>
              <a:buChar char="•"/>
            </a:pPr>
            <a:r>
              <a:rPr b="0" i="0" lang="en-US" sz="2400" u="none" cap="none" strike="noStrike">
                <a:solidFill>
                  <a:srgbClr val="000000"/>
                </a:solidFill>
                <a:latin typeface="Calibri"/>
                <a:ea typeface="Calibri"/>
                <a:cs typeface="Calibri"/>
                <a:sym typeface="Calibri"/>
              </a:rPr>
              <a:t>Matches against local FIB copy</a:t>
            </a:r>
            <a:endParaRPr/>
          </a:p>
          <a:p>
            <a:pPr indent="-342900" lvl="0" marL="342900" marR="0" rtl="0" algn="l">
              <a:lnSpc>
                <a:spcPct val="90000"/>
              </a:lnSpc>
              <a:spcBef>
                <a:spcPts val="480"/>
              </a:spcBef>
              <a:spcAft>
                <a:spcPts val="0"/>
              </a:spcAft>
              <a:buClr>
                <a:srgbClr val="0070C0"/>
              </a:buClr>
              <a:buSzPts val="2400"/>
              <a:buFont typeface="Arial"/>
              <a:buChar char="•"/>
            </a:pPr>
            <a:r>
              <a:rPr b="0" i="0" lang="en-US" sz="2400" u="none" cap="none" strike="noStrike">
                <a:solidFill>
                  <a:srgbClr val="000000"/>
                </a:solidFill>
                <a:latin typeface="Calibri"/>
                <a:ea typeface="Calibri"/>
                <a:cs typeface="Calibri"/>
                <a:sym typeface="Calibri"/>
              </a:rPr>
              <a:t>Decides output port (using destination-based or generalized rule)</a:t>
            </a:r>
            <a:endParaRPr/>
          </a:p>
          <a:p>
            <a:pPr indent="0" lvl="0" marL="0" marR="0" rtl="0" algn="l">
              <a:lnSpc>
                <a:spcPct val="90000"/>
              </a:lnSpc>
              <a:spcBef>
                <a:spcPts val="480"/>
              </a:spcBef>
              <a:spcAft>
                <a:spcPts val="0"/>
              </a:spcAft>
              <a:buNone/>
            </a:pPr>
            <a:br>
              <a:rPr b="0" i="0" lang="en-US" sz="1200" u="none" cap="none" strike="noStrike">
                <a:solidFill>
                  <a:srgbClr val="000000"/>
                </a:solidFill>
                <a:latin typeface="Arial"/>
                <a:ea typeface="Arial"/>
                <a:cs typeface="Arial"/>
                <a:sym typeface="Arial"/>
              </a:rPr>
            </a:br>
            <a:br>
              <a:rPr b="0" i="0" lang="en-US"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p:txBody>
      </p:sp>
      <p:cxnSp>
        <p:nvCxnSpPr>
          <p:cNvPr id="1423" name="Google Shape;1423;p29"/>
          <p:cNvCxnSpPr/>
          <p:nvPr/>
        </p:nvCxnSpPr>
        <p:spPr>
          <a:xfrm>
            <a:off x="7326933" y="902598"/>
            <a:ext cx="11113" cy="2865437"/>
          </a:xfrm>
          <a:prstGeom prst="straightConnector1">
            <a:avLst/>
          </a:prstGeom>
          <a:noFill/>
          <a:ln cap="flat" cmpd="sng" w="9525">
            <a:solidFill>
              <a:srgbClr val="C00000"/>
            </a:solidFill>
            <a:prstDash val="solid"/>
            <a:round/>
            <a:headEnd len="sm" w="sm" type="none"/>
            <a:tailEnd len="sm" w="sm" type="none"/>
          </a:ln>
        </p:spPr>
      </p:cxnSp>
      <p:sp>
        <p:nvSpPr>
          <p:cNvPr id="1424" name="Google Shape;1424;p29"/>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b="0" i="0" sz="1400" u="none" cap="none" strike="noStrike">
              <a:solidFill>
                <a:srgbClr val="000000"/>
              </a:solidFill>
              <a:latin typeface="Arial"/>
              <a:ea typeface="Arial"/>
              <a:cs typeface="Arial"/>
              <a:sym typeface="Arial"/>
            </a:endParaRPr>
          </a:p>
        </p:txBody>
      </p:sp>
      <p:grpSp>
        <p:nvGrpSpPr>
          <p:cNvPr id="1425" name="Google Shape;1425;p29"/>
          <p:cNvGrpSpPr/>
          <p:nvPr/>
        </p:nvGrpSpPr>
        <p:grpSpPr>
          <a:xfrm>
            <a:off x="5533058" y="2274198"/>
            <a:ext cx="993775" cy="468312"/>
            <a:chOff x="310" y="3526"/>
            <a:chExt cx="1040" cy="457"/>
          </a:xfrm>
        </p:grpSpPr>
        <p:sp>
          <p:nvSpPr>
            <p:cNvPr id="1426" name="Google Shape;1426;p29"/>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27" name="Google Shape;1427;p29"/>
            <p:cNvCxnSpPr/>
            <p:nvPr/>
          </p:nvCxnSpPr>
          <p:spPr>
            <a:xfrm>
              <a:off x="446"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28" name="Google Shape;1428;p29"/>
            <p:cNvCxnSpPr/>
            <p:nvPr/>
          </p:nvCxnSpPr>
          <p:spPr>
            <a:xfrm>
              <a:off x="558" y="3538"/>
              <a:ext cx="2" cy="435"/>
            </a:xfrm>
            <a:prstGeom prst="straightConnector1">
              <a:avLst/>
            </a:prstGeom>
            <a:noFill/>
            <a:ln cap="flat" cmpd="sng" w="38100">
              <a:solidFill>
                <a:srgbClr val="FFFFFF"/>
              </a:solidFill>
              <a:prstDash val="solid"/>
              <a:round/>
              <a:headEnd len="sm" w="sm" type="none"/>
              <a:tailEnd len="sm" w="sm" type="none"/>
            </a:ln>
          </p:spPr>
        </p:cxnSp>
        <p:cxnSp>
          <p:nvCxnSpPr>
            <p:cNvPr id="1429" name="Google Shape;1429;p29"/>
            <p:cNvCxnSpPr/>
            <p:nvPr/>
          </p:nvCxnSpPr>
          <p:spPr>
            <a:xfrm>
              <a:off x="671"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30" name="Google Shape;1430;p29"/>
            <p:cNvCxnSpPr/>
            <p:nvPr/>
          </p:nvCxnSpPr>
          <p:spPr>
            <a:xfrm>
              <a:off x="782"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31" name="Google Shape;1431;p29"/>
            <p:cNvCxnSpPr/>
            <p:nvPr/>
          </p:nvCxnSpPr>
          <p:spPr>
            <a:xfrm>
              <a:off x="895"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32" name="Google Shape;1432;p29"/>
            <p:cNvCxnSpPr/>
            <p:nvPr/>
          </p:nvCxnSpPr>
          <p:spPr>
            <a:xfrm>
              <a:off x="1006" y="3534"/>
              <a:ext cx="2" cy="437"/>
            </a:xfrm>
            <a:prstGeom prst="straightConnector1">
              <a:avLst/>
            </a:prstGeom>
            <a:noFill/>
            <a:ln cap="flat" cmpd="sng" w="38100">
              <a:solidFill>
                <a:srgbClr val="FFFFFF"/>
              </a:solidFill>
              <a:prstDash val="solid"/>
              <a:round/>
              <a:headEnd len="sm" w="sm" type="none"/>
              <a:tailEnd len="sm" w="sm" type="none"/>
            </a:ln>
          </p:spPr>
        </p:cxnSp>
        <p:cxnSp>
          <p:nvCxnSpPr>
            <p:cNvPr id="1433" name="Google Shape;1433;p29"/>
            <p:cNvCxnSpPr/>
            <p:nvPr/>
          </p:nvCxnSpPr>
          <p:spPr>
            <a:xfrm>
              <a:off x="1121" y="3535"/>
              <a:ext cx="2" cy="437"/>
            </a:xfrm>
            <a:prstGeom prst="straightConnector1">
              <a:avLst/>
            </a:prstGeom>
            <a:noFill/>
            <a:ln cap="flat" cmpd="sng" w="38100">
              <a:solidFill>
                <a:srgbClr val="FFFFFF"/>
              </a:solidFill>
              <a:prstDash val="solid"/>
              <a:round/>
              <a:headEnd len="sm" w="sm" type="none"/>
              <a:tailEnd len="sm" w="sm" type="none"/>
            </a:ln>
          </p:spPr>
        </p:cxnSp>
        <p:cxnSp>
          <p:nvCxnSpPr>
            <p:cNvPr id="1434" name="Google Shape;1434;p29"/>
            <p:cNvCxnSpPr/>
            <p:nvPr/>
          </p:nvCxnSpPr>
          <p:spPr>
            <a:xfrm>
              <a:off x="1229" y="3538"/>
              <a:ext cx="2" cy="435"/>
            </a:xfrm>
            <a:prstGeom prst="straightConnector1">
              <a:avLst/>
            </a:prstGeom>
            <a:noFill/>
            <a:ln cap="flat" cmpd="sng" w="38100">
              <a:solidFill>
                <a:srgbClr val="FFFFFF"/>
              </a:solidFill>
              <a:prstDash val="solid"/>
              <a:round/>
              <a:headEnd len="sm" w="sm" type="none"/>
              <a:tailEnd len="sm" w="sm" type="none"/>
            </a:ln>
          </p:spPr>
        </p:cxnSp>
      </p:grpSp>
      <p:cxnSp>
        <p:nvCxnSpPr>
          <p:cNvPr id="1435" name="Google Shape;1435;p29"/>
          <p:cNvCxnSpPr/>
          <p:nvPr/>
        </p:nvCxnSpPr>
        <p:spPr>
          <a:xfrm flipH="1" rot="10800000">
            <a:off x="5267946" y="3282260"/>
            <a:ext cx="669925" cy="790575"/>
          </a:xfrm>
          <a:prstGeom prst="straightConnector1">
            <a:avLst/>
          </a:prstGeom>
          <a:noFill/>
          <a:ln cap="flat" cmpd="sng" w="38100">
            <a:solidFill>
              <a:srgbClr val="CC0000"/>
            </a:solidFill>
            <a:prstDash val="solid"/>
            <a:round/>
            <a:headEnd len="sm" w="sm" type="none"/>
            <a:tailEnd len="sm" w="sm" type="none"/>
          </a:ln>
        </p:spPr>
      </p:cxnSp>
      <p:sp>
        <p:nvSpPr>
          <p:cNvPr id="1436" name="Google Shape;1436;p29"/>
          <p:cNvSpPr/>
          <p:nvPr/>
        </p:nvSpPr>
        <p:spPr>
          <a:xfrm>
            <a:off x="4114936" y="1947588"/>
            <a:ext cx="1095859"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b="0" i="0" sz="1400" u="none" cap="none" strike="noStrike">
              <a:solidFill>
                <a:srgbClr val="000000"/>
              </a:solidFill>
              <a:latin typeface="Arial"/>
              <a:ea typeface="Arial"/>
              <a:cs typeface="Arial"/>
              <a:sym typeface="Arial"/>
            </a:endParaRPr>
          </a:p>
        </p:txBody>
      </p:sp>
      <p:sp>
        <p:nvSpPr>
          <p:cNvPr id="1437" name="Google Shape;1437;p29"/>
          <p:cNvSpPr/>
          <p:nvPr/>
        </p:nvSpPr>
        <p:spPr>
          <a:xfrm>
            <a:off x="4068372" y="1667773"/>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38" name="Google Shape;1438;p29"/>
          <p:cNvCxnSpPr/>
          <p:nvPr/>
        </p:nvCxnSpPr>
        <p:spPr>
          <a:xfrm>
            <a:off x="3881047" y="2426668"/>
            <a:ext cx="190500" cy="1587"/>
          </a:xfrm>
          <a:prstGeom prst="straightConnector1">
            <a:avLst/>
          </a:prstGeom>
          <a:noFill/>
          <a:ln cap="flat" cmpd="sng" w="28575">
            <a:solidFill>
              <a:srgbClr val="000000"/>
            </a:solidFill>
            <a:prstDash val="solid"/>
            <a:round/>
            <a:headEnd len="sm" w="sm" type="none"/>
            <a:tailEnd len="med" w="med" type="triangle"/>
          </a:ln>
        </p:spPr>
      </p:cxnSp>
      <p:sp>
        <p:nvSpPr>
          <p:cNvPr id="1439" name="Google Shape;143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000"/>
              <a:buNone/>
            </a:pPr>
            <a:r>
              <a:rPr b="0" i="0" lang="en-US" sz="1100" u="none" cap="none" strike="noStrike">
                <a:solidFill>
                  <a:srgbClr val="7F7F7F"/>
                </a:solidFill>
                <a:latin typeface="Arial"/>
                <a:ea typeface="Arial"/>
                <a:cs typeface="Arial"/>
                <a:sym typeface="Arial"/>
              </a:rPr>
              <a:t>Network Layer: 4-</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grpSp>
        <p:nvGrpSpPr>
          <p:cNvPr id="1440" name="Google Shape;1440;p29"/>
          <p:cNvGrpSpPr/>
          <p:nvPr/>
        </p:nvGrpSpPr>
        <p:grpSpPr>
          <a:xfrm>
            <a:off x="6819690" y="2769477"/>
            <a:ext cx="2235870" cy="1007085"/>
            <a:chOff x="6844333" y="2806194"/>
            <a:chExt cx="2235870" cy="1007085"/>
          </a:xfrm>
        </p:grpSpPr>
        <p:sp>
          <p:nvSpPr>
            <p:cNvPr id="1441" name="Google Shape;1441;p29"/>
            <p:cNvSpPr/>
            <p:nvPr/>
          </p:nvSpPr>
          <p:spPr>
            <a:xfrm>
              <a:off x="6844333" y="2806194"/>
              <a:ext cx="1779588" cy="1007085"/>
            </a:xfrm>
            <a:prstGeom prst="wedgeRoundRectCallout">
              <a:avLst>
                <a:gd fmla="val -64240" name="adj1"/>
                <a:gd fmla="val -54353" name="adj2"/>
                <a:gd fmla="val 16667" name="adj3"/>
              </a:avLst>
            </a:prstGeom>
            <a:solidFill>
              <a:schemeClr val="lt1"/>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Icon&#10;&#10;Description automatically generated" id="1442" name="Google Shape;1442;p29"/>
            <p:cNvPicPr preferRelativeResize="0"/>
            <p:nvPr/>
          </p:nvPicPr>
          <p:blipFill rotWithShape="1">
            <a:blip r:embed="rId3">
              <a:alphaModFix/>
            </a:blip>
            <a:srcRect b="0" l="0" r="0" t="0"/>
            <a:stretch/>
          </p:blipFill>
          <p:spPr>
            <a:xfrm>
              <a:off x="6962236" y="2971427"/>
              <a:ext cx="451829" cy="621665"/>
            </a:xfrm>
            <a:prstGeom prst="rect">
              <a:avLst/>
            </a:prstGeom>
            <a:noFill/>
            <a:ln>
              <a:noFill/>
            </a:ln>
          </p:spPr>
        </p:pic>
        <p:sp>
          <p:nvSpPr>
            <p:cNvPr id="1443" name="Google Shape;1443;p29"/>
            <p:cNvSpPr txBox="1"/>
            <p:nvPr/>
          </p:nvSpPr>
          <p:spPr>
            <a:xfrm>
              <a:off x="7467474" y="3131380"/>
              <a:ext cx="1612729"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Datagram or packet</a:t>
              </a:r>
              <a:endParaRPr b="0" i="0" sz="1400" u="none" cap="none" strike="noStrike">
                <a:solidFill>
                  <a:srgbClr val="000000"/>
                </a:solidFill>
                <a:latin typeface="Arial"/>
                <a:ea typeface="Arial"/>
                <a:cs typeface="Arial"/>
                <a:sym typeface="Arial"/>
              </a:endParaRPr>
            </a:p>
          </p:txBody>
        </p:sp>
      </p:grpSp>
      <p:sp>
        <p:nvSpPr>
          <p:cNvPr id="1444" name="Google Shape;1444;p29"/>
          <p:cNvSpPr/>
          <p:nvPr/>
        </p:nvSpPr>
        <p:spPr>
          <a:xfrm>
            <a:off x="3553446" y="5589048"/>
            <a:ext cx="6096000"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7D28CD"/>
                </a:solidFill>
                <a:latin typeface="Calibri"/>
                <a:ea typeface="Calibri"/>
                <a:cs typeface="Calibri"/>
                <a:sym typeface="Calibri"/>
              </a:rPr>
              <a:t>Input Port Queueing</a:t>
            </a:r>
            <a:endParaRPr/>
          </a:p>
          <a:p>
            <a:pPr indent="-285750" lvl="0" marL="285750" marR="0" rtl="0" algn="l">
              <a:lnSpc>
                <a:spcPct val="100000"/>
              </a:lnSpc>
              <a:spcBef>
                <a:spcPts val="0"/>
              </a:spcBef>
              <a:spcAft>
                <a:spcPts val="0"/>
              </a:spcAft>
              <a:buClr>
                <a:srgbClr val="7030A0"/>
              </a:buClr>
              <a:buSzPts val="2880"/>
              <a:buFont typeface="Arial"/>
              <a:buChar char="•"/>
            </a:pPr>
            <a:r>
              <a:rPr b="0" i="0" lang="en-US" sz="2400" u="none" cap="none" strike="noStrike">
                <a:solidFill>
                  <a:schemeClr val="dk1"/>
                </a:solidFill>
                <a:latin typeface="Calibri"/>
                <a:ea typeface="Calibri"/>
                <a:cs typeface="Calibri"/>
                <a:sym typeface="Calibri"/>
              </a:rPr>
              <a:t>If packets arrive too fast → they wait here</a:t>
            </a:r>
            <a:endParaRPr/>
          </a:p>
          <a:p>
            <a:pPr indent="-285750" lvl="0" marL="285750" marR="0" rtl="0" algn="l">
              <a:lnSpc>
                <a:spcPct val="100000"/>
              </a:lnSpc>
              <a:spcBef>
                <a:spcPts val="0"/>
              </a:spcBef>
              <a:spcAft>
                <a:spcPts val="0"/>
              </a:spcAft>
              <a:buClr>
                <a:srgbClr val="7030A0"/>
              </a:buClr>
              <a:buSzPts val="2880"/>
              <a:buFont typeface="Arial"/>
              <a:buChar char="•"/>
            </a:pPr>
            <a:r>
              <a:rPr b="0" i="0" lang="en-US" sz="2400" u="none" cap="none" strike="noStrike">
                <a:solidFill>
                  <a:schemeClr val="dk1"/>
                </a:solidFill>
                <a:latin typeface="Calibri"/>
                <a:ea typeface="Calibri"/>
                <a:cs typeface="Calibri"/>
                <a:sym typeface="Calibri"/>
              </a:rPr>
              <a:t>If queue is full → packet is dropped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4"/>
                                        </p:tgtEl>
                                        <p:attrNameLst>
                                          <p:attrName>style.visibility</p:attrName>
                                        </p:attrNameLst>
                                      </p:cBhvr>
                                      <p:to>
                                        <p:strVal val="visible"/>
                                      </p:to>
                                    </p:set>
                                    <p:animEffect filter="fade" transition="in">
                                      <p:cBhvr>
                                        <p:cTn dur="1000"/>
                                        <p:tgtEl>
                                          <p:spTgt spid="1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7"/>
                                        </p:tgtEl>
                                        <p:attrNameLst>
                                          <p:attrName>style.visibility</p:attrName>
                                        </p:attrNameLst>
                                      </p:cBhvr>
                                      <p:to>
                                        <p:strVal val="visible"/>
                                      </p:to>
                                    </p:set>
                                    <p:animEffect filter="fade" transition="in">
                                      <p:cBhvr>
                                        <p:cTn dur="500"/>
                                        <p:tgtEl>
                                          <p:spTgt spid="1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10"/>
          <p:cNvSpPr txBox="1"/>
          <p:nvPr>
            <p:ph type="title"/>
          </p:nvPr>
        </p:nvSpPr>
        <p:spPr>
          <a:xfrm>
            <a:off x="1484310" y="325395"/>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Internet Protocol</a:t>
            </a:r>
            <a:br>
              <a:rPr lang="en-US" sz="7200"/>
            </a:br>
            <a:r>
              <a:rPr lang="en-US" sz="7200"/>
              <a:t>IPv4</a:t>
            </a:r>
            <a:endParaRPr/>
          </a:p>
        </p:txBody>
      </p:sp>
      <p:pic>
        <p:nvPicPr>
          <p:cNvPr id="1450" name="Google Shape;1450;p1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Internet Network Layer</a:t>
            </a:r>
            <a:endParaRPr/>
          </a:p>
        </p:txBody>
      </p:sp>
      <p:sp>
        <p:nvSpPr>
          <p:cNvPr id="1456" name="Google Shape;1456;p11"/>
          <p:cNvSpPr txBox="1"/>
          <p:nvPr>
            <p:ph idx="1" type="body"/>
          </p:nvPr>
        </p:nvSpPr>
        <p:spPr>
          <a:xfrm>
            <a:off x="1484310" y="1066801"/>
            <a:ext cx="10018713" cy="47244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Host, router network layer functions:</a:t>
            </a:r>
            <a:endParaRPr/>
          </a:p>
        </p:txBody>
      </p:sp>
      <p:pic>
        <p:nvPicPr>
          <p:cNvPr id="1457" name="Google Shape;1457;p11"/>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458" name="Google Shape;1458;p11"/>
          <p:cNvSpPr/>
          <p:nvPr/>
        </p:nvSpPr>
        <p:spPr>
          <a:xfrm>
            <a:off x="3923740" y="2050117"/>
            <a:ext cx="6534150" cy="4076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59" name="Google Shape;1459;p11"/>
          <p:cNvSpPr/>
          <p:nvPr/>
        </p:nvSpPr>
        <p:spPr>
          <a:xfrm>
            <a:off x="3857065" y="2116792"/>
            <a:ext cx="6534150" cy="4076700"/>
          </a:xfrm>
          <a:prstGeom prst="rect">
            <a:avLst/>
          </a:prstGeom>
          <a:solidFill>
            <a:srgbClr val="FFFFFF"/>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460" name="Google Shape;1460;p11"/>
          <p:cNvGrpSpPr/>
          <p:nvPr/>
        </p:nvGrpSpPr>
        <p:grpSpPr>
          <a:xfrm>
            <a:off x="5931928" y="3748742"/>
            <a:ext cx="1354137" cy="1214438"/>
            <a:chOff x="3967" y="2883"/>
            <a:chExt cx="660" cy="765"/>
          </a:xfrm>
        </p:grpSpPr>
        <p:sp>
          <p:nvSpPr>
            <p:cNvPr id="1461" name="Google Shape;1461;p11"/>
            <p:cNvSpPr/>
            <p:nvPr/>
          </p:nvSpPr>
          <p:spPr>
            <a:xfrm>
              <a:off x="4023" y="2883"/>
              <a:ext cx="582" cy="7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62" name="Google Shape;1462;p11"/>
            <p:cNvSpPr/>
            <p:nvPr/>
          </p:nvSpPr>
          <p:spPr>
            <a:xfrm>
              <a:off x="3996" y="2910"/>
              <a:ext cx="582" cy="738"/>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63" name="Google Shape;1463;p11"/>
            <p:cNvSpPr txBox="1"/>
            <p:nvPr/>
          </p:nvSpPr>
          <p:spPr>
            <a:xfrm>
              <a:off x="3967" y="3074"/>
              <a:ext cx="660" cy="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forwarding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table</a:t>
              </a:r>
              <a:endParaRPr b="0" i="0" sz="1400" u="none" cap="none" strike="noStrike">
                <a:solidFill>
                  <a:srgbClr val="000000"/>
                </a:solidFill>
                <a:latin typeface="Arial"/>
                <a:ea typeface="Arial"/>
                <a:cs typeface="Arial"/>
                <a:sym typeface="Arial"/>
              </a:endParaRPr>
            </a:p>
          </p:txBody>
        </p:sp>
        <p:cxnSp>
          <p:nvCxnSpPr>
            <p:cNvPr id="1464" name="Google Shape;1464;p11"/>
            <p:cNvCxnSpPr/>
            <p:nvPr/>
          </p:nvCxnSpPr>
          <p:spPr>
            <a:xfrm>
              <a:off x="4065" y="2994"/>
              <a:ext cx="435" cy="0"/>
            </a:xfrm>
            <a:prstGeom prst="straightConnector1">
              <a:avLst/>
            </a:prstGeom>
            <a:noFill/>
            <a:ln cap="flat" cmpd="sng" w="19050">
              <a:solidFill>
                <a:schemeClr val="dk1"/>
              </a:solidFill>
              <a:prstDash val="solid"/>
              <a:round/>
              <a:headEnd len="sm" w="sm" type="none"/>
              <a:tailEnd len="sm" w="sm" type="none"/>
            </a:ln>
          </p:spPr>
        </p:cxnSp>
        <p:cxnSp>
          <p:nvCxnSpPr>
            <p:cNvPr id="1465" name="Google Shape;1465;p11"/>
            <p:cNvCxnSpPr/>
            <p:nvPr/>
          </p:nvCxnSpPr>
          <p:spPr>
            <a:xfrm>
              <a:off x="4071" y="3048"/>
              <a:ext cx="435" cy="0"/>
            </a:xfrm>
            <a:prstGeom prst="straightConnector1">
              <a:avLst/>
            </a:prstGeom>
            <a:noFill/>
            <a:ln cap="flat" cmpd="sng" w="19050">
              <a:solidFill>
                <a:schemeClr val="dk1"/>
              </a:solidFill>
              <a:prstDash val="solid"/>
              <a:round/>
              <a:headEnd len="sm" w="sm" type="none"/>
              <a:tailEnd len="sm" w="sm" type="none"/>
            </a:ln>
          </p:spPr>
        </p:cxnSp>
        <p:cxnSp>
          <p:nvCxnSpPr>
            <p:cNvPr id="1466" name="Google Shape;1466;p11"/>
            <p:cNvCxnSpPr/>
            <p:nvPr/>
          </p:nvCxnSpPr>
          <p:spPr>
            <a:xfrm>
              <a:off x="4074" y="3102"/>
              <a:ext cx="435" cy="0"/>
            </a:xfrm>
            <a:prstGeom prst="straightConnector1">
              <a:avLst/>
            </a:prstGeom>
            <a:noFill/>
            <a:ln cap="flat" cmpd="sng" w="19050">
              <a:solidFill>
                <a:schemeClr val="dk1"/>
              </a:solidFill>
              <a:prstDash val="solid"/>
              <a:round/>
              <a:headEnd len="sm" w="sm" type="none"/>
              <a:tailEnd len="sm" w="sm" type="none"/>
            </a:ln>
          </p:spPr>
        </p:cxnSp>
        <p:cxnSp>
          <p:nvCxnSpPr>
            <p:cNvPr id="1467" name="Google Shape;1467;p11"/>
            <p:cNvCxnSpPr/>
            <p:nvPr/>
          </p:nvCxnSpPr>
          <p:spPr>
            <a:xfrm>
              <a:off x="4065" y="3477"/>
              <a:ext cx="435" cy="0"/>
            </a:xfrm>
            <a:prstGeom prst="straightConnector1">
              <a:avLst/>
            </a:prstGeom>
            <a:noFill/>
            <a:ln cap="flat" cmpd="sng" w="19050">
              <a:solidFill>
                <a:schemeClr val="dk1"/>
              </a:solidFill>
              <a:prstDash val="solid"/>
              <a:round/>
              <a:headEnd len="sm" w="sm" type="none"/>
              <a:tailEnd len="sm" w="sm" type="none"/>
            </a:ln>
          </p:spPr>
        </p:cxnSp>
        <p:cxnSp>
          <p:nvCxnSpPr>
            <p:cNvPr id="1468" name="Google Shape;1468;p11"/>
            <p:cNvCxnSpPr/>
            <p:nvPr/>
          </p:nvCxnSpPr>
          <p:spPr>
            <a:xfrm>
              <a:off x="4068" y="3528"/>
              <a:ext cx="435" cy="0"/>
            </a:xfrm>
            <a:prstGeom prst="straightConnector1">
              <a:avLst/>
            </a:prstGeom>
            <a:noFill/>
            <a:ln cap="flat" cmpd="sng" w="19050">
              <a:solidFill>
                <a:schemeClr val="dk1"/>
              </a:solidFill>
              <a:prstDash val="solid"/>
              <a:round/>
              <a:headEnd len="sm" w="sm" type="none"/>
              <a:tailEnd len="sm" w="sm" type="none"/>
            </a:ln>
          </p:spPr>
        </p:cxnSp>
        <p:cxnSp>
          <p:nvCxnSpPr>
            <p:cNvPr id="1469" name="Google Shape;1469;p11"/>
            <p:cNvCxnSpPr/>
            <p:nvPr/>
          </p:nvCxnSpPr>
          <p:spPr>
            <a:xfrm>
              <a:off x="4071" y="3579"/>
              <a:ext cx="435" cy="0"/>
            </a:xfrm>
            <a:prstGeom prst="straightConnector1">
              <a:avLst/>
            </a:prstGeom>
            <a:noFill/>
            <a:ln cap="flat" cmpd="sng" w="19050">
              <a:solidFill>
                <a:schemeClr val="dk1"/>
              </a:solidFill>
              <a:prstDash val="solid"/>
              <a:round/>
              <a:headEnd len="sm" w="sm" type="none"/>
              <a:tailEnd len="sm" w="sm" type="none"/>
            </a:ln>
          </p:spPr>
        </p:cxnSp>
      </p:grpSp>
      <p:cxnSp>
        <p:nvCxnSpPr>
          <p:cNvPr id="1470" name="Google Shape;1470;p11"/>
          <p:cNvCxnSpPr/>
          <p:nvPr/>
        </p:nvCxnSpPr>
        <p:spPr>
          <a:xfrm flipH="1" rot="10800000">
            <a:off x="3847540" y="5679142"/>
            <a:ext cx="6505575" cy="9525"/>
          </a:xfrm>
          <a:prstGeom prst="straightConnector1">
            <a:avLst/>
          </a:prstGeom>
          <a:noFill/>
          <a:ln cap="flat" cmpd="sng" w="19050">
            <a:solidFill>
              <a:schemeClr val="dk1"/>
            </a:solidFill>
            <a:prstDash val="solid"/>
            <a:round/>
            <a:headEnd len="sm" w="sm" type="none"/>
            <a:tailEnd len="sm" w="sm" type="none"/>
          </a:ln>
        </p:spPr>
      </p:cxnSp>
      <p:cxnSp>
        <p:nvCxnSpPr>
          <p:cNvPr id="1471" name="Google Shape;1471;p11"/>
          <p:cNvCxnSpPr/>
          <p:nvPr/>
        </p:nvCxnSpPr>
        <p:spPr>
          <a:xfrm flipH="1" rot="10800000">
            <a:off x="3876115" y="5155267"/>
            <a:ext cx="6524625" cy="9525"/>
          </a:xfrm>
          <a:prstGeom prst="straightConnector1">
            <a:avLst/>
          </a:prstGeom>
          <a:noFill/>
          <a:ln cap="flat" cmpd="sng" w="19050">
            <a:solidFill>
              <a:schemeClr val="dk1"/>
            </a:solidFill>
            <a:prstDash val="solid"/>
            <a:round/>
            <a:headEnd len="sm" w="sm" type="none"/>
            <a:tailEnd len="sm" w="sm" type="none"/>
          </a:ln>
        </p:spPr>
      </p:cxnSp>
      <p:grpSp>
        <p:nvGrpSpPr>
          <p:cNvPr id="1472" name="Google Shape;1472;p11"/>
          <p:cNvGrpSpPr/>
          <p:nvPr/>
        </p:nvGrpSpPr>
        <p:grpSpPr>
          <a:xfrm>
            <a:off x="4055503" y="2935944"/>
            <a:ext cx="1887537" cy="885826"/>
            <a:chOff x="1175" y="1848"/>
            <a:chExt cx="1189" cy="558"/>
          </a:xfrm>
        </p:grpSpPr>
        <p:sp>
          <p:nvSpPr>
            <p:cNvPr id="1473" name="Google Shape;1473;p11"/>
            <p:cNvSpPr/>
            <p:nvPr/>
          </p:nvSpPr>
          <p:spPr>
            <a:xfrm>
              <a:off x="1224" y="1848"/>
              <a:ext cx="1140" cy="5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4" name="Google Shape;1474;p11"/>
            <p:cNvSpPr/>
            <p:nvPr/>
          </p:nvSpPr>
          <p:spPr>
            <a:xfrm>
              <a:off x="1182" y="1890"/>
              <a:ext cx="1140" cy="51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5" name="Google Shape;1475;p11"/>
            <p:cNvSpPr txBox="1"/>
            <p:nvPr/>
          </p:nvSpPr>
          <p:spPr>
            <a:xfrm>
              <a:off x="1175" y="1895"/>
              <a:ext cx="1153" cy="4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400" u="none" cap="none" strike="noStrike">
                  <a:solidFill>
                    <a:srgbClr val="FF0000"/>
                  </a:solidFill>
                  <a:latin typeface="Comic Sans MS"/>
                  <a:ea typeface="Comic Sans MS"/>
                  <a:cs typeface="Comic Sans MS"/>
                  <a:sym typeface="Comic Sans MS"/>
                </a:rPr>
                <a:t>Routing protocols</a:t>
              </a:r>
              <a:endParaRPr b="0" i="0" sz="14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path selection</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RIP, OSPF, BGP</a:t>
              </a:r>
              <a:endParaRPr b="0" i="0" sz="1300" u="none" cap="none" strike="noStrike">
                <a:solidFill>
                  <a:schemeClr val="dk1"/>
                </a:solidFill>
                <a:latin typeface="Comic Sans MS"/>
                <a:ea typeface="Comic Sans MS"/>
                <a:cs typeface="Comic Sans MS"/>
                <a:sym typeface="Comic Sans MS"/>
              </a:endParaRPr>
            </a:p>
          </p:txBody>
        </p:sp>
      </p:grpSp>
      <p:sp>
        <p:nvSpPr>
          <p:cNvPr id="1476" name="Google Shape;1476;p11"/>
          <p:cNvSpPr/>
          <p:nvPr/>
        </p:nvSpPr>
        <p:spPr>
          <a:xfrm>
            <a:off x="5362015" y="3926542"/>
            <a:ext cx="628650" cy="390525"/>
          </a:xfrm>
          <a:custGeom>
            <a:rect b="b" l="l" r="r" t="t"/>
            <a:pathLst>
              <a:path extrusionOk="0" h="246" w="396">
                <a:moveTo>
                  <a:pt x="0" y="0"/>
                </a:moveTo>
                <a:cubicBezTo>
                  <a:pt x="30" y="16"/>
                  <a:pt x="42" y="126"/>
                  <a:pt x="150" y="186"/>
                </a:cubicBezTo>
                <a:cubicBezTo>
                  <a:pt x="258" y="246"/>
                  <a:pt x="345" y="205"/>
                  <a:pt x="396" y="210"/>
                </a:cubicBezTo>
              </a:path>
            </a:pathLst>
          </a:custGeom>
          <a:noFill/>
          <a:ln cap="flat"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477" name="Google Shape;1477;p11"/>
          <p:cNvGrpSpPr/>
          <p:nvPr/>
        </p:nvGrpSpPr>
        <p:grpSpPr>
          <a:xfrm>
            <a:off x="7311465" y="2845455"/>
            <a:ext cx="3000375" cy="1181100"/>
            <a:chOff x="102" y="1272"/>
            <a:chExt cx="1890" cy="744"/>
          </a:xfrm>
        </p:grpSpPr>
        <p:sp>
          <p:nvSpPr>
            <p:cNvPr id="1478" name="Google Shape;1478;p11"/>
            <p:cNvSpPr/>
            <p:nvPr/>
          </p:nvSpPr>
          <p:spPr>
            <a:xfrm>
              <a:off x="144" y="1272"/>
              <a:ext cx="1848" cy="69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79" name="Google Shape;1479;p11"/>
            <p:cNvSpPr/>
            <p:nvPr/>
          </p:nvSpPr>
          <p:spPr>
            <a:xfrm>
              <a:off x="102" y="1314"/>
              <a:ext cx="1848" cy="702"/>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0" name="Google Shape;1480;p11"/>
            <p:cNvSpPr txBox="1"/>
            <p:nvPr/>
          </p:nvSpPr>
          <p:spPr>
            <a:xfrm>
              <a:off x="116" y="1319"/>
              <a:ext cx="1820" cy="5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Comic Sans MS"/>
                  <a:ea typeface="Comic Sans MS"/>
                  <a:cs typeface="Comic Sans MS"/>
                  <a:sym typeface="Comic Sans MS"/>
                </a:rPr>
                <a:t>IP protocol</a:t>
              </a:r>
              <a:endParaRPr b="0" i="0" sz="14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addressing conventions</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datagram format</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packet handling conventions</a:t>
              </a:r>
              <a:endParaRPr b="0" i="0" sz="1300" u="none" cap="none" strike="noStrike">
                <a:solidFill>
                  <a:schemeClr val="dk1"/>
                </a:solidFill>
                <a:latin typeface="Comic Sans MS"/>
                <a:ea typeface="Comic Sans MS"/>
                <a:cs typeface="Comic Sans MS"/>
                <a:sym typeface="Comic Sans MS"/>
              </a:endParaRPr>
            </a:p>
          </p:txBody>
        </p:sp>
      </p:grpSp>
      <p:grpSp>
        <p:nvGrpSpPr>
          <p:cNvPr id="1481" name="Google Shape;1481;p11"/>
          <p:cNvGrpSpPr/>
          <p:nvPr/>
        </p:nvGrpSpPr>
        <p:grpSpPr>
          <a:xfrm>
            <a:off x="7368615" y="4158316"/>
            <a:ext cx="2000250" cy="885825"/>
            <a:chOff x="72" y="1146"/>
            <a:chExt cx="1260" cy="558"/>
          </a:xfrm>
        </p:grpSpPr>
        <p:sp>
          <p:nvSpPr>
            <p:cNvPr id="1482" name="Google Shape;1482;p11"/>
            <p:cNvSpPr/>
            <p:nvPr/>
          </p:nvSpPr>
          <p:spPr>
            <a:xfrm>
              <a:off x="114" y="1146"/>
              <a:ext cx="1218" cy="51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3" name="Google Shape;1483;p11"/>
            <p:cNvSpPr/>
            <p:nvPr/>
          </p:nvSpPr>
          <p:spPr>
            <a:xfrm>
              <a:off x="72" y="1188"/>
              <a:ext cx="1218" cy="516"/>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484" name="Google Shape;1484;p11"/>
            <p:cNvSpPr txBox="1"/>
            <p:nvPr/>
          </p:nvSpPr>
          <p:spPr>
            <a:xfrm>
              <a:off x="80" y="1187"/>
              <a:ext cx="1197" cy="4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Comic Sans MS"/>
                  <a:ea typeface="Comic Sans MS"/>
                  <a:cs typeface="Comic Sans MS"/>
                  <a:sym typeface="Comic Sans MS"/>
                </a:rPr>
                <a:t>ICMP protocol</a:t>
              </a:r>
              <a:endParaRPr b="0" i="0" sz="14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error reporting</a:t>
              </a:r>
              <a:endParaRPr b="0" i="0" sz="1300" u="none" cap="none" strike="noStrike">
                <a:solidFill>
                  <a:srgbClr val="000000"/>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300" u="none" cap="none" strike="noStrike">
                  <a:solidFill>
                    <a:schemeClr val="dk1"/>
                  </a:solidFill>
                  <a:latin typeface="Comic Sans MS"/>
                  <a:ea typeface="Comic Sans MS"/>
                  <a:cs typeface="Comic Sans MS"/>
                  <a:sym typeface="Comic Sans MS"/>
                </a:rPr>
                <a:t>router “signaling”</a:t>
              </a:r>
              <a:endParaRPr b="0" i="0" sz="1300" u="none" cap="none" strike="noStrike">
                <a:solidFill>
                  <a:schemeClr val="dk1"/>
                </a:solidFill>
                <a:latin typeface="Comic Sans MS"/>
                <a:ea typeface="Comic Sans MS"/>
                <a:cs typeface="Comic Sans MS"/>
                <a:sym typeface="Comic Sans MS"/>
              </a:endParaRPr>
            </a:p>
          </p:txBody>
        </p:sp>
      </p:grpSp>
      <p:cxnSp>
        <p:nvCxnSpPr>
          <p:cNvPr id="1485" name="Google Shape;1485;p11"/>
          <p:cNvCxnSpPr/>
          <p:nvPr/>
        </p:nvCxnSpPr>
        <p:spPr>
          <a:xfrm flipH="1" rot="10800000">
            <a:off x="3876115" y="2735917"/>
            <a:ext cx="6524625" cy="9525"/>
          </a:xfrm>
          <a:prstGeom prst="straightConnector1">
            <a:avLst/>
          </a:prstGeom>
          <a:noFill/>
          <a:ln cap="flat" cmpd="sng" w="19050">
            <a:solidFill>
              <a:schemeClr val="dk1"/>
            </a:solidFill>
            <a:prstDash val="solid"/>
            <a:round/>
            <a:headEnd len="sm" w="sm" type="none"/>
            <a:tailEnd len="sm" w="sm" type="none"/>
          </a:ln>
        </p:spPr>
      </p:cxnSp>
      <p:sp>
        <p:nvSpPr>
          <p:cNvPr id="1486" name="Google Shape;1486;p11"/>
          <p:cNvSpPr txBox="1"/>
          <p:nvPr/>
        </p:nvSpPr>
        <p:spPr>
          <a:xfrm>
            <a:off x="5317565" y="2262842"/>
            <a:ext cx="338309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Transport layer: TCP, UDP</a:t>
            </a:r>
            <a:endParaRPr b="0" i="0" sz="1800" u="none" cap="none" strike="noStrike">
              <a:solidFill>
                <a:schemeClr val="dk1"/>
              </a:solidFill>
              <a:latin typeface="Comic Sans MS"/>
              <a:ea typeface="Comic Sans MS"/>
              <a:cs typeface="Comic Sans MS"/>
              <a:sym typeface="Comic Sans MS"/>
            </a:endParaRPr>
          </a:p>
        </p:txBody>
      </p:sp>
      <p:sp>
        <p:nvSpPr>
          <p:cNvPr id="1487" name="Google Shape;1487;p11"/>
          <p:cNvSpPr txBox="1"/>
          <p:nvPr/>
        </p:nvSpPr>
        <p:spPr>
          <a:xfrm>
            <a:off x="6431990" y="5234642"/>
            <a:ext cx="3155355"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Link layer</a:t>
            </a:r>
            <a:endParaRPr b="0" i="0" sz="1800" u="none" cap="none" strike="noStrike">
              <a:solidFill>
                <a:schemeClr val="dk1"/>
              </a:solidFill>
              <a:latin typeface="Comic Sans MS"/>
              <a:ea typeface="Comic Sans MS"/>
              <a:cs typeface="Comic Sans MS"/>
              <a:sym typeface="Comic Sans MS"/>
            </a:endParaRPr>
          </a:p>
        </p:txBody>
      </p:sp>
      <p:sp>
        <p:nvSpPr>
          <p:cNvPr id="1488" name="Google Shape;1488;p11"/>
          <p:cNvSpPr txBox="1"/>
          <p:nvPr/>
        </p:nvSpPr>
        <p:spPr>
          <a:xfrm>
            <a:off x="6279590" y="5772372"/>
            <a:ext cx="2531901"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1800"/>
              <a:buFont typeface="Arial"/>
              <a:buNone/>
            </a:pPr>
            <a:r>
              <a:rPr b="0" i="0" lang="en-US" sz="1800" u="none" cap="none" strike="noStrike">
                <a:solidFill>
                  <a:schemeClr val="lt2"/>
                </a:solidFill>
                <a:latin typeface="Comic Sans MS"/>
                <a:ea typeface="Comic Sans MS"/>
                <a:cs typeface="Comic Sans MS"/>
                <a:sym typeface="Comic Sans MS"/>
              </a:rPr>
              <a:t>physical layer</a:t>
            </a:r>
            <a:endParaRPr b="0" i="0" sz="1800" u="none" cap="none" strike="noStrike">
              <a:solidFill>
                <a:schemeClr val="dk1"/>
              </a:solidFill>
              <a:latin typeface="Comic Sans MS"/>
              <a:ea typeface="Comic Sans MS"/>
              <a:cs typeface="Comic Sans MS"/>
              <a:sym typeface="Comic Sans MS"/>
            </a:endParaRPr>
          </a:p>
        </p:txBody>
      </p:sp>
      <p:sp>
        <p:nvSpPr>
          <p:cNvPr id="1489" name="Google Shape;1489;p11"/>
          <p:cNvSpPr txBox="1"/>
          <p:nvPr/>
        </p:nvSpPr>
        <p:spPr>
          <a:xfrm>
            <a:off x="1969060" y="3534430"/>
            <a:ext cx="1821330" cy="83095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Comic Sans MS"/>
                <a:ea typeface="Comic Sans MS"/>
                <a:cs typeface="Comic Sans MS"/>
                <a:sym typeface="Comic Sans MS"/>
              </a:rPr>
              <a:t>Network</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Comic Sans MS"/>
                <a:ea typeface="Comic Sans MS"/>
                <a:cs typeface="Comic Sans MS"/>
                <a:sym typeface="Comic Sans MS"/>
              </a:rPr>
              <a:t>layer</a:t>
            </a:r>
            <a:endParaRPr b="0" i="0" sz="1800" u="none" cap="none" strike="noStrike">
              <a:solidFill>
                <a:schemeClr val="dk1"/>
              </a:solidFill>
              <a:latin typeface="Comic Sans MS"/>
              <a:ea typeface="Comic Sans MS"/>
              <a:cs typeface="Comic Sans MS"/>
              <a:sym typeface="Comic Sans MS"/>
            </a:endParaRPr>
          </a:p>
        </p:txBody>
      </p:sp>
      <p:cxnSp>
        <p:nvCxnSpPr>
          <p:cNvPr id="1490" name="Google Shape;1490;p11"/>
          <p:cNvCxnSpPr/>
          <p:nvPr/>
        </p:nvCxnSpPr>
        <p:spPr>
          <a:xfrm rot="10800000">
            <a:off x="3599890" y="2754967"/>
            <a:ext cx="0" cy="742950"/>
          </a:xfrm>
          <a:prstGeom prst="straightConnector1">
            <a:avLst/>
          </a:prstGeom>
          <a:noFill/>
          <a:ln cap="flat" cmpd="sng" w="28575">
            <a:solidFill>
              <a:srgbClr val="FF0000"/>
            </a:solidFill>
            <a:prstDash val="solid"/>
            <a:round/>
            <a:headEnd len="sm" w="sm" type="none"/>
            <a:tailEnd len="med" w="med" type="triangle"/>
          </a:ln>
        </p:spPr>
      </p:cxnSp>
      <p:cxnSp>
        <p:nvCxnSpPr>
          <p:cNvPr id="1491" name="Google Shape;1491;p11"/>
          <p:cNvCxnSpPr/>
          <p:nvPr/>
        </p:nvCxnSpPr>
        <p:spPr>
          <a:xfrm>
            <a:off x="3599890" y="4421842"/>
            <a:ext cx="0" cy="74295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30"/>
          <p:cNvSpPr txBox="1"/>
          <p:nvPr>
            <p:ph type="title"/>
          </p:nvPr>
        </p:nvSpPr>
        <p:spPr>
          <a:xfrm>
            <a:off x="1484310" y="325395"/>
            <a:ext cx="10018800" cy="741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Format</a:t>
            </a:r>
            <a:endParaRPr/>
          </a:p>
        </p:txBody>
      </p:sp>
      <p:pic>
        <p:nvPicPr>
          <p:cNvPr id="1497" name="Google Shape;1497;p30"/>
          <p:cNvPicPr preferRelativeResize="0"/>
          <p:nvPr/>
        </p:nvPicPr>
        <p:blipFill rotWithShape="1">
          <a:blip r:embed="rId3">
            <a:alphaModFix/>
          </a:blip>
          <a:srcRect b="0" l="0" r="0" t="0"/>
          <a:stretch/>
        </p:blipFill>
        <p:spPr>
          <a:xfrm>
            <a:off x="11029276" y="0"/>
            <a:ext cx="1162725" cy="1066800"/>
          </a:xfrm>
          <a:prstGeom prst="rect">
            <a:avLst/>
          </a:prstGeom>
          <a:noFill/>
          <a:ln>
            <a:noFill/>
          </a:ln>
        </p:spPr>
      </p:pic>
      <p:sp>
        <p:nvSpPr>
          <p:cNvPr id="1498" name="Google Shape;1498;p30"/>
          <p:cNvSpPr txBox="1"/>
          <p:nvPr/>
        </p:nvSpPr>
        <p:spPr>
          <a:xfrm>
            <a:off x="2322153" y="5317990"/>
            <a:ext cx="8343114" cy="13849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800" u="none" cap="none" strike="noStrike">
                <a:solidFill>
                  <a:srgbClr val="4D5156"/>
                </a:solidFill>
                <a:latin typeface="Corbel"/>
                <a:ea typeface="Corbel"/>
                <a:cs typeface="Corbel"/>
                <a:sym typeface="Corbel"/>
              </a:rPr>
              <a:t>The size of an IP datagram:</a:t>
            </a:r>
            <a:endParaRPr b="0" i="0" sz="1800" u="none" cap="none" strike="noStrike">
              <a:solidFill>
                <a:srgbClr val="000000"/>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3360"/>
              <a:buFont typeface="Arial"/>
              <a:buChar char="•"/>
            </a:pPr>
            <a:r>
              <a:rPr b="0" i="0" lang="en-US" sz="2800" u="none" cap="none" strike="noStrike">
                <a:solidFill>
                  <a:srgbClr val="4D5156"/>
                </a:solidFill>
                <a:latin typeface="Corbel"/>
                <a:ea typeface="Corbel"/>
                <a:cs typeface="Corbel"/>
                <a:sym typeface="Corbel"/>
              </a:rPr>
              <a:t>The </a:t>
            </a:r>
            <a:r>
              <a:rPr b="1" i="0" lang="en-US" sz="2800" u="none" cap="none" strike="noStrike">
                <a:solidFill>
                  <a:srgbClr val="7D28CD"/>
                </a:solidFill>
                <a:latin typeface="Corbel"/>
                <a:ea typeface="Corbel"/>
                <a:cs typeface="Corbel"/>
                <a:sym typeface="Corbel"/>
              </a:rPr>
              <a:t>minimum </a:t>
            </a:r>
            <a:r>
              <a:rPr b="0" i="0" lang="en-US" sz="2800" u="none" cap="none" strike="noStrike">
                <a:solidFill>
                  <a:srgbClr val="4D5156"/>
                </a:solidFill>
                <a:latin typeface="Corbel"/>
                <a:ea typeface="Corbel"/>
                <a:cs typeface="Corbel"/>
                <a:sym typeface="Corbel"/>
              </a:rPr>
              <a:t>size is </a:t>
            </a:r>
            <a:r>
              <a:rPr b="1" i="0" lang="en-US" sz="2800" u="none" cap="none" strike="noStrike">
                <a:solidFill>
                  <a:srgbClr val="7D28CD"/>
                </a:solidFill>
                <a:latin typeface="Corbel"/>
                <a:ea typeface="Corbel"/>
                <a:cs typeface="Corbel"/>
                <a:sym typeface="Corbel"/>
              </a:rPr>
              <a:t>20 bytes </a:t>
            </a:r>
            <a:r>
              <a:rPr b="0" i="0" lang="en-US" sz="2800" u="none" cap="none" strike="noStrike">
                <a:solidFill>
                  <a:srgbClr val="4D5156"/>
                </a:solidFill>
                <a:latin typeface="Corbel"/>
                <a:ea typeface="Corbel"/>
                <a:cs typeface="Corbel"/>
                <a:sym typeface="Corbel"/>
              </a:rPr>
              <a:t>(if you have no data) </a:t>
            </a:r>
            <a:endParaRPr b="0" i="0" sz="2800" u="none" cap="none" strike="noStrike">
              <a:solidFill>
                <a:srgbClr val="4D5156"/>
              </a:solidFill>
              <a:latin typeface="Corbel"/>
              <a:ea typeface="Corbel"/>
              <a:cs typeface="Corbel"/>
              <a:sym typeface="Corbel"/>
            </a:endParaRPr>
          </a:p>
          <a:p>
            <a:pPr indent="-342900" lvl="0" marL="342900" marR="0" rtl="0" algn="l">
              <a:lnSpc>
                <a:spcPct val="100000"/>
              </a:lnSpc>
              <a:spcBef>
                <a:spcPts val="0"/>
              </a:spcBef>
              <a:spcAft>
                <a:spcPts val="0"/>
              </a:spcAft>
              <a:buClr>
                <a:srgbClr val="0070C0"/>
              </a:buClr>
              <a:buSzPts val="3360"/>
              <a:buFont typeface="Arial"/>
              <a:buChar char="•"/>
            </a:pPr>
            <a:r>
              <a:rPr b="0" i="0" lang="en-US" sz="2800" u="none" cap="none" strike="noStrike">
                <a:solidFill>
                  <a:srgbClr val="4D5156"/>
                </a:solidFill>
                <a:latin typeface="Corbel"/>
                <a:ea typeface="Corbel"/>
                <a:cs typeface="Corbel"/>
                <a:sym typeface="Corbel"/>
              </a:rPr>
              <a:t>The </a:t>
            </a:r>
            <a:r>
              <a:rPr b="1" i="0" lang="en-US" sz="2800" u="none" cap="none" strike="noStrike">
                <a:solidFill>
                  <a:srgbClr val="0070C0"/>
                </a:solidFill>
                <a:latin typeface="Corbel"/>
                <a:ea typeface="Corbel"/>
                <a:cs typeface="Corbel"/>
                <a:sym typeface="Corbel"/>
              </a:rPr>
              <a:t>maximum</a:t>
            </a:r>
            <a:r>
              <a:rPr b="0" i="0" lang="en-US" sz="2800" u="none" cap="none" strike="noStrike">
                <a:solidFill>
                  <a:srgbClr val="4D5156"/>
                </a:solidFill>
                <a:latin typeface="Corbel"/>
                <a:ea typeface="Corbel"/>
                <a:cs typeface="Corbel"/>
                <a:sym typeface="Corbel"/>
              </a:rPr>
              <a:t> size is </a:t>
            </a:r>
            <a:r>
              <a:rPr b="1" i="0" lang="en-US" sz="2800" u="none" cap="none" strike="noStrike">
                <a:solidFill>
                  <a:srgbClr val="0070C0"/>
                </a:solidFill>
                <a:latin typeface="Corbel"/>
                <a:ea typeface="Corbel"/>
                <a:cs typeface="Corbel"/>
                <a:sym typeface="Corbel"/>
              </a:rPr>
              <a:t>65,535 bytes</a:t>
            </a:r>
            <a:endParaRPr b="1" i="0" sz="2800" u="none" cap="none" strike="noStrike">
              <a:solidFill>
                <a:srgbClr val="0070C0"/>
              </a:solidFill>
              <a:latin typeface="Corbel"/>
              <a:ea typeface="Corbel"/>
              <a:cs typeface="Corbel"/>
              <a:sym typeface="Corbel"/>
            </a:endParaRPr>
          </a:p>
        </p:txBody>
      </p:sp>
      <p:pic>
        <p:nvPicPr>
          <p:cNvPr descr="Introduction to IPv4 Datagram Header - GeeksforGeeks" id="1499" name="Google Shape;1499;p30"/>
          <p:cNvPicPr preferRelativeResize="0"/>
          <p:nvPr/>
        </p:nvPicPr>
        <p:blipFill rotWithShape="1">
          <a:blip r:embed="rId4">
            <a:alphaModFix/>
          </a:blip>
          <a:srcRect b="0" l="0" r="0" t="0"/>
          <a:stretch/>
        </p:blipFill>
        <p:spPr>
          <a:xfrm>
            <a:off x="1680116" y="1066696"/>
            <a:ext cx="10207084" cy="41401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pic>
        <p:nvPicPr>
          <p:cNvPr id="1504" name="Google Shape;1504;p31"/>
          <p:cNvPicPr preferRelativeResize="0"/>
          <p:nvPr/>
        </p:nvPicPr>
        <p:blipFill rotWithShape="1">
          <a:blip r:embed="rId3">
            <a:alphaModFix/>
          </a:blip>
          <a:srcRect b="0" l="0" r="0" t="0"/>
          <a:stretch/>
        </p:blipFill>
        <p:spPr>
          <a:xfrm>
            <a:off x="443400" y="1783475"/>
            <a:ext cx="6168765" cy="4161939"/>
          </a:xfrm>
          <a:prstGeom prst="rect">
            <a:avLst/>
          </a:prstGeom>
          <a:noFill/>
          <a:ln>
            <a:noFill/>
          </a:ln>
        </p:spPr>
      </p:pic>
      <p:sp>
        <p:nvSpPr>
          <p:cNvPr id="1505" name="Google Shape;1505;p3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06" name="Google Shape;1506;p31"/>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07" name="Google Shape;1507;p31"/>
          <p:cNvSpPr txBox="1"/>
          <p:nvPr/>
        </p:nvSpPr>
        <p:spPr>
          <a:xfrm>
            <a:off x="6921550" y="1379475"/>
            <a:ext cx="498150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Version:</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which IP version is being used. For IPv4 the value will be 4 here.</a:t>
            </a:r>
            <a:endParaRPr b="0" i="0" sz="2000" u="none" cap="none" strike="noStrike">
              <a:solidFill>
                <a:schemeClr val="dk1"/>
              </a:solidFill>
              <a:latin typeface="Corbel"/>
              <a:ea typeface="Corbel"/>
              <a:cs typeface="Corbel"/>
              <a:sym typeface="Corbel"/>
            </a:endParaRPr>
          </a:p>
        </p:txBody>
      </p:sp>
      <p:sp>
        <p:nvSpPr>
          <p:cNvPr id="1508" name="Google Shape;1508;p31"/>
          <p:cNvSpPr/>
          <p:nvPr/>
        </p:nvSpPr>
        <p:spPr>
          <a:xfrm>
            <a:off x="443400"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09" name="Google Shape;1509;p31"/>
          <p:cNvSpPr/>
          <p:nvPr/>
        </p:nvSpPr>
        <p:spPr>
          <a:xfrm>
            <a:off x="1799788"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0" name="Google Shape;1510;p31"/>
          <p:cNvSpPr txBox="1"/>
          <p:nvPr/>
        </p:nvSpPr>
        <p:spPr>
          <a:xfrm>
            <a:off x="6921550" y="2581475"/>
            <a:ext cx="5270450" cy="1600408"/>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Internet Header Length</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the header length, min 20 bytes, max 60 bytes. Shown in 4 byte word. </a:t>
            </a:r>
            <a:r>
              <a:rPr b="1" i="0" lang="en-US" sz="2000" u="none" cap="none" strike="noStrike">
                <a:solidFill>
                  <a:srgbClr val="7D28CD"/>
                </a:solidFill>
                <a:latin typeface="Corbel"/>
                <a:ea typeface="Corbel"/>
                <a:cs typeface="Corbel"/>
                <a:sym typeface="Corbel"/>
              </a:rPr>
              <a:t>So min value 5, max 15.</a:t>
            </a:r>
            <a:endParaRPr b="1" i="0" sz="2000" u="none" cap="none" strike="noStrike">
              <a:solidFill>
                <a:srgbClr val="7D28CD"/>
              </a:solidFill>
              <a:latin typeface="Corbel"/>
              <a:ea typeface="Corbel"/>
              <a:cs typeface="Corbel"/>
              <a:sym typeface="Corbel"/>
            </a:endParaRPr>
          </a:p>
        </p:txBody>
      </p:sp>
      <p:sp>
        <p:nvSpPr>
          <p:cNvPr id="1511" name="Google Shape;1511;p31"/>
          <p:cNvSpPr txBox="1"/>
          <p:nvPr/>
        </p:nvSpPr>
        <p:spPr>
          <a:xfrm>
            <a:off x="6921550" y="4092626"/>
            <a:ext cx="527045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Type of Service</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for QoS (Quality of Service). To mark the packet to give special treatment or priority.</a:t>
            </a:r>
            <a:endParaRPr b="0" i="0" sz="2000" u="none" cap="none" strike="noStrike">
              <a:solidFill>
                <a:schemeClr val="dk1"/>
              </a:solidFill>
              <a:latin typeface="Corbel"/>
              <a:ea typeface="Corbel"/>
              <a:cs typeface="Corbel"/>
              <a:sym typeface="Corbel"/>
            </a:endParaRPr>
          </a:p>
        </p:txBody>
      </p:sp>
      <p:sp>
        <p:nvSpPr>
          <p:cNvPr id="1512" name="Google Shape;1512;p31"/>
          <p:cNvSpPr/>
          <p:nvPr/>
        </p:nvSpPr>
        <p:spPr>
          <a:xfrm>
            <a:off x="2795675" y="17949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3" name="Google Shape;1513;p31"/>
          <p:cNvSpPr/>
          <p:nvPr/>
        </p:nvSpPr>
        <p:spPr>
          <a:xfrm>
            <a:off x="4588445" y="178347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14" name="Google Shape;1514;p31"/>
          <p:cNvSpPr txBox="1"/>
          <p:nvPr/>
        </p:nvSpPr>
        <p:spPr>
          <a:xfrm>
            <a:off x="6921550" y="5421034"/>
            <a:ext cx="527045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Total Length</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the entire size of the IP packet (header and data) in bytes. </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0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0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pic>
        <p:nvPicPr>
          <p:cNvPr id="1519" name="Google Shape;1519;p32"/>
          <p:cNvPicPr preferRelativeResize="0"/>
          <p:nvPr/>
        </p:nvPicPr>
        <p:blipFill rotWithShape="1">
          <a:blip r:embed="rId3">
            <a:alphaModFix/>
          </a:blip>
          <a:srcRect b="0" l="0" r="0" t="0"/>
          <a:stretch/>
        </p:blipFill>
        <p:spPr>
          <a:xfrm>
            <a:off x="529872" y="1574877"/>
            <a:ext cx="6459395" cy="4340386"/>
          </a:xfrm>
          <a:prstGeom prst="rect">
            <a:avLst/>
          </a:prstGeom>
          <a:noFill/>
          <a:ln>
            <a:noFill/>
          </a:ln>
        </p:spPr>
      </p:pic>
      <p:sp>
        <p:nvSpPr>
          <p:cNvPr id="1520" name="Google Shape;1520;p3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Header Format</a:t>
            </a:r>
            <a:endParaRPr/>
          </a:p>
        </p:txBody>
      </p:sp>
      <p:pic>
        <p:nvPicPr>
          <p:cNvPr id="1521" name="Google Shape;1521;p32"/>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22" name="Google Shape;1522;p32"/>
          <p:cNvSpPr txBox="1"/>
          <p:nvPr/>
        </p:nvSpPr>
        <p:spPr>
          <a:xfrm>
            <a:off x="6921550" y="1526567"/>
            <a:ext cx="498150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Time to Live: </a:t>
            </a:r>
            <a:r>
              <a:rPr b="0" i="0" lang="en-US" sz="2000" u="none" cap="none" strike="noStrike">
                <a:solidFill>
                  <a:schemeClr val="dk1"/>
                </a:solidFill>
                <a:latin typeface="Corbel"/>
                <a:ea typeface="Corbel"/>
                <a:cs typeface="Corbel"/>
                <a:sym typeface="Corbel"/>
              </a:rPr>
              <a:t>maximum number of </a:t>
            </a:r>
            <a:r>
              <a:rPr b="1" i="0" lang="en-US" sz="2000" u="none" cap="none" strike="noStrike">
                <a:solidFill>
                  <a:srgbClr val="7D28CD"/>
                </a:solidFill>
                <a:latin typeface="Corbel"/>
                <a:ea typeface="Corbel"/>
                <a:cs typeface="Corbel"/>
                <a:sym typeface="Corbel"/>
              </a:rPr>
              <a:t>hops</a:t>
            </a:r>
            <a:r>
              <a:rPr b="0" i="0" lang="en-US" sz="2000" u="none" cap="none" strike="noStrike">
                <a:solidFill>
                  <a:schemeClr val="dk1"/>
                </a:solidFill>
                <a:latin typeface="Corbel"/>
                <a:ea typeface="Corbel"/>
                <a:cs typeface="Corbel"/>
                <a:sym typeface="Corbel"/>
              </a:rPr>
              <a:t> (routers) a packet can travel </a:t>
            </a:r>
            <a:endParaRPr b="0" i="0" sz="1800" u="none" cap="none" strike="noStrike">
              <a:solidFill>
                <a:schemeClr val="dk1"/>
              </a:solidFill>
              <a:latin typeface="Corbel"/>
              <a:ea typeface="Corbel"/>
              <a:cs typeface="Corbel"/>
              <a:sym typeface="Corbel"/>
            </a:endParaRPr>
          </a:p>
        </p:txBody>
      </p:sp>
      <p:sp>
        <p:nvSpPr>
          <p:cNvPr id="1523" name="Google Shape;1523;p32"/>
          <p:cNvSpPr/>
          <p:nvPr/>
        </p:nvSpPr>
        <p:spPr>
          <a:xfrm>
            <a:off x="720491" y="3178166"/>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4" name="Google Shape;1524;p32"/>
          <p:cNvSpPr/>
          <p:nvPr/>
        </p:nvSpPr>
        <p:spPr>
          <a:xfrm>
            <a:off x="2686587" y="3099255"/>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5" name="Google Shape;1525;p32"/>
          <p:cNvSpPr txBox="1"/>
          <p:nvPr/>
        </p:nvSpPr>
        <p:spPr>
          <a:xfrm>
            <a:off x="6921550" y="2456743"/>
            <a:ext cx="5270450" cy="12464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Protocol:</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tells us which upper layer protocol is present, for example </a:t>
            </a:r>
            <a:r>
              <a:rPr b="1" i="0" lang="en-US" sz="2000" u="none" cap="none" strike="noStrike">
                <a:solidFill>
                  <a:srgbClr val="7D28CD"/>
                </a:solidFill>
                <a:latin typeface="Corbel"/>
                <a:ea typeface="Corbel"/>
                <a:cs typeface="Corbel"/>
                <a:sym typeface="Corbel"/>
              </a:rPr>
              <a:t>TCP</a:t>
            </a:r>
            <a:r>
              <a:rPr b="0" i="0" lang="en-US" sz="2000" u="none" cap="none" strike="noStrike">
                <a:solidFill>
                  <a:srgbClr val="7D28CD"/>
                </a:solidFill>
                <a:latin typeface="Corbel"/>
                <a:ea typeface="Corbel"/>
                <a:cs typeface="Corbel"/>
                <a:sym typeface="Corbel"/>
              </a:rPr>
              <a:t> has value </a:t>
            </a:r>
            <a:r>
              <a:rPr b="1" i="0" lang="en-US" sz="2000" u="none" cap="none" strike="noStrike">
                <a:solidFill>
                  <a:srgbClr val="7D28CD"/>
                </a:solidFill>
                <a:latin typeface="Corbel"/>
                <a:ea typeface="Corbel"/>
                <a:cs typeface="Corbel"/>
                <a:sym typeface="Corbel"/>
              </a:rPr>
              <a:t>6</a:t>
            </a:r>
            <a:r>
              <a:rPr b="0" i="0" lang="en-US" sz="2000" u="none" cap="none" strike="noStrike">
                <a:solidFill>
                  <a:schemeClr val="dk1"/>
                </a:solidFill>
                <a:latin typeface="Corbel"/>
                <a:ea typeface="Corbel"/>
                <a:cs typeface="Corbel"/>
                <a:sym typeface="Corbel"/>
              </a:rPr>
              <a:t> and </a:t>
            </a:r>
            <a:r>
              <a:rPr b="1" i="0" lang="en-US" sz="2000" u="none" cap="none" strike="noStrike">
                <a:solidFill>
                  <a:srgbClr val="7D28CD"/>
                </a:solidFill>
                <a:latin typeface="Corbel"/>
                <a:ea typeface="Corbel"/>
                <a:cs typeface="Corbel"/>
                <a:sym typeface="Corbel"/>
              </a:rPr>
              <a:t>UDP</a:t>
            </a:r>
            <a:r>
              <a:rPr b="0" i="0" lang="en-US" sz="2000" u="none" cap="none" strike="noStrike">
                <a:solidFill>
                  <a:srgbClr val="7D28CD"/>
                </a:solidFill>
                <a:latin typeface="Corbel"/>
                <a:ea typeface="Corbel"/>
                <a:cs typeface="Corbel"/>
                <a:sym typeface="Corbel"/>
              </a:rPr>
              <a:t> has value </a:t>
            </a:r>
            <a:r>
              <a:rPr b="1" i="0" lang="en-US" sz="2000" u="none" cap="none" strike="noStrike">
                <a:solidFill>
                  <a:srgbClr val="7D28CD"/>
                </a:solidFill>
                <a:latin typeface="Corbel"/>
                <a:ea typeface="Corbel"/>
                <a:cs typeface="Corbel"/>
                <a:sym typeface="Corbel"/>
              </a:rPr>
              <a:t>17</a:t>
            </a:r>
            <a:r>
              <a:rPr b="0" i="0" lang="en-US" sz="2000" u="none" cap="none" strike="noStrike">
                <a:solidFill>
                  <a:srgbClr val="7D28CD"/>
                </a:solidFill>
                <a:latin typeface="Corbel"/>
                <a:ea typeface="Corbel"/>
                <a:cs typeface="Corbel"/>
                <a:sym typeface="Corbel"/>
              </a:rPr>
              <a:t>.</a:t>
            </a:r>
            <a:endParaRPr b="0" i="0" sz="1600" u="none" cap="none" strike="noStrike">
              <a:solidFill>
                <a:srgbClr val="000000"/>
              </a:solidFill>
              <a:latin typeface="Arial"/>
              <a:ea typeface="Arial"/>
              <a:cs typeface="Arial"/>
              <a:sym typeface="Arial"/>
            </a:endParaRPr>
          </a:p>
        </p:txBody>
      </p:sp>
      <p:sp>
        <p:nvSpPr>
          <p:cNvPr id="1526" name="Google Shape;1526;p32"/>
          <p:cNvSpPr txBox="1"/>
          <p:nvPr/>
        </p:nvSpPr>
        <p:spPr>
          <a:xfrm>
            <a:off x="6938578" y="3791003"/>
            <a:ext cx="5270450" cy="892522"/>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Header Checksum</a:t>
            </a:r>
            <a:r>
              <a:rPr b="0" i="0" lang="en-US" sz="2000" u="none" cap="none" strike="noStrike">
                <a:solidFill>
                  <a:srgbClr val="0070C0"/>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to check if there are any errors in the header.</a:t>
            </a:r>
            <a:endParaRPr b="0" i="0" sz="1600" u="none" cap="none" strike="noStrike">
              <a:solidFill>
                <a:srgbClr val="000000"/>
              </a:solidFill>
              <a:latin typeface="Arial"/>
              <a:ea typeface="Arial"/>
              <a:cs typeface="Arial"/>
              <a:sym typeface="Arial"/>
            </a:endParaRPr>
          </a:p>
        </p:txBody>
      </p:sp>
      <p:sp>
        <p:nvSpPr>
          <p:cNvPr id="1527" name="Google Shape;1527;p32"/>
          <p:cNvSpPr/>
          <p:nvPr/>
        </p:nvSpPr>
        <p:spPr>
          <a:xfrm>
            <a:off x="4588445" y="3100086"/>
            <a:ext cx="1773600" cy="7980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8" name="Google Shape;1528;p32"/>
          <p:cNvSpPr/>
          <p:nvPr/>
        </p:nvSpPr>
        <p:spPr>
          <a:xfrm>
            <a:off x="2494091" y="5136567"/>
            <a:ext cx="2094354" cy="778696"/>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
        <p:nvSpPr>
          <p:cNvPr id="1529" name="Google Shape;1529;p32"/>
          <p:cNvSpPr txBox="1"/>
          <p:nvPr/>
        </p:nvSpPr>
        <p:spPr>
          <a:xfrm>
            <a:off x="6921550" y="4771320"/>
            <a:ext cx="5270450" cy="857127"/>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340"/>
              <a:buFont typeface="Corbel"/>
              <a:buChar char="●"/>
            </a:pPr>
            <a:r>
              <a:rPr b="1" i="0" lang="en-US" sz="2000" u="none" cap="none" strike="noStrike">
                <a:solidFill>
                  <a:srgbClr val="0070C0"/>
                </a:solidFill>
                <a:latin typeface="Corbel"/>
                <a:ea typeface="Corbel"/>
                <a:cs typeface="Corbel"/>
                <a:sym typeface="Corbel"/>
              </a:rPr>
              <a:t>Options:</a:t>
            </a:r>
            <a:r>
              <a:rPr b="1" i="0" lang="en-US" sz="2000" u="none" cap="none" strike="noStrike">
                <a:solidFill>
                  <a:schemeClr val="dk1"/>
                </a:solidFill>
                <a:latin typeface="Corbel"/>
                <a:ea typeface="Corbel"/>
                <a:cs typeface="Corbel"/>
                <a:sym typeface="Corbel"/>
              </a:rPr>
              <a:t> </a:t>
            </a:r>
            <a:r>
              <a:rPr b="0" i="0" lang="en-US" sz="2000" u="none" cap="none" strike="noStrike">
                <a:solidFill>
                  <a:schemeClr val="dk1"/>
                </a:solidFill>
                <a:latin typeface="Corbel"/>
                <a:ea typeface="Corbel"/>
                <a:cs typeface="Corbel"/>
                <a:sym typeface="Corbel"/>
              </a:rPr>
              <a:t>value of any extra information. </a:t>
            </a:r>
            <a:r>
              <a:rPr b="0" i="0" lang="en-US" sz="1800" u="none" cap="none" strike="noStrike">
                <a:solidFill>
                  <a:schemeClr val="dk1"/>
                </a:solidFill>
                <a:latin typeface="Corbel"/>
                <a:ea typeface="Corbel"/>
                <a:cs typeface="Corbel"/>
                <a:sym typeface="Corbel"/>
              </a:rPr>
              <a:t>Options are rarely used now.</a:t>
            </a:r>
            <a:endParaRPr b="0" i="0" sz="1400" u="none" cap="none" strike="noStrike">
              <a:solidFill>
                <a:srgbClr val="000000"/>
              </a:solidFill>
              <a:latin typeface="Corbel"/>
              <a:ea typeface="Corbel"/>
              <a:cs typeface="Corbel"/>
              <a:sym typeface="Corbel"/>
            </a:endParaRPr>
          </a:p>
        </p:txBody>
      </p:sp>
      <p:sp>
        <p:nvSpPr>
          <p:cNvPr id="1530" name="Google Shape;1530;p32"/>
          <p:cNvSpPr/>
          <p:nvPr/>
        </p:nvSpPr>
        <p:spPr>
          <a:xfrm>
            <a:off x="7105041" y="5308345"/>
            <a:ext cx="5086960" cy="1272656"/>
          </a:xfrm>
          <a:prstGeom prst="rect">
            <a:avLst/>
          </a:prstGeom>
          <a:noFill/>
          <a:ln>
            <a:noFill/>
          </a:ln>
        </p:spPr>
        <p:txBody>
          <a:bodyPr anchorCtr="0" anchor="t" bIns="45700" lIns="91425" spcFirstLastPara="1" rIns="91425" wrap="square" tIns="45700">
            <a:spAutoFit/>
          </a:bodyPr>
          <a:lstStyle/>
          <a:p>
            <a:pPr indent="-184784" lvl="0" marL="457200" marR="0" rtl="0" algn="l">
              <a:lnSpc>
                <a:spcPct val="115000"/>
              </a:lnSpc>
              <a:spcBef>
                <a:spcPts val="0"/>
              </a:spcBef>
              <a:spcAft>
                <a:spcPts val="0"/>
              </a:spcAft>
              <a:buClr>
                <a:srgbClr val="0070C0"/>
              </a:buClr>
              <a:buSzPts val="2340"/>
              <a:buFont typeface="Corbel"/>
              <a:buNone/>
            </a:pPr>
            <a:r>
              <a:t/>
            </a:r>
            <a:endParaRPr b="0" i="0" sz="1800" u="none" cap="none" strike="noStrike">
              <a:solidFill>
                <a:schemeClr val="dk1"/>
              </a:solidFill>
              <a:latin typeface="Corbel"/>
              <a:ea typeface="Corbel"/>
              <a:cs typeface="Corbel"/>
              <a:sym typeface="Corbel"/>
            </a:endParaRPr>
          </a:p>
          <a:p>
            <a:pPr indent="-190500" lvl="0" marL="0" marR="0" rtl="0" algn="l">
              <a:lnSpc>
                <a:spcPct val="100000"/>
              </a:lnSpc>
              <a:spcBef>
                <a:spcPts val="0"/>
              </a:spcBef>
              <a:spcAft>
                <a:spcPts val="0"/>
              </a:spcAft>
              <a:buClr>
                <a:srgbClr val="0070C0"/>
              </a:buClr>
              <a:buSzPts val="3000"/>
              <a:buFont typeface="Arial"/>
              <a:buChar char="•"/>
            </a:pPr>
            <a:r>
              <a:rPr b="1" i="0" lang="en-US" sz="2000" u="none" cap="none" strike="noStrike">
                <a:solidFill>
                  <a:srgbClr val="0070C0"/>
                </a:solidFill>
                <a:latin typeface="Corbel"/>
                <a:ea typeface="Corbel"/>
                <a:cs typeface="Corbel"/>
                <a:sym typeface="Corbel"/>
              </a:rPr>
              <a:t>Padding: </a:t>
            </a:r>
            <a:endParaRPr/>
          </a:p>
          <a:p>
            <a:pPr indent="0" lvl="0" marL="0" marR="0" rtl="0" algn="l">
              <a:lnSpc>
                <a:spcPct val="100000"/>
              </a:lnSpc>
              <a:spcBef>
                <a:spcPts val="0"/>
              </a:spcBef>
              <a:spcAft>
                <a:spcPts val="0"/>
              </a:spcAft>
              <a:buNone/>
            </a:pPr>
            <a:r>
              <a:rPr b="0" i="0" lang="en-US" sz="1800" u="none" cap="none" strike="noStrike">
                <a:solidFill>
                  <a:schemeClr val="dk1"/>
                </a:solidFill>
                <a:latin typeface="Corbel"/>
                <a:ea typeface="Corbel"/>
                <a:cs typeface="Corbel"/>
                <a:sym typeface="Corbel"/>
              </a:rPr>
              <a:t>Used only when Options are present. Ensures the header length becomes a multiple of 4 bytes</a:t>
            </a:r>
            <a:endParaRPr b="0" i="0" sz="1800" u="none" cap="none" strike="noStrike">
              <a:solidFill>
                <a:schemeClr val="dk1"/>
              </a:solidFill>
              <a:latin typeface="Corbel"/>
              <a:ea typeface="Corbel"/>
              <a:cs typeface="Corbel"/>
              <a:sym typeface="Corbel"/>
            </a:endParaRPr>
          </a:p>
        </p:txBody>
      </p:sp>
      <p:sp>
        <p:nvSpPr>
          <p:cNvPr id="1531" name="Google Shape;1531;p32"/>
          <p:cNvSpPr/>
          <p:nvPr/>
        </p:nvSpPr>
        <p:spPr>
          <a:xfrm>
            <a:off x="5932602" y="5264658"/>
            <a:ext cx="971921" cy="522514"/>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30"/>
                                        </p:tgtEl>
                                        <p:attrNameLst>
                                          <p:attrName>style.visibility</p:attrName>
                                        </p:attrNameLst>
                                      </p:cBhvr>
                                      <p:to>
                                        <p:strVal val="visible"/>
                                      </p:to>
                                    </p:set>
                                    <p:animEffect filter="fade" transition="in">
                                      <p:cBhvr>
                                        <p:cTn dur="500"/>
                                        <p:tgtEl>
                                          <p:spTgt spid="1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33"/>
          <p:cNvSpPr txBox="1"/>
          <p:nvPr>
            <p:ph type="title"/>
          </p:nvPr>
        </p:nvSpPr>
        <p:spPr>
          <a:xfrm>
            <a:off x="1484311" y="221817"/>
            <a:ext cx="10018713" cy="5909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Time to Live - TTL</a:t>
            </a:r>
            <a:endParaRPr/>
          </a:p>
        </p:txBody>
      </p:sp>
      <p:pic>
        <p:nvPicPr>
          <p:cNvPr id="1537" name="Google Shape;1537;p33"/>
          <p:cNvPicPr preferRelativeResize="0"/>
          <p:nvPr/>
        </p:nvPicPr>
        <p:blipFill rotWithShape="1">
          <a:blip r:embed="rId3">
            <a:alphaModFix/>
          </a:blip>
          <a:srcRect b="0" l="0" r="0" t="0"/>
          <a:stretch/>
        </p:blipFill>
        <p:spPr>
          <a:xfrm>
            <a:off x="2346036" y="2703699"/>
            <a:ext cx="7287491" cy="3916685"/>
          </a:xfrm>
          <a:prstGeom prst="rect">
            <a:avLst/>
          </a:prstGeom>
          <a:noFill/>
          <a:ln>
            <a:noFill/>
          </a:ln>
        </p:spPr>
      </p:pic>
      <p:sp>
        <p:nvSpPr>
          <p:cNvPr id="1538" name="Google Shape;1538;p33"/>
          <p:cNvSpPr txBox="1"/>
          <p:nvPr/>
        </p:nvSpPr>
        <p:spPr>
          <a:xfrm>
            <a:off x="809897" y="892650"/>
            <a:ext cx="11090366" cy="2210960"/>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Maximum number of </a:t>
            </a:r>
            <a:r>
              <a:rPr b="1" i="0" lang="en-US" sz="2400" u="none" cap="none" strike="noStrike">
                <a:solidFill>
                  <a:srgbClr val="7D28CD"/>
                </a:solidFill>
                <a:latin typeface="Corbel"/>
                <a:ea typeface="Corbel"/>
                <a:cs typeface="Corbel"/>
                <a:sym typeface="Corbel"/>
              </a:rPr>
              <a:t>hops</a:t>
            </a:r>
            <a:r>
              <a:rPr b="0" i="0" lang="en-US" sz="2400" u="none" cap="none" strike="noStrike">
                <a:solidFill>
                  <a:schemeClr val="dk1"/>
                </a:solidFill>
                <a:latin typeface="Corbel"/>
                <a:ea typeface="Corbel"/>
                <a:cs typeface="Corbel"/>
                <a:sym typeface="Corbel"/>
              </a:rPr>
              <a:t> (routers) a packet can traverse before being discarded.</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 At each hop, the TTL is decreased by </a:t>
            </a:r>
            <a:r>
              <a:rPr b="1" i="0" lang="en-US" sz="2400" u="none" cap="none" strike="noStrike">
                <a:solidFill>
                  <a:srgbClr val="7D28CD"/>
                </a:solidFill>
                <a:latin typeface="Corbel"/>
                <a:ea typeface="Corbel"/>
                <a:cs typeface="Corbel"/>
                <a:sym typeface="Corbel"/>
              </a:rPr>
              <a:t>1</a:t>
            </a:r>
            <a:r>
              <a:rPr b="0" i="0" lang="en-US" sz="2400" u="none" cap="none" strike="noStrike">
                <a:solidFill>
                  <a:schemeClr val="dk1"/>
                </a:solidFill>
                <a:latin typeface="Corbel"/>
                <a:ea typeface="Corbel"/>
                <a:cs typeface="Corbel"/>
                <a:sym typeface="Corbel"/>
              </a:rPr>
              <a:t>. </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When the </a:t>
            </a:r>
            <a:r>
              <a:rPr b="0" i="0" lang="en-US" sz="2400" u="none" cap="none" strike="noStrike">
                <a:solidFill>
                  <a:srgbClr val="7D28CD"/>
                </a:solidFill>
                <a:latin typeface="Corbel"/>
                <a:ea typeface="Corbel"/>
                <a:cs typeface="Corbel"/>
                <a:sym typeface="Corbel"/>
              </a:rPr>
              <a:t>TTL reaches </a:t>
            </a:r>
            <a:r>
              <a:rPr b="1" i="0" lang="en-US" sz="2400" u="none" cap="none" strike="noStrike">
                <a:solidFill>
                  <a:srgbClr val="7D28CD"/>
                </a:solidFill>
                <a:latin typeface="Corbel"/>
                <a:ea typeface="Corbel"/>
                <a:cs typeface="Corbel"/>
                <a:sym typeface="Corbel"/>
              </a:rPr>
              <a:t>0</a:t>
            </a:r>
            <a:r>
              <a:rPr b="0" i="0" lang="en-US" sz="2400" u="none" cap="none" strike="noStrike">
                <a:solidFill>
                  <a:schemeClr val="dk1"/>
                </a:solidFill>
                <a:latin typeface="Corbel"/>
                <a:ea typeface="Corbel"/>
                <a:cs typeface="Corbel"/>
                <a:sym typeface="Corbel"/>
              </a:rPr>
              <a:t>, the packet is dropped.</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And an error message is sent back to the sender. </a:t>
            </a:r>
            <a:endParaRPr b="0" i="0" sz="1400" u="none" cap="none" strike="noStrike">
              <a:solidFill>
                <a:srgbClr val="000000"/>
              </a:solidFill>
              <a:latin typeface="Arial"/>
              <a:ea typeface="Arial"/>
              <a:cs typeface="Arial"/>
              <a:sym typeface="Arial"/>
            </a:endParaRPr>
          </a:p>
          <a:p>
            <a:pPr indent="-192405" lvl="0" marL="457200" marR="0" rtl="0" algn="l">
              <a:lnSpc>
                <a:spcPct val="115000"/>
              </a:lnSpc>
              <a:spcBef>
                <a:spcPts val="0"/>
              </a:spcBef>
              <a:spcAft>
                <a:spcPts val="0"/>
              </a:spcAft>
              <a:buClr>
                <a:srgbClr val="0070C0"/>
              </a:buClr>
              <a:buSzPts val="2220"/>
              <a:buFont typeface="Corbel"/>
              <a:buNone/>
            </a:pPr>
            <a:r>
              <a:t/>
            </a:r>
            <a:endParaRPr b="0" i="0" sz="1850" u="none" cap="none" strike="noStrike">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pic>
        <p:nvPicPr>
          <p:cNvPr id="1543" name="Google Shape;1543;p34"/>
          <p:cNvPicPr preferRelativeResize="0"/>
          <p:nvPr/>
        </p:nvPicPr>
        <p:blipFill rotWithShape="1">
          <a:blip r:embed="rId3">
            <a:alphaModFix/>
          </a:blip>
          <a:srcRect b="0" l="0" r="0" t="0"/>
          <a:stretch/>
        </p:blipFill>
        <p:spPr>
          <a:xfrm>
            <a:off x="1484311" y="2720442"/>
            <a:ext cx="9159860" cy="3717272"/>
          </a:xfrm>
          <a:prstGeom prst="rect">
            <a:avLst/>
          </a:prstGeom>
          <a:noFill/>
          <a:ln>
            <a:noFill/>
          </a:ln>
        </p:spPr>
      </p:pic>
      <p:sp>
        <p:nvSpPr>
          <p:cNvPr id="1544" name="Google Shape;1544;p34"/>
          <p:cNvSpPr/>
          <p:nvPr/>
        </p:nvSpPr>
        <p:spPr>
          <a:xfrm>
            <a:off x="1635370" y="3974123"/>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TTL=64</a:t>
            </a:r>
            <a:endParaRPr b="0" i="0" sz="1400" u="none" cap="none" strike="noStrike">
              <a:solidFill>
                <a:srgbClr val="000000"/>
              </a:solidFill>
              <a:latin typeface="Arial"/>
              <a:ea typeface="Arial"/>
              <a:cs typeface="Arial"/>
              <a:sym typeface="Arial"/>
            </a:endParaRPr>
          </a:p>
        </p:txBody>
      </p:sp>
      <p:sp>
        <p:nvSpPr>
          <p:cNvPr id="1545" name="Google Shape;1545;p34"/>
          <p:cNvSpPr/>
          <p:nvPr/>
        </p:nvSpPr>
        <p:spPr>
          <a:xfrm>
            <a:off x="8924192" y="4202723"/>
            <a:ext cx="1652954" cy="1485900"/>
          </a:xfrm>
          <a:prstGeom prst="noSmoking">
            <a:avLst>
              <a:gd fmla="val 18750" name="adj"/>
            </a:avLst>
          </a:prstGeom>
          <a:solidFill>
            <a:srgbClr val="FF0000"/>
          </a:solid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46" name="Google Shape;1546;p34"/>
          <p:cNvSpPr/>
          <p:nvPr/>
        </p:nvSpPr>
        <p:spPr>
          <a:xfrm>
            <a:off x="3025443" y="3974122"/>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TTL=64</a:t>
            </a:r>
            <a:endParaRPr b="0" i="0" sz="1400" u="none" cap="none" strike="noStrike">
              <a:solidFill>
                <a:srgbClr val="000000"/>
              </a:solidFill>
              <a:latin typeface="Arial"/>
              <a:ea typeface="Arial"/>
              <a:cs typeface="Arial"/>
              <a:sym typeface="Arial"/>
            </a:endParaRPr>
          </a:p>
        </p:txBody>
      </p:sp>
      <p:sp>
        <p:nvSpPr>
          <p:cNvPr id="1547" name="Google Shape;1547;p34"/>
          <p:cNvSpPr/>
          <p:nvPr/>
        </p:nvSpPr>
        <p:spPr>
          <a:xfrm>
            <a:off x="4263116" y="3018159"/>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TTL=63</a:t>
            </a:r>
            <a:endParaRPr b="0" i="0" sz="1400" u="none" cap="none" strike="noStrike">
              <a:solidFill>
                <a:srgbClr val="000000"/>
              </a:solidFill>
              <a:latin typeface="Arial"/>
              <a:ea typeface="Arial"/>
              <a:cs typeface="Arial"/>
              <a:sym typeface="Arial"/>
            </a:endParaRPr>
          </a:p>
        </p:txBody>
      </p:sp>
      <p:sp>
        <p:nvSpPr>
          <p:cNvPr id="1548" name="Google Shape;1548;p34"/>
          <p:cNvSpPr/>
          <p:nvPr/>
        </p:nvSpPr>
        <p:spPr>
          <a:xfrm>
            <a:off x="6221224" y="3666391"/>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TTL=62</a:t>
            </a:r>
            <a:endParaRPr b="0" i="0" sz="1400" u="none" cap="none" strike="noStrike">
              <a:solidFill>
                <a:srgbClr val="000000"/>
              </a:solidFill>
              <a:latin typeface="Arial"/>
              <a:ea typeface="Arial"/>
              <a:cs typeface="Arial"/>
              <a:sym typeface="Arial"/>
            </a:endParaRPr>
          </a:p>
        </p:txBody>
      </p:sp>
      <p:sp>
        <p:nvSpPr>
          <p:cNvPr id="1549" name="Google Shape;1549;p34"/>
          <p:cNvSpPr/>
          <p:nvPr/>
        </p:nvSpPr>
        <p:spPr>
          <a:xfrm>
            <a:off x="7754461" y="4202723"/>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TTL=61</a:t>
            </a:r>
            <a:endParaRPr b="0" i="0" sz="1400" u="none" cap="none" strike="noStrike">
              <a:solidFill>
                <a:srgbClr val="000000"/>
              </a:solidFill>
              <a:latin typeface="Arial"/>
              <a:ea typeface="Arial"/>
              <a:cs typeface="Arial"/>
              <a:sym typeface="Arial"/>
            </a:endParaRPr>
          </a:p>
        </p:txBody>
      </p:sp>
      <p:sp>
        <p:nvSpPr>
          <p:cNvPr id="1550" name="Google Shape;1550;p34"/>
          <p:cNvSpPr/>
          <p:nvPr/>
        </p:nvSpPr>
        <p:spPr>
          <a:xfrm>
            <a:off x="6590500" y="5786759"/>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TTL=60</a:t>
            </a:r>
            <a:endParaRPr b="0" i="0" sz="1400" u="none" cap="none" strike="noStrike">
              <a:solidFill>
                <a:srgbClr val="000000"/>
              </a:solidFill>
              <a:latin typeface="Arial"/>
              <a:ea typeface="Arial"/>
              <a:cs typeface="Arial"/>
              <a:sym typeface="Arial"/>
            </a:endParaRPr>
          </a:p>
        </p:txBody>
      </p:sp>
      <p:sp>
        <p:nvSpPr>
          <p:cNvPr id="1551" name="Google Shape;1551;p34"/>
          <p:cNvSpPr/>
          <p:nvPr/>
        </p:nvSpPr>
        <p:spPr>
          <a:xfrm>
            <a:off x="4263115" y="5232578"/>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Arial"/>
                <a:ea typeface="Arial"/>
                <a:cs typeface="Arial"/>
                <a:sym typeface="Arial"/>
              </a:rPr>
              <a:t>TTL=60</a:t>
            </a:r>
            <a:endParaRPr b="0" i="0" sz="1400" u="none" cap="none" strike="noStrike">
              <a:solidFill>
                <a:srgbClr val="000000"/>
              </a:solidFill>
              <a:latin typeface="Arial"/>
              <a:ea typeface="Arial"/>
              <a:cs typeface="Arial"/>
              <a:sym typeface="Arial"/>
            </a:endParaRPr>
          </a:p>
        </p:txBody>
      </p:sp>
      <p:sp>
        <p:nvSpPr>
          <p:cNvPr id="1552" name="Google Shape;1552;p34"/>
          <p:cNvSpPr/>
          <p:nvPr/>
        </p:nvSpPr>
        <p:spPr>
          <a:xfrm>
            <a:off x="3763996" y="4027442"/>
            <a:ext cx="738553" cy="307731"/>
          </a:xfrm>
          <a:prstGeom prst="roundRect">
            <a:avLst>
              <a:gd fmla="val 16667" name="adj"/>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100" u="none" cap="none" strike="noStrike">
                <a:solidFill>
                  <a:schemeClr val="lt1"/>
                </a:solidFill>
                <a:latin typeface="Arial"/>
                <a:ea typeface="Arial"/>
                <a:cs typeface="Arial"/>
                <a:sym typeface="Arial"/>
              </a:rPr>
              <a:t>TTL=59</a:t>
            </a:r>
            <a:endParaRPr b="1" i="0" sz="1100" u="none" cap="none" strike="noStrike">
              <a:solidFill>
                <a:schemeClr val="lt1"/>
              </a:solidFill>
              <a:latin typeface="Arial"/>
              <a:ea typeface="Arial"/>
              <a:cs typeface="Arial"/>
              <a:sym typeface="Arial"/>
            </a:endParaRPr>
          </a:p>
        </p:txBody>
      </p:sp>
      <p:sp>
        <p:nvSpPr>
          <p:cNvPr id="1553" name="Google Shape;1553;p34"/>
          <p:cNvSpPr txBox="1"/>
          <p:nvPr>
            <p:ph type="title"/>
          </p:nvPr>
        </p:nvSpPr>
        <p:spPr>
          <a:xfrm>
            <a:off x="1484311" y="221817"/>
            <a:ext cx="10018713" cy="59098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Time to Live - TTL</a:t>
            </a:r>
            <a:endParaRPr/>
          </a:p>
        </p:txBody>
      </p:sp>
      <p:sp>
        <p:nvSpPr>
          <p:cNvPr id="1554" name="Google Shape;1554;p34"/>
          <p:cNvSpPr txBox="1"/>
          <p:nvPr/>
        </p:nvSpPr>
        <p:spPr>
          <a:xfrm>
            <a:off x="1484310" y="897406"/>
            <a:ext cx="10310525" cy="2175565"/>
          </a:xfrm>
          <a:prstGeom prst="rect">
            <a:avLst/>
          </a:prstGeom>
          <a:noFill/>
          <a:ln>
            <a:noFill/>
          </a:ln>
        </p:spPr>
        <p:txBody>
          <a:bodyPr anchorCtr="0" anchor="t" bIns="91425" lIns="91425" spcFirstLastPara="1" rIns="91425" wrap="square" tIns="91425">
            <a:spAutoFit/>
          </a:bodyPr>
          <a:lstStyle/>
          <a:p>
            <a:pPr indent="-333375" lvl="0" marL="457200" marR="0" rtl="0" algn="l">
              <a:lnSpc>
                <a:spcPct val="115000"/>
              </a:lnSpc>
              <a:spcBef>
                <a:spcPts val="0"/>
              </a:spcBef>
              <a:spcAft>
                <a:spcPts val="0"/>
              </a:spcAft>
              <a:buClr>
                <a:srgbClr val="0070C0"/>
              </a:buClr>
              <a:buSzPts val="2880"/>
              <a:buFont typeface="Corbel"/>
              <a:buChar char="●"/>
            </a:pPr>
            <a:r>
              <a:rPr b="1" i="0" lang="en-US" sz="2400" u="none" cap="none" strike="noStrike">
                <a:solidFill>
                  <a:srgbClr val="0070C0"/>
                </a:solidFill>
                <a:latin typeface="Corbel"/>
                <a:ea typeface="Corbel"/>
                <a:cs typeface="Corbel"/>
                <a:sym typeface="Corbel"/>
              </a:rPr>
              <a:t>Not </a:t>
            </a:r>
            <a:r>
              <a:rPr b="0" i="0" lang="en-US" sz="2800" u="none" cap="none" strike="noStrike">
                <a:solidFill>
                  <a:schemeClr val="dk1"/>
                </a:solidFill>
                <a:latin typeface="Corbel"/>
                <a:ea typeface="Corbel"/>
                <a:cs typeface="Corbel"/>
                <a:sym typeface="Corbel"/>
              </a:rPr>
              <a:t>just the "value of hops“</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It's a mechanism to prevent packets from </a:t>
            </a:r>
            <a:r>
              <a:rPr b="1" i="0" lang="en-US" sz="2400" u="none" cap="none" strike="noStrike">
                <a:solidFill>
                  <a:srgbClr val="7D28CD"/>
                </a:solidFill>
                <a:latin typeface="Corbel"/>
                <a:ea typeface="Corbel"/>
                <a:cs typeface="Corbel"/>
                <a:sym typeface="Corbel"/>
              </a:rPr>
              <a:t>looping endlessly </a:t>
            </a:r>
            <a:r>
              <a:rPr b="0" i="0" lang="en-US" sz="2400" u="none" cap="none" strike="noStrike">
                <a:solidFill>
                  <a:schemeClr val="dk1"/>
                </a:solidFill>
                <a:latin typeface="Corbel"/>
                <a:ea typeface="Corbel"/>
                <a:cs typeface="Corbel"/>
                <a:sym typeface="Corbel"/>
              </a:rPr>
              <a:t>in the network.</a:t>
            </a:r>
            <a:endParaRPr b="0" i="0" sz="1400" u="none" cap="none" strike="noStrike">
              <a:solidFill>
                <a:srgbClr val="000000"/>
              </a:solidFill>
              <a:latin typeface="Arial"/>
              <a:ea typeface="Arial"/>
              <a:cs typeface="Arial"/>
              <a:sym typeface="Arial"/>
            </a:endParaRPr>
          </a:p>
          <a:p>
            <a:pPr indent="-333375" lvl="0" marL="457200" marR="0" rtl="0" algn="l">
              <a:lnSpc>
                <a:spcPct val="115000"/>
              </a:lnSpc>
              <a:spcBef>
                <a:spcPts val="0"/>
              </a:spcBef>
              <a:spcAft>
                <a:spcPts val="0"/>
              </a:spcAft>
              <a:buClr>
                <a:srgbClr val="0070C0"/>
              </a:buClr>
              <a:buSzPts val="2880"/>
              <a:buFont typeface="Corbel"/>
              <a:buChar char="●"/>
            </a:pPr>
            <a:r>
              <a:rPr b="0" i="0" lang="en-US" sz="2400" u="none" cap="none" strike="noStrike">
                <a:solidFill>
                  <a:schemeClr val="dk1"/>
                </a:solidFill>
                <a:latin typeface="Corbel"/>
                <a:ea typeface="Corbel"/>
                <a:cs typeface="Corbel"/>
                <a:sym typeface="Corbel"/>
              </a:rPr>
              <a:t>Ensure finite packet lifetimes. </a:t>
            </a:r>
            <a:endParaRPr b="0" i="0" sz="1400" u="none" cap="none" strike="noStrike">
              <a:solidFill>
                <a:srgbClr val="000000"/>
              </a:solidFill>
              <a:latin typeface="Arial"/>
              <a:ea typeface="Arial"/>
              <a:cs typeface="Arial"/>
              <a:sym typeface="Arial"/>
            </a:endParaRPr>
          </a:p>
          <a:p>
            <a:pPr indent="-196215" lvl="0" marL="457200" marR="0" rtl="0" algn="l">
              <a:lnSpc>
                <a:spcPct val="115000"/>
              </a:lnSpc>
              <a:spcBef>
                <a:spcPts val="0"/>
              </a:spcBef>
              <a:spcAft>
                <a:spcPts val="0"/>
              </a:spcAft>
              <a:buClr>
                <a:srgbClr val="0070C0"/>
              </a:buClr>
              <a:buSzPts val="2160"/>
              <a:buFont typeface="Corbel"/>
              <a:buNone/>
            </a:pPr>
            <a:r>
              <a:t/>
            </a:r>
            <a:endParaRPr b="0" i="0" sz="1800" u="none" cap="none" strike="noStrike">
              <a:solidFill>
                <a:schemeClr val="dk1"/>
              </a:solidFill>
              <a:latin typeface="Arial"/>
              <a:ea typeface="Arial"/>
              <a:cs typeface="Arial"/>
              <a:sym typeface="Arial"/>
            </a:endParaRPr>
          </a:p>
          <a:p>
            <a:pPr indent="-192405" lvl="0" marL="457200" marR="0" rtl="0" algn="l">
              <a:lnSpc>
                <a:spcPct val="115000"/>
              </a:lnSpc>
              <a:spcBef>
                <a:spcPts val="0"/>
              </a:spcBef>
              <a:spcAft>
                <a:spcPts val="0"/>
              </a:spcAft>
              <a:buClr>
                <a:srgbClr val="0070C0"/>
              </a:buClr>
              <a:buSzPts val="2220"/>
              <a:buFont typeface="Corbel"/>
              <a:buNone/>
            </a:pPr>
            <a:r>
              <a:t/>
            </a:r>
            <a:endParaRPr b="0" i="0" sz="1850" u="none" cap="none" strike="noStrike">
              <a:solidFill>
                <a:schemeClr val="dk1"/>
              </a:solidFill>
              <a:latin typeface="Corbel"/>
              <a:ea typeface="Corbel"/>
              <a:cs typeface="Corbel"/>
              <a:sym typeface="Corbel"/>
            </a:endParaRPr>
          </a:p>
        </p:txBody>
      </p:sp>
      <p:sp>
        <p:nvSpPr>
          <p:cNvPr id="1555" name="Google Shape;1555;p34"/>
          <p:cNvSpPr/>
          <p:nvPr/>
        </p:nvSpPr>
        <p:spPr>
          <a:xfrm rot="-934115">
            <a:off x="4473469" y="4249840"/>
            <a:ext cx="750351" cy="758086"/>
          </a:xfrm>
          <a:prstGeom prst="curvedRightArrow">
            <a:avLst>
              <a:gd fmla="val 25000" name="adj1"/>
              <a:gd fmla="val 50000" name="adj2"/>
              <a:gd fmla="val 25000" name="adj3"/>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556" name="Google Shape;1556;p34"/>
          <p:cNvSpPr/>
          <p:nvPr/>
        </p:nvSpPr>
        <p:spPr>
          <a:xfrm rot="10204312">
            <a:off x="5154069" y="3927944"/>
            <a:ext cx="761731" cy="857288"/>
          </a:xfrm>
          <a:prstGeom prst="curvedRightArrow">
            <a:avLst>
              <a:gd fmla="val 25000" name="adj1"/>
              <a:gd fmla="val 50000" name="adj2"/>
              <a:gd fmla="val 25000" name="adj3"/>
            </a:avLst>
          </a:prstGeom>
          <a:solidFill>
            <a:schemeClr val="accent1"/>
          </a:solidFill>
          <a:ln cap="flat" cmpd="sng" w="25400">
            <a:solidFill>
              <a:srgbClr val="237DA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2000"/>
                                        <p:tgtEl>
                                          <p:spTgt spid="1555"/>
                                        </p:tgtEl>
                                      </p:cBhvr>
                                    </p:animEffect>
                                  </p:childTnLst>
                                </p:cTn>
                              </p:par>
                              <p:par>
                                <p:cTn fill="hold" nodeType="withEffect" presetClass="entr" presetID="10" presetSubtype="0">
                                  <p:stCondLst>
                                    <p:cond delay="0"/>
                                  </p:stCondLst>
                                  <p:childTnLst>
                                    <p:set>
                                      <p:cBhvr>
                                        <p:cTn dur="1" fill="hold">
                                          <p:stCondLst>
                                            <p:cond delay="0"/>
                                          </p:stCondLst>
                                        </p:cTn>
                                        <p:tgtEl>
                                          <p:spTgt spid="1552"/>
                                        </p:tgtEl>
                                        <p:attrNameLst>
                                          <p:attrName>style.visibility</p:attrName>
                                        </p:attrNameLst>
                                      </p:cBhvr>
                                      <p:to>
                                        <p:strVal val="visible"/>
                                      </p:to>
                                    </p:set>
                                    <p:animEffect filter="fade" transition="in">
                                      <p:cBhvr>
                                        <p:cTn dur="2000"/>
                                        <p:tgtEl>
                                          <p:spTgt spid="1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1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IPv4 Datagram Format</a:t>
            </a:r>
            <a:endParaRPr/>
          </a:p>
        </p:txBody>
      </p:sp>
      <p:pic>
        <p:nvPicPr>
          <p:cNvPr id="1562" name="Google Shape;1562;p12"/>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descr="Introduction to IPv4 Datagram Header - GeeksforGeeks" id="1563" name="Google Shape;1563;p12"/>
          <p:cNvPicPr preferRelativeResize="0"/>
          <p:nvPr/>
        </p:nvPicPr>
        <p:blipFill rotWithShape="1">
          <a:blip r:embed="rId4">
            <a:alphaModFix/>
          </a:blip>
          <a:srcRect b="0" l="0" r="0" t="0"/>
          <a:stretch/>
        </p:blipFill>
        <p:spPr>
          <a:xfrm>
            <a:off x="1353365" y="1670844"/>
            <a:ext cx="10149658" cy="3982610"/>
          </a:xfrm>
          <a:prstGeom prst="rect">
            <a:avLst/>
          </a:prstGeom>
          <a:noFill/>
          <a:ln>
            <a:noFill/>
          </a:ln>
        </p:spPr>
      </p:pic>
      <p:sp>
        <p:nvSpPr>
          <p:cNvPr id="1564" name="Google Shape;1564;p12"/>
          <p:cNvSpPr/>
          <p:nvPr/>
        </p:nvSpPr>
        <p:spPr>
          <a:xfrm>
            <a:off x="1643682" y="3006969"/>
            <a:ext cx="6770555" cy="536331"/>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6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13"/>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sp>
        <p:nvSpPr>
          <p:cNvPr id="1570" name="Google Shape;1570;p13"/>
          <p:cNvSpPr txBox="1"/>
          <p:nvPr>
            <p:ph idx="1" type="body"/>
          </p:nvPr>
        </p:nvSpPr>
        <p:spPr>
          <a:xfrm>
            <a:off x="730491" y="1545526"/>
            <a:ext cx="5640461" cy="2817533"/>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3480"/>
              <a:buChar char="•"/>
            </a:pPr>
            <a:r>
              <a:rPr lang="en-US" sz="3200">
                <a:latin typeface="Corbel"/>
                <a:ea typeface="Corbel"/>
                <a:cs typeface="Corbel"/>
                <a:sym typeface="Corbel"/>
              </a:rPr>
              <a:t>Network links have </a:t>
            </a:r>
            <a:r>
              <a:rPr b="1" lang="en-US" sz="3200">
                <a:solidFill>
                  <a:srgbClr val="7D28CD"/>
                </a:solidFill>
                <a:latin typeface="Corbel"/>
                <a:ea typeface="Corbel"/>
                <a:cs typeface="Corbel"/>
                <a:sym typeface="Corbel"/>
              </a:rPr>
              <a:t>MTU</a:t>
            </a:r>
            <a:r>
              <a:rPr b="1" lang="en-US" sz="3200">
                <a:latin typeface="Corbel"/>
                <a:ea typeface="Corbel"/>
                <a:cs typeface="Corbel"/>
                <a:sym typeface="Corbel"/>
              </a:rPr>
              <a:t> </a:t>
            </a:r>
            <a:endParaRPr/>
          </a:p>
          <a:p>
            <a:pPr indent="-285750" lvl="1" marL="742950" rtl="0" algn="l">
              <a:lnSpc>
                <a:spcPct val="100000"/>
              </a:lnSpc>
              <a:spcBef>
                <a:spcPts val="0"/>
              </a:spcBef>
              <a:spcAft>
                <a:spcPts val="0"/>
              </a:spcAft>
              <a:buSzPts val="3480"/>
              <a:buChar char="•"/>
            </a:pPr>
            <a:r>
              <a:rPr lang="en-US" sz="2800">
                <a:latin typeface="Corbel"/>
                <a:ea typeface="Corbel"/>
                <a:cs typeface="Corbel"/>
                <a:sym typeface="Corbel"/>
              </a:rPr>
              <a:t>Maximum transmission unit or maximum transfer size</a:t>
            </a:r>
            <a:endParaRPr sz="2800">
              <a:latin typeface="Corbel"/>
              <a:ea typeface="Corbel"/>
              <a:cs typeface="Corbel"/>
              <a:sym typeface="Corbel"/>
            </a:endParaRPr>
          </a:p>
          <a:p>
            <a:pPr indent="-285750" lvl="1" marL="742950" rtl="0" algn="l">
              <a:lnSpc>
                <a:spcPct val="100000"/>
              </a:lnSpc>
              <a:spcBef>
                <a:spcPts val="1000"/>
              </a:spcBef>
              <a:spcAft>
                <a:spcPts val="0"/>
              </a:spcAft>
              <a:buSzPts val="2900"/>
              <a:buChar char="•"/>
            </a:pPr>
            <a:r>
              <a:rPr lang="en-US" sz="3200">
                <a:latin typeface="Corbel"/>
                <a:ea typeface="Corbel"/>
                <a:cs typeface="Corbel"/>
                <a:sym typeface="Corbel"/>
              </a:rPr>
              <a:t>Different link types have different MTUs </a:t>
            </a:r>
            <a:endParaRPr sz="3200">
              <a:latin typeface="Corbel"/>
              <a:ea typeface="Corbel"/>
              <a:cs typeface="Corbel"/>
              <a:sym typeface="Corbel"/>
            </a:endParaRPr>
          </a:p>
        </p:txBody>
      </p:sp>
      <p:pic>
        <p:nvPicPr>
          <p:cNvPr id="1571" name="Google Shape;1571;p13"/>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id="1572" name="Google Shape;1572;p13"/>
          <p:cNvSpPr/>
          <p:nvPr/>
        </p:nvSpPr>
        <p:spPr>
          <a:xfrm>
            <a:off x="7522136" y="1420769"/>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573" name="Google Shape;1573;p13"/>
          <p:cNvSpPr/>
          <p:nvPr/>
        </p:nvSpPr>
        <p:spPr>
          <a:xfrm>
            <a:off x="7522136" y="3822657"/>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00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nvGrpSpPr>
          <p:cNvPr id="1574" name="Google Shape;1574;p13"/>
          <p:cNvGrpSpPr/>
          <p:nvPr/>
        </p:nvGrpSpPr>
        <p:grpSpPr>
          <a:xfrm>
            <a:off x="7115736" y="1800182"/>
            <a:ext cx="649288" cy="1247775"/>
            <a:chOff x="3314" y="1248"/>
            <a:chExt cx="344" cy="694"/>
          </a:xfrm>
        </p:grpSpPr>
        <p:graphicFrame>
          <p:nvGraphicFramePr>
            <p:cNvPr id="1575" name="Google Shape;1575;p13"/>
            <p:cNvGraphicFramePr/>
            <p:nvPr/>
          </p:nvGraphicFramePr>
          <p:xfrm>
            <a:off x="3314" y="1248"/>
            <a:ext cx="299" cy="248"/>
          </p:xfrm>
          <a:graphic>
            <a:graphicData uri="http://schemas.openxmlformats.org/presentationml/2006/ole">
              <mc:AlternateContent>
                <mc:Choice Requires="v">
                  <p:oleObj r:id="rId5" imgH="248" imgW="299" progId="MS_ClipArt_Gallery.2" spid="_x0000_s1">
                    <p:embed/>
                  </p:oleObj>
                </mc:Choice>
                <mc:Fallback>
                  <p:oleObj r:id="rId6" imgH="248" imgW="299" progId="MS_ClipArt_Gallery.2">
                    <p:embed/>
                    <p:pic>
                      <p:nvPicPr>
                        <p:cNvPr id="1575" name="Google Shape;1575;p13"/>
                        <p:cNvPicPr preferRelativeResize="0"/>
                        <p:nvPr/>
                      </p:nvPicPr>
                      <p:blipFill rotWithShape="1">
                        <a:blip r:embed="rId7">
                          <a:alphaModFix/>
                        </a:blip>
                        <a:srcRect b="0" l="0" r="0" t="0"/>
                        <a:stretch/>
                      </p:blipFill>
                      <p:spPr>
                        <a:xfrm>
                          <a:off x="3314" y="1248"/>
                          <a:ext cx="299" cy="248"/>
                        </a:xfrm>
                        <a:prstGeom prst="rect">
                          <a:avLst/>
                        </a:prstGeom>
                        <a:noFill/>
                        <a:ln>
                          <a:noFill/>
                        </a:ln>
                      </p:spPr>
                    </p:pic>
                  </p:oleObj>
                </mc:Fallback>
              </mc:AlternateContent>
            </a:graphicData>
          </a:graphic>
        </p:graphicFrame>
        <p:cxnSp>
          <p:nvCxnSpPr>
            <p:cNvPr id="1576" name="Google Shape;1576;p13"/>
            <p:cNvCxnSpPr/>
            <p:nvPr/>
          </p:nvCxnSpPr>
          <p:spPr>
            <a:xfrm flipH="1" rot="10800000">
              <a:off x="3606" y="1433"/>
              <a:ext cx="52" cy="5"/>
            </a:xfrm>
            <a:prstGeom prst="straightConnector1">
              <a:avLst/>
            </a:prstGeom>
            <a:noFill/>
            <a:ln cap="flat" cmpd="sng" w="19050">
              <a:solidFill>
                <a:schemeClr val="dk1"/>
              </a:solidFill>
              <a:prstDash val="solid"/>
              <a:round/>
              <a:headEnd len="sm" w="sm" type="none"/>
              <a:tailEnd len="sm" w="sm" type="none"/>
            </a:ln>
          </p:spPr>
        </p:cxnSp>
        <p:graphicFrame>
          <p:nvGraphicFramePr>
            <p:cNvPr id="1577" name="Google Shape;1577;p13"/>
            <p:cNvGraphicFramePr/>
            <p:nvPr/>
          </p:nvGraphicFramePr>
          <p:xfrm>
            <a:off x="3314" y="1694"/>
            <a:ext cx="299" cy="248"/>
          </p:xfrm>
          <a:graphic>
            <a:graphicData uri="http://schemas.openxmlformats.org/presentationml/2006/ole">
              <mc:AlternateContent>
                <mc:Choice Requires="v">
                  <p:oleObj r:id="rId8" imgH="248" imgW="299" progId="MS_ClipArt_Gallery.2" spid="_x0000_s2">
                    <p:embed/>
                  </p:oleObj>
                </mc:Choice>
                <mc:Fallback>
                  <p:oleObj r:id="rId9" imgH="248" imgW="299" progId="MS_ClipArt_Gallery.2">
                    <p:embed/>
                    <p:pic>
                      <p:nvPicPr>
                        <p:cNvPr id="1577" name="Google Shape;1577;p13"/>
                        <p:cNvPicPr preferRelativeResize="0"/>
                        <p:nvPr/>
                      </p:nvPicPr>
                      <p:blipFill rotWithShape="1">
                        <a:blip r:embed="rId7">
                          <a:alphaModFix/>
                        </a:blip>
                        <a:srcRect b="0" l="0" r="0" t="0"/>
                        <a:stretch/>
                      </p:blipFill>
                      <p:spPr>
                        <a:xfrm>
                          <a:off x="3314" y="1694"/>
                          <a:ext cx="299" cy="248"/>
                        </a:xfrm>
                        <a:prstGeom prst="rect">
                          <a:avLst/>
                        </a:prstGeom>
                        <a:noFill/>
                        <a:ln>
                          <a:noFill/>
                        </a:ln>
                      </p:spPr>
                    </p:pic>
                  </p:oleObj>
                </mc:Fallback>
              </mc:AlternateContent>
            </a:graphicData>
          </a:graphic>
        </p:graphicFrame>
        <p:cxnSp>
          <p:nvCxnSpPr>
            <p:cNvPr id="1578" name="Google Shape;1578;p13"/>
            <p:cNvCxnSpPr/>
            <p:nvPr/>
          </p:nvCxnSpPr>
          <p:spPr>
            <a:xfrm flipH="1" rot="10800000">
              <a:off x="3606" y="1882"/>
              <a:ext cx="52" cy="2"/>
            </a:xfrm>
            <a:prstGeom prst="straightConnector1">
              <a:avLst/>
            </a:prstGeom>
            <a:noFill/>
            <a:ln cap="flat" cmpd="sng" w="19050">
              <a:solidFill>
                <a:schemeClr val="dk1"/>
              </a:solidFill>
              <a:prstDash val="solid"/>
              <a:round/>
              <a:headEnd len="sm" w="sm" type="none"/>
              <a:tailEnd len="sm" w="sm" type="none"/>
            </a:ln>
          </p:spPr>
        </p:cxnSp>
        <p:grpSp>
          <p:nvGrpSpPr>
            <p:cNvPr id="1579" name="Google Shape;1579;p13"/>
            <p:cNvGrpSpPr/>
            <p:nvPr/>
          </p:nvGrpSpPr>
          <p:grpSpPr>
            <a:xfrm>
              <a:off x="3404" y="1504"/>
              <a:ext cx="51" cy="167"/>
              <a:chOff x="3842" y="406"/>
              <a:chExt cx="51" cy="167"/>
            </a:xfrm>
          </p:grpSpPr>
          <p:sp>
            <p:nvSpPr>
              <p:cNvPr id="1580" name="Google Shape;1580;p13"/>
              <p:cNvSpPr/>
              <p:nvPr/>
            </p:nvSpPr>
            <p:spPr>
              <a:xfrm>
                <a:off x="3842" y="40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581" name="Google Shape;1581;p13"/>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582" name="Google Shape;1582;p13"/>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583" name="Google Shape;1583;p13"/>
            <p:cNvCxnSpPr/>
            <p:nvPr/>
          </p:nvCxnSpPr>
          <p:spPr>
            <a:xfrm>
              <a:off x="3654" y="1431"/>
              <a:ext cx="0" cy="450"/>
            </a:xfrm>
            <a:prstGeom prst="straightConnector1">
              <a:avLst/>
            </a:prstGeom>
            <a:noFill/>
            <a:ln cap="flat" cmpd="sng" w="12700">
              <a:solidFill>
                <a:schemeClr val="dk1"/>
              </a:solidFill>
              <a:prstDash val="solid"/>
              <a:round/>
              <a:headEnd len="sm" w="sm" type="none"/>
              <a:tailEnd len="sm" w="sm" type="none"/>
            </a:ln>
          </p:spPr>
        </p:cxnSp>
      </p:grpSp>
      <p:cxnSp>
        <p:nvCxnSpPr>
          <p:cNvPr id="1584" name="Google Shape;1584;p13"/>
          <p:cNvCxnSpPr/>
          <p:nvPr/>
        </p:nvCxnSpPr>
        <p:spPr>
          <a:xfrm flipH="1" rot="10800000">
            <a:off x="7595161" y="2376444"/>
            <a:ext cx="127000" cy="3175"/>
          </a:xfrm>
          <a:prstGeom prst="straightConnector1">
            <a:avLst/>
          </a:prstGeom>
          <a:noFill/>
          <a:ln cap="flat" cmpd="sng" w="12700">
            <a:solidFill>
              <a:schemeClr val="dk1"/>
            </a:solidFill>
            <a:prstDash val="solid"/>
            <a:round/>
            <a:headEnd len="sm" w="sm" type="none"/>
            <a:tailEnd len="sm" w="sm" type="none"/>
          </a:ln>
        </p:spPr>
      </p:cxnSp>
      <p:cxnSp>
        <p:nvCxnSpPr>
          <p:cNvPr id="1585" name="Google Shape;1585;p13"/>
          <p:cNvCxnSpPr/>
          <p:nvPr/>
        </p:nvCxnSpPr>
        <p:spPr>
          <a:xfrm>
            <a:off x="8171424" y="1701757"/>
            <a:ext cx="658812" cy="279400"/>
          </a:xfrm>
          <a:prstGeom prst="straightConnector1">
            <a:avLst/>
          </a:prstGeom>
          <a:noFill/>
          <a:ln cap="flat" cmpd="sng" w="12700">
            <a:solidFill>
              <a:schemeClr val="dk1"/>
            </a:solidFill>
            <a:prstDash val="solid"/>
            <a:round/>
            <a:headEnd len="sm" w="sm" type="none"/>
            <a:tailEnd len="sm" w="sm" type="none"/>
          </a:ln>
        </p:spPr>
      </p:cxnSp>
      <p:cxnSp>
        <p:nvCxnSpPr>
          <p:cNvPr id="1586" name="Google Shape;1586;p13"/>
          <p:cNvCxnSpPr/>
          <p:nvPr/>
        </p:nvCxnSpPr>
        <p:spPr>
          <a:xfrm>
            <a:off x="9017561" y="2038307"/>
            <a:ext cx="196850" cy="669925"/>
          </a:xfrm>
          <a:prstGeom prst="straightConnector1">
            <a:avLst/>
          </a:prstGeom>
          <a:noFill/>
          <a:ln cap="flat" cmpd="sng" w="12700">
            <a:solidFill>
              <a:schemeClr val="dk1"/>
            </a:solidFill>
            <a:prstDash val="solid"/>
            <a:round/>
            <a:headEnd len="sm" w="sm" type="none"/>
            <a:tailEnd len="sm" w="sm" type="none"/>
          </a:ln>
        </p:spPr>
      </p:cxnSp>
      <p:cxnSp>
        <p:nvCxnSpPr>
          <p:cNvPr id="1587" name="Google Shape;1587;p13"/>
          <p:cNvCxnSpPr/>
          <p:nvPr/>
        </p:nvCxnSpPr>
        <p:spPr>
          <a:xfrm>
            <a:off x="7920599" y="1814469"/>
            <a:ext cx="1587" cy="582613"/>
          </a:xfrm>
          <a:prstGeom prst="straightConnector1">
            <a:avLst/>
          </a:prstGeom>
          <a:noFill/>
          <a:ln cap="flat" cmpd="sng" w="12700">
            <a:solidFill>
              <a:schemeClr val="dk1"/>
            </a:solidFill>
            <a:prstDash val="solid"/>
            <a:round/>
            <a:headEnd len="sm" w="sm" type="none"/>
            <a:tailEnd len="sm" w="sm" type="none"/>
          </a:ln>
        </p:spPr>
      </p:cxnSp>
      <p:cxnSp>
        <p:nvCxnSpPr>
          <p:cNvPr id="1588" name="Google Shape;1588;p13"/>
          <p:cNvCxnSpPr/>
          <p:nvPr/>
        </p:nvCxnSpPr>
        <p:spPr>
          <a:xfrm>
            <a:off x="7945999" y="2462169"/>
            <a:ext cx="971550" cy="401638"/>
          </a:xfrm>
          <a:prstGeom prst="straightConnector1">
            <a:avLst/>
          </a:prstGeom>
          <a:noFill/>
          <a:ln cap="flat" cmpd="sng" w="12700">
            <a:solidFill>
              <a:schemeClr val="dk1"/>
            </a:solidFill>
            <a:prstDash val="solid"/>
            <a:round/>
            <a:headEnd len="sm" w="sm" type="none"/>
            <a:tailEnd len="sm" w="sm" type="none"/>
          </a:ln>
        </p:spPr>
      </p:cxnSp>
      <p:cxnSp>
        <p:nvCxnSpPr>
          <p:cNvPr id="1589" name="Google Shape;1589;p13"/>
          <p:cNvCxnSpPr/>
          <p:nvPr/>
        </p:nvCxnSpPr>
        <p:spPr>
          <a:xfrm rot="10800000">
            <a:off x="9473174" y="2954294"/>
            <a:ext cx="476250" cy="687388"/>
          </a:xfrm>
          <a:prstGeom prst="straightConnector1">
            <a:avLst/>
          </a:prstGeom>
          <a:noFill/>
          <a:ln cap="flat" cmpd="sng" w="12700">
            <a:solidFill>
              <a:schemeClr val="dk1"/>
            </a:solidFill>
            <a:prstDash val="solid"/>
            <a:round/>
            <a:headEnd len="sm" w="sm" type="none"/>
            <a:tailEnd len="sm" w="sm" type="none"/>
          </a:ln>
        </p:spPr>
      </p:cxnSp>
      <p:cxnSp>
        <p:nvCxnSpPr>
          <p:cNvPr id="1590" name="Google Shape;1590;p13"/>
          <p:cNvCxnSpPr/>
          <p:nvPr/>
        </p:nvCxnSpPr>
        <p:spPr>
          <a:xfrm flipH="1">
            <a:off x="8179361" y="2006557"/>
            <a:ext cx="758825" cy="517525"/>
          </a:xfrm>
          <a:prstGeom prst="straightConnector1">
            <a:avLst/>
          </a:prstGeom>
          <a:noFill/>
          <a:ln cap="flat" cmpd="sng" w="12700">
            <a:solidFill>
              <a:schemeClr val="dk1"/>
            </a:solidFill>
            <a:prstDash val="solid"/>
            <a:round/>
            <a:headEnd len="sm" w="sm" type="none"/>
            <a:tailEnd len="sm" w="sm" type="none"/>
          </a:ln>
        </p:spPr>
      </p:cxnSp>
      <p:cxnSp>
        <p:nvCxnSpPr>
          <p:cNvPr id="1591" name="Google Shape;1591;p13"/>
          <p:cNvCxnSpPr/>
          <p:nvPr/>
        </p:nvCxnSpPr>
        <p:spPr>
          <a:xfrm flipH="1">
            <a:off x="8188886" y="1446169"/>
            <a:ext cx="476250" cy="342900"/>
          </a:xfrm>
          <a:prstGeom prst="straightConnector1">
            <a:avLst/>
          </a:prstGeom>
          <a:noFill/>
          <a:ln cap="flat" cmpd="sng" w="12700">
            <a:solidFill>
              <a:schemeClr val="dk1"/>
            </a:solidFill>
            <a:prstDash val="solid"/>
            <a:round/>
            <a:headEnd len="sm" w="sm" type="none"/>
            <a:tailEnd len="sm" w="sm" type="none"/>
          </a:ln>
        </p:spPr>
      </p:cxnSp>
      <p:cxnSp>
        <p:nvCxnSpPr>
          <p:cNvPr id="1592" name="Google Shape;1592;p13"/>
          <p:cNvCxnSpPr/>
          <p:nvPr/>
        </p:nvCxnSpPr>
        <p:spPr>
          <a:xfrm flipH="1">
            <a:off x="8906436" y="1622382"/>
            <a:ext cx="273050" cy="236537"/>
          </a:xfrm>
          <a:prstGeom prst="straightConnector1">
            <a:avLst/>
          </a:prstGeom>
          <a:noFill/>
          <a:ln cap="flat" cmpd="sng" w="12700">
            <a:solidFill>
              <a:schemeClr val="dk1"/>
            </a:solidFill>
            <a:prstDash val="solid"/>
            <a:round/>
            <a:headEnd len="sm" w="sm" type="none"/>
            <a:tailEnd len="sm" w="sm" type="none"/>
          </a:ln>
        </p:spPr>
      </p:cxnSp>
      <p:grpSp>
        <p:nvGrpSpPr>
          <p:cNvPr id="1593" name="Google Shape;1593;p13"/>
          <p:cNvGrpSpPr/>
          <p:nvPr/>
        </p:nvGrpSpPr>
        <p:grpSpPr>
          <a:xfrm>
            <a:off x="7669774" y="1585869"/>
            <a:ext cx="679450" cy="314325"/>
            <a:chOff x="3600" y="219"/>
            <a:chExt cx="360" cy="175"/>
          </a:xfrm>
        </p:grpSpPr>
        <p:sp>
          <p:nvSpPr>
            <p:cNvPr id="1594" name="Google Shape;1594;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595" name="Google Shape;1595;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596" name="Google Shape;1596;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597" name="Google Shape;1597;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98" name="Google Shape;1598;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599" name="Google Shape;1599;p13"/>
            <p:cNvGrpSpPr/>
            <p:nvPr/>
          </p:nvGrpSpPr>
          <p:grpSpPr>
            <a:xfrm>
              <a:off x="3686" y="244"/>
              <a:ext cx="177" cy="66"/>
              <a:chOff x="2848" y="848"/>
              <a:chExt cx="140" cy="98"/>
            </a:xfrm>
          </p:grpSpPr>
          <p:cxnSp>
            <p:nvCxnSpPr>
              <p:cNvPr id="1600" name="Google Shape;160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01" name="Google Shape;160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02" name="Google Shape;160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03" name="Google Shape;1603;p13"/>
            <p:cNvGrpSpPr/>
            <p:nvPr/>
          </p:nvGrpSpPr>
          <p:grpSpPr>
            <a:xfrm flipH="1" rot="10800000">
              <a:off x="3686" y="243"/>
              <a:ext cx="177" cy="66"/>
              <a:chOff x="2848" y="848"/>
              <a:chExt cx="140" cy="98"/>
            </a:xfrm>
          </p:grpSpPr>
          <p:cxnSp>
            <p:nvCxnSpPr>
              <p:cNvPr id="1604" name="Google Shape;160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05" name="Google Shape;160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06" name="Google Shape;160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07" name="Google Shape;1607;p13"/>
          <p:cNvGrpSpPr/>
          <p:nvPr/>
        </p:nvGrpSpPr>
        <p:grpSpPr>
          <a:xfrm>
            <a:off x="7687236" y="2243094"/>
            <a:ext cx="679450" cy="314325"/>
            <a:chOff x="3600" y="219"/>
            <a:chExt cx="360" cy="175"/>
          </a:xfrm>
        </p:grpSpPr>
        <p:sp>
          <p:nvSpPr>
            <p:cNvPr id="1608" name="Google Shape;1608;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09" name="Google Shape;1609;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10" name="Google Shape;1610;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11" name="Google Shape;1611;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12" name="Google Shape;1612;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13" name="Google Shape;1613;p13"/>
            <p:cNvGrpSpPr/>
            <p:nvPr/>
          </p:nvGrpSpPr>
          <p:grpSpPr>
            <a:xfrm>
              <a:off x="3686" y="244"/>
              <a:ext cx="177" cy="66"/>
              <a:chOff x="2848" y="848"/>
              <a:chExt cx="140" cy="98"/>
            </a:xfrm>
          </p:grpSpPr>
          <p:cxnSp>
            <p:nvCxnSpPr>
              <p:cNvPr id="1614" name="Google Shape;161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15" name="Google Shape;161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16" name="Google Shape;161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17" name="Google Shape;1617;p13"/>
            <p:cNvGrpSpPr/>
            <p:nvPr/>
          </p:nvGrpSpPr>
          <p:grpSpPr>
            <a:xfrm flipH="1" rot="10800000">
              <a:off x="3686" y="243"/>
              <a:ext cx="177" cy="66"/>
              <a:chOff x="2848" y="848"/>
              <a:chExt cx="140" cy="98"/>
            </a:xfrm>
          </p:grpSpPr>
          <p:cxnSp>
            <p:nvCxnSpPr>
              <p:cNvPr id="1618" name="Google Shape;1618;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19" name="Google Shape;1619;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20" name="Google Shape;1620;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21" name="Google Shape;1621;p13"/>
          <p:cNvGrpSpPr/>
          <p:nvPr/>
        </p:nvGrpSpPr>
        <p:grpSpPr>
          <a:xfrm>
            <a:off x="8657199" y="1793832"/>
            <a:ext cx="676275" cy="314325"/>
            <a:chOff x="3600" y="219"/>
            <a:chExt cx="360" cy="175"/>
          </a:xfrm>
        </p:grpSpPr>
        <p:sp>
          <p:nvSpPr>
            <p:cNvPr id="1622" name="Google Shape;1622;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23" name="Google Shape;1623;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24" name="Google Shape;1624;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25" name="Google Shape;1625;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26" name="Google Shape;1626;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27" name="Google Shape;1627;p13"/>
            <p:cNvGrpSpPr/>
            <p:nvPr/>
          </p:nvGrpSpPr>
          <p:grpSpPr>
            <a:xfrm>
              <a:off x="3686" y="244"/>
              <a:ext cx="177" cy="66"/>
              <a:chOff x="2848" y="848"/>
              <a:chExt cx="140" cy="98"/>
            </a:xfrm>
          </p:grpSpPr>
          <p:cxnSp>
            <p:nvCxnSpPr>
              <p:cNvPr id="1628" name="Google Shape;1628;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29" name="Google Shape;1629;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30" name="Google Shape;1630;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31" name="Google Shape;1631;p13"/>
            <p:cNvGrpSpPr/>
            <p:nvPr/>
          </p:nvGrpSpPr>
          <p:grpSpPr>
            <a:xfrm flipH="1" rot="10800000">
              <a:off x="3686" y="243"/>
              <a:ext cx="177" cy="66"/>
              <a:chOff x="2848" y="848"/>
              <a:chExt cx="140" cy="98"/>
            </a:xfrm>
          </p:grpSpPr>
          <p:cxnSp>
            <p:nvCxnSpPr>
              <p:cNvPr id="1632" name="Google Shape;163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33" name="Google Shape;163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34" name="Google Shape;163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35" name="Google Shape;1635;p13"/>
          <p:cNvGrpSpPr/>
          <p:nvPr/>
        </p:nvGrpSpPr>
        <p:grpSpPr>
          <a:xfrm>
            <a:off x="8901674" y="2700294"/>
            <a:ext cx="679450" cy="314325"/>
            <a:chOff x="3600" y="219"/>
            <a:chExt cx="360" cy="175"/>
          </a:xfrm>
        </p:grpSpPr>
        <p:sp>
          <p:nvSpPr>
            <p:cNvPr id="1636" name="Google Shape;1636;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37" name="Google Shape;1637;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38" name="Google Shape;1638;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39" name="Google Shape;1639;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40" name="Google Shape;1640;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41" name="Google Shape;1641;p13"/>
            <p:cNvGrpSpPr/>
            <p:nvPr/>
          </p:nvGrpSpPr>
          <p:grpSpPr>
            <a:xfrm>
              <a:off x="3686" y="244"/>
              <a:ext cx="177" cy="66"/>
              <a:chOff x="2848" y="848"/>
              <a:chExt cx="140" cy="98"/>
            </a:xfrm>
          </p:grpSpPr>
          <p:cxnSp>
            <p:nvCxnSpPr>
              <p:cNvPr id="1642" name="Google Shape;1642;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43" name="Google Shape;1643;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44" name="Google Shape;1644;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45" name="Google Shape;1645;p13"/>
            <p:cNvGrpSpPr/>
            <p:nvPr/>
          </p:nvGrpSpPr>
          <p:grpSpPr>
            <a:xfrm flipH="1" rot="10800000">
              <a:off x="3686" y="243"/>
              <a:ext cx="177" cy="66"/>
              <a:chOff x="2848" y="848"/>
              <a:chExt cx="140" cy="98"/>
            </a:xfrm>
          </p:grpSpPr>
          <p:cxnSp>
            <p:nvCxnSpPr>
              <p:cNvPr id="1646" name="Google Shape;164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47" name="Google Shape;164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48" name="Google Shape;164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49" name="Google Shape;1649;p13"/>
          <p:cNvGrpSpPr/>
          <p:nvPr/>
        </p:nvGrpSpPr>
        <p:grpSpPr>
          <a:xfrm>
            <a:off x="8669899" y="4692607"/>
            <a:ext cx="715962" cy="311150"/>
            <a:chOff x="3600" y="219"/>
            <a:chExt cx="360" cy="175"/>
          </a:xfrm>
        </p:grpSpPr>
        <p:sp>
          <p:nvSpPr>
            <p:cNvPr id="1650" name="Google Shape;1650;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51" name="Google Shape;1651;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52" name="Google Shape;1652;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53" name="Google Shape;1653;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54" name="Google Shape;1654;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55" name="Google Shape;1655;p13"/>
            <p:cNvGrpSpPr/>
            <p:nvPr/>
          </p:nvGrpSpPr>
          <p:grpSpPr>
            <a:xfrm>
              <a:off x="3686" y="244"/>
              <a:ext cx="177" cy="66"/>
              <a:chOff x="2848" y="848"/>
              <a:chExt cx="140" cy="98"/>
            </a:xfrm>
          </p:grpSpPr>
          <p:cxnSp>
            <p:nvCxnSpPr>
              <p:cNvPr id="1656" name="Google Shape;1656;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57" name="Google Shape;1657;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58" name="Google Shape;1658;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59" name="Google Shape;1659;p13"/>
            <p:cNvGrpSpPr/>
            <p:nvPr/>
          </p:nvGrpSpPr>
          <p:grpSpPr>
            <a:xfrm flipH="1" rot="10800000">
              <a:off x="3686" y="243"/>
              <a:ext cx="177" cy="66"/>
              <a:chOff x="2848" y="848"/>
              <a:chExt cx="140" cy="98"/>
            </a:xfrm>
          </p:grpSpPr>
          <p:cxnSp>
            <p:nvCxnSpPr>
              <p:cNvPr id="1660" name="Google Shape;166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61" name="Google Shape;166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62" name="Google Shape;166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pSp>
        <p:nvGrpSpPr>
          <p:cNvPr id="1663" name="Google Shape;1663;p13"/>
          <p:cNvGrpSpPr/>
          <p:nvPr/>
        </p:nvGrpSpPr>
        <p:grpSpPr>
          <a:xfrm>
            <a:off x="9663674" y="3681369"/>
            <a:ext cx="679450" cy="314325"/>
            <a:chOff x="3600" y="219"/>
            <a:chExt cx="360" cy="175"/>
          </a:xfrm>
        </p:grpSpPr>
        <p:sp>
          <p:nvSpPr>
            <p:cNvPr id="1664" name="Google Shape;1664;p13"/>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cxnSp>
          <p:nvCxnSpPr>
            <p:cNvPr id="1665" name="Google Shape;1665;p13"/>
            <p:cNvCxnSpPr/>
            <p:nvPr/>
          </p:nvCxnSpPr>
          <p:spPr>
            <a:xfrm>
              <a:off x="3603" y="289"/>
              <a:ext cx="0" cy="60"/>
            </a:xfrm>
            <a:prstGeom prst="straightConnector1">
              <a:avLst/>
            </a:prstGeom>
            <a:noFill/>
            <a:ln cap="flat" cmpd="sng" w="12700">
              <a:solidFill>
                <a:schemeClr val="dk1"/>
              </a:solidFill>
              <a:prstDash val="solid"/>
              <a:round/>
              <a:headEnd len="sm" w="sm" type="none"/>
              <a:tailEnd len="sm" w="sm" type="none"/>
            </a:ln>
          </p:spPr>
        </p:cxnSp>
        <p:cxnSp>
          <p:nvCxnSpPr>
            <p:cNvPr id="1666" name="Google Shape;1666;p13"/>
            <p:cNvCxnSpPr/>
            <p:nvPr/>
          </p:nvCxnSpPr>
          <p:spPr>
            <a:xfrm>
              <a:off x="3960" y="289"/>
              <a:ext cx="0" cy="60"/>
            </a:xfrm>
            <a:prstGeom prst="straightConnector1">
              <a:avLst/>
            </a:prstGeom>
            <a:noFill/>
            <a:ln cap="flat" cmpd="sng" w="12700">
              <a:solidFill>
                <a:schemeClr val="dk1"/>
              </a:solidFill>
              <a:prstDash val="solid"/>
              <a:round/>
              <a:headEnd len="sm" w="sm" type="none"/>
              <a:tailEnd len="sm" w="sm" type="none"/>
            </a:ln>
          </p:spPr>
        </p:cxnSp>
        <p:sp>
          <p:nvSpPr>
            <p:cNvPr id="1667" name="Google Shape;1667;p13"/>
            <p:cNvSpPr/>
            <p:nvPr/>
          </p:nvSpPr>
          <p:spPr>
            <a:xfrm>
              <a:off x="3603" y="289"/>
              <a:ext cx="354"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68" name="Google Shape;1668;p13"/>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nvGrpSpPr>
            <p:cNvPr id="1669" name="Google Shape;1669;p13"/>
            <p:cNvGrpSpPr/>
            <p:nvPr/>
          </p:nvGrpSpPr>
          <p:grpSpPr>
            <a:xfrm>
              <a:off x="3686" y="244"/>
              <a:ext cx="177" cy="66"/>
              <a:chOff x="2848" y="848"/>
              <a:chExt cx="140" cy="98"/>
            </a:xfrm>
          </p:grpSpPr>
          <p:cxnSp>
            <p:nvCxnSpPr>
              <p:cNvPr id="1670" name="Google Shape;1670;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71" name="Google Shape;1671;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72" name="Google Shape;1672;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nvGrpSpPr>
            <p:cNvPr id="1673" name="Google Shape;1673;p13"/>
            <p:cNvGrpSpPr/>
            <p:nvPr/>
          </p:nvGrpSpPr>
          <p:grpSpPr>
            <a:xfrm flipH="1" rot="10800000">
              <a:off x="3686" y="243"/>
              <a:ext cx="177" cy="66"/>
              <a:chOff x="2848" y="848"/>
              <a:chExt cx="140" cy="98"/>
            </a:xfrm>
          </p:grpSpPr>
          <p:cxnSp>
            <p:nvCxnSpPr>
              <p:cNvPr id="1674" name="Google Shape;1674;p13"/>
              <p:cNvCxnSpPr/>
              <p:nvPr/>
            </p:nvCxnSpPr>
            <p:spPr>
              <a:xfrm flipH="1" rot="10800000">
                <a:off x="2848" y="848"/>
                <a:ext cx="50" cy="2"/>
              </a:xfrm>
              <a:prstGeom prst="straightConnector1">
                <a:avLst/>
              </a:prstGeom>
              <a:noFill/>
              <a:ln cap="flat" cmpd="sng" w="28575">
                <a:solidFill>
                  <a:schemeClr val="dk1"/>
                </a:solidFill>
                <a:prstDash val="solid"/>
                <a:round/>
                <a:headEnd len="sm" w="sm" type="none"/>
                <a:tailEnd len="sm" w="sm" type="none"/>
              </a:ln>
            </p:spPr>
          </p:cxnSp>
          <p:cxnSp>
            <p:nvCxnSpPr>
              <p:cNvPr id="1675" name="Google Shape;1675;p13"/>
              <p:cNvCxnSpPr/>
              <p:nvPr/>
            </p:nvCxnSpPr>
            <p:spPr>
              <a:xfrm>
                <a:off x="2944" y="946"/>
                <a:ext cx="44" cy="0"/>
              </a:xfrm>
              <a:prstGeom prst="straightConnector1">
                <a:avLst/>
              </a:prstGeom>
              <a:noFill/>
              <a:ln cap="flat" cmpd="sng" w="28575">
                <a:solidFill>
                  <a:schemeClr val="dk1"/>
                </a:solidFill>
                <a:prstDash val="solid"/>
                <a:round/>
                <a:headEnd len="sm" w="sm" type="none"/>
                <a:tailEnd len="sm" w="sm" type="none"/>
              </a:ln>
            </p:spPr>
          </p:cxnSp>
          <p:cxnSp>
            <p:nvCxnSpPr>
              <p:cNvPr id="1676" name="Google Shape;1676;p13"/>
              <p:cNvCxnSpPr/>
              <p:nvPr/>
            </p:nvCxnSpPr>
            <p:spPr>
              <a:xfrm>
                <a:off x="2894" y="850"/>
                <a:ext cx="52" cy="96"/>
              </a:xfrm>
              <a:prstGeom prst="straightConnector1">
                <a:avLst/>
              </a:prstGeom>
              <a:noFill/>
              <a:ln cap="flat" cmpd="sng" w="28575">
                <a:solidFill>
                  <a:schemeClr val="dk1"/>
                </a:solidFill>
                <a:prstDash val="solid"/>
                <a:round/>
                <a:headEnd len="sm" w="sm" type="none"/>
                <a:tailEnd len="sm" w="sm" type="none"/>
              </a:ln>
            </p:spPr>
          </p:cxnSp>
        </p:grpSp>
      </p:grpSp>
      <p:graphicFrame>
        <p:nvGraphicFramePr>
          <p:cNvPr id="1677" name="Google Shape;1677;p13"/>
          <p:cNvGraphicFramePr/>
          <p:nvPr/>
        </p:nvGraphicFramePr>
        <p:xfrm>
          <a:off x="7630086" y="4184607"/>
          <a:ext cx="563563" cy="446087"/>
        </p:xfrm>
        <a:graphic>
          <a:graphicData uri="http://schemas.openxmlformats.org/presentationml/2006/ole">
            <mc:AlternateContent>
              <mc:Choice Requires="v">
                <p:oleObj r:id="rId10" imgH="446087" imgW="563563" progId="MS_ClipArt_Gallery.2" spid="_x0000_s3">
                  <p:embed/>
                </p:oleObj>
              </mc:Choice>
              <mc:Fallback>
                <p:oleObj r:id="rId11" imgH="446087" imgW="563563" progId="MS_ClipArt_Gallery.2">
                  <p:embed/>
                  <p:pic>
                    <p:nvPicPr>
                      <p:cNvPr id="1677" name="Google Shape;1677;p13"/>
                      <p:cNvPicPr preferRelativeResize="0"/>
                      <p:nvPr/>
                    </p:nvPicPr>
                    <p:blipFill rotWithShape="1">
                      <a:blip r:embed="rId12">
                        <a:alphaModFix/>
                      </a:blip>
                      <a:srcRect b="0" l="0" r="0" t="0"/>
                      <a:stretch/>
                    </p:blipFill>
                    <p:spPr>
                      <a:xfrm>
                        <a:off x="7630086" y="4184607"/>
                        <a:ext cx="563563" cy="446087"/>
                      </a:xfrm>
                      <a:prstGeom prst="rect">
                        <a:avLst/>
                      </a:prstGeom>
                      <a:noFill/>
                      <a:ln>
                        <a:noFill/>
                      </a:ln>
                    </p:spPr>
                  </p:pic>
                </p:oleObj>
              </mc:Fallback>
            </mc:AlternateContent>
          </a:graphicData>
        </a:graphic>
      </p:graphicFrame>
      <p:cxnSp>
        <p:nvCxnSpPr>
          <p:cNvPr id="1678" name="Google Shape;1678;p13"/>
          <p:cNvCxnSpPr/>
          <p:nvPr/>
        </p:nvCxnSpPr>
        <p:spPr>
          <a:xfrm>
            <a:off x="8174599" y="4513219"/>
            <a:ext cx="314325" cy="1588"/>
          </a:xfrm>
          <a:prstGeom prst="straightConnector1">
            <a:avLst/>
          </a:prstGeom>
          <a:noFill/>
          <a:ln cap="flat" cmpd="sng" w="19050">
            <a:solidFill>
              <a:schemeClr val="dk1"/>
            </a:solidFill>
            <a:prstDash val="solid"/>
            <a:round/>
            <a:headEnd len="sm" w="sm" type="none"/>
            <a:tailEnd len="sm" w="sm" type="none"/>
          </a:ln>
        </p:spPr>
      </p:cxnSp>
      <p:graphicFrame>
        <p:nvGraphicFramePr>
          <p:cNvPr id="1679" name="Google Shape;1679;p13"/>
          <p:cNvGraphicFramePr/>
          <p:nvPr/>
        </p:nvGraphicFramePr>
        <p:xfrm>
          <a:off x="7839636" y="4983119"/>
          <a:ext cx="563563" cy="446088"/>
        </p:xfrm>
        <a:graphic>
          <a:graphicData uri="http://schemas.openxmlformats.org/presentationml/2006/ole">
            <mc:AlternateContent>
              <mc:Choice Requires="v">
                <p:oleObj r:id="rId13" imgH="446088" imgW="563563" progId="MS_ClipArt_Gallery.2" spid="_x0000_s4">
                  <p:embed/>
                </p:oleObj>
              </mc:Choice>
              <mc:Fallback>
                <p:oleObj r:id="rId14" imgH="446088" imgW="563563" progId="MS_ClipArt_Gallery.2">
                  <p:embed/>
                  <p:pic>
                    <p:nvPicPr>
                      <p:cNvPr id="1679" name="Google Shape;1679;p13"/>
                      <p:cNvPicPr preferRelativeResize="0"/>
                      <p:nvPr/>
                    </p:nvPicPr>
                    <p:blipFill rotWithShape="1">
                      <a:blip r:embed="rId12">
                        <a:alphaModFix/>
                      </a:blip>
                      <a:srcRect b="0" l="0" r="0" t="0"/>
                      <a:stretch/>
                    </p:blipFill>
                    <p:spPr>
                      <a:xfrm>
                        <a:off x="7839636" y="4983119"/>
                        <a:ext cx="563563" cy="446088"/>
                      </a:xfrm>
                      <a:prstGeom prst="rect">
                        <a:avLst/>
                      </a:prstGeom>
                      <a:noFill/>
                      <a:ln>
                        <a:noFill/>
                      </a:ln>
                    </p:spPr>
                  </p:pic>
                </p:oleObj>
              </mc:Fallback>
            </mc:AlternateContent>
          </a:graphicData>
        </a:graphic>
      </p:graphicFrame>
      <p:cxnSp>
        <p:nvCxnSpPr>
          <p:cNvPr id="1680" name="Google Shape;1680;p13"/>
          <p:cNvCxnSpPr/>
          <p:nvPr/>
        </p:nvCxnSpPr>
        <p:spPr>
          <a:xfrm flipH="1" rot="10800000">
            <a:off x="8390499" y="5321257"/>
            <a:ext cx="98425" cy="3175"/>
          </a:xfrm>
          <a:prstGeom prst="straightConnector1">
            <a:avLst/>
          </a:prstGeom>
          <a:noFill/>
          <a:ln cap="flat" cmpd="sng" w="19050">
            <a:solidFill>
              <a:schemeClr val="dk1"/>
            </a:solidFill>
            <a:prstDash val="solid"/>
            <a:round/>
            <a:headEnd len="sm" w="sm" type="none"/>
            <a:tailEnd len="sm" w="sm" type="none"/>
          </a:ln>
        </p:spPr>
      </p:cxnSp>
      <p:grpSp>
        <p:nvGrpSpPr>
          <p:cNvPr id="1681" name="Google Shape;1681;p13"/>
          <p:cNvGrpSpPr/>
          <p:nvPr/>
        </p:nvGrpSpPr>
        <p:grpSpPr>
          <a:xfrm>
            <a:off x="8009499" y="4641807"/>
            <a:ext cx="96837" cy="300037"/>
            <a:chOff x="3842" y="406"/>
            <a:chExt cx="51" cy="167"/>
          </a:xfrm>
        </p:grpSpPr>
        <p:sp>
          <p:nvSpPr>
            <p:cNvPr id="1682" name="Google Shape;1682;p13"/>
            <p:cNvSpPr/>
            <p:nvPr/>
          </p:nvSpPr>
          <p:spPr>
            <a:xfrm>
              <a:off x="3842" y="40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83" name="Google Shape;1683;p13"/>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84" name="Google Shape;1684;p13"/>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685" name="Google Shape;1685;p13"/>
          <p:cNvCxnSpPr/>
          <p:nvPr/>
        </p:nvCxnSpPr>
        <p:spPr>
          <a:xfrm>
            <a:off x="8480986" y="4510044"/>
            <a:ext cx="0" cy="809625"/>
          </a:xfrm>
          <a:prstGeom prst="straightConnector1">
            <a:avLst/>
          </a:prstGeom>
          <a:noFill/>
          <a:ln cap="flat" cmpd="sng" w="12700">
            <a:solidFill>
              <a:schemeClr val="dk1"/>
            </a:solidFill>
            <a:prstDash val="solid"/>
            <a:round/>
            <a:headEnd len="sm" w="sm" type="none"/>
            <a:tailEnd len="sm" w="sm" type="none"/>
          </a:ln>
        </p:spPr>
      </p:cxnSp>
      <p:cxnSp>
        <p:nvCxnSpPr>
          <p:cNvPr id="1686" name="Google Shape;1686;p13"/>
          <p:cNvCxnSpPr/>
          <p:nvPr/>
        </p:nvCxnSpPr>
        <p:spPr>
          <a:xfrm>
            <a:off x="8480986" y="4859294"/>
            <a:ext cx="187325" cy="3175"/>
          </a:xfrm>
          <a:prstGeom prst="straightConnector1">
            <a:avLst/>
          </a:prstGeom>
          <a:noFill/>
          <a:ln cap="flat" cmpd="sng" w="12700">
            <a:solidFill>
              <a:schemeClr val="dk1"/>
            </a:solidFill>
            <a:prstDash val="solid"/>
            <a:round/>
            <a:headEnd len="sm" w="sm" type="none"/>
            <a:tailEnd len="sm" w="sm" type="none"/>
          </a:ln>
        </p:spPr>
      </p:cxnSp>
      <p:cxnSp>
        <p:nvCxnSpPr>
          <p:cNvPr id="1687" name="Google Shape;1687;p13"/>
          <p:cNvCxnSpPr/>
          <p:nvPr/>
        </p:nvCxnSpPr>
        <p:spPr>
          <a:xfrm flipH="1">
            <a:off x="9385861" y="3998869"/>
            <a:ext cx="636588" cy="877888"/>
          </a:xfrm>
          <a:prstGeom prst="straightConnector1">
            <a:avLst/>
          </a:prstGeom>
          <a:noFill/>
          <a:ln cap="flat" cmpd="sng" w="12700">
            <a:solidFill>
              <a:schemeClr val="dk1"/>
            </a:solidFill>
            <a:prstDash val="solid"/>
            <a:round/>
            <a:headEnd len="sm" w="sm" type="none"/>
            <a:tailEnd len="sm" w="sm" type="none"/>
          </a:ln>
        </p:spPr>
      </p:cxnSp>
      <p:grpSp>
        <p:nvGrpSpPr>
          <p:cNvPr id="1688" name="Google Shape;1688;p13"/>
          <p:cNvGrpSpPr/>
          <p:nvPr/>
        </p:nvGrpSpPr>
        <p:grpSpPr>
          <a:xfrm rot="1433392">
            <a:off x="7503916" y="2297906"/>
            <a:ext cx="1028700" cy="171450"/>
            <a:chOff x="4712" y="1742"/>
            <a:chExt cx="648" cy="108"/>
          </a:xfrm>
        </p:grpSpPr>
        <p:sp>
          <p:nvSpPr>
            <p:cNvPr id="1689" name="Google Shape;1689;p13"/>
            <p:cNvSpPr/>
            <p:nvPr/>
          </p:nvSpPr>
          <p:spPr>
            <a:xfrm>
              <a:off x="4712" y="1742"/>
              <a:ext cx="648"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0" name="Google Shape;1690;p13"/>
            <p:cNvSpPr/>
            <p:nvPr/>
          </p:nvSpPr>
          <p:spPr>
            <a:xfrm>
              <a:off x="4712"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1" name="Google Shape;1691;p13"/>
          <p:cNvGrpSpPr/>
          <p:nvPr/>
        </p:nvGrpSpPr>
        <p:grpSpPr>
          <a:xfrm rot="3346875">
            <a:off x="9208061" y="3033670"/>
            <a:ext cx="447675" cy="171450"/>
            <a:chOff x="5078" y="1860"/>
            <a:chExt cx="282" cy="108"/>
          </a:xfrm>
        </p:grpSpPr>
        <p:sp>
          <p:nvSpPr>
            <p:cNvPr id="1692" name="Google Shape;1692;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3" name="Google Shape;1693;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4" name="Google Shape;1694;p13"/>
          <p:cNvGrpSpPr/>
          <p:nvPr/>
        </p:nvGrpSpPr>
        <p:grpSpPr>
          <a:xfrm rot="3215306">
            <a:off x="9525561" y="3138445"/>
            <a:ext cx="447675" cy="171450"/>
            <a:chOff x="5078" y="1860"/>
            <a:chExt cx="282" cy="108"/>
          </a:xfrm>
        </p:grpSpPr>
        <p:sp>
          <p:nvSpPr>
            <p:cNvPr id="1695" name="Google Shape;1695;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6" name="Google Shape;1696;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697" name="Google Shape;1697;p13"/>
          <p:cNvGrpSpPr/>
          <p:nvPr/>
        </p:nvGrpSpPr>
        <p:grpSpPr>
          <a:xfrm rot="3051000">
            <a:off x="9877986" y="3259095"/>
            <a:ext cx="447675" cy="171450"/>
            <a:chOff x="5078" y="1860"/>
            <a:chExt cx="282" cy="108"/>
          </a:xfrm>
        </p:grpSpPr>
        <p:sp>
          <p:nvSpPr>
            <p:cNvPr id="1698" name="Google Shape;1698;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699" name="Google Shape;1699;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700" name="Google Shape;1700;p13"/>
          <p:cNvCxnSpPr/>
          <p:nvPr/>
        </p:nvCxnSpPr>
        <p:spPr>
          <a:xfrm>
            <a:off x="8507216" y="2618581"/>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01" name="Google Shape;1701;p13"/>
          <p:cNvCxnSpPr/>
          <p:nvPr/>
        </p:nvCxnSpPr>
        <p:spPr>
          <a:xfrm>
            <a:off x="9566836" y="3309894"/>
            <a:ext cx="133350" cy="177800"/>
          </a:xfrm>
          <a:prstGeom prst="straightConnector1">
            <a:avLst/>
          </a:prstGeom>
          <a:noFill/>
          <a:ln cap="flat" cmpd="sng" w="9525">
            <a:solidFill>
              <a:schemeClr val="dk1"/>
            </a:solidFill>
            <a:prstDash val="solid"/>
            <a:round/>
            <a:headEnd len="sm" w="sm" type="none"/>
            <a:tailEnd len="med" w="med" type="triangle"/>
          </a:ln>
        </p:spPr>
      </p:cxnSp>
      <p:cxnSp>
        <p:nvCxnSpPr>
          <p:cNvPr id="1702" name="Google Shape;1702;p13"/>
          <p:cNvCxnSpPr/>
          <p:nvPr/>
        </p:nvCxnSpPr>
        <p:spPr>
          <a:xfrm>
            <a:off x="9890686" y="3408319"/>
            <a:ext cx="117475" cy="177800"/>
          </a:xfrm>
          <a:prstGeom prst="straightConnector1">
            <a:avLst/>
          </a:prstGeom>
          <a:noFill/>
          <a:ln cap="flat" cmpd="sng" w="9525">
            <a:solidFill>
              <a:schemeClr val="dk1"/>
            </a:solidFill>
            <a:prstDash val="solid"/>
            <a:round/>
            <a:headEnd len="sm" w="sm" type="none"/>
            <a:tailEnd len="med" w="med" type="triangle"/>
          </a:ln>
        </p:spPr>
      </p:cxnSp>
      <p:cxnSp>
        <p:nvCxnSpPr>
          <p:cNvPr id="1703" name="Google Shape;1703;p13"/>
          <p:cNvCxnSpPr/>
          <p:nvPr/>
        </p:nvCxnSpPr>
        <p:spPr>
          <a:xfrm>
            <a:off x="10258986" y="3522619"/>
            <a:ext cx="101600" cy="187325"/>
          </a:xfrm>
          <a:prstGeom prst="straightConnector1">
            <a:avLst/>
          </a:prstGeom>
          <a:noFill/>
          <a:ln cap="flat" cmpd="sng" w="9525">
            <a:solidFill>
              <a:schemeClr val="dk1"/>
            </a:solidFill>
            <a:prstDash val="solid"/>
            <a:round/>
            <a:headEnd len="sm" w="sm" type="none"/>
            <a:tailEnd len="med" w="med" type="triangle"/>
          </a:ln>
        </p:spPr>
      </p:cxnSp>
      <p:sp>
        <p:nvSpPr>
          <p:cNvPr id="1704" name="Google Shape;1704;p13"/>
          <p:cNvSpPr txBox="1"/>
          <p:nvPr/>
        </p:nvSpPr>
        <p:spPr>
          <a:xfrm>
            <a:off x="9412849" y="1245694"/>
            <a:ext cx="27432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omic Sans MS"/>
                <a:ea typeface="Comic Sans MS"/>
                <a:cs typeface="Comic Sans MS"/>
                <a:sym typeface="Comic Sans MS"/>
              </a:rPr>
              <a:t>fragmentation: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in:</a:t>
            </a:r>
            <a:r>
              <a:rPr b="0" i="0" lang="en-US" sz="1600" u="none" cap="none" strike="noStrike">
                <a:solidFill>
                  <a:schemeClr val="dk1"/>
                </a:solidFill>
                <a:latin typeface="Comic Sans MS"/>
                <a:ea typeface="Comic Sans MS"/>
                <a:cs typeface="Comic Sans MS"/>
                <a:sym typeface="Comic Sans MS"/>
              </a:rPr>
              <a:t> one large datagram (4000 bytes)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out:</a:t>
            </a:r>
            <a:r>
              <a:rPr b="0" i="0" lang="en-US" sz="1600" u="none" cap="none" strike="noStrike">
                <a:solidFill>
                  <a:schemeClr val="dk1"/>
                </a:solidFill>
                <a:latin typeface="Comic Sans MS"/>
                <a:ea typeface="Comic Sans MS"/>
                <a:cs typeface="Comic Sans MS"/>
                <a:sym typeface="Comic Sans MS"/>
              </a:rPr>
              <a:t> 3 smaller datagrams</a:t>
            </a:r>
            <a:endParaRPr b="0" i="0" sz="1800" u="none" cap="none" strike="noStrike">
              <a:solidFill>
                <a:schemeClr val="dk1"/>
              </a:solidFill>
              <a:latin typeface="Comic Sans MS"/>
              <a:ea typeface="Comic Sans MS"/>
              <a:cs typeface="Comic Sans MS"/>
              <a:sym typeface="Comic Sans MS"/>
            </a:endParaRPr>
          </a:p>
        </p:txBody>
      </p:sp>
      <p:grpSp>
        <p:nvGrpSpPr>
          <p:cNvPr id="1705" name="Google Shape;1705;p13"/>
          <p:cNvGrpSpPr/>
          <p:nvPr/>
        </p:nvGrpSpPr>
        <p:grpSpPr>
          <a:xfrm rot="-10773343">
            <a:off x="8534961" y="4144919"/>
            <a:ext cx="447675" cy="171450"/>
            <a:chOff x="5078" y="1860"/>
            <a:chExt cx="282" cy="108"/>
          </a:xfrm>
        </p:grpSpPr>
        <p:sp>
          <p:nvSpPr>
            <p:cNvPr id="1706" name="Google Shape;1706;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07" name="Google Shape;1707;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708" name="Google Shape;1708;p13"/>
          <p:cNvGrpSpPr/>
          <p:nvPr/>
        </p:nvGrpSpPr>
        <p:grpSpPr>
          <a:xfrm rot="-10773343">
            <a:off x="8538136" y="4338594"/>
            <a:ext cx="447675" cy="171450"/>
            <a:chOff x="5078" y="1860"/>
            <a:chExt cx="282" cy="108"/>
          </a:xfrm>
        </p:grpSpPr>
        <p:sp>
          <p:nvSpPr>
            <p:cNvPr id="1709" name="Google Shape;1709;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0" name="Google Shape;1710;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grpSp>
        <p:nvGrpSpPr>
          <p:cNvPr id="1711" name="Google Shape;1711;p13"/>
          <p:cNvGrpSpPr/>
          <p:nvPr/>
        </p:nvGrpSpPr>
        <p:grpSpPr>
          <a:xfrm rot="-10773343">
            <a:off x="8541311" y="4532269"/>
            <a:ext cx="447675" cy="171450"/>
            <a:chOff x="5078" y="1860"/>
            <a:chExt cx="282" cy="108"/>
          </a:xfrm>
        </p:grpSpPr>
        <p:sp>
          <p:nvSpPr>
            <p:cNvPr id="1712" name="Google Shape;1712;p13"/>
            <p:cNvSpPr/>
            <p:nvPr/>
          </p:nvSpPr>
          <p:spPr>
            <a:xfrm>
              <a:off x="5216" y="1860"/>
              <a:ext cx="144"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3" name="Google Shape;1713;p13"/>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cxnSp>
        <p:nvCxnSpPr>
          <p:cNvPr id="1714" name="Google Shape;1714;p13"/>
          <p:cNvCxnSpPr/>
          <p:nvPr/>
        </p:nvCxnSpPr>
        <p:spPr>
          <a:xfrm rot="9691848">
            <a:off x="8290486" y="4202069"/>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15" name="Google Shape;1715;p13"/>
          <p:cNvCxnSpPr/>
          <p:nvPr/>
        </p:nvCxnSpPr>
        <p:spPr>
          <a:xfrm rot="9691848">
            <a:off x="8280961" y="4376694"/>
            <a:ext cx="219075" cy="69850"/>
          </a:xfrm>
          <a:prstGeom prst="straightConnector1">
            <a:avLst/>
          </a:prstGeom>
          <a:noFill/>
          <a:ln cap="flat" cmpd="sng" w="9525">
            <a:solidFill>
              <a:schemeClr val="dk1"/>
            </a:solidFill>
            <a:prstDash val="solid"/>
            <a:round/>
            <a:headEnd len="sm" w="sm" type="none"/>
            <a:tailEnd len="med" w="med" type="triangle"/>
          </a:ln>
        </p:spPr>
      </p:cxnSp>
      <p:cxnSp>
        <p:nvCxnSpPr>
          <p:cNvPr id="1716" name="Google Shape;1716;p13"/>
          <p:cNvCxnSpPr/>
          <p:nvPr/>
        </p:nvCxnSpPr>
        <p:spPr>
          <a:xfrm rot="9691848">
            <a:off x="8284136" y="4583069"/>
            <a:ext cx="219075" cy="69850"/>
          </a:xfrm>
          <a:prstGeom prst="straightConnector1">
            <a:avLst/>
          </a:prstGeom>
          <a:noFill/>
          <a:ln cap="flat" cmpd="sng" w="9525">
            <a:solidFill>
              <a:schemeClr val="dk1"/>
            </a:solidFill>
            <a:prstDash val="solid"/>
            <a:round/>
            <a:headEnd len="sm" w="sm" type="none"/>
            <a:tailEnd len="med" w="med" type="triangle"/>
          </a:ln>
        </p:spPr>
      </p:cxnSp>
      <p:grpSp>
        <p:nvGrpSpPr>
          <p:cNvPr id="1717" name="Google Shape;1717;p13"/>
          <p:cNvGrpSpPr/>
          <p:nvPr/>
        </p:nvGrpSpPr>
        <p:grpSpPr>
          <a:xfrm rot="10793026">
            <a:off x="7206224" y="3981407"/>
            <a:ext cx="1030287" cy="173037"/>
            <a:chOff x="4712" y="1742"/>
            <a:chExt cx="648" cy="108"/>
          </a:xfrm>
        </p:grpSpPr>
        <p:sp>
          <p:nvSpPr>
            <p:cNvPr id="1718" name="Google Shape;1718;p13"/>
            <p:cNvSpPr/>
            <p:nvPr/>
          </p:nvSpPr>
          <p:spPr>
            <a:xfrm>
              <a:off x="4712" y="1742"/>
              <a:ext cx="648" cy="10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sp>
          <p:nvSpPr>
            <p:cNvPr id="1719" name="Google Shape;1719;p13"/>
            <p:cNvSpPr/>
            <p:nvPr/>
          </p:nvSpPr>
          <p:spPr>
            <a:xfrm>
              <a:off x="4712"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mic Sans MS"/>
                <a:ea typeface="Comic Sans MS"/>
                <a:cs typeface="Comic Sans MS"/>
                <a:sym typeface="Comic Sans MS"/>
              </a:endParaRPr>
            </a:p>
          </p:txBody>
        </p:sp>
      </p:grpSp>
      <p:sp>
        <p:nvSpPr>
          <p:cNvPr id="1720" name="Google Shape;1720;p13"/>
          <p:cNvSpPr txBox="1"/>
          <p:nvPr/>
        </p:nvSpPr>
        <p:spPr>
          <a:xfrm>
            <a:off x="7596749" y="3635332"/>
            <a:ext cx="12461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Comic Sans MS"/>
                <a:ea typeface="Comic Sans MS"/>
                <a:cs typeface="Comic Sans MS"/>
                <a:sym typeface="Comic Sans MS"/>
              </a:rPr>
              <a:t>reassembly</a:t>
            </a:r>
            <a:endParaRPr b="0" i="0" sz="1800" u="none" cap="none" strike="noStrike">
              <a:solidFill>
                <a:schemeClr val="dk1"/>
              </a:solidFill>
              <a:latin typeface="Comic Sans MS"/>
              <a:ea typeface="Comic Sans MS"/>
              <a:cs typeface="Comic Sans MS"/>
              <a:sym typeface="Comic Sans MS"/>
            </a:endParaRPr>
          </a:p>
        </p:txBody>
      </p:sp>
      <p:sp>
        <p:nvSpPr>
          <p:cNvPr id="1721" name="Google Shape;1721;p13"/>
          <p:cNvSpPr txBox="1"/>
          <p:nvPr/>
        </p:nvSpPr>
        <p:spPr>
          <a:xfrm>
            <a:off x="9835124" y="2839994"/>
            <a:ext cx="223361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0" i="0" lang="en-US" sz="1600" u="none" cap="none" strike="noStrike">
                <a:solidFill>
                  <a:schemeClr val="accent2"/>
                </a:solidFill>
                <a:latin typeface="Comic Sans MS"/>
                <a:ea typeface="Comic Sans MS"/>
                <a:cs typeface="Comic Sans MS"/>
                <a:sym typeface="Comic Sans MS"/>
              </a:rPr>
              <a:t>Link MTU:</a:t>
            </a:r>
            <a:r>
              <a:rPr b="0" i="0" lang="en-US" sz="1600" u="none" cap="none" strike="noStrike">
                <a:solidFill>
                  <a:schemeClr val="dk1"/>
                </a:solidFill>
                <a:latin typeface="Comic Sans MS"/>
                <a:ea typeface="Comic Sans MS"/>
                <a:cs typeface="Comic Sans MS"/>
                <a:sym typeface="Comic Sans MS"/>
              </a:rPr>
              <a:t> 1500bytes</a:t>
            </a:r>
            <a:endParaRPr b="0" i="0" sz="1400" u="none" cap="none" strike="noStrike">
              <a:solidFill>
                <a:srgbClr val="000000"/>
              </a:solidFill>
              <a:latin typeface="Arial"/>
              <a:ea typeface="Arial"/>
              <a:cs typeface="Arial"/>
              <a:sym typeface="Arial"/>
            </a:endParaRPr>
          </a:p>
        </p:txBody>
      </p:sp>
      <p:pic>
        <p:nvPicPr>
          <p:cNvPr id="1722" name="Google Shape;1722;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id="1723" name="Google Shape;1723;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724" name="Google Shape;1724;p13"/>
          <p:cNvPicPr preferRelativeResize="0"/>
          <p:nvPr/>
        </p:nvPicPr>
        <p:blipFill rotWithShape="1">
          <a:blip r:embed="rId7">
            <a:alphaModFix/>
          </a:blip>
          <a:srcRect b="0" l="0" r="0" t="0"/>
          <a:stretch/>
        </p:blipFill>
        <p:spPr>
          <a:xfrm>
            <a:off x="0" y="0"/>
            <a:ext cx="0" cy="0"/>
          </a:xfrm>
          <a:prstGeom prst="rect">
            <a:avLst/>
          </a:prstGeom>
          <a:noFill/>
          <a:ln>
            <a:noFill/>
          </a:ln>
        </p:spPr>
      </p:pic>
      <p:cxnSp>
        <p:nvCxnSpPr>
          <p:cNvPr id="1725" name="Google Shape;1725;p13"/>
          <p:cNvCxnSpPr/>
          <p:nvPr/>
        </p:nvCxnSpPr>
        <p:spPr>
          <a:xfrm>
            <a:off x="9586610" y="2925555"/>
            <a:ext cx="458064" cy="414696"/>
          </a:xfrm>
          <a:prstGeom prst="straightConnector1">
            <a:avLst/>
          </a:prstGeom>
          <a:noFill/>
          <a:ln cap="flat" cmpd="sng" w="38100">
            <a:solidFill>
              <a:srgbClr val="FF0000"/>
            </a:solidFill>
            <a:prstDash val="solid"/>
            <a:round/>
            <a:headEnd len="sm" w="sm" type="none"/>
            <a:tailEnd len="med" w="med" type="triangle"/>
          </a:ln>
        </p:spPr>
      </p:cxnSp>
      <p:pic>
        <p:nvPicPr>
          <p:cNvPr id="1726" name="Google Shape;1726;p13"/>
          <p:cNvPicPr preferRelativeResize="0"/>
          <p:nvPr/>
        </p:nvPicPr>
        <p:blipFill rotWithShape="1">
          <a:blip r:embed="rId7">
            <a:alphaModFix/>
          </a:blip>
          <a:srcRect b="0" l="0" r="0" t="0"/>
          <a:stretch/>
        </p:blipFill>
        <p:spPr>
          <a:xfrm>
            <a:off x="0" y="0"/>
            <a:ext cx="0" cy="0"/>
          </a:xfrm>
          <a:prstGeom prst="rect">
            <a:avLst/>
          </a:prstGeom>
          <a:noFill/>
          <a:ln>
            <a:noFill/>
          </a:ln>
        </p:spPr>
      </p:pic>
      <p:pic>
        <p:nvPicPr>
          <p:cNvPr descr="rId1" id="1727" name="Google Shape;1727;p13"/>
          <p:cNvPicPr preferRelativeResize="0"/>
          <p:nvPr/>
        </p:nvPicPr>
        <p:blipFill rotWithShape="1">
          <a:blip r:embed="rId7">
            <a:alphaModFix/>
          </a:blip>
          <a:srcRect b="0" l="0" r="0" t="0"/>
          <a:stretch/>
        </p:blipFill>
        <p:spPr>
          <a:xfrm>
            <a:off x="0" y="0"/>
            <a:ext cx="0" cy="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8"/>
                                        </p:tgtEl>
                                        <p:attrNameLst>
                                          <p:attrName>style.visibility</p:attrName>
                                        </p:attrNameLst>
                                      </p:cBhvr>
                                      <p:to>
                                        <p:strVal val="visible"/>
                                      </p:to>
                                    </p:set>
                                    <p:animEffect filter="fade" transition="in">
                                      <p:cBhvr>
                                        <p:cTn dur="500"/>
                                        <p:tgtEl>
                                          <p:spTgt spid="1688"/>
                                        </p:tgtEl>
                                      </p:cBhvr>
                                    </p:animEffect>
                                  </p:childTnLst>
                                </p:cTn>
                              </p:par>
                              <p:par>
                                <p:cTn fill="hold" nodeType="withEffect" presetClass="entr" presetID="10" presetSubtype="0">
                                  <p:stCondLst>
                                    <p:cond delay="0"/>
                                  </p:stCondLst>
                                  <p:childTnLst>
                                    <p:set>
                                      <p:cBhvr>
                                        <p:cTn dur="1" fill="hold">
                                          <p:stCondLst>
                                            <p:cond delay="0"/>
                                          </p:stCondLst>
                                        </p:cTn>
                                        <p:tgtEl>
                                          <p:spTgt spid="1700"/>
                                        </p:tgtEl>
                                        <p:attrNameLst>
                                          <p:attrName>style.visibility</p:attrName>
                                        </p:attrNameLst>
                                      </p:cBhvr>
                                      <p:to>
                                        <p:strVal val="visible"/>
                                      </p:to>
                                    </p:set>
                                    <p:animEffect filter="fade" transition="in">
                                      <p:cBhvr>
                                        <p:cTn dur="500"/>
                                        <p:tgtEl>
                                          <p:spTgt spid="1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70"/>
                                        </p:tgtEl>
                                      </p:cBhvr>
                                    </p:animEffect>
                                    <p:set>
                                      <p:cBhvr>
                                        <p:cTn dur="1" fill="hold">
                                          <p:stCondLst>
                                            <p:cond delay="500"/>
                                          </p:stCondLst>
                                        </p:cTn>
                                        <p:tgtEl>
                                          <p:spTgt spid="157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1"/>
                                        </p:tgtEl>
                                        <p:attrNameLst>
                                          <p:attrName>style.visibility</p:attrName>
                                        </p:attrNameLst>
                                      </p:cBhvr>
                                      <p:to>
                                        <p:strVal val="visible"/>
                                      </p:to>
                                    </p:set>
                                    <p:animEffect filter="fade" transition="in">
                                      <p:cBhvr>
                                        <p:cTn dur="500"/>
                                        <p:tgtEl>
                                          <p:spTgt spid="1691"/>
                                        </p:tgtEl>
                                      </p:cBhvr>
                                    </p:animEffect>
                                  </p:childTnLst>
                                </p:cTn>
                              </p:par>
                              <p:par>
                                <p:cTn fill="hold" nodeType="withEffect" presetClass="entr" presetID="10" presetSubtype="0">
                                  <p:stCondLst>
                                    <p:cond delay="0"/>
                                  </p:stCondLst>
                                  <p:childTnLst>
                                    <p:set>
                                      <p:cBhvr>
                                        <p:cTn dur="1" fill="hold">
                                          <p:stCondLst>
                                            <p:cond delay="0"/>
                                          </p:stCondLst>
                                        </p:cTn>
                                        <p:tgtEl>
                                          <p:spTgt spid="1701"/>
                                        </p:tgtEl>
                                        <p:attrNameLst>
                                          <p:attrName>style.visibility</p:attrName>
                                        </p:attrNameLst>
                                      </p:cBhvr>
                                      <p:to>
                                        <p:strVal val="visible"/>
                                      </p:to>
                                    </p:set>
                                    <p:animEffect filter="fade" transition="in">
                                      <p:cBhvr>
                                        <p:cTn dur="500"/>
                                        <p:tgtEl>
                                          <p:spTgt spid="1701"/>
                                        </p:tgtEl>
                                      </p:cBhvr>
                                    </p:animEffect>
                                  </p:childTnLst>
                                </p:cTn>
                              </p:par>
                              <p:par>
                                <p:cTn fill="hold" nodeType="withEffect" presetClass="entr" presetID="10" presetSubtype="0">
                                  <p:stCondLst>
                                    <p:cond delay="0"/>
                                  </p:stCondLst>
                                  <p:childTnLst>
                                    <p:set>
                                      <p:cBhvr>
                                        <p:cTn dur="1" fill="hold">
                                          <p:stCondLst>
                                            <p:cond delay="0"/>
                                          </p:stCondLst>
                                        </p:cTn>
                                        <p:tgtEl>
                                          <p:spTgt spid="1694"/>
                                        </p:tgtEl>
                                        <p:attrNameLst>
                                          <p:attrName>style.visibility</p:attrName>
                                        </p:attrNameLst>
                                      </p:cBhvr>
                                      <p:to>
                                        <p:strVal val="visible"/>
                                      </p:to>
                                    </p:set>
                                    <p:animEffect filter="fade" transition="in">
                                      <p:cBhvr>
                                        <p:cTn dur="500"/>
                                        <p:tgtEl>
                                          <p:spTgt spid="1694"/>
                                        </p:tgtEl>
                                      </p:cBhvr>
                                    </p:animEffect>
                                  </p:childTnLst>
                                </p:cTn>
                              </p:par>
                              <p:par>
                                <p:cTn fill="hold" nodeType="withEffect" presetClass="entr" presetID="10" presetSubtype="0">
                                  <p:stCondLst>
                                    <p:cond delay="0"/>
                                  </p:stCondLst>
                                  <p:childTnLst>
                                    <p:set>
                                      <p:cBhvr>
                                        <p:cTn dur="1" fill="hold">
                                          <p:stCondLst>
                                            <p:cond delay="0"/>
                                          </p:stCondLst>
                                        </p:cTn>
                                        <p:tgtEl>
                                          <p:spTgt spid="1702"/>
                                        </p:tgtEl>
                                        <p:attrNameLst>
                                          <p:attrName>style.visibility</p:attrName>
                                        </p:attrNameLst>
                                      </p:cBhvr>
                                      <p:to>
                                        <p:strVal val="visible"/>
                                      </p:to>
                                    </p:set>
                                    <p:animEffect filter="fade" transition="in">
                                      <p:cBhvr>
                                        <p:cTn dur="500"/>
                                        <p:tgtEl>
                                          <p:spTgt spid="1702"/>
                                        </p:tgtEl>
                                      </p:cBhvr>
                                    </p:animEffect>
                                  </p:childTnLst>
                                </p:cTn>
                              </p:par>
                              <p:par>
                                <p:cTn fill="hold" nodeType="withEffect" presetClass="entr" presetID="10" presetSubtype="0">
                                  <p:stCondLst>
                                    <p:cond delay="0"/>
                                  </p:stCondLst>
                                  <p:childTnLst>
                                    <p:set>
                                      <p:cBhvr>
                                        <p:cTn dur="1" fill="hold">
                                          <p:stCondLst>
                                            <p:cond delay="0"/>
                                          </p:stCondLst>
                                        </p:cTn>
                                        <p:tgtEl>
                                          <p:spTgt spid="1697"/>
                                        </p:tgtEl>
                                        <p:attrNameLst>
                                          <p:attrName>style.visibility</p:attrName>
                                        </p:attrNameLst>
                                      </p:cBhvr>
                                      <p:to>
                                        <p:strVal val="visible"/>
                                      </p:to>
                                    </p:set>
                                    <p:animEffect filter="fade" transition="in">
                                      <p:cBhvr>
                                        <p:cTn dur="500"/>
                                        <p:tgtEl>
                                          <p:spTgt spid="1697"/>
                                        </p:tgtEl>
                                      </p:cBhvr>
                                    </p:animEffect>
                                  </p:childTnLst>
                                </p:cTn>
                              </p:par>
                              <p:par>
                                <p:cTn fill="hold" nodeType="with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gtEl>
                                        <p:attrNameLst>
                                          <p:attrName>style.visibility</p:attrName>
                                        </p:attrNameLst>
                                      </p:cBhvr>
                                      <p:to>
                                        <p:strVal val="visible"/>
                                      </p:to>
                                    </p:set>
                                    <p:animEffect filter="fade" transition="in">
                                      <p:cBhvr>
                                        <p:cTn dur="500"/>
                                        <p:tgtEl>
                                          <p:spTgt spid="1714"/>
                                        </p:tgtEl>
                                      </p:cBhvr>
                                    </p:animEffect>
                                  </p:childTnLst>
                                </p:cTn>
                              </p:par>
                              <p:par>
                                <p:cTn fill="hold" nodeType="withEffect" presetClass="entr" presetID="10" presetSubtype="0">
                                  <p:stCondLst>
                                    <p:cond delay="0"/>
                                  </p:stCondLst>
                                  <p:childTnLst>
                                    <p:set>
                                      <p:cBhvr>
                                        <p:cTn dur="1" fill="hold">
                                          <p:stCondLst>
                                            <p:cond delay="0"/>
                                          </p:stCondLst>
                                        </p:cTn>
                                        <p:tgtEl>
                                          <p:spTgt spid="1715"/>
                                        </p:tgtEl>
                                        <p:attrNameLst>
                                          <p:attrName>style.visibility</p:attrName>
                                        </p:attrNameLst>
                                      </p:cBhvr>
                                      <p:to>
                                        <p:strVal val="visible"/>
                                      </p:to>
                                    </p:set>
                                    <p:animEffect filter="fade" transition="in">
                                      <p:cBhvr>
                                        <p:cTn dur="500"/>
                                        <p:tgtEl>
                                          <p:spTgt spid="1715"/>
                                        </p:tgtEl>
                                      </p:cBhvr>
                                    </p:animEffect>
                                  </p:childTnLst>
                                </p:cTn>
                              </p:par>
                              <p:par>
                                <p:cTn fill="hold" nodeType="withEffect" presetClass="entr" presetID="10" presetSubtype="0">
                                  <p:stCondLst>
                                    <p:cond delay="0"/>
                                  </p:stCondLst>
                                  <p:childTnLst>
                                    <p:set>
                                      <p:cBhvr>
                                        <p:cTn dur="1" fill="hold">
                                          <p:stCondLst>
                                            <p:cond delay="0"/>
                                          </p:stCondLst>
                                        </p:cTn>
                                        <p:tgtEl>
                                          <p:spTgt spid="1716"/>
                                        </p:tgtEl>
                                        <p:attrNameLst>
                                          <p:attrName>style.visibility</p:attrName>
                                        </p:attrNameLst>
                                      </p:cBhvr>
                                      <p:to>
                                        <p:strVal val="visible"/>
                                      </p:to>
                                    </p:set>
                                    <p:animEffect filter="fade" transition="in">
                                      <p:cBhvr>
                                        <p:cTn dur="500"/>
                                        <p:tgtEl>
                                          <p:spTgt spid="1716"/>
                                        </p:tgtEl>
                                      </p:cBhvr>
                                    </p:animEffect>
                                  </p:childTnLst>
                                </p:cTn>
                              </p:par>
                              <p:par>
                                <p:cTn fill="hold" nodeType="with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par>
                                <p:cTn fill="hold" nodeType="withEffect" presetClass="entr" presetID="10" presetSubtype="0">
                                  <p:stCondLst>
                                    <p:cond delay="0"/>
                                  </p:stCondLst>
                                  <p:childTnLst>
                                    <p:set>
                                      <p:cBhvr>
                                        <p:cTn dur="1" fill="hold">
                                          <p:stCondLst>
                                            <p:cond delay="0"/>
                                          </p:stCondLst>
                                        </p:cTn>
                                        <p:tgtEl>
                                          <p:spTgt spid="1708"/>
                                        </p:tgtEl>
                                        <p:attrNameLst>
                                          <p:attrName>style.visibility</p:attrName>
                                        </p:attrNameLst>
                                      </p:cBhvr>
                                      <p:to>
                                        <p:strVal val="visible"/>
                                      </p:to>
                                    </p:set>
                                    <p:animEffect filter="fade" transition="in">
                                      <p:cBhvr>
                                        <p:cTn dur="500"/>
                                        <p:tgtEl>
                                          <p:spTgt spid="1708"/>
                                        </p:tgtEl>
                                      </p:cBhvr>
                                    </p:animEffect>
                                  </p:childTnLst>
                                </p:cTn>
                              </p:par>
                              <p:par>
                                <p:cTn fill="hold" nodeType="with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500"/>
                                        <p:tgtEl>
                                          <p:spTgt spid="1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500"/>
                                        <p:tgtEl>
                                          <p:spTgt spid="1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sp>
        <p:nvSpPr>
          <p:cNvPr id="1732" name="Google Shape;1732;p15"/>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pic>
        <p:nvPicPr>
          <p:cNvPr id="1733" name="Google Shape;1733;p1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34" name="Google Shape;1734;p15"/>
          <p:cNvSpPr txBox="1"/>
          <p:nvPr/>
        </p:nvSpPr>
        <p:spPr>
          <a:xfrm>
            <a:off x="7341671" y="1832437"/>
            <a:ext cx="4850329" cy="6155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800" u="none" cap="none" strike="noStrike">
                <a:solidFill>
                  <a:srgbClr val="0070C0"/>
                </a:solidFill>
                <a:latin typeface="Corbel"/>
                <a:ea typeface="Corbel"/>
                <a:cs typeface="Corbel"/>
                <a:sym typeface="Corbel"/>
              </a:rPr>
              <a:t>MTU=1500 =&gt; 20(H)+1480(D)</a:t>
            </a:r>
            <a:endParaRPr b="1" i="0" sz="2800" u="none" cap="none" strike="noStrike">
              <a:solidFill>
                <a:srgbClr val="0070C0"/>
              </a:solidFill>
              <a:latin typeface="Corbel"/>
              <a:ea typeface="Corbel"/>
              <a:cs typeface="Corbel"/>
              <a:sym typeface="Corbel"/>
            </a:endParaRPr>
          </a:p>
        </p:txBody>
      </p:sp>
      <p:sp>
        <p:nvSpPr>
          <p:cNvPr id="1735" name="Google Shape;1735;p15"/>
          <p:cNvSpPr/>
          <p:nvPr/>
        </p:nvSpPr>
        <p:spPr>
          <a:xfrm>
            <a:off x="7328581" y="2391627"/>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Corbel"/>
                <a:ea typeface="Corbel"/>
                <a:cs typeface="Corbel"/>
                <a:sym typeface="Corbel"/>
              </a:rPr>
              <a:t>1</a:t>
            </a:r>
            <a:r>
              <a:rPr b="0" baseline="30000" i="0" lang="en-US" sz="2400" u="none" cap="none" strike="noStrike">
                <a:solidFill>
                  <a:schemeClr val="dk1"/>
                </a:solidFill>
                <a:latin typeface="Corbel"/>
                <a:ea typeface="Corbel"/>
                <a:cs typeface="Corbel"/>
                <a:sym typeface="Corbel"/>
              </a:rPr>
              <a:t>st</a:t>
            </a:r>
            <a:r>
              <a:rPr b="0" i="0" lang="en-US" sz="2400" u="none" cap="none" strike="noStrike">
                <a:solidFill>
                  <a:schemeClr val="dk1"/>
                </a:solidFill>
                <a:latin typeface="Corbel"/>
                <a:ea typeface="Corbel"/>
                <a:cs typeface="Corbel"/>
                <a:sym typeface="Corbel"/>
              </a:rPr>
              <a:t> fragment : 5120-1480=3640</a:t>
            </a:r>
            <a:endParaRPr b="0" i="0" sz="2400" u="none" cap="none" strike="noStrike">
              <a:solidFill>
                <a:schemeClr val="dk1"/>
              </a:solidFill>
              <a:latin typeface="Corbel"/>
              <a:ea typeface="Corbel"/>
              <a:cs typeface="Corbel"/>
              <a:sym typeface="Corbel"/>
            </a:endParaRPr>
          </a:p>
        </p:txBody>
      </p:sp>
      <p:sp>
        <p:nvSpPr>
          <p:cNvPr id="1736" name="Google Shape;1736;p15"/>
          <p:cNvSpPr/>
          <p:nvPr/>
        </p:nvSpPr>
        <p:spPr>
          <a:xfrm>
            <a:off x="7341671" y="1287626"/>
            <a:ext cx="439415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3F6622"/>
                </a:solidFill>
                <a:latin typeface="Corbel"/>
                <a:ea typeface="Corbel"/>
                <a:cs typeface="Corbel"/>
                <a:sym typeface="Corbel"/>
              </a:rPr>
              <a:t>Data 5140=&gt; 20(H)+5120(D)</a:t>
            </a:r>
            <a:endParaRPr/>
          </a:p>
        </p:txBody>
      </p:sp>
      <p:pic>
        <p:nvPicPr>
          <p:cNvPr id="1737" name="Google Shape;1737;p15"/>
          <p:cNvPicPr preferRelativeResize="0"/>
          <p:nvPr/>
        </p:nvPicPr>
        <p:blipFill rotWithShape="1">
          <a:blip r:embed="rId4">
            <a:alphaModFix/>
          </a:blip>
          <a:srcRect b="0" l="0" r="0" t="0"/>
          <a:stretch/>
        </p:blipFill>
        <p:spPr>
          <a:xfrm>
            <a:off x="932574" y="1246554"/>
            <a:ext cx="6086791" cy="1375906"/>
          </a:xfrm>
          <a:prstGeom prst="rect">
            <a:avLst/>
          </a:prstGeom>
          <a:noFill/>
          <a:ln>
            <a:noFill/>
          </a:ln>
        </p:spPr>
      </p:pic>
      <p:pic>
        <p:nvPicPr>
          <p:cNvPr id="1738" name="Google Shape;1738;p15"/>
          <p:cNvPicPr preferRelativeResize="0"/>
          <p:nvPr/>
        </p:nvPicPr>
        <p:blipFill rotWithShape="1">
          <a:blip r:embed="rId5">
            <a:alphaModFix/>
          </a:blip>
          <a:srcRect b="0" l="0" r="0" t="0"/>
          <a:stretch/>
        </p:blipFill>
        <p:spPr>
          <a:xfrm>
            <a:off x="886507" y="3859862"/>
            <a:ext cx="6343650" cy="1400175"/>
          </a:xfrm>
          <a:prstGeom prst="rect">
            <a:avLst/>
          </a:prstGeom>
          <a:noFill/>
          <a:ln>
            <a:noFill/>
          </a:ln>
        </p:spPr>
      </p:pic>
      <p:pic>
        <p:nvPicPr>
          <p:cNvPr id="1739" name="Google Shape;1739;p15"/>
          <p:cNvPicPr preferRelativeResize="0"/>
          <p:nvPr/>
        </p:nvPicPr>
        <p:blipFill rotWithShape="1">
          <a:blip r:embed="rId6">
            <a:alphaModFix/>
          </a:blip>
          <a:srcRect b="0" l="0" r="0" t="0"/>
          <a:stretch/>
        </p:blipFill>
        <p:spPr>
          <a:xfrm>
            <a:off x="848407" y="5279087"/>
            <a:ext cx="6343650" cy="400050"/>
          </a:xfrm>
          <a:prstGeom prst="rect">
            <a:avLst/>
          </a:prstGeom>
          <a:noFill/>
          <a:ln>
            <a:noFill/>
          </a:ln>
        </p:spPr>
      </p:pic>
      <p:pic>
        <p:nvPicPr>
          <p:cNvPr id="1740" name="Google Shape;1740;p15"/>
          <p:cNvPicPr preferRelativeResize="0"/>
          <p:nvPr/>
        </p:nvPicPr>
        <p:blipFill rotWithShape="1">
          <a:blip r:embed="rId7">
            <a:alphaModFix/>
          </a:blip>
          <a:srcRect b="0" l="0" r="0" t="0"/>
          <a:stretch/>
        </p:blipFill>
        <p:spPr>
          <a:xfrm>
            <a:off x="886507" y="5679137"/>
            <a:ext cx="6267450" cy="457200"/>
          </a:xfrm>
          <a:prstGeom prst="rect">
            <a:avLst/>
          </a:prstGeom>
          <a:noFill/>
          <a:ln>
            <a:noFill/>
          </a:ln>
        </p:spPr>
      </p:pic>
      <p:pic>
        <p:nvPicPr>
          <p:cNvPr id="1741" name="Google Shape;1741;p15"/>
          <p:cNvPicPr preferRelativeResize="0"/>
          <p:nvPr/>
        </p:nvPicPr>
        <p:blipFill rotWithShape="1">
          <a:blip r:embed="rId8">
            <a:alphaModFix/>
          </a:blip>
          <a:srcRect b="0" l="0" r="0" t="0"/>
          <a:stretch/>
        </p:blipFill>
        <p:spPr>
          <a:xfrm>
            <a:off x="886507" y="6136337"/>
            <a:ext cx="6286500" cy="419100"/>
          </a:xfrm>
          <a:prstGeom prst="rect">
            <a:avLst/>
          </a:prstGeom>
          <a:noFill/>
          <a:ln>
            <a:noFill/>
          </a:ln>
        </p:spPr>
      </p:pic>
      <p:sp>
        <p:nvSpPr>
          <p:cNvPr id="1742" name="Google Shape;1742;p15"/>
          <p:cNvSpPr/>
          <p:nvPr/>
        </p:nvSpPr>
        <p:spPr>
          <a:xfrm>
            <a:off x="2623603" y="3074907"/>
            <a:ext cx="34469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F0000"/>
                </a:solidFill>
                <a:latin typeface="Corbel"/>
                <a:ea typeface="Corbel"/>
                <a:cs typeface="Corbel"/>
                <a:sym typeface="Corbel"/>
              </a:rPr>
              <a:t>Last/4</a:t>
            </a:r>
            <a:r>
              <a:rPr b="1" baseline="30000" i="0" lang="en-US" sz="1800" u="none" cap="none" strike="noStrike">
                <a:solidFill>
                  <a:srgbClr val="FF0000"/>
                </a:solidFill>
                <a:latin typeface="Corbel"/>
                <a:ea typeface="Corbel"/>
                <a:cs typeface="Corbel"/>
                <a:sym typeface="Corbel"/>
              </a:rPr>
              <a:t>th</a:t>
            </a:r>
            <a:r>
              <a:rPr b="1" i="0" lang="en-US" sz="1800" u="none" cap="none" strike="noStrike">
                <a:solidFill>
                  <a:srgbClr val="FF0000"/>
                </a:solidFill>
                <a:latin typeface="Corbel"/>
                <a:ea typeface="Corbel"/>
                <a:cs typeface="Corbel"/>
                <a:sym typeface="Corbel"/>
              </a:rPr>
              <a:t> Segment : 680+20=700</a:t>
            </a:r>
            <a:endParaRPr b="1" i="0" sz="1800" u="none" cap="none" strike="noStrike">
              <a:solidFill>
                <a:srgbClr val="FF0000"/>
              </a:solidFill>
              <a:latin typeface="Corbel"/>
              <a:ea typeface="Corbel"/>
              <a:cs typeface="Corbel"/>
              <a:sym typeface="Corbel"/>
            </a:endParaRPr>
          </a:p>
        </p:txBody>
      </p:sp>
      <p:pic>
        <p:nvPicPr>
          <p:cNvPr id="1743" name="Google Shape;1743;p15"/>
          <p:cNvPicPr preferRelativeResize="0"/>
          <p:nvPr/>
        </p:nvPicPr>
        <p:blipFill rotWithShape="1">
          <a:blip r:embed="rId9">
            <a:alphaModFix/>
          </a:blip>
          <a:srcRect b="0" l="0" r="0" t="0"/>
          <a:stretch/>
        </p:blipFill>
        <p:spPr>
          <a:xfrm>
            <a:off x="7236773" y="4326587"/>
            <a:ext cx="3095625" cy="933450"/>
          </a:xfrm>
          <a:prstGeom prst="rect">
            <a:avLst/>
          </a:prstGeom>
          <a:noFill/>
          <a:ln>
            <a:noFill/>
          </a:ln>
        </p:spPr>
      </p:pic>
      <p:cxnSp>
        <p:nvCxnSpPr>
          <p:cNvPr id="1744" name="Google Shape;1744;p15"/>
          <p:cNvCxnSpPr/>
          <p:nvPr/>
        </p:nvCxnSpPr>
        <p:spPr>
          <a:xfrm flipH="1">
            <a:off x="7315494" y="3997234"/>
            <a:ext cx="848792" cy="985603"/>
          </a:xfrm>
          <a:prstGeom prst="straightConnector1">
            <a:avLst/>
          </a:prstGeom>
          <a:noFill/>
          <a:ln cap="flat" cmpd="sng" w="38100">
            <a:solidFill>
              <a:srgbClr val="FF0000"/>
            </a:solidFill>
            <a:prstDash val="solid"/>
            <a:round/>
            <a:headEnd len="sm" w="sm" type="none"/>
            <a:tailEnd len="med" w="med" type="triangle"/>
          </a:ln>
        </p:spPr>
      </p:cxnSp>
      <p:cxnSp>
        <p:nvCxnSpPr>
          <p:cNvPr id="1745" name="Google Shape;1745;p15"/>
          <p:cNvCxnSpPr/>
          <p:nvPr/>
        </p:nvCxnSpPr>
        <p:spPr>
          <a:xfrm>
            <a:off x="8170902" y="3997234"/>
            <a:ext cx="463647" cy="985603"/>
          </a:xfrm>
          <a:prstGeom prst="straightConnector1">
            <a:avLst/>
          </a:prstGeom>
          <a:noFill/>
          <a:ln cap="flat" cmpd="sng" w="38100">
            <a:solidFill>
              <a:srgbClr val="FF0000"/>
            </a:solidFill>
            <a:prstDash val="solid"/>
            <a:round/>
            <a:headEnd len="sm" w="sm" type="none"/>
            <a:tailEnd len="med" w="med" type="triangle"/>
          </a:ln>
        </p:spPr>
      </p:cxnSp>
      <p:sp>
        <p:nvSpPr>
          <p:cNvPr id="1746" name="Google Shape;1746;p15"/>
          <p:cNvSpPr/>
          <p:nvPr/>
        </p:nvSpPr>
        <p:spPr>
          <a:xfrm>
            <a:off x="7411877" y="3720034"/>
            <a:ext cx="2385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FF0000"/>
                </a:solidFill>
                <a:latin typeface="Corbel"/>
                <a:ea typeface="Corbel"/>
                <a:cs typeface="Corbel"/>
                <a:sym typeface="Corbel"/>
              </a:rPr>
              <a:t>1</a:t>
            </a:r>
            <a:r>
              <a:rPr b="1" baseline="30000" i="0" lang="en-US" sz="1800" u="none" cap="none" strike="noStrike">
                <a:solidFill>
                  <a:srgbClr val="FF0000"/>
                </a:solidFill>
                <a:latin typeface="Corbel"/>
                <a:ea typeface="Corbel"/>
                <a:cs typeface="Corbel"/>
                <a:sym typeface="Corbel"/>
              </a:rPr>
              <a:t>st</a:t>
            </a:r>
            <a:r>
              <a:rPr b="1" i="0" lang="en-US" sz="1800" u="none" cap="none" strike="noStrike">
                <a:solidFill>
                  <a:srgbClr val="FF0000"/>
                </a:solidFill>
                <a:latin typeface="Corbel"/>
                <a:ea typeface="Corbel"/>
                <a:cs typeface="Corbel"/>
                <a:sym typeface="Corbel"/>
              </a:rPr>
              <a:t> / start byte number</a:t>
            </a:r>
            <a:endParaRPr b="1" i="0" sz="1800" u="none" cap="none" strike="noStrike">
              <a:solidFill>
                <a:srgbClr val="FF0000"/>
              </a:solidFill>
              <a:latin typeface="Corbel"/>
              <a:ea typeface="Corbel"/>
              <a:cs typeface="Corbel"/>
              <a:sym typeface="Corbel"/>
            </a:endParaRPr>
          </a:p>
        </p:txBody>
      </p:sp>
      <p:sp>
        <p:nvSpPr>
          <p:cNvPr id="1747" name="Google Shape;1747;p15"/>
          <p:cNvSpPr/>
          <p:nvPr/>
        </p:nvSpPr>
        <p:spPr>
          <a:xfrm>
            <a:off x="7261980" y="2797908"/>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Corbel"/>
                <a:ea typeface="Corbel"/>
                <a:cs typeface="Corbel"/>
                <a:sym typeface="Corbel"/>
              </a:rPr>
              <a:t>2</a:t>
            </a:r>
            <a:r>
              <a:rPr b="0" baseline="30000" i="0" lang="en-US" sz="2400" u="none" cap="none" strike="noStrike">
                <a:solidFill>
                  <a:schemeClr val="dk1"/>
                </a:solidFill>
                <a:latin typeface="Corbel"/>
                <a:ea typeface="Corbel"/>
                <a:cs typeface="Corbel"/>
                <a:sym typeface="Corbel"/>
              </a:rPr>
              <a:t>nd</a:t>
            </a:r>
            <a:r>
              <a:rPr b="0" i="0" lang="en-US" sz="2400" u="none" cap="none" strike="noStrike">
                <a:solidFill>
                  <a:schemeClr val="dk1"/>
                </a:solidFill>
                <a:latin typeface="Corbel"/>
                <a:ea typeface="Corbel"/>
                <a:cs typeface="Corbel"/>
                <a:sym typeface="Corbel"/>
              </a:rPr>
              <a:t> fragment : 3640-1480=2160</a:t>
            </a:r>
            <a:endParaRPr b="0" i="0" sz="2400" u="none" cap="none" strike="noStrike">
              <a:solidFill>
                <a:schemeClr val="dk1"/>
              </a:solidFill>
              <a:latin typeface="Corbel"/>
              <a:ea typeface="Corbel"/>
              <a:cs typeface="Corbel"/>
              <a:sym typeface="Corbel"/>
            </a:endParaRPr>
          </a:p>
        </p:txBody>
      </p:sp>
      <p:pic>
        <p:nvPicPr>
          <p:cNvPr id="1748" name="Google Shape;1748;p15"/>
          <p:cNvPicPr preferRelativeResize="0"/>
          <p:nvPr/>
        </p:nvPicPr>
        <p:blipFill rotWithShape="1">
          <a:blip r:embed="rId10">
            <a:alphaModFix/>
          </a:blip>
          <a:srcRect b="0" l="0" r="0" t="0"/>
          <a:stretch/>
        </p:blipFill>
        <p:spPr>
          <a:xfrm>
            <a:off x="7212085" y="5284379"/>
            <a:ext cx="3105150" cy="485775"/>
          </a:xfrm>
          <a:prstGeom prst="rect">
            <a:avLst/>
          </a:prstGeom>
          <a:noFill/>
          <a:ln>
            <a:noFill/>
          </a:ln>
        </p:spPr>
      </p:pic>
      <p:sp>
        <p:nvSpPr>
          <p:cNvPr id="1749" name="Google Shape;1749;p15"/>
          <p:cNvSpPr/>
          <p:nvPr/>
        </p:nvSpPr>
        <p:spPr>
          <a:xfrm>
            <a:off x="7228710" y="3204189"/>
            <a:ext cx="487650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Corbel"/>
                <a:ea typeface="Corbel"/>
                <a:cs typeface="Corbel"/>
                <a:sym typeface="Corbel"/>
              </a:rPr>
              <a:t>3</a:t>
            </a:r>
            <a:r>
              <a:rPr b="0" baseline="30000" i="0" lang="en-US" sz="2400" u="none" cap="none" strike="noStrike">
                <a:solidFill>
                  <a:schemeClr val="dk1"/>
                </a:solidFill>
                <a:latin typeface="Corbel"/>
                <a:ea typeface="Corbel"/>
                <a:cs typeface="Corbel"/>
                <a:sym typeface="Corbel"/>
              </a:rPr>
              <a:t>rd</a:t>
            </a:r>
            <a:r>
              <a:rPr b="0" i="0" lang="en-US" sz="2400" u="none" cap="none" strike="noStrike">
                <a:solidFill>
                  <a:schemeClr val="dk1"/>
                </a:solidFill>
                <a:latin typeface="Corbel"/>
                <a:ea typeface="Corbel"/>
                <a:cs typeface="Corbel"/>
                <a:sym typeface="Corbel"/>
              </a:rPr>
              <a:t> fragment : 2160-1480=680</a:t>
            </a:r>
            <a:endParaRPr b="0" i="0" sz="2400" u="none" cap="none" strike="noStrike">
              <a:solidFill>
                <a:schemeClr val="dk1"/>
              </a:solidFill>
              <a:latin typeface="Corbel"/>
              <a:ea typeface="Corbel"/>
              <a:cs typeface="Corbel"/>
              <a:sym typeface="Corbel"/>
            </a:endParaRPr>
          </a:p>
        </p:txBody>
      </p:sp>
      <p:pic>
        <p:nvPicPr>
          <p:cNvPr id="1750" name="Google Shape;1750;p15"/>
          <p:cNvPicPr preferRelativeResize="0"/>
          <p:nvPr/>
        </p:nvPicPr>
        <p:blipFill rotWithShape="1">
          <a:blip r:embed="rId11">
            <a:alphaModFix/>
          </a:blip>
          <a:srcRect b="0" l="0" r="0" t="0"/>
          <a:stretch/>
        </p:blipFill>
        <p:spPr>
          <a:xfrm>
            <a:off x="7212085" y="5713571"/>
            <a:ext cx="3076575" cy="428625"/>
          </a:xfrm>
          <a:prstGeom prst="rect">
            <a:avLst/>
          </a:prstGeom>
          <a:noFill/>
          <a:ln>
            <a:noFill/>
          </a:ln>
        </p:spPr>
      </p:pic>
      <p:pic>
        <p:nvPicPr>
          <p:cNvPr id="1751" name="Google Shape;1751;p15"/>
          <p:cNvPicPr preferRelativeResize="0"/>
          <p:nvPr/>
        </p:nvPicPr>
        <p:blipFill rotWithShape="1">
          <a:blip r:embed="rId12">
            <a:alphaModFix/>
          </a:blip>
          <a:srcRect b="0" l="0" r="0" t="0"/>
          <a:stretch/>
        </p:blipFill>
        <p:spPr>
          <a:xfrm>
            <a:off x="7173007" y="6136337"/>
            <a:ext cx="3095625" cy="438150"/>
          </a:xfrm>
          <a:prstGeom prst="rect">
            <a:avLst/>
          </a:prstGeom>
          <a:noFill/>
          <a:ln>
            <a:noFill/>
          </a:ln>
        </p:spPr>
      </p:pic>
      <p:cxnSp>
        <p:nvCxnSpPr>
          <p:cNvPr id="1752" name="Google Shape;1752;p15"/>
          <p:cNvCxnSpPr/>
          <p:nvPr/>
        </p:nvCxnSpPr>
        <p:spPr>
          <a:xfrm flipH="1">
            <a:off x="2623603" y="3435021"/>
            <a:ext cx="981758" cy="2829669"/>
          </a:xfrm>
          <a:prstGeom prst="straightConnector1">
            <a:avLst/>
          </a:prstGeom>
          <a:noFill/>
          <a:ln cap="flat" cmpd="sng" w="38100">
            <a:solidFill>
              <a:srgbClr val="FF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gtEl>
                                        <p:attrNameLst>
                                          <p:attrName>style.visibility</p:attrName>
                                        </p:attrNameLst>
                                      </p:cBhvr>
                                      <p:to>
                                        <p:strVal val="visible"/>
                                      </p:to>
                                    </p:set>
                                    <p:animEffect filter="fade" transition="in">
                                      <p:cBhvr>
                                        <p:cTn dur="1000"/>
                                        <p:tgtEl>
                                          <p:spTgt spid="1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46"/>
                                        </p:tgtEl>
                                      </p:cBhvr>
                                    </p:animEffect>
                                    <p:set>
                                      <p:cBhvr>
                                        <p:cTn dur="1" fill="hold">
                                          <p:stCondLst>
                                            <p:cond delay="500"/>
                                          </p:stCondLst>
                                        </p:cTn>
                                        <p:tgtEl>
                                          <p:spTgt spid="17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44"/>
                                        </p:tgtEl>
                                      </p:cBhvr>
                                    </p:animEffect>
                                    <p:set>
                                      <p:cBhvr>
                                        <p:cTn dur="1" fill="hold">
                                          <p:stCondLst>
                                            <p:cond delay="500"/>
                                          </p:stCondLst>
                                        </p:cTn>
                                        <p:tgtEl>
                                          <p:spTgt spid="174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45"/>
                                        </p:tgtEl>
                                      </p:cBhvr>
                                    </p:animEffect>
                                    <p:set>
                                      <p:cBhvr>
                                        <p:cTn dur="1" fill="hold">
                                          <p:stCondLst>
                                            <p:cond delay="500"/>
                                          </p:stCondLst>
                                        </p:cTn>
                                        <p:tgtEl>
                                          <p:spTgt spid="17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8"/>
                                        </p:tgtEl>
                                        <p:attrNameLst>
                                          <p:attrName>style.visibility</p:attrName>
                                        </p:attrNameLst>
                                      </p:cBhvr>
                                      <p:to>
                                        <p:strVal val="visible"/>
                                      </p:to>
                                    </p:set>
                                    <p:anim calcmode="lin" valueType="num">
                                      <p:cBhvr additive="base">
                                        <p:cTn dur="500"/>
                                        <p:tgtEl>
                                          <p:spTgt spid="17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0"/>
                                        </p:tgtEl>
                                        <p:attrNameLst>
                                          <p:attrName>style.visibility</p:attrName>
                                        </p:attrNameLst>
                                      </p:cBhvr>
                                      <p:to>
                                        <p:strVal val="visible"/>
                                      </p:to>
                                    </p:set>
                                    <p:animEffect filter="fade" transition="in">
                                      <p:cBhvr>
                                        <p:cTn dur="500"/>
                                        <p:tgtEl>
                                          <p:spTgt spid="1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0"/>
                                        </p:tgtEl>
                                        <p:attrNameLst>
                                          <p:attrName>style.visibility</p:attrName>
                                        </p:attrNameLst>
                                      </p:cBhvr>
                                      <p:to>
                                        <p:strVal val="visible"/>
                                      </p:to>
                                    </p:set>
                                    <p:anim calcmode="lin" valueType="num">
                                      <p:cBhvr additive="base">
                                        <p:cTn dur="500"/>
                                        <p:tgtEl>
                                          <p:spTgt spid="17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1"/>
                                        </p:tgtEl>
                                        <p:attrNameLst>
                                          <p:attrName>style.visibility</p:attrName>
                                        </p:attrNameLst>
                                      </p:cBhvr>
                                      <p:to>
                                        <p:strVal val="visible"/>
                                      </p:to>
                                    </p:set>
                                    <p:animEffect filter="fade" transition="in">
                                      <p:cBhvr>
                                        <p:cTn dur="500"/>
                                        <p:tgtEl>
                                          <p:spTgt spid="1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1"/>
                                        </p:tgtEl>
                                        <p:attrNameLst>
                                          <p:attrName>style.visibility</p:attrName>
                                        </p:attrNameLst>
                                      </p:cBhvr>
                                      <p:to>
                                        <p:strVal val="visible"/>
                                      </p:to>
                                    </p:set>
                                    <p:anim calcmode="lin" valueType="num">
                                      <p:cBhvr additive="base">
                                        <p:cTn dur="500"/>
                                        <p:tgtEl>
                                          <p:spTgt spid="17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grpSp>
        <p:nvGrpSpPr>
          <p:cNvPr id="1757" name="Google Shape;1757;p14"/>
          <p:cNvGrpSpPr/>
          <p:nvPr/>
        </p:nvGrpSpPr>
        <p:grpSpPr>
          <a:xfrm>
            <a:off x="7530221" y="3889046"/>
            <a:ext cx="4225698" cy="615383"/>
            <a:chOff x="7530221" y="3889046"/>
            <a:chExt cx="4225698" cy="615383"/>
          </a:xfrm>
        </p:grpSpPr>
        <p:grpSp>
          <p:nvGrpSpPr>
            <p:cNvPr id="1758" name="Google Shape;1758;p14"/>
            <p:cNvGrpSpPr/>
            <p:nvPr/>
          </p:nvGrpSpPr>
          <p:grpSpPr>
            <a:xfrm>
              <a:off x="7530221" y="3889046"/>
              <a:ext cx="4225698" cy="609600"/>
              <a:chOff x="7538644" y="3916410"/>
              <a:chExt cx="4225698" cy="609600"/>
            </a:xfrm>
          </p:grpSpPr>
          <p:grpSp>
            <p:nvGrpSpPr>
              <p:cNvPr id="1759" name="Google Shape;1759;p14"/>
              <p:cNvGrpSpPr/>
              <p:nvPr/>
            </p:nvGrpSpPr>
            <p:grpSpPr>
              <a:xfrm>
                <a:off x="7538644" y="3916410"/>
                <a:ext cx="4225698" cy="609600"/>
                <a:chOff x="7548055" y="3898582"/>
                <a:chExt cx="4225698" cy="609600"/>
              </a:xfrm>
            </p:grpSpPr>
            <p:grpSp>
              <p:nvGrpSpPr>
                <p:cNvPr id="1760" name="Google Shape;1760;p14"/>
                <p:cNvGrpSpPr/>
                <p:nvPr/>
              </p:nvGrpSpPr>
              <p:grpSpPr>
                <a:xfrm>
                  <a:off x="7548055" y="3899769"/>
                  <a:ext cx="4225698" cy="608413"/>
                  <a:chOff x="7564595" y="3898547"/>
                  <a:chExt cx="4225698" cy="608413"/>
                </a:xfrm>
              </p:grpSpPr>
              <p:sp>
                <p:nvSpPr>
                  <p:cNvPr id="1761" name="Google Shape;1761;p14"/>
                  <p:cNvSpPr/>
                  <p:nvPr/>
                </p:nvSpPr>
                <p:spPr>
                  <a:xfrm>
                    <a:off x="7608818" y="3898547"/>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762" name="Google Shape;1762;p14"/>
                  <p:cNvSpPr/>
                  <p:nvPr/>
                </p:nvSpPr>
                <p:spPr>
                  <a:xfrm>
                    <a:off x="7564595" y="3964035"/>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763" name="Google Shape;1763;p14"/>
                <p:cNvCxnSpPr/>
                <p:nvPr/>
              </p:nvCxnSpPr>
              <p:spPr>
                <a:xfrm>
                  <a:off x="101553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764" name="Google Shape;1764;p14"/>
                <p:cNvCxnSpPr/>
                <p:nvPr/>
              </p:nvCxnSpPr>
              <p:spPr>
                <a:xfrm>
                  <a:off x="10907870" y="3946207"/>
                  <a:ext cx="0" cy="542925"/>
                </a:xfrm>
                <a:prstGeom prst="straightConnector1">
                  <a:avLst/>
                </a:prstGeom>
                <a:noFill/>
                <a:ln cap="flat" cmpd="sng" w="19050">
                  <a:solidFill>
                    <a:schemeClr val="dk1"/>
                  </a:solidFill>
                  <a:prstDash val="solid"/>
                  <a:round/>
                  <a:headEnd len="sm" w="sm" type="none"/>
                  <a:tailEnd len="sm" w="sm" type="none"/>
                </a:ln>
              </p:spPr>
            </p:cxnSp>
            <p:sp>
              <p:nvSpPr>
                <p:cNvPr id="1765" name="Google Shape;1765;p14"/>
                <p:cNvSpPr/>
                <p:nvPr/>
              </p:nvSpPr>
              <p:spPr>
                <a:xfrm>
                  <a:off x="11098370" y="38985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766" name="Google Shape;1766;p14"/>
              <p:cNvCxnSpPr/>
              <p:nvPr/>
            </p:nvCxnSpPr>
            <p:spPr>
              <a:xfrm>
                <a:off x="79455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767" name="Google Shape;1767;p14"/>
              <p:cNvCxnSpPr/>
              <p:nvPr/>
            </p:nvCxnSpPr>
            <p:spPr>
              <a:xfrm>
                <a:off x="87456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768" name="Google Shape;1768;p14"/>
              <p:cNvCxnSpPr/>
              <p:nvPr/>
            </p:nvCxnSpPr>
            <p:spPr>
              <a:xfrm>
                <a:off x="9359048" y="3964035"/>
                <a:ext cx="0" cy="542925"/>
              </a:xfrm>
              <a:prstGeom prst="straightConnector1">
                <a:avLst/>
              </a:prstGeom>
              <a:noFill/>
              <a:ln cap="flat" cmpd="sng" w="19050">
                <a:solidFill>
                  <a:schemeClr val="dk1"/>
                </a:solidFill>
                <a:prstDash val="solid"/>
                <a:round/>
                <a:headEnd len="sm" w="sm" type="none"/>
                <a:tailEnd len="sm" w="sm" type="none"/>
              </a:ln>
            </p:spPr>
          </p:cxnSp>
        </p:grpSp>
        <p:cxnSp>
          <p:nvCxnSpPr>
            <p:cNvPr id="1769" name="Google Shape;1769;p14"/>
            <p:cNvCxnSpPr/>
            <p:nvPr/>
          </p:nvCxnSpPr>
          <p:spPr>
            <a:xfrm>
              <a:off x="9740279" y="3961504"/>
              <a:ext cx="0" cy="542925"/>
            </a:xfrm>
            <a:prstGeom prst="straightConnector1">
              <a:avLst/>
            </a:prstGeom>
            <a:noFill/>
            <a:ln cap="flat" cmpd="sng" w="19050">
              <a:solidFill>
                <a:schemeClr val="dk1"/>
              </a:solidFill>
              <a:prstDash val="solid"/>
              <a:round/>
              <a:headEnd len="sm" w="sm" type="none"/>
              <a:tailEnd len="sm" w="sm" type="none"/>
            </a:ln>
          </p:spPr>
        </p:cxnSp>
      </p:grpSp>
      <p:sp>
        <p:nvSpPr>
          <p:cNvPr id="1770" name="Google Shape;1770;p1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IP Fragmentation &amp; Reassembly</a:t>
            </a:r>
            <a:endParaRPr/>
          </a:p>
        </p:txBody>
      </p:sp>
      <p:pic>
        <p:nvPicPr>
          <p:cNvPr id="1771" name="Google Shape;1771;p1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772" name="Google Shape;1772;p14"/>
          <p:cNvSpPr txBox="1"/>
          <p:nvPr/>
        </p:nvSpPr>
        <p:spPr>
          <a:xfrm>
            <a:off x="10085563" y="3974771"/>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grpSp>
        <p:nvGrpSpPr>
          <p:cNvPr id="1773" name="Google Shape;1773;p14"/>
          <p:cNvGrpSpPr/>
          <p:nvPr/>
        </p:nvGrpSpPr>
        <p:grpSpPr>
          <a:xfrm>
            <a:off x="7121786" y="2880417"/>
            <a:ext cx="3267075" cy="2933700"/>
            <a:chOff x="7121786" y="2880417"/>
            <a:chExt cx="3267075" cy="2933700"/>
          </a:xfrm>
        </p:grpSpPr>
        <p:sp>
          <p:nvSpPr>
            <p:cNvPr id="1774" name="Google Shape;1774;p14"/>
            <p:cNvSpPr/>
            <p:nvPr/>
          </p:nvSpPr>
          <p:spPr>
            <a:xfrm>
              <a:off x="7147186" y="2880417"/>
              <a:ext cx="333375" cy="2162175"/>
            </a:xfrm>
            <a:custGeom>
              <a:rect b="b" l="l" r="r" t="t"/>
              <a:pathLst>
                <a:path extrusionOk="0" h="1362" w="210">
                  <a:moveTo>
                    <a:pt x="0" y="0"/>
                  </a:moveTo>
                  <a:lnTo>
                    <a:pt x="0" y="1362"/>
                  </a:lnTo>
                  <a:lnTo>
                    <a:pt x="210" y="858"/>
                  </a:lnTo>
                </a:path>
              </a:pathLst>
            </a:custGeom>
            <a:noFill/>
            <a:ln cap="flat" cmpd="sng" w="19050">
              <a:solidFill>
                <a:srgbClr val="FF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orbel"/>
                <a:ea typeface="Corbel"/>
                <a:cs typeface="Corbel"/>
                <a:sym typeface="Corbel"/>
              </a:endParaRPr>
            </a:p>
          </p:txBody>
        </p:sp>
        <p:cxnSp>
          <p:nvCxnSpPr>
            <p:cNvPr id="1775" name="Google Shape;1775;p14"/>
            <p:cNvCxnSpPr/>
            <p:nvPr/>
          </p:nvCxnSpPr>
          <p:spPr>
            <a:xfrm>
              <a:off x="7154242" y="5032057"/>
              <a:ext cx="361950" cy="0"/>
            </a:xfrm>
            <a:prstGeom prst="straightConnector1">
              <a:avLst/>
            </a:prstGeom>
            <a:noFill/>
            <a:ln cap="flat" cmpd="sng" w="19050">
              <a:solidFill>
                <a:srgbClr val="FF0000"/>
              </a:solidFill>
              <a:prstDash val="solid"/>
              <a:round/>
              <a:headEnd len="sm" w="sm" type="none"/>
              <a:tailEnd len="med" w="med" type="triangle"/>
            </a:ln>
          </p:spPr>
        </p:cxnSp>
        <p:cxnSp>
          <p:nvCxnSpPr>
            <p:cNvPr id="1776" name="Google Shape;1776;p14"/>
            <p:cNvCxnSpPr/>
            <p:nvPr/>
          </p:nvCxnSpPr>
          <p:spPr>
            <a:xfrm>
              <a:off x="7156711" y="5023542"/>
              <a:ext cx="333375" cy="790575"/>
            </a:xfrm>
            <a:prstGeom prst="straightConnector1">
              <a:avLst/>
            </a:prstGeom>
            <a:noFill/>
            <a:ln cap="flat" cmpd="sng" w="19050">
              <a:solidFill>
                <a:srgbClr val="FF0000"/>
              </a:solidFill>
              <a:prstDash val="solid"/>
              <a:round/>
              <a:headEnd len="sm" w="sm" type="none"/>
              <a:tailEnd len="med" w="med" type="triangle"/>
            </a:ln>
          </p:spPr>
        </p:cxnSp>
        <p:sp>
          <p:nvSpPr>
            <p:cNvPr id="1777" name="Google Shape;1777;p14"/>
            <p:cNvSpPr txBox="1"/>
            <p:nvPr/>
          </p:nvSpPr>
          <p:spPr>
            <a:xfrm>
              <a:off x="7121786" y="2959792"/>
              <a:ext cx="3267075"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400" u="none" cap="none" strike="noStrike">
                  <a:solidFill>
                    <a:srgbClr val="FF0000"/>
                  </a:solidFill>
                  <a:latin typeface="Comic Sans MS"/>
                  <a:ea typeface="Comic Sans MS"/>
                  <a:cs typeface="Comic Sans MS"/>
                  <a:sym typeface="Comic Sans MS"/>
                </a:rPr>
                <a:t>One large datagram becomes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Arial"/>
                <a:buNone/>
              </a:pPr>
              <a:r>
                <a:rPr b="0" i="0" lang="en-US" sz="1400" u="none" cap="none" strike="noStrike">
                  <a:solidFill>
                    <a:srgbClr val="FF0000"/>
                  </a:solidFill>
                  <a:latin typeface="Comic Sans MS"/>
                  <a:ea typeface="Comic Sans MS"/>
                  <a:cs typeface="Comic Sans MS"/>
                  <a:sym typeface="Comic Sans MS"/>
                </a:rPr>
                <a:t>several smaller datagrams</a:t>
              </a:r>
              <a:endParaRPr b="0" i="0" sz="1400" u="none" cap="none" strike="noStrike">
                <a:solidFill>
                  <a:schemeClr val="dk1"/>
                </a:solidFill>
                <a:latin typeface="Comic Sans MS"/>
                <a:ea typeface="Comic Sans MS"/>
                <a:cs typeface="Comic Sans MS"/>
                <a:sym typeface="Comic Sans MS"/>
              </a:endParaRPr>
            </a:p>
          </p:txBody>
        </p:sp>
      </p:grpSp>
      <p:grpSp>
        <p:nvGrpSpPr>
          <p:cNvPr id="1778" name="Google Shape;1778;p14"/>
          <p:cNvGrpSpPr/>
          <p:nvPr/>
        </p:nvGrpSpPr>
        <p:grpSpPr>
          <a:xfrm>
            <a:off x="7956679" y="3435411"/>
            <a:ext cx="2464622" cy="626942"/>
            <a:chOff x="7956679" y="3435411"/>
            <a:chExt cx="2464622" cy="626942"/>
          </a:xfrm>
        </p:grpSpPr>
        <p:sp>
          <p:nvSpPr>
            <p:cNvPr id="1779" name="Google Shape;1779;p14"/>
            <p:cNvSpPr txBox="1"/>
            <p:nvPr/>
          </p:nvSpPr>
          <p:spPr>
            <a:xfrm>
              <a:off x="7956679" y="3435411"/>
              <a:ext cx="2464622"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1480 bytes in data field</a:t>
              </a:r>
              <a:endParaRPr b="0" i="0" sz="1400" u="none" cap="none" strike="noStrike">
                <a:solidFill>
                  <a:srgbClr val="000000"/>
                </a:solidFill>
                <a:latin typeface="Arial"/>
                <a:ea typeface="Arial"/>
                <a:cs typeface="Arial"/>
                <a:sym typeface="Arial"/>
              </a:endParaRPr>
            </a:p>
          </p:txBody>
        </p:sp>
        <p:cxnSp>
          <p:nvCxnSpPr>
            <p:cNvPr id="1780" name="Google Shape;1780;p14"/>
            <p:cNvCxnSpPr/>
            <p:nvPr/>
          </p:nvCxnSpPr>
          <p:spPr>
            <a:xfrm flipH="1">
              <a:off x="8244299" y="3657541"/>
              <a:ext cx="221454" cy="404812"/>
            </a:xfrm>
            <a:prstGeom prst="straightConnector1">
              <a:avLst/>
            </a:prstGeom>
            <a:noFill/>
            <a:ln cap="flat" cmpd="sng" w="19050">
              <a:solidFill>
                <a:srgbClr val="008000"/>
              </a:solidFill>
              <a:prstDash val="dot"/>
              <a:round/>
              <a:headEnd len="sm" w="sm" type="none"/>
              <a:tailEnd len="med" w="med" type="triangle"/>
            </a:ln>
          </p:spPr>
        </p:cxnSp>
      </p:grpSp>
      <p:pic>
        <p:nvPicPr>
          <p:cNvPr id="1781" name="Google Shape;1781;p14"/>
          <p:cNvPicPr preferRelativeResize="0"/>
          <p:nvPr/>
        </p:nvPicPr>
        <p:blipFill rotWithShape="1">
          <a:blip r:embed="rId4">
            <a:alphaModFix/>
          </a:blip>
          <a:srcRect b="0" l="0" r="0" t="0"/>
          <a:stretch/>
        </p:blipFill>
        <p:spPr>
          <a:xfrm>
            <a:off x="2221498" y="1282786"/>
            <a:ext cx="6800850" cy="504825"/>
          </a:xfrm>
          <a:prstGeom prst="rect">
            <a:avLst/>
          </a:prstGeom>
          <a:noFill/>
          <a:ln>
            <a:noFill/>
          </a:ln>
        </p:spPr>
      </p:pic>
      <p:sp>
        <p:nvSpPr>
          <p:cNvPr id="1782" name="Google Shape;1782;p14"/>
          <p:cNvSpPr txBox="1"/>
          <p:nvPr/>
        </p:nvSpPr>
        <p:spPr>
          <a:xfrm>
            <a:off x="914076" y="2074035"/>
            <a:ext cx="4881300" cy="1118573"/>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1186C3"/>
              </a:buClr>
              <a:buSzPts val="3480"/>
              <a:buFont typeface="Arial"/>
              <a:buChar char="•"/>
            </a:pPr>
            <a:r>
              <a:rPr b="0" i="0" lang="en-US" sz="2400" u="none" cap="none" strike="noStrike">
                <a:solidFill>
                  <a:schemeClr val="dk1"/>
                </a:solidFill>
                <a:latin typeface="Corbel"/>
                <a:ea typeface="Corbel"/>
                <a:cs typeface="Corbel"/>
                <a:sym typeface="Corbel"/>
              </a:rPr>
              <a:t>Example: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1186C3"/>
              </a:buClr>
              <a:buSzPts val="2900"/>
              <a:buFont typeface="Arial"/>
              <a:buChar char="•"/>
            </a:pPr>
            <a:r>
              <a:rPr b="0" i="0" lang="en-US" sz="2400" u="none" cap="none" strike="noStrike">
                <a:solidFill>
                  <a:schemeClr val="dk1"/>
                </a:solidFill>
                <a:latin typeface="Corbel"/>
                <a:ea typeface="Corbel"/>
                <a:cs typeface="Corbel"/>
                <a:sym typeface="Corbel"/>
              </a:rPr>
              <a:t>4000 Bytes of datagram</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1186C3"/>
              </a:buClr>
              <a:buSzPts val="2900"/>
              <a:buFont typeface="Arial"/>
              <a:buChar char="•"/>
            </a:pPr>
            <a:r>
              <a:rPr b="0" i="0" lang="en-US" sz="2400" u="none" cap="none" strike="noStrike">
                <a:solidFill>
                  <a:schemeClr val="dk1"/>
                </a:solidFill>
                <a:latin typeface="Corbel"/>
                <a:ea typeface="Corbel"/>
                <a:cs typeface="Corbel"/>
                <a:sym typeface="Corbel"/>
              </a:rPr>
              <a:t>MTU = 1500 Bytes</a:t>
            </a:r>
            <a:endParaRPr b="0" i="0" sz="1400" u="none" cap="none" strike="noStrike">
              <a:solidFill>
                <a:srgbClr val="000000"/>
              </a:solidFill>
              <a:latin typeface="Arial"/>
              <a:ea typeface="Arial"/>
              <a:cs typeface="Arial"/>
              <a:sym typeface="Arial"/>
            </a:endParaRPr>
          </a:p>
        </p:txBody>
      </p:sp>
      <p:sp>
        <p:nvSpPr>
          <p:cNvPr id="1783" name="Google Shape;1783;p14"/>
          <p:cNvSpPr txBox="1"/>
          <p:nvPr/>
        </p:nvSpPr>
        <p:spPr>
          <a:xfrm>
            <a:off x="1101040" y="3627878"/>
            <a:ext cx="3725630" cy="876551"/>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400" u="none" cap="none" strike="noStrike">
                <a:solidFill>
                  <a:schemeClr val="dk1"/>
                </a:solidFill>
                <a:latin typeface="Corbel"/>
                <a:ea typeface="Corbel"/>
                <a:cs typeface="Corbel"/>
                <a:sym typeface="Corbel"/>
              </a:rPr>
              <a:t>DF – Don’t Fragment Bit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1186C3"/>
              </a:buClr>
              <a:buSzPts val="2900"/>
              <a:buFont typeface="Arial"/>
              <a:buChar char="•"/>
            </a:pPr>
            <a:r>
              <a:rPr b="0" i="0" lang="en-US" sz="2400" u="none" cap="none" strike="noStrike">
                <a:solidFill>
                  <a:schemeClr val="dk1"/>
                </a:solidFill>
                <a:latin typeface="Corbel"/>
                <a:ea typeface="Corbel"/>
                <a:cs typeface="Corbel"/>
                <a:sym typeface="Corbel"/>
              </a:rPr>
              <a:t>Value 0 or 1</a:t>
            </a:r>
            <a:endParaRPr b="0" i="0" sz="1400" u="none" cap="none" strike="noStrike">
              <a:solidFill>
                <a:srgbClr val="000000"/>
              </a:solidFill>
              <a:latin typeface="Arial"/>
              <a:ea typeface="Arial"/>
              <a:cs typeface="Arial"/>
              <a:sym typeface="Arial"/>
            </a:endParaRPr>
          </a:p>
        </p:txBody>
      </p:sp>
      <p:sp>
        <p:nvSpPr>
          <p:cNvPr id="1784" name="Google Shape;1784;p14"/>
          <p:cNvSpPr txBox="1"/>
          <p:nvPr/>
        </p:nvSpPr>
        <p:spPr>
          <a:xfrm>
            <a:off x="7938467" y="3971628"/>
            <a:ext cx="850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=1500</a:t>
            </a:r>
            <a:endParaRPr b="0" i="0" sz="1400" u="none" cap="none" strike="noStrike">
              <a:solidFill>
                <a:srgbClr val="000000"/>
              </a:solidFill>
              <a:latin typeface="Arial"/>
              <a:ea typeface="Arial"/>
              <a:cs typeface="Arial"/>
              <a:sym typeface="Arial"/>
            </a:endParaRPr>
          </a:p>
        </p:txBody>
      </p:sp>
      <p:sp>
        <p:nvSpPr>
          <p:cNvPr id="1785" name="Google Shape;1785;p14"/>
          <p:cNvSpPr txBox="1"/>
          <p:nvPr/>
        </p:nvSpPr>
        <p:spPr>
          <a:xfrm>
            <a:off x="8746088" y="3975015"/>
            <a:ext cx="569824"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=122</a:t>
            </a:r>
            <a:endParaRPr b="0" i="0" sz="1400" u="none" cap="none" strike="noStrike">
              <a:solidFill>
                <a:srgbClr val="000000"/>
              </a:solidFill>
              <a:latin typeface="Arial"/>
              <a:ea typeface="Arial"/>
              <a:cs typeface="Arial"/>
              <a:sym typeface="Arial"/>
            </a:endParaRPr>
          </a:p>
        </p:txBody>
      </p:sp>
      <p:sp>
        <p:nvSpPr>
          <p:cNvPr id="1786" name="Google Shape;1786;p14"/>
          <p:cNvSpPr txBox="1"/>
          <p:nvPr/>
        </p:nvSpPr>
        <p:spPr>
          <a:xfrm>
            <a:off x="9667699" y="3971028"/>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a:t>
            </a:r>
            <a:endParaRPr b="0" i="0" sz="1400" u="none" cap="none" strike="noStrike">
              <a:solidFill>
                <a:srgbClr val="000000"/>
              </a:solidFill>
              <a:latin typeface="Arial"/>
              <a:ea typeface="Arial"/>
              <a:cs typeface="Arial"/>
              <a:sym typeface="Arial"/>
            </a:endParaRPr>
          </a:p>
        </p:txBody>
      </p:sp>
      <p:sp>
        <p:nvSpPr>
          <p:cNvPr id="1787" name="Google Shape;1787;p14"/>
          <p:cNvSpPr txBox="1"/>
          <p:nvPr/>
        </p:nvSpPr>
        <p:spPr>
          <a:xfrm>
            <a:off x="9274232" y="3983845"/>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grpSp>
        <p:nvGrpSpPr>
          <p:cNvPr id="1788" name="Google Shape;1788;p14"/>
          <p:cNvGrpSpPr/>
          <p:nvPr/>
        </p:nvGrpSpPr>
        <p:grpSpPr>
          <a:xfrm>
            <a:off x="5422724" y="2288835"/>
            <a:ext cx="4244975" cy="625475"/>
            <a:chOff x="5422724" y="2288835"/>
            <a:chExt cx="4244975" cy="625475"/>
          </a:xfrm>
        </p:grpSpPr>
        <p:grpSp>
          <p:nvGrpSpPr>
            <p:cNvPr id="1789" name="Google Shape;1789;p14"/>
            <p:cNvGrpSpPr/>
            <p:nvPr/>
          </p:nvGrpSpPr>
          <p:grpSpPr>
            <a:xfrm>
              <a:off x="5422724" y="2288835"/>
              <a:ext cx="4244975" cy="625475"/>
              <a:chOff x="5403907" y="2305731"/>
              <a:chExt cx="4244975" cy="625475"/>
            </a:xfrm>
          </p:grpSpPr>
          <p:grpSp>
            <p:nvGrpSpPr>
              <p:cNvPr id="1790" name="Google Shape;1790;p14"/>
              <p:cNvGrpSpPr/>
              <p:nvPr/>
            </p:nvGrpSpPr>
            <p:grpSpPr>
              <a:xfrm>
                <a:off x="5403907" y="2305731"/>
                <a:ext cx="4244975" cy="625475"/>
                <a:chOff x="7128842" y="2168196"/>
                <a:chExt cx="4244975" cy="625475"/>
              </a:xfrm>
            </p:grpSpPr>
            <p:grpSp>
              <p:nvGrpSpPr>
                <p:cNvPr id="1791" name="Google Shape;1791;p14"/>
                <p:cNvGrpSpPr/>
                <p:nvPr/>
              </p:nvGrpSpPr>
              <p:grpSpPr>
                <a:xfrm>
                  <a:off x="7128842" y="2168196"/>
                  <a:ext cx="4244975" cy="625475"/>
                  <a:chOff x="7047879" y="2120582"/>
                  <a:chExt cx="4244975" cy="625475"/>
                </a:xfrm>
              </p:grpSpPr>
              <p:grpSp>
                <p:nvGrpSpPr>
                  <p:cNvPr id="1792" name="Google Shape;1792;p14"/>
                  <p:cNvGrpSpPr/>
                  <p:nvPr/>
                </p:nvGrpSpPr>
                <p:grpSpPr>
                  <a:xfrm>
                    <a:off x="7047879" y="2120582"/>
                    <a:ext cx="4244975" cy="596900"/>
                    <a:chOff x="7047879" y="2120582"/>
                    <a:chExt cx="4244975" cy="596900"/>
                  </a:xfrm>
                </p:grpSpPr>
                <p:sp>
                  <p:nvSpPr>
                    <p:cNvPr id="1793" name="Google Shape;1793;p14"/>
                    <p:cNvSpPr/>
                    <p:nvPr/>
                  </p:nvSpPr>
                  <p:spPr>
                    <a:xfrm>
                      <a:off x="7111379" y="2155671"/>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nvGrpSpPr>
                    <p:cNvPr id="1794" name="Google Shape;1794;p14"/>
                    <p:cNvGrpSpPr/>
                    <p:nvPr/>
                  </p:nvGrpSpPr>
                  <p:grpSpPr>
                    <a:xfrm>
                      <a:off x="7047879" y="2120582"/>
                      <a:ext cx="4181475" cy="596900"/>
                      <a:chOff x="7039942" y="2139632"/>
                      <a:chExt cx="4181475" cy="596900"/>
                    </a:xfrm>
                  </p:grpSpPr>
                  <p:sp>
                    <p:nvSpPr>
                      <p:cNvPr id="1795" name="Google Shape;1795;p14"/>
                      <p:cNvSpPr/>
                      <p:nvPr/>
                    </p:nvSpPr>
                    <p:spPr>
                      <a:xfrm>
                        <a:off x="7039942" y="2193607"/>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796" name="Google Shape;1796;p14"/>
                      <p:cNvSpPr txBox="1"/>
                      <p:nvPr/>
                    </p:nvSpPr>
                    <p:spPr>
                      <a:xfrm>
                        <a:off x="8195642" y="2139632"/>
                        <a:ext cx="560388"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a:t>
                        </a:r>
                        <a:r>
                          <a:rPr b="0" i="0" lang="en-US" sz="1050" u="none" cap="none" strike="noStrike">
                            <a:solidFill>
                              <a:schemeClr val="dk1"/>
                            </a:solidFill>
                            <a:latin typeface="Comic Sans MS"/>
                            <a:ea typeface="Comic Sans MS"/>
                            <a:cs typeface="Comic Sans MS"/>
                            <a:sym typeface="Comic Sans MS"/>
                          </a:rPr>
                          <a:t>122</a:t>
                        </a:r>
                        <a:endParaRPr b="0" i="0" sz="1050" u="none" cap="none" strike="noStrike">
                          <a:solidFill>
                            <a:srgbClr val="000000"/>
                          </a:solidFill>
                          <a:latin typeface="Arial"/>
                          <a:ea typeface="Arial"/>
                          <a:cs typeface="Arial"/>
                          <a:sym typeface="Arial"/>
                        </a:endParaRPr>
                      </a:p>
                    </p:txBody>
                  </p:sp>
                  <p:sp>
                    <p:nvSpPr>
                      <p:cNvPr id="1797" name="Google Shape;1797;p14"/>
                      <p:cNvSpPr txBox="1"/>
                      <p:nvPr/>
                    </p:nvSpPr>
                    <p:spPr>
                      <a:xfrm>
                        <a:off x="9578355" y="2158682"/>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798" name="Google Shape;1798;p14"/>
                      <p:cNvSpPr txBox="1"/>
                      <p:nvPr/>
                    </p:nvSpPr>
                    <p:spPr>
                      <a:xfrm>
                        <a:off x="9102838" y="2186610"/>
                        <a:ext cx="51911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799" name="Google Shape;1799;p14"/>
                      <p:cNvSpPr txBox="1"/>
                      <p:nvPr/>
                    </p:nvSpPr>
                    <p:spPr>
                      <a:xfrm>
                        <a:off x="7395542" y="2139632"/>
                        <a:ext cx="858838"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=4000</a:t>
                        </a:r>
                        <a:endParaRPr b="0" i="0" sz="1400" u="none" cap="none" strike="noStrike">
                          <a:solidFill>
                            <a:srgbClr val="000000"/>
                          </a:solidFill>
                          <a:latin typeface="Arial"/>
                          <a:ea typeface="Arial"/>
                          <a:cs typeface="Arial"/>
                          <a:sym typeface="Arial"/>
                        </a:endParaRPr>
                      </a:p>
                    </p:txBody>
                  </p:sp>
                  <p:cxnSp>
                    <p:nvCxnSpPr>
                      <p:cNvPr id="1800" name="Google Shape;1800;p14"/>
                      <p:cNvCxnSpPr/>
                      <p:nvPr/>
                    </p:nvCxnSpPr>
                    <p:spPr>
                      <a:xfrm>
                        <a:off x="8719907" y="2193607"/>
                        <a:ext cx="0" cy="542925"/>
                      </a:xfrm>
                      <a:prstGeom prst="straightConnector1">
                        <a:avLst/>
                      </a:prstGeom>
                      <a:noFill/>
                      <a:ln cap="flat" cmpd="sng" w="19050">
                        <a:solidFill>
                          <a:schemeClr val="dk1"/>
                        </a:solidFill>
                        <a:prstDash val="solid"/>
                        <a:round/>
                        <a:headEnd len="sm" w="sm" type="none"/>
                        <a:tailEnd len="sm" w="sm" type="none"/>
                      </a:ln>
                    </p:spPr>
                  </p:cxnSp>
                </p:grpSp>
              </p:grpSp>
              <p:cxnSp>
                <p:nvCxnSpPr>
                  <p:cNvPr id="1801" name="Google Shape;1801;p14"/>
                  <p:cNvCxnSpPr/>
                  <p:nvPr/>
                </p:nvCxnSpPr>
                <p:spPr>
                  <a:xfrm>
                    <a:off x="10383217" y="2193607"/>
                    <a:ext cx="0" cy="542925"/>
                  </a:xfrm>
                  <a:prstGeom prst="straightConnector1">
                    <a:avLst/>
                  </a:prstGeom>
                  <a:noFill/>
                  <a:ln cap="flat" cmpd="sng" w="19050">
                    <a:solidFill>
                      <a:schemeClr val="dk1"/>
                    </a:solidFill>
                    <a:prstDash val="solid"/>
                    <a:round/>
                    <a:headEnd len="sm" w="sm" type="none"/>
                    <a:tailEnd len="sm" w="sm" type="none"/>
                  </a:ln>
                </p:spPr>
              </p:cxnSp>
              <p:sp>
                <p:nvSpPr>
                  <p:cNvPr id="1802" name="Google Shape;1802;p14"/>
                  <p:cNvSpPr/>
                  <p:nvPr/>
                </p:nvSpPr>
                <p:spPr>
                  <a:xfrm>
                    <a:off x="10573717" y="21459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03" name="Google Shape;1803;p14"/>
                <p:cNvCxnSpPr/>
                <p:nvPr/>
              </p:nvCxnSpPr>
              <p:spPr>
                <a:xfrm>
                  <a:off x="7484442" y="2217997"/>
                  <a:ext cx="0" cy="542925"/>
                </a:xfrm>
                <a:prstGeom prst="straightConnector1">
                  <a:avLst/>
                </a:prstGeom>
                <a:noFill/>
                <a:ln cap="flat" cmpd="sng" w="19050">
                  <a:solidFill>
                    <a:schemeClr val="dk1"/>
                  </a:solidFill>
                  <a:prstDash val="solid"/>
                  <a:round/>
                  <a:headEnd len="sm" w="sm" type="none"/>
                  <a:tailEnd len="sm" w="sm" type="none"/>
                </a:ln>
              </p:spPr>
            </p:cxnSp>
            <p:cxnSp>
              <p:nvCxnSpPr>
                <p:cNvPr id="1804" name="Google Shape;1804;p14"/>
                <p:cNvCxnSpPr/>
                <p:nvPr/>
              </p:nvCxnSpPr>
              <p:spPr>
                <a:xfrm>
                  <a:off x="8211806" y="2203284"/>
                  <a:ext cx="0" cy="542925"/>
                </a:xfrm>
                <a:prstGeom prst="straightConnector1">
                  <a:avLst/>
                </a:prstGeom>
                <a:noFill/>
                <a:ln cap="flat" cmpd="sng" w="19050">
                  <a:solidFill>
                    <a:schemeClr val="dk1"/>
                  </a:solidFill>
                  <a:prstDash val="solid"/>
                  <a:round/>
                  <a:headEnd len="sm" w="sm" type="none"/>
                  <a:tailEnd len="sm" w="sm" type="none"/>
                </a:ln>
              </p:spPr>
            </p:cxnSp>
            <p:cxnSp>
              <p:nvCxnSpPr>
                <p:cNvPr id="1805" name="Google Shape;1805;p14"/>
                <p:cNvCxnSpPr/>
                <p:nvPr/>
              </p:nvCxnSpPr>
              <p:spPr>
                <a:xfrm>
                  <a:off x="9688802" y="2222171"/>
                  <a:ext cx="0" cy="542925"/>
                </a:xfrm>
                <a:prstGeom prst="straightConnector1">
                  <a:avLst/>
                </a:prstGeom>
                <a:noFill/>
                <a:ln cap="flat" cmpd="sng" w="19050">
                  <a:solidFill>
                    <a:schemeClr val="dk1"/>
                  </a:solidFill>
                  <a:prstDash val="solid"/>
                  <a:round/>
                  <a:headEnd len="sm" w="sm" type="none"/>
                  <a:tailEnd len="sm" w="sm" type="none"/>
                </a:ln>
              </p:spPr>
            </p:cxnSp>
          </p:grpSp>
          <p:sp>
            <p:nvSpPr>
              <p:cNvPr id="1806" name="Google Shape;1806;p14"/>
              <p:cNvSpPr txBox="1"/>
              <p:nvPr/>
            </p:nvSpPr>
            <p:spPr>
              <a:xfrm>
                <a:off x="7075442" y="2357608"/>
                <a:ext cx="51911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grpSp>
        <p:cxnSp>
          <p:nvCxnSpPr>
            <p:cNvPr id="1807" name="Google Shape;1807;p14"/>
            <p:cNvCxnSpPr/>
            <p:nvPr/>
          </p:nvCxnSpPr>
          <p:spPr>
            <a:xfrm>
              <a:off x="7537249" y="2340819"/>
              <a:ext cx="0" cy="542925"/>
            </a:xfrm>
            <a:prstGeom prst="straightConnector1">
              <a:avLst/>
            </a:prstGeom>
            <a:noFill/>
            <a:ln cap="flat" cmpd="sng" w="19050">
              <a:solidFill>
                <a:schemeClr val="dk1"/>
              </a:solidFill>
              <a:prstDash val="solid"/>
              <a:round/>
              <a:headEnd len="sm" w="sm" type="none"/>
              <a:tailEnd len="sm" w="sm" type="none"/>
            </a:ln>
          </p:spPr>
        </p:cxnSp>
      </p:grpSp>
      <p:sp>
        <p:nvSpPr>
          <p:cNvPr id="1808" name="Google Shape;1808;p14"/>
          <p:cNvSpPr/>
          <p:nvPr/>
        </p:nvSpPr>
        <p:spPr>
          <a:xfrm>
            <a:off x="7125303" y="2374890"/>
            <a:ext cx="410135" cy="43147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p:txBody>
      </p:sp>
      <p:grpSp>
        <p:nvGrpSpPr>
          <p:cNvPr id="1809" name="Google Shape;1809;p14"/>
          <p:cNvGrpSpPr/>
          <p:nvPr/>
        </p:nvGrpSpPr>
        <p:grpSpPr>
          <a:xfrm>
            <a:off x="7536097" y="4724365"/>
            <a:ext cx="4225698" cy="615383"/>
            <a:chOff x="7530221" y="3889046"/>
            <a:chExt cx="4225698" cy="615383"/>
          </a:xfrm>
        </p:grpSpPr>
        <p:grpSp>
          <p:nvGrpSpPr>
            <p:cNvPr id="1810" name="Google Shape;1810;p14"/>
            <p:cNvGrpSpPr/>
            <p:nvPr/>
          </p:nvGrpSpPr>
          <p:grpSpPr>
            <a:xfrm>
              <a:off x="7530221" y="3889046"/>
              <a:ext cx="4225698" cy="609600"/>
              <a:chOff x="7538644" y="3916410"/>
              <a:chExt cx="4225698" cy="609600"/>
            </a:xfrm>
          </p:grpSpPr>
          <p:grpSp>
            <p:nvGrpSpPr>
              <p:cNvPr id="1811" name="Google Shape;1811;p14"/>
              <p:cNvGrpSpPr/>
              <p:nvPr/>
            </p:nvGrpSpPr>
            <p:grpSpPr>
              <a:xfrm>
                <a:off x="7538644" y="3916410"/>
                <a:ext cx="4225698" cy="609600"/>
                <a:chOff x="7548055" y="3898582"/>
                <a:chExt cx="4225698" cy="609600"/>
              </a:xfrm>
            </p:grpSpPr>
            <p:grpSp>
              <p:nvGrpSpPr>
                <p:cNvPr id="1812" name="Google Shape;1812;p14"/>
                <p:cNvGrpSpPr/>
                <p:nvPr/>
              </p:nvGrpSpPr>
              <p:grpSpPr>
                <a:xfrm>
                  <a:off x="7548055" y="3899769"/>
                  <a:ext cx="4225698" cy="608413"/>
                  <a:chOff x="7564595" y="3898547"/>
                  <a:chExt cx="4225698" cy="608413"/>
                </a:xfrm>
              </p:grpSpPr>
              <p:sp>
                <p:nvSpPr>
                  <p:cNvPr id="1813" name="Google Shape;1813;p14"/>
                  <p:cNvSpPr/>
                  <p:nvPr/>
                </p:nvSpPr>
                <p:spPr>
                  <a:xfrm>
                    <a:off x="7608818" y="3898547"/>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814" name="Google Shape;1814;p14"/>
                  <p:cNvSpPr/>
                  <p:nvPr/>
                </p:nvSpPr>
                <p:spPr>
                  <a:xfrm>
                    <a:off x="7564595" y="3964035"/>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15" name="Google Shape;1815;p14"/>
                <p:cNvCxnSpPr/>
                <p:nvPr/>
              </p:nvCxnSpPr>
              <p:spPr>
                <a:xfrm>
                  <a:off x="101553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16" name="Google Shape;1816;p14"/>
                <p:cNvCxnSpPr/>
                <p:nvPr/>
              </p:nvCxnSpPr>
              <p:spPr>
                <a:xfrm>
                  <a:off x="10907870" y="3946207"/>
                  <a:ext cx="0" cy="542925"/>
                </a:xfrm>
                <a:prstGeom prst="straightConnector1">
                  <a:avLst/>
                </a:prstGeom>
                <a:noFill/>
                <a:ln cap="flat" cmpd="sng" w="19050">
                  <a:solidFill>
                    <a:schemeClr val="dk1"/>
                  </a:solidFill>
                  <a:prstDash val="solid"/>
                  <a:round/>
                  <a:headEnd len="sm" w="sm" type="none"/>
                  <a:tailEnd len="sm" w="sm" type="none"/>
                </a:ln>
              </p:spPr>
            </p:cxnSp>
            <p:sp>
              <p:nvSpPr>
                <p:cNvPr id="1817" name="Google Shape;1817;p14"/>
                <p:cNvSpPr/>
                <p:nvPr/>
              </p:nvSpPr>
              <p:spPr>
                <a:xfrm>
                  <a:off x="11098370" y="38985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18" name="Google Shape;1818;p14"/>
              <p:cNvCxnSpPr/>
              <p:nvPr/>
            </p:nvCxnSpPr>
            <p:spPr>
              <a:xfrm>
                <a:off x="79455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19" name="Google Shape;1819;p14"/>
              <p:cNvCxnSpPr/>
              <p:nvPr/>
            </p:nvCxnSpPr>
            <p:spPr>
              <a:xfrm>
                <a:off x="87456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20" name="Google Shape;1820;p14"/>
              <p:cNvCxnSpPr/>
              <p:nvPr/>
            </p:nvCxnSpPr>
            <p:spPr>
              <a:xfrm>
                <a:off x="9359048" y="3964035"/>
                <a:ext cx="0" cy="542925"/>
              </a:xfrm>
              <a:prstGeom prst="straightConnector1">
                <a:avLst/>
              </a:prstGeom>
              <a:noFill/>
              <a:ln cap="flat" cmpd="sng" w="19050">
                <a:solidFill>
                  <a:schemeClr val="dk1"/>
                </a:solidFill>
                <a:prstDash val="solid"/>
                <a:round/>
                <a:headEnd len="sm" w="sm" type="none"/>
                <a:tailEnd len="sm" w="sm" type="none"/>
              </a:ln>
            </p:spPr>
          </p:cxnSp>
        </p:grpSp>
        <p:cxnSp>
          <p:nvCxnSpPr>
            <p:cNvPr id="1821" name="Google Shape;1821;p14"/>
            <p:cNvCxnSpPr/>
            <p:nvPr/>
          </p:nvCxnSpPr>
          <p:spPr>
            <a:xfrm>
              <a:off x="9740279" y="3961504"/>
              <a:ext cx="0" cy="542925"/>
            </a:xfrm>
            <a:prstGeom prst="straightConnector1">
              <a:avLst/>
            </a:prstGeom>
            <a:noFill/>
            <a:ln cap="flat" cmpd="sng" w="19050">
              <a:solidFill>
                <a:schemeClr val="dk1"/>
              </a:solidFill>
              <a:prstDash val="solid"/>
              <a:round/>
              <a:headEnd len="sm" w="sm" type="none"/>
              <a:tailEnd len="sm" w="sm" type="none"/>
            </a:ln>
          </p:spPr>
        </p:cxnSp>
      </p:grpSp>
      <p:sp>
        <p:nvSpPr>
          <p:cNvPr id="1822" name="Google Shape;1822;p14"/>
          <p:cNvSpPr txBox="1"/>
          <p:nvPr/>
        </p:nvSpPr>
        <p:spPr>
          <a:xfrm>
            <a:off x="8030845" y="4797390"/>
            <a:ext cx="850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=1500</a:t>
            </a:r>
            <a:endParaRPr b="0" i="0" sz="1400" u="none" cap="none" strike="noStrike">
              <a:solidFill>
                <a:srgbClr val="000000"/>
              </a:solidFill>
              <a:latin typeface="Arial"/>
              <a:ea typeface="Arial"/>
              <a:cs typeface="Arial"/>
              <a:sym typeface="Arial"/>
            </a:endParaRPr>
          </a:p>
        </p:txBody>
      </p:sp>
      <p:sp>
        <p:nvSpPr>
          <p:cNvPr id="1823" name="Google Shape;1823;p14"/>
          <p:cNvSpPr txBox="1"/>
          <p:nvPr/>
        </p:nvSpPr>
        <p:spPr>
          <a:xfrm>
            <a:off x="8753565" y="4802862"/>
            <a:ext cx="569824"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=122</a:t>
            </a:r>
            <a:endParaRPr b="0" i="0" sz="1400" u="none" cap="none" strike="noStrike">
              <a:solidFill>
                <a:srgbClr val="000000"/>
              </a:solidFill>
              <a:latin typeface="Arial"/>
              <a:ea typeface="Arial"/>
              <a:cs typeface="Arial"/>
              <a:sym typeface="Arial"/>
            </a:endParaRPr>
          </a:p>
        </p:txBody>
      </p:sp>
      <p:sp>
        <p:nvSpPr>
          <p:cNvPr id="1824" name="Google Shape;1824;p14"/>
          <p:cNvSpPr txBox="1"/>
          <p:nvPr/>
        </p:nvSpPr>
        <p:spPr>
          <a:xfrm>
            <a:off x="9308379" y="4820635"/>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825" name="Google Shape;1825;p14"/>
          <p:cNvSpPr txBox="1"/>
          <p:nvPr/>
        </p:nvSpPr>
        <p:spPr>
          <a:xfrm>
            <a:off x="9725908" y="4827685"/>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a:t>
            </a:r>
            <a:endParaRPr b="0" i="0" sz="1400" u="none" cap="none" strike="noStrike">
              <a:solidFill>
                <a:srgbClr val="000000"/>
              </a:solidFill>
              <a:latin typeface="Arial"/>
              <a:ea typeface="Arial"/>
              <a:cs typeface="Arial"/>
              <a:sym typeface="Arial"/>
            </a:endParaRPr>
          </a:p>
        </p:txBody>
      </p:sp>
      <p:sp>
        <p:nvSpPr>
          <p:cNvPr id="1826" name="Google Shape;1826;p14"/>
          <p:cNvSpPr txBox="1"/>
          <p:nvPr/>
        </p:nvSpPr>
        <p:spPr>
          <a:xfrm>
            <a:off x="10099213" y="4810090"/>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=185</a:t>
            </a:r>
            <a:endParaRPr b="0" i="0" sz="1400" u="none" cap="none" strike="noStrike">
              <a:solidFill>
                <a:srgbClr val="000000"/>
              </a:solidFill>
              <a:latin typeface="Arial"/>
              <a:ea typeface="Arial"/>
              <a:cs typeface="Arial"/>
              <a:sym typeface="Arial"/>
            </a:endParaRPr>
          </a:p>
        </p:txBody>
      </p:sp>
      <p:grpSp>
        <p:nvGrpSpPr>
          <p:cNvPr id="1827" name="Google Shape;1827;p14"/>
          <p:cNvGrpSpPr/>
          <p:nvPr/>
        </p:nvGrpSpPr>
        <p:grpSpPr>
          <a:xfrm>
            <a:off x="10274054" y="2228056"/>
            <a:ext cx="1752732" cy="2736528"/>
            <a:chOff x="10246496" y="3273957"/>
            <a:chExt cx="1752732" cy="2736528"/>
          </a:xfrm>
        </p:grpSpPr>
        <p:sp>
          <p:nvSpPr>
            <p:cNvPr id="1828" name="Google Shape;1828;p14"/>
            <p:cNvSpPr txBox="1"/>
            <p:nvPr/>
          </p:nvSpPr>
          <p:spPr>
            <a:xfrm>
              <a:off x="10246496" y="3273957"/>
              <a:ext cx="1752732" cy="307736"/>
            </a:xfrm>
            <a:prstGeom prst="rect">
              <a:avLst/>
            </a:prstGeom>
            <a:solidFill>
              <a:srgbClr val="5E993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 =</a:t>
              </a:r>
              <a:r>
                <a:rPr b="0" i="0" lang="en-US" sz="1400" u="none" cap="none" strike="noStrike">
                  <a:solidFill>
                    <a:srgbClr val="000000"/>
                  </a:solidFill>
                  <a:latin typeface="Arial"/>
                  <a:ea typeface="Arial"/>
                  <a:cs typeface="Arial"/>
                  <a:sym typeface="Arial"/>
                </a:rPr>
                <a:t> </a:t>
              </a:r>
              <a:r>
                <a:rPr b="0" i="0" lang="en-US" sz="1400" u="none" cap="none" strike="noStrike">
                  <a:solidFill>
                    <a:schemeClr val="dk1"/>
                  </a:solidFill>
                  <a:latin typeface="Comic Sans MS"/>
                  <a:ea typeface="Comic Sans MS"/>
                  <a:cs typeface="Comic Sans MS"/>
                  <a:sym typeface="Comic Sans MS"/>
                </a:rPr>
                <a:t>1480/8 </a:t>
              </a:r>
              <a:endParaRPr b="0" i="0" sz="1400" u="none" cap="none" strike="noStrike">
                <a:solidFill>
                  <a:srgbClr val="000000"/>
                </a:solidFill>
                <a:latin typeface="Arial"/>
                <a:ea typeface="Arial"/>
                <a:cs typeface="Arial"/>
                <a:sym typeface="Arial"/>
              </a:endParaRPr>
            </a:p>
          </p:txBody>
        </p:sp>
        <p:cxnSp>
          <p:nvCxnSpPr>
            <p:cNvPr id="1829" name="Google Shape;1829;p14"/>
            <p:cNvCxnSpPr/>
            <p:nvPr/>
          </p:nvCxnSpPr>
          <p:spPr>
            <a:xfrm flipH="1">
              <a:off x="10403879" y="3572207"/>
              <a:ext cx="309358" cy="2438278"/>
            </a:xfrm>
            <a:prstGeom prst="straightConnector1">
              <a:avLst/>
            </a:prstGeom>
            <a:noFill/>
            <a:ln cap="flat" cmpd="sng" w="19050">
              <a:solidFill>
                <a:srgbClr val="008000"/>
              </a:solidFill>
              <a:prstDash val="dot"/>
              <a:round/>
              <a:headEnd len="sm" w="sm" type="none"/>
              <a:tailEnd len="med" w="med" type="triangle"/>
            </a:ln>
          </p:spPr>
        </p:cxnSp>
      </p:grpSp>
      <p:grpSp>
        <p:nvGrpSpPr>
          <p:cNvPr id="1830" name="Google Shape;1830;p14"/>
          <p:cNvGrpSpPr/>
          <p:nvPr/>
        </p:nvGrpSpPr>
        <p:grpSpPr>
          <a:xfrm>
            <a:off x="7477017" y="5589763"/>
            <a:ext cx="4225698" cy="615383"/>
            <a:chOff x="7530221" y="3889046"/>
            <a:chExt cx="4225698" cy="615383"/>
          </a:xfrm>
        </p:grpSpPr>
        <p:grpSp>
          <p:nvGrpSpPr>
            <p:cNvPr id="1831" name="Google Shape;1831;p14"/>
            <p:cNvGrpSpPr/>
            <p:nvPr/>
          </p:nvGrpSpPr>
          <p:grpSpPr>
            <a:xfrm>
              <a:off x="7530221" y="3889046"/>
              <a:ext cx="4225698" cy="609600"/>
              <a:chOff x="7538644" y="3916410"/>
              <a:chExt cx="4225698" cy="609600"/>
            </a:xfrm>
          </p:grpSpPr>
          <p:grpSp>
            <p:nvGrpSpPr>
              <p:cNvPr id="1832" name="Google Shape;1832;p14"/>
              <p:cNvGrpSpPr/>
              <p:nvPr/>
            </p:nvGrpSpPr>
            <p:grpSpPr>
              <a:xfrm>
                <a:off x="7538644" y="3916410"/>
                <a:ext cx="4225698" cy="609600"/>
                <a:chOff x="7548055" y="3898582"/>
                <a:chExt cx="4225698" cy="609600"/>
              </a:xfrm>
            </p:grpSpPr>
            <p:grpSp>
              <p:nvGrpSpPr>
                <p:cNvPr id="1833" name="Google Shape;1833;p14"/>
                <p:cNvGrpSpPr/>
                <p:nvPr/>
              </p:nvGrpSpPr>
              <p:grpSpPr>
                <a:xfrm>
                  <a:off x="7548055" y="3899769"/>
                  <a:ext cx="4225698" cy="608413"/>
                  <a:chOff x="7564595" y="3898547"/>
                  <a:chExt cx="4225698" cy="608413"/>
                </a:xfrm>
              </p:grpSpPr>
              <p:sp>
                <p:nvSpPr>
                  <p:cNvPr id="1834" name="Google Shape;1834;p14"/>
                  <p:cNvSpPr/>
                  <p:nvPr/>
                </p:nvSpPr>
                <p:spPr>
                  <a:xfrm>
                    <a:off x="7608818" y="3898547"/>
                    <a:ext cx="4181475" cy="5429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sp>
                <p:nvSpPr>
                  <p:cNvPr id="1835" name="Google Shape;1835;p14"/>
                  <p:cNvSpPr/>
                  <p:nvPr/>
                </p:nvSpPr>
                <p:spPr>
                  <a:xfrm>
                    <a:off x="7564595" y="3964035"/>
                    <a:ext cx="4181475" cy="542925"/>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36" name="Google Shape;1836;p14"/>
                <p:cNvCxnSpPr/>
                <p:nvPr/>
              </p:nvCxnSpPr>
              <p:spPr>
                <a:xfrm>
                  <a:off x="101553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37" name="Google Shape;1837;p14"/>
                <p:cNvCxnSpPr/>
                <p:nvPr/>
              </p:nvCxnSpPr>
              <p:spPr>
                <a:xfrm>
                  <a:off x="10907870" y="3946207"/>
                  <a:ext cx="0" cy="542925"/>
                </a:xfrm>
                <a:prstGeom prst="straightConnector1">
                  <a:avLst/>
                </a:prstGeom>
                <a:noFill/>
                <a:ln cap="flat" cmpd="sng" w="19050">
                  <a:solidFill>
                    <a:schemeClr val="dk1"/>
                  </a:solidFill>
                  <a:prstDash val="solid"/>
                  <a:round/>
                  <a:headEnd len="sm" w="sm" type="none"/>
                  <a:tailEnd len="sm" w="sm" type="none"/>
                </a:ln>
              </p:spPr>
            </p:cxnSp>
            <p:sp>
              <p:nvSpPr>
                <p:cNvPr id="1838" name="Google Shape;1838;p14"/>
                <p:cNvSpPr/>
                <p:nvPr/>
              </p:nvSpPr>
              <p:spPr>
                <a:xfrm>
                  <a:off x="11098370" y="3898582"/>
                  <a:ext cx="219075" cy="6000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400" u="none" cap="none" strike="noStrike">
                    <a:solidFill>
                      <a:schemeClr val="dk1"/>
                    </a:solidFill>
                    <a:latin typeface="Comic Sans MS"/>
                    <a:ea typeface="Comic Sans MS"/>
                    <a:cs typeface="Comic Sans MS"/>
                    <a:sym typeface="Comic Sans MS"/>
                  </a:endParaRPr>
                </a:p>
              </p:txBody>
            </p:sp>
          </p:grpSp>
          <p:cxnSp>
            <p:nvCxnSpPr>
              <p:cNvPr id="1839" name="Google Shape;1839;p14"/>
              <p:cNvCxnSpPr/>
              <p:nvPr/>
            </p:nvCxnSpPr>
            <p:spPr>
              <a:xfrm>
                <a:off x="79455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40" name="Google Shape;1840;p14"/>
              <p:cNvCxnSpPr/>
              <p:nvPr/>
            </p:nvCxnSpPr>
            <p:spPr>
              <a:xfrm>
                <a:off x="8745695" y="3964035"/>
                <a:ext cx="0" cy="542925"/>
              </a:xfrm>
              <a:prstGeom prst="straightConnector1">
                <a:avLst/>
              </a:prstGeom>
              <a:noFill/>
              <a:ln cap="flat" cmpd="sng" w="19050">
                <a:solidFill>
                  <a:schemeClr val="dk1"/>
                </a:solidFill>
                <a:prstDash val="solid"/>
                <a:round/>
                <a:headEnd len="sm" w="sm" type="none"/>
                <a:tailEnd len="sm" w="sm" type="none"/>
              </a:ln>
            </p:spPr>
          </p:cxnSp>
          <p:cxnSp>
            <p:nvCxnSpPr>
              <p:cNvPr id="1841" name="Google Shape;1841;p14"/>
              <p:cNvCxnSpPr/>
              <p:nvPr/>
            </p:nvCxnSpPr>
            <p:spPr>
              <a:xfrm>
                <a:off x="9359048" y="3964035"/>
                <a:ext cx="0" cy="542925"/>
              </a:xfrm>
              <a:prstGeom prst="straightConnector1">
                <a:avLst/>
              </a:prstGeom>
              <a:noFill/>
              <a:ln cap="flat" cmpd="sng" w="19050">
                <a:solidFill>
                  <a:schemeClr val="dk1"/>
                </a:solidFill>
                <a:prstDash val="solid"/>
                <a:round/>
                <a:headEnd len="sm" w="sm" type="none"/>
                <a:tailEnd len="sm" w="sm" type="none"/>
              </a:ln>
            </p:spPr>
          </p:cxnSp>
        </p:grpSp>
        <p:cxnSp>
          <p:nvCxnSpPr>
            <p:cNvPr id="1842" name="Google Shape;1842;p14"/>
            <p:cNvCxnSpPr/>
            <p:nvPr/>
          </p:nvCxnSpPr>
          <p:spPr>
            <a:xfrm>
              <a:off x="9740279" y="3961504"/>
              <a:ext cx="0" cy="542925"/>
            </a:xfrm>
            <a:prstGeom prst="straightConnector1">
              <a:avLst/>
            </a:prstGeom>
            <a:noFill/>
            <a:ln cap="flat" cmpd="sng" w="19050">
              <a:solidFill>
                <a:schemeClr val="dk1"/>
              </a:solidFill>
              <a:prstDash val="solid"/>
              <a:round/>
              <a:headEnd len="sm" w="sm" type="none"/>
              <a:tailEnd len="sm" w="sm" type="none"/>
            </a:ln>
          </p:spPr>
        </p:cxnSp>
      </p:grpSp>
      <p:sp>
        <p:nvSpPr>
          <p:cNvPr id="1843" name="Google Shape;1843;p14"/>
          <p:cNvSpPr txBox="1"/>
          <p:nvPr/>
        </p:nvSpPr>
        <p:spPr>
          <a:xfrm>
            <a:off x="7945018" y="5650655"/>
            <a:ext cx="8509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=1040</a:t>
            </a:r>
            <a:endParaRPr b="0" i="0" sz="1400" u="none" cap="none" strike="noStrike">
              <a:solidFill>
                <a:srgbClr val="000000"/>
              </a:solidFill>
              <a:latin typeface="Arial"/>
              <a:ea typeface="Arial"/>
              <a:cs typeface="Arial"/>
              <a:sym typeface="Arial"/>
            </a:endParaRPr>
          </a:p>
        </p:txBody>
      </p:sp>
      <p:sp>
        <p:nvSpPr>
          <p:cNvPr id="1844" name="Google Shape;1844;p14"/>
          <p:cNvSpPr txBox="1"/>
          <p:nvPr/>
        </p:nvSpPr>
        <p:spPr>
          <a:xfrm>
            <a:off x="8749847" y="5703571"/>
            <a:ext cx="569824"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=122</a:t>
            </a:r>
            <a:endParaRPr b="0" i="0" sz="1400" u="none" cap="none" strike="noStrike">
              <a:solidFill>
                <a:srgbClr val="000000"/>
              </a:solidFill>
              <a:latin typeface="Arial"/>
              <a:ea typeface="Arial"/>
              <a:cs typeface="Arial"/>
              <a:sym typeface="Arial"/>
            </a:endParaRPr>
          </a:p>
        </p:txBody>
      </p:sp>
      <p:sp>
        <p:nvSpPr>
          <p:cNvPr id="1845" name="Google Shape;1845;p14"/>
          <p:cNvSpPr txBox="1"/>
          <p:nvPr/>
        </p:nvSpPr>
        <p:spPr>
          <a:xfrm>
            <a:off x="9229634" y="5702876"/>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DF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846" name="Google Shape;1846;p14"/>
          <p:cNvSpPr txBox="1"/>
          <p:nvPr/>
        </p:nvSpPr>
        <p:spPr>
          <a:xfrm>
            <a:off x="9647916" y="5681271"/>
            <a:ext cx="54132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MF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=0</a:t>
            </a:r>
            <a:endParaRPr b="0" i="0" sz="1400" u="none" cap="none" strike="noStrike">
              <a:solidFill>
                <a:srgbClr val="000000"/>
              </a:solidFill>
              <a:latin typeface="Arial"/>
              <a:ea typeface="Arial"/>
              <a:cs typeface="Arial"/>
              <a:sym typeface="Arial"/>
            </a:endParaRPr>
          </a:p>
        </p:txBody>
      </p:sp>
      <p:sp>
        <p:nvSpPr>
          <p:cNvPr id="1847" name="Google Shape;1847;p14"/>
          <p:cNvSpPr txBox="1"/>
          <p:nvPr/>
        </p:nvSpPr>
        <p:spPr>
          <a:xfrm>
            <a:off x="10051019" y="5656438"/>
            <a:ext cx="881063"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=370</a:t>
            </a:r>
            <a:endParaRPr b="0" i="0" sz="1400" u="none" cap="none" strike="noStrike">
              <a:solidFill>
                <a:srgbClr val="000000"/>
              </a:solidFill>
              <a:latin typeface="Arial"/>
              <a:ea typeface="Arial"/>
              <a:cs typeface="Arial"/>
              <a:sym typeface="Arial"/>
            </a:endParaRPr>
          </a:p>
        </p:txBody>
      </p:sp>
      <p:grpSp>
        <p:nvGrpSpPr>
          <p:cNvPr id="1848" name="Google Shape;1848;p14"/>
          <p:cNvGrpSpPr/>
          <p:nvPr/>
        </p:nvGrpSpPr>
        <p:grpSpPr>
          <a:xfrm>
            <a:off x="10379343" y="3057056"/>
            <a:ext cx="1818777" cy="2832744"/>
            <a:chOff x="10180451" y="3273957"/>
            <a:chExt cx="1818777" cy="2832744"/>
          </a:xfrm>
        </p:grpSpPr>
        <p:sp>
          <p:nvSpPr>
            <p:cNvPr id="1849" name="Google Shape;1849;p14"/>
            <p:cNvSpPr txBox="1"/>
            <p:nvPr/>
          </p:nvSpPr>
          <p:spPr>
            <a:xfrm>
              <a:off x="10246496" y="3273957"/>
              <a:ext cx="1752732" cy="307736"/>
            </a:xfrm>
            <a:prstGeom prst="rect">
              <a:avLst/>
            </a:prstGeom>
            <a:solidFill>
              <a:srgbClr val="5E993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400" u="none" cap="none" strike="noStrike">
                  <a:solidFill>
                    <a:schemeClr val="dk1"/>
                  </a:solidFill>
                  <a:latin typeface="Comic Sans MS"/>
                  <a:ea typeface="Comic Sans MS"/>
                  <a:cs typeface="Comic Sans MS"/>
                  <a:sym typeface="Comic Sans MS"/>
                </a:rPr>
                <a:t>offset =</a:t>
              </a:r>
              <a:r>
                <a:rPr b="0" i="0" lang="en-US" sz="1400" u="none" cap="none" strike="noStrike">
                  <a:solidFill>
                    <a:srgbClr val="000000"/>
                  </a:solidFill>
                  <a:latin typeface="Arial"/>
                  <a:ea typeface="Arial"/>
                  <a:cs typeface="Arial"/>
                  <a:sym typeface="Arial"/>
                </a:rPr>
                <a:t> </a:t>
              </a:r>
              <a:r>
                <a:rPr b="0" i="0" lang="en-US" sz="1400" u="none" cap="none" strike="noStrike">
                  <a:solidFill>
                    <a:schemeClr val="dk1"/>
                  </a:solidFill>
                  <a:latin typeface="Comic Sans MS"/>
                  <a:ea typeface="Comic Sans MS"/>
                  <a:cs typeface="Comic Sans MS"/>
                  <a:sym typeface="Comic Sans MS"/>
                </a:rPr>
                <a:t>2960/8 </a:t>
              </a:r>
              <a:endParaRPr b="0" i="0" sz="1400" u="none" cap="none" strike="noStrike">
                <a:solidFill>
                  <a:srgbClr val="000000"/>
                </a:solidFill>
                <a:latin typeface="Arial"/>
                <a:ea typeface="Arial"/>
                <a:cs typeface="Arial"/>
                <a:sym typeface="Arial"/>
              </a:endParaRPr>
            </a:p>
          </p:txBody>
        </p:sp>
        <p:cxnSp>
          <p:nvCxnSpPr>
            <p:cNvPr id="1850" name="Google Shape;1850;p14"/>
            <p:cNvCxnSpPr/>
            <p:nvPr/>
          </p:nvCxnSpPr>
          <p:spPr>
            <a:xfrm flipH="1">
              <a:off x="10180451" y="3572207"/>
              <a:ext cx="532786" cy="2534494"/>
            </a:xfrm>
            <a:prstGeom prst="straightConnector1">
              <a:avLst/>
            </a:prstGeom>
            <a:noFill/>
            <a:ln cap="flat" cmpd="sng" w="19050">
              <a:solidFill>
                <a:srgbClr val="008000"/>
              </a:solidFill>
              <a:prstDash val="dot"/>
              <a:round/>
              <a:headEnd len="sm" w="sm" type="none"/>
              <a:tailEnd len="med" w="med" type="triangle"/>
            </a:ln>
          </p:spPr>
        </p:cxnSp>
      </p:grpSp>
      <p:sp>
        <p:nvSpPr>
          <p:cNvPr id="1851" name="Google Shape;1851;p14"/>
          <p:cNvSpPr txBox="1"/>
          <p:nvPr/>
        </p:nvSpPr>
        <p:spPr>
          <a:xfrm>
            <a:off x="1041284" y="4820635"/>
            <a:ext cx="5037488" cy="106916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400" u="none" cap="none" strike="noStrike">
                <a:solidFill>
                  <a:schemeClr val="dk1"/>
                </a:solidFill>
                <a:latin typeface="Corbel"/>
                <a:ea typeface="Corbel"/>
                <a:cs typeface="Corbel"/>
                <a:sym typeface="Corbel"/>
              </a:rPr>
              <a:t>Fragment Offset</a:t>
            </a:r>
            <a:endParaRPr b="0" i="0" sz="1400" u="none" cap="none" strike="noStrike">
              <a:solidFill>
                <a:srgbClr val="000000"/>
              </a:solidFill>
              <a:latin typeface="Arial"/>
              <a:ea typeface="Arial"/>
              <a:cs typeface="Arial"/>
              <a:sym typeface="Arial"/>
            </a:endParaRPr>
          </a:p>
          <a:p>
            <a:pPr indent="-285750" lvl="2" marL="1200150" marR="0" rtl="0" algn="just">
              <a:lnSpc>
                <a:spcPct val="100000"/>
              </a:lnSpc>
              <a:spcBef>
                <a:spcPts val="0"/>
              </a:spcBef>
              <a:spcAft>
                <a:spcPts val="0"/>
              </a:spcAft>
              <a:buClr>
                <a:srgbClr val="1186C3"/>
              </a:buClr>
              <a:buSzPts val="2900"/>
              <a:buFont typeface="Arial"/>
              <a:buChar char="•"/>
            </a:pPr>
            <a:r>
              <a:rPr b="0" i="0" lang="en-US" sz="2000" u="none" cap="none" strike="noStrike">
                <a:solidFill>
                  <a:schemeClr val="dk1"/>
                </a:solidFill>
                <a:latin typeface="Corbel"/>
                <a:ea typeface="Corbel"/>
                <a:cs typeface="Corbel"/>
                <a:sym typeface="Corbel"/>
              </a:rPr>
              <a:t>The value of the offset is measured in units of 8 bytes. </a:t>
            </a:r>
            <a:endParaRPr b="0" i="0" sz="1400" u="none" cap="none" strike="noStrike">
              <a:solidFill>
                <a:srgbClr val="000000"/>
              </a:solidFill>
              <a:latin typeface="Arial"/>
              <a:ea typeface="Arial"/>
              <a:cs typeface="Arial"/>
              <a:sym typeface="Arial"/>
            </a:endParaRPr>
          </a:p>
        </p:txBody>
      </p:sp>
      <p:sp>
        <p:nvSpPr>
          <p:cNvPr id="1852" name="Google Shape;1852;p14"/>
          <p:cNvSpPr txBox="1"/>
          <p:nvPr/>
        </p:nvSpPr>
        <p:spPr>
          <a:xfrm>
            <a:off x="9308379" y="1303388"/>
            <a:ext cx="201343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FF0000"/>
                </a:solidFill>
                <a:latin typeface="Arial"/>
                <a:ea typeface="Arial"/>
                <a:cs typeface="Arial"/>
                <a:sym typeface="Arial"/>
              </a:rPr>
              <a:t>Extra Example</a:t>
            </a:r>
            <a:endParaRPr b="0" i="0" sz="16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827"/>
                                        </p:tgtEl>
                                        <p:attrNameLst>
                                          <p:attrName>ppt_y</p:attrName>
                                        </p:attrNameLst>
                                      </p:cBhvr>
                                      <p:tavLst>
                                        <p:tav fmla="" tm="0">
                                          <p:val>
                                            <p:strVal val="#ppt_y"/>
                                          </p:val>
                                        </p:tav>
                                        <p:tav fmla="" tm="100000">
                                          <p:val>
                                            <p:strVal val="#ppt_y+1"/>
                                          </p:val>
                                        </p:tav>
                                      </p:tavLst>
                                    </p:anim>
                                    <p:set>
                                      <p:cBhvr>
                                        <p:cTn dur="1" fill="hold">
                                          <p:stCondLst>
                                            <p:cond delay="500"/>
                                          </p:stCondLst>
                                        </p:cTn>
                                        <p:tgtEl>
                                          <p:spTgt spid="182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17"/>
          <p:cNvSpPr txBox="1"/>
          <p:nvPr>
            <p:ph type="title"/>
          </p:nvPr>
        </p:nvSpPr>
        <p:spPr>
          <a:xfrm>
            <a:off x="1484310" y="1930399"/>
            <a:ext cx="10018713" cy="220293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ICMP</a:t>
            </a:r>
            <a:endParaRPr/>
          </a:p>
        </p:txBody>
      </p:sp>
      <p:pic>
        <p:nvPicPr>
          <p:cNvPr id="1858" name="Google Shape;1858;p17"/>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859" name="Google Shape;1859;p17"/>
          <p:cNvSpPr/>
          <p:nvPr/>
        </p:nvSpPr>
        <p:spPr>
          <a:xfrm>
            <a:off x="2425766" y="3640872"/>
            <a:ext cx="943530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800" u="none" cap="none" strike="noStrike">
                <a:solidFill>
                  <a:srgbClr val="0070C0"/>
                </a:solidFill>
                <a:latin typeface="Corbel"/>
                <a:ea typeface="Corbel"/>
                <a:cs typeface="Corbel"/>
                <a:sym typeface="Corbel"/>
              </a:rPr>
              <a:t>Internet Control Message Protocol</a:t>
            </a:r>
            <a:endParaRPr b="0" i="0" sz="4800" u="none" cap="none" strike="noStrike">
              <a:solidFill>
                <a:srgbClr val="000000"/>
              </a:solidFill>
              <a:latin typeface="Corbel"/>
              <a:ea typeface="Corbel"/>
              <a:cs typeface="Corbel"/>
              <a:sym typeface="Corbe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18"/>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ICMP</a:t>
            </a:r>
            <a:endParaRPr/>
          </a:p>
        </p:txBody>
      </p:sp>
      <p:sp>
        <p:nvSpPr>
          <p:cNvPr id="1865" name="Google Shape;1865;p18"/>
          <p:cNvSpPr txBox="1"/>
          <p:nvPr>
            <p:ph idx="1" type="body"/>
          </p:nvPr>
        </p:nvSpPr>
        <p:spPr>
          <a:xfrm>
            <a:off x="1250657" y="956690"/>
            <a:ext cx="10486017" cy="5078349"/>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SzPts val="3480"/>
              <a:buChar char="•"/>
            </a:pPr>
            <a:r>
              <a:rPr lang="en-US" sz="2800"/>
              <a:t>It helps devices send error messages and status updates.</a:t>
            </a:r>
            <a:endParaRPr/>
          </a:p>
          <a:p>
            <a:pPr indent="-394335" lvl="0" marL="457200" rtl="0" algn="l">
              <a:lnSpc>
                <a:spcPct val="100000"/>
              </a:lnSpc>
              <a:spcBef>
                <a:spcPts val="360"/>
              </a:spcBef>
              <a:spcAft>
                <a:spcPts val="0"/>
              </a:spcAft>
              <a:buSzPts val="3360"/>
              <a:buChar char="•"/>
            </a:pPr>
            <a:r>
              <a:rPr b="1" lang="en-US" sz="2800">
                <a:solidFill>
                  <a:srgbClr val="7D28CD"/>
                </a:solidFill>
              </a:rPr>
              <a:t>Functions</a:t>
            </a:r>
            <a:r>
              <a:rPr lang="en-US" sz="2800">
                <a:solidFill>
                  <a:srgbClr val="7D28CD"/>
                </a:solidFill>
              </a:rPr>
              <a:t>:</a:t>
            </a:r>
            <a:endParaRPr>
              <a:solidFill>
                <a:srgbClr val="7D28CD"/>
              </a:solidFill>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Reporting errors in the network</a:t>
            </a:r>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Checking reachability (Is the host alive?)</a:t>
            </a:r>
            <a:endParaRPr/>
          </a:p>
          <a:p>
            <a:pPr indent="-394335" lvl="1" marL="914400" rtl="0" algn="l">
              <a:lnSpc>
                <a:spcPct val="100000"/>
              </a:lnSpc>
              <a:spcBef>
                <a:spcPts val="360"/>
              </a:spcBef>
              <a:spcAft>
                <a:spcPts val="0"/>
              </a:spcAft>
              <a:buSzPts val="3360"/>
              <a:buChar char="•"/>
            </a:pPr>
            <a:r>
              <a:rPr lang="en-US" sz="2400">
                <a:solidFill>
                  <a:schemeClr val="dk1"/>
                </a:solidFill>
                <a:latin typeface="Corbel"/>
                <a:ea typeface="Corbel"/>
                <a:cs typeface="Corbel"/>
                <a:sym typeface="Corbel"/>
              </a:rPr>
              <a:t>Diagnosing delays and congestion</a:t>
            </a:r>
            <a:endParaRPr/>
          </a:p>
          <a:p>
            <a:pPr indent="-394335" lvl="0" marL="457200" rtl="0" algn="l">
              <a:lnSpc>
                <a:spcPct val="100000"/>
              </a:lnSpc>
              <a:spcBef>
                <a:spcPts val="360"/>
              </a:spcBef>
              <a:spcAft>
                <a:spcPts val="0"/>
              </a:spcAft>
              <a:buSzPts val="2610"/>
              <a:buChar char="•"/>
            </a:pPr>
            <a:r>
              <a:rPr b="1" lang="en-US" sz="2800">
                <a:solidFill>
                  <a:srgbClr val="7D28CD"/>
                </a:solidFill>
              </a:rPr>
              <a:t>Key Points</a:t>
            </a:r>
            <a:r>
              <a:rPr lang="en-US" sz="2800">
                <a:solidFill>
                  <a:srgbClr val="7D28CD"/>
                </a:solidFill>
              </a:rPr>
              <a:t>: </a:t>
            </a:r>
            <a:endParaRPr>
              <a:solidFill>
                <a:srgbClr val="7D28CD"/>
              </a:solidFill>
            </a:endParaRPr>
          </a:p>
          <a:p>
            <a:pPr indent="-394335" lvl="1" marL="914400" rtl="0" algn="l">
              <a:lnSpc>
                <a:spcPct val="100000"/>
              </a:lnSpc>
              <a:spcBef>
                <a:spcPts val="600"/>
              </a:spcBef>
              <a:spcAft>
                <a:spcPts val="0"/>
              </a:spcAft>
              <a:buSzPts val="2610"/>
              <a:buChar char="•"/>
            </a:pPr>
            <a:r>
              <a:rPr lang="en-US" sz="2400"/>
              <a:t>ICMP does not carry actual user data</a:t>
            </a:r>
            <a:endParaRPr/>
          </a:p>
          <a:p>
            <a:pPr indent="-394335" lvl="1" marL="914400" rtl="0" algn="l">
              <a:lnSpc>
                <a:spcPct val="100000"/>
              </a:lnSpc>
              <a:spcBef>
                <a:spcPts val="600"/>
              </a:spcBef>
              <a:spcAft>
                <a:spcPts val="0"/>
              </a:spcAft>
              <a:buSzPts val="2610"/>
              <a:buChar char="•"/>
            </a:pPr>
            <a:r>
              <a:rPr lang="en-US" sz="2400"/>
              <a:t>Mainly used by the </a:t>
            </a:r>
            <a:r>
              <a:rPr b="1" lang="en-US" sz="2400">
                <a:solidFill>
                  <a:srgbClr val="7D28CD"/>
                </a:solidFill>
              </a:rPr>
              <a:t>operating systems </a:t>
            </a:r>
            <a:r>
              <a:rPr lang="en-US" sz="2400"/>
              <a:t>for network management</a:t>
            </a:r>
            <a:endParaRPr sz="2400"/>
          </a:p>
          <a:p>
            <a:pPr indent="-115410" lvl="1" marL="742950" rtl="0" algn="l">
              <a:lnSpc>
                <a:spcPct val="100000"/>
              </a:lnSpc>
              <a:spcBef>
                <a:spcPts val="970"/>
              </a:spcBef>
              <a:spcAft>
                <a:spcPts val="0"/>
              </a:spcAft>
              <a:buSzPts val="2900"/>
              <a:buNone/>
            </a:pPr>
            <a:r>
              <a:t/>
            </a:r>
            <a:endParaRPr/>
          </a:p>
          <a:p>
            <a:pPr indent="-115410" lvl="1" marL="742950" rtl="0" algn="l">
              <a:lnSpc>
                <a:spcPct val="100000"/>
              </a:lnSpc>
              <a:spcBef>
                <a:spcPts val="970"/>
              </a:spcBef>
              <a:spcAft>
                <a:spcPts val="0"/>
              </a:spcAft>
              <a:buSzPts val="2900"/>
              <a:buNone/>
            </a:pPr>
            <a:r>
              <a:t/>
            </a:r>
            <a:endParaRPr/>
          </a:p>
          <a:p>
            <a:pPr indent="-81343" lvl="0" marL="285750" rtl="0" algn="l">
              <a:lnSpc>
                <a:spcPct val="100000"/>
              </a:lnSpc>
              <a:spcBef>
                <a:spcPts val="1044"/>
              </a:spcBef>
              <a:spcAft>
                <a:spcPts val="0"/>
              </a:spcAft>
              <a:buSzPts val="3480"/>
              <a:buNone/>
            </a:pPr>
            <a:r>
              <a:t/>
            </a:r>
            <a:endParaRPr/>
          </a:p>
        </p:txBody>
      </p:sp>
      <p:pic>
        <p:nvPicPr>
          <p:cNvPr id="1866" name="Google Shape;1866;p18"/>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867" name="Google Shape;1867;p18"/>
          <p:cNvSpPr/>
          <p:nvPr/>
        </p:nvSpPr>
        <p:spPr>
          <a:xfrm>
            <a:off x="2079106" y="5048494"/>
            <a:ext cx="6096000" cy="164143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3480"/>
              <a:buFont typeface="Arial"/>
              <a:buChar char="•"/>
            </a:pPr>
            <a:r>
              <a:rPr b="1" i="0" lang="en-US" sz="2800" u="none" cap="none" strike="noStrike">
                <a:solidFill>
                  <a:srgbClr val="0070C0"/>
                </a:solidFill>
                <a:latin typeface="Corbel"/>
                <a:ea typeface="Corbel"/>
                <a:cs typeface="Corbel"/>
                <a:sym typeface="Corbel"/>
              </a:rPr>
              <a:t>Example of ICMP in practice </a:t>
            </a:r>
            <a:endParaRPr b="0" i="0" sz="1600" u="none" cap="none" strike="noStrike">
              <a:solidFill>
                <a:srgbClr val="000000"/>
              </a:solidFill>
              <a:latin typeface="Arial"/>
              <a:ea typeface="Arial"/>
              <a:cs typeface="Arial"/>
              <a:sym typeface="Arial"/>
            </a:endParaRPr>
          </a:p>
          <a:p>
            <a:pPr indent="-285750" lvl="1" marL="742950" marR="0" rtl="0" algn="l">
              <a:lnSpc>
                <a:spcPct val="100000"/>
              </a:lnSpc>
              <a:spcBef>
                <a:spcPts val="970"/>
              </a:spcBef>
              <a:spcAft>
                <a:spcPts val="0"/>
              </a:spcAft>
              <a:buClr>
                <a:srgbClr val="1186C3"/>
              </a:buClr>
              <a:buSzPts val="2900"/>
              <a:buFont typeface="Arial"/>
              <a:buChar char="•"/>
            </a:pPr>
            <a:r>
              <a:rPr b="1" i="0" lang="en-US" sz="2800" u="none" cap="none" strike="noStrike">
                <a:solidFill>
                  <a:srgbClr val="000000"/>
                </a:solidFill>
                <a:latin typeface="Corbel"/>
                <a:ea typeface="Corbel"/>
                <a:cs typeface="Corbel"/>
                <a:sym typeface="Corbel"/>
              </a:rPr>
              <a:t>Ping</a:t>
            </a:r>
            <a:endParaRPr b="0" i="0" sz="1600" u="none" cap="none" strike="noStrike">
              <a:solidFill>
                <a:srgbClr val="000000"/>
              </a:solidFill>
              <a:latin typeface="Arial"/>
              <a:ea typeface="Arial"/>
              <a:cs typeface="Arial"/>
              <a:sym typeface="Arial"/>
            </a:endParaRPr>
          </a:p>
          <a:p>
            <a:pPr indent="-285750" lvl="1" marL="742950" marR="0" rtl="0" algn="l">
              <a:lnSpc>
                <a:spcPct val="100000"/>
              </a:lnSpc>
              <a:spcBef>
                <a:spcPts val="970"/>
              </a:spcBef>
              <a:spcAft>
                <a:spcPts val="0"/>
              </a:spcAft>
              <a:buClr>
                <a:srgbClr val="1186C3"/>
              </a:buClr>
              <a:buSzPts val="2900"/>
              <a:buFont typeface="Arial"/>
              <a:buChar char="•"/>
            </a:pPr>
            <a:r>
              <a:rPr b="1" i="0" lang="en-US" sz="2800" u="none" cap="none" strike="noStrike">
                <a:solidFill>
                  <a:srgbClr val="000000"/>
                </a:solidFill>
                <a:latin typeface="Corbel"/>
                <a:ea typeface="Corbel"/>
                <a:cs typeface="Corbel"/>
                <a:sym typeface="Corbel"/>
              </a:rPr>
              <a:t>Traceroute </a:t>
            </a:r>
            <a:endParaRPr b="0" i="0" sz="1600" u="none" cap="none" strike="noStrike">
              <a:solidFill>
                <a:srgbClr val="000000"/>
              </a:solidFill>
              <a:latin typeface="Arial"/>
              <a:ea typeface="Arial"/>
              <a:cs typeface="Arial"/>
              <a:sym typeface="Arial"/>
            </a:endParaRPr>
          </a:p>
        </p:txBody>
      </p:sp>
      <p:sp>
        <p:nvSpPr>
          <p:cNvPr descr="isolated background alert popup ..." id="1868" name="Google Shape;1868;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isolated background alert popup ..." id="1869" name="Google Shape;1869;p18"/>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network error accesing session on ..." id="1870" name="Google Shape;1870;p18"/>
          <p:cNvSpPr/>
          <p:nvPr/>
        </p:nvSpPr>
        <p:spPr>
          <a:xfrm>
            <a:off x="460375" y="1603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Are You Up GIFs | Tenor" id="1871" name="Google Shape;1871;p18"/>
          <p:cNvSpPr/>
          <p:nvPr/>
        </p:nvSpPr>
        <p:spPr>
          <a:xfrm>
            <a:off x="612775" y="3127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72" name="Google Shape;1872;p18"/>
          <p:cNvPicPr preferRelativeResize="0"/>
          <p:nvPr/>
        </p:nvPicPr>
        <p:blipFill rotWithShape="1">
          <a:blip r:embed="rId4">
            <a:alphaModFix/>
          </a:blip>
          <a:srcRect b="0" l="0" r="0" t="0"/>
          <a:stretch/>
        </p:blipFill>
        <p:spPr>
          <a:xfrm>
            <a:off x="7407663" y="1577905"/>
            <a:ext cx="1534886" cy="1202327"/>
          </a:xfrm>
          <a:prstGeom prst="rect">
            <a:avLst/>
          </a:prstGeom>
          <a:noFill/>
          <a:ln>
            <a:noFill/>
          </a:ln>
        </p:spPr>
      </p:pic>
      <p:pic>
        <p:nvPicPr>
          <p:cNvPr id="1873" name="Google Shape;1873;p18"/>
          <p:cNvPicPr preferRelativeResize="0"/>
          <p:nvPr/>
        </p:nvPicPr>
        <p:blipFill rotWithShape="1">
          <a:blip r:embed="rId5">
            <a:alphaModFix/>
          </a:blip>
          <a:srcRect b="0" l="0" r="0" t="0"/>
          <a:stretch/>
        </p:blipFill>
        <p:spPr>
          <a:xfrm>
            <a:off x="9689789" y="1840665"/>
            <a:ext cx="1339487" cy="1339487"/>
          </a:xfrm>
          <a:prstGeom prst="rect">
            <a:avLst/>
          </a:prstGeom>
          <a:noFill/>
          <a:ln>
            <a:noFill/>
          </a:ln>
        </p:spPr>
      </p:pic>
      <p:pic>
        <p:nvPicPr>
          <p:cNvPr id="1874" name="Google Shape;1874;p18"/>
          <p:cNvPicPr preferRelativeResize="0"/>
          <p:nvPr/>
        </p:nvPicPr>
        <p:blipFill rotWithShape="1">
          <a:blip r:embed="rId6">
            <a:alphaModFix/>
          </a:blip>
          <a:srcRect b="0" l="0" r="0" t="0"/>
          <a:stretch/>
        </p:blipFill>
        <p:spPr>
          <a:xfrm>
            <a:off x="7629661" y="2889138"/>
            <a:ext cx="1823494" cy="12134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5"/>
                                        </p:tgtEl>
                                        <p:attrNameLst>
                                          <p:attrName>style.visibility</p:attrName>
                                        </p:attrNameLst>
                                      </p:cBhvr>
                                      <p:to>
                                        <p:strVal val="visible"/>
                                      </p:to>
                                    </p:set>
                                    <p:animEffect filter="fade" transition="in">
                                      <p:cBhvr>
                                        <p:cTn dur="500"/>
                                        <p:tgtEl>
                                          <p:spTgt spid="1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2"/>
                                        </p:tgtEl>
                                        <p:attrNameLst>
                                          <p:attrName>style.visibility</p:attrName>
                                        </p:attrNameLst>
                                      </p:cBhvr>
                                      <p:to>
                                        <p:strVal val="visible"/>
                                      </p:to>
                                    </p:set>
                                    <p:animEffect filter="fade" transition="in">
                                      <p:cBhvr>
                                        <p:cTn dur="1000"/>
                                        <p:tgtEl>
                                          <p:spTgt spid="18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3"/>
                                        </p:tgtEl>
                                        <p:attrNameLst>
                                          <p:attrName>style.visibility</p:attrName>
                                        </p:attrNameLst>
                                      </p:cBhvr>
                                      <p:to>
                                        <p:strVal val="visible"/>
                                      </p:to>
                                    </p:set>
                                    <p:animEffect filter="fade" transition="in">
                                      <p:cBhvr>
                                        <p:cTn dur="1000"/>
                                        <p:tgtEl>
                                          <p:spTgt spid="18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4"/>
                                        </p:tgtEl>
                                        <p:attrNameLst>
                                          <p:attrName>style.visibility</p:attrName>
                                        </p:attrNameLst>
                                      </p:cBhvr>
                                      <p:to>
                                        <p:strVal val="visible"/>
                                      </p:to>
                                    </p:set>
                                    <p:animEffect filter="fade" transition="in">
                                      <p:cBhvr>
                                        <p:cTn dur="1000"/>
                                        <p:tgtEl>
                                          <p:spTgt spid="1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35"/>
          <p:cNvSpPr txBox="1"/>
          <p:nvPr>
            <p:ph type="title"/>
          </p:nvPr>
        </p:nvSpPr>
        <p:spPr>
          <a:xfrm>
            <a:off x="1484309" y="159750"/>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a:t>
            </a:r>
            <a:endParaRPr/>
          </a:p>
        </p:txBody>
      </p:sp>
      <p:pic>
        <p:nvPicPr>
          <p:cNvPr id="1880" name="Google Shape;1880;p3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id="1881" name="Google Shape;1881;p35"/>
          <p:cNvSpPr txBox="1"/>
          <p:nvPr>
            <p:ph idx="1" type="body"/>
          </p:nvPr>
        </p:nvSpPr>
        <p:spPr>
          <a:xfrm>
            <a:off x="1484310" y="1052943"/>
            <a:ext cx="10486017" cy="4267202"/>
          </a:xfrm>
          <a:prstGeom prst="rect">
            <a:avLst/>
          </a:prstGeom>
          <a:noFill/>
          <a:ln>
            <a:noFill/>
          </a:ln>
        </p:spPr>
        <p:txBody>
          <a:bodyPr anchorCtr="0" anchor="t" bIns="45700" lIns="91425" spcFirstLastPara="1" rIns="91425" wrap="square" tIns="45700">
            <a:noAutofit/>
          </a:bodyPr>
          <a:lstStyle/>
          <a:p>
            <a:pPr indent="-115410" lvl="1" marL="742950" rtl="0" algn="l">
              <a:lnSpc>
                <a:spcPct val="100000"/>
              </a:lnSpc>
              <a:spcBef>
                <a:spcPts val="970"/>
              </a:spcBef>
              <a:spcAft>
                <a:spcPts val="0"/>
              </a:spcAft>
              <a:buSzPts val="2900"/>
              <a:buNone/>
            </a:pPr>
            <a:r>
              <a:t/>
            </a:r>
            <a:endParaRPr/>
          </a:p>
          <a:p>
            <a:pPr indent="-81343" lvl="0" marL="285750" rtl="0" algn="l">
              <a:lnSpc>
                <a:spcPct val="100000"/>
              </a:lnSpc>
              <a:spcBef>
                <a:spcPts val="1044"/>
              </a:spcBef>
              <a:spcAft>
                <a:spcPts val="0"/>
              </a:spcAft>
              <a:buSzPts val="3480"/>
              <a:buNone/>
            </a:pPr>
            <a:r>
              <a:t/>
            </a:r>
            <a:endParaRPr/>
          </a:p>
        </p:txBody>
      </p:sp>
      <p:sp>
        <p:nvSpPr>
          <p:cNvPr id="1882" name="Google Shape;1882;p35"/>
          <p:cNvSpPr txBox="1"/>
          <p:nvPr/>
        </p:nvSpPr>
        <p:spPr>
          <a:xfrm>
            <a:off x="1024297" y="505700"/>
            <a:ext cx="10849840" cy="565759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50000"/>
              </a:lnSpc>
              <a:spcBef>
                <a:spcPts val="0"/>
              </a:spcBef>
              <a:spcAft>
                <a:spcPts val="0"/>
              </a:spcAft>
              <a:buClr>
                <a:srgbClr val="0070C0"/>
              </a:buClr>
              <a:buSzPts val="3360"/>
              <a:buFont typeface="Arial"/>
              <a:buChar char="•"/>
            </a:pPr>
            <a:r>
              <a:rPr b="0" i="0" lang="en-US" sz="2800" u="none" cap="none" strike="noStrike">
                <a:solidFill>
                  <a:schemeClr val="dk1"/>
                </a:solidFill>
                <a:latin typeface="Corbel"/>
                <a:ea typeface="Corbel"/>
                <a:cs typeface="Corbel"/>
                <a:sym typeface="Corbel"/>
              </a:rPr>
              <a:t>Packet Internet Groper and is a network utility tool.</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70C0"/>
              </a:buClr>
              <a:buSzPts val="3360"/>
              <a:buFont typeface="Arial"/>
              <a:buChar char="•"/>
            </a:pPr>
            <a:r>
              <a:rPr b="1" i="0" lang="en-US" sz="2400" u="none" cap="none" strike="noStrike">
                <a:solidFill>
                  <a:srgbClr val="7D28CD"/>
                </a:solidFill>
                <a:latin typeface="Corbel"/>
                <a:ea typeface="Corbel"/>
                <a:cs typeface="Corbel"/>
                <a:sym typeface="Corbel"/>
              </a:rPr>
              <a:t>Purpose</a:t>
            </a:r>
            <a:r>
              <a:rPr b="0" i="0" lang="en-US" sz="2400" u="none" cap="none" strike="noStrike">
                <a:solidFill>
                  <a:srgbClr val="7D28CD"/>
                </a:solidFill>
                <a:latin typeface="Corbel"/>
                <a:ea typeface="Corbel"/>
                <a:cs typeface="Corbel"/>
                <a:sym typeface="Corbel"/>
              </a:rPr>
              <a:t>: </a:t>
            </a:r>
            <a:endParaRPr b="0" i="0" sz="2400" u="none" cap="none" strike="noStrike">
              <a:solidFill>
                <a:srgbClr val="7D28CD"/>
              </a:solidFill>
              <a:latin typeface="Corbel"/>
              <a:ea typeface="Corbel"/>
              <a:cs typeface="Corbel"/>
              <a:sym typeface="Corbel"/>
            </a:endParaRPr>
          </a:p>
          <a:p>
            <a:pPr indent="-342900" lvl="3"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Checks if a device is reachable </a:t>
            </a:r>
            <a:endParaRPr b="0" i="0" sz="2400" u="none" cap="none" strike="noStrike">
              <a:solidFill>
                <a:schemeClr val="dk1"/>
              </a:solidFill>
              <a:latin typeface="Corbel"/>
              <a:ea typeface="Corbel"/>
              <a:cs typeface="Corbel"/>
              <a:sym typeface="Corbel"/>
            </a:endParaRPr>
          </a:p>
          <a:p>
            <a:pPr indent="-342900" lvl="3"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Measures the time it takes for data to travel (round-trip time).</a:t>
            </a:r>
            <a:endParaRPr b="0" i="0" sz="1400" u="none" cap="none" strike="noStrike">
              <a:solidFill>
                <a:srgbClr val="000000"/>
              </a:solidFill>
              <a:latin typeface="Arial"/>
              <a:ea typeface="Arial"/>
              <a:cs typeface="Arial"/>
              <a:sym typeface="Arial"/>
            </a:endParaRPr>
          </a:p>
          <a:p>
            <a:pPr indent="-342900" lvl="2" marL="342900" marR="0" rtl="0" algn="l">
              <a:lnSpc>
                <a:spcPct val="150000"/>
              </a:lnSpc>
              <a:spcBef>
                <a:spcPts val="0"/>
              </a:spcBef>
              <a:spcAft>
                <a:spcPts val="0"/>
              </a:spcAft>
              <a:buClr>
                <a:srgbClr val="0070C0"/>
              </a:buClr>
              <a:buSzPts val="3360"/>
              <a:buFont typeface="Arial"/>
              <a:buChar char="•"/>
            </a:pPr>
            <a:r>
              <a:rPr b="1" i="0" lang="en-US" sz="2400" u="none" cap="none" strike="noStrike">
                <a:solidFill>
                  <a:srgbClr val="7D28CD"/>
                </a:solidFill>
                <a:latin typeface="Corbel"/>
                <a:ea typeface="Corbel"/>
                <a:cs typeface="Corbel"/>
                <a:sym typeface="Corbel"/>
              </a:rPr>
              <a:t>Mechanism</a:t>
            </a:r>
            <a:r>
              <a:rPr b="0" i="0" lang="en-US" sz="2400" u="none" cap="none" strike="noStrike">
                <a:solidFill>
                  <a:schemeClr val="dk1"/>
                </a:solidFill>
                <a:latin typeface="Corbel"/>
                <a:ea typeface="Corbel"/>
                <a:cs typeface="Corbel"/>
                <a:sym typeface="Corbel"/>
              </a:rPr>
              <a:t>: </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Sends ICMP Echo Request packets </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Receives Echo Reply packets.</a:t>
            </a:r>
            <a:endParaRPr b="0" i="0" sz="1400" u="none" cap="none" strike="noStrike">
              <a:solidFill>
                <a:srgbClr val="000000"/>
              </a:solidFill>
              <a:latin typeface="Arial"/>
              <a:ea typeface="Arial"/>
              <a:cs typeface="Arial"/>
              <a:sym typeface="Arial"/>
            </a:endParaRPr>
          </a:p>
          <a:p>
            <a:pPr indent="-342900" lvl="2" marL="342900" marR="0" rtl="0" algn="l">
              <a:lnSpc>
                <a:spcPct val="150000"/>
              </a:lnSpc>
              <a:spcBef>
                <a:spcPts val="0"/>
              </a:spcBef>
              <a:spcAft>
                <a:spcPts val="0"/>
              </a:spcAft>
              <a:buClr>
                <a:srgbClr val="0070C0"/>
              </a:buClr>
              <a:buSzPts val="3360"/>
              <a:buFont typeface="Arial"/>
              <a:buChar char="•"/>
            </a:pPr>
            <a:r>
              <a:rPr b="1" i="0" lang="en-US" sz="2400" u="none" cap="none" strike="noStrike">
                <a:solidFill>
                  <a:srgbClr val="7D28CD"/>
                </a:solidFill>
                <a:latin typeface="Corbel"/>
                <a:ea typeface="Corbel"/>
                <a:cs typeface="Corbel"/>
                <a:sym typeface="Corbel"/>
              </a:rPr>
              <a:t>Results</a:t>
            </a:r>
            <a:r>
              <a:rPr b="0" i="0" lang="en-US" sz="2400" u="none" cap="none" strike="noStrike">
                <a:solidFill>
                  <a:srgbClr val="7D28CD"/>
                </a:solidFill>
                <a:latin typeface="Corbel"/>
                <a:ea typeface="Corbel"/>
                <a:cs typeface="Corbel"/>
                <a:sym typeface="Corbel"/>
              </a:rPr>
              <a:t>:</a:t>
            </a:r>
            <a:r>
              <a:rPr b="0" i="0" lang="en-US" sz="2400" u="none" cap="none" strike="noStrike">
                <a:solidFill>
                  <a:schemeClr val="dk1"/>
                </a:solidFill>
                <a:latin typeface="Corbel"/>
                <a:ea typeface="Corbel"/>
                <a:cs typeface="Corbel"/>
                <a:sym typeface="Corbel"/>
              </a:rPr>
              <a:t> </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Displays the number of packets sent/received/lost</a:t>
            </a:r>
            <a:endParaRPr b="0" i="0" sz="2400" u="none" cap="none" strike="noStrike">
              <a:solidFill>
                <a:schemeClr val="dk1"/>
              </a:solidFill>
              <a:latin typeface="Corbel"/>
              <a:ea typeface="Corbel"/>
              <a:cs typeface="Corbel"/>
              <a:sym typeface="Corbel"/>
            </a:endParaRPr>
          </a:p>
          <a:p>
            <a:pPr indent="-342900" lvl="2" marL="342900" marR="0" rtl="0" algn="l">
              <a:lnSpc>
                <a:spcPct val="150000"/>
              </a:lnSpc>
              <a:spcBef>
                <a:spcPts val="0"/>
              </a:spcBef>
              <a:spcAft>
                <a:spcPts val="0"/>
              </a:spcAft>
              <a:buClr>
                <a:srgbClr val="0070C0"/>
              </a:buClr>
              <a:buSzPts val="3360"/>
              <a:buFont typeface="Arial"/>
              <a:buChar char="•"/>
            </a:pPr>
            <a:r>
              <a:rPr b="0" i="0" lang="en-US" sz="2400" u="none" cap="none" strike="noStrike">
                <a:solidFill>
                  <a:schemeClr val="dk1"/>
                </a:solidFill>
                <a:latin typeface="Corbel"/>
                <a:ea typeface="Corbel"/>
                <a:cs typeface="Corbel"/>
                <a:sym typeface="Corbel"/>
              </a:rPr>
              <a:t>The time taken(delay).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Corbel"/>
              <a:ea typeface="Corbel"/>
              <a:cs typeface="Corbel"/>
              <a:sym typeface="Corbel"/>
            </a:endParaRPr>
          </a:p>
        </p:txBody>
      </p:sp>
      <p:pic>
        <p:nvPicPr>
          <p:cNvPr id="1883" name="Google Shape;1883;p35"/>
          <p:cNvPicPr preferRelativeResize="0"/>
          <p:nvPr/>
        </p:nvPicPr>
        <p:blipFill rotWithShape="1">
          <a:blip r:embed="rId4">
            <a:alphaModFix/>
          </a:blip>
          <a:srcRect b="0" l="0" r="0" t="0"/>
          <a:stretch/>
        </p:blipFill>
        <p:spPr>
          <a:xfrm>
            <a:off x="6002581" y="2973533"/>
            <a:ext cx="5670259" cy="1729095"/>
          </a:xfrm>
          <a:prstGeom prst="rect">
            <a:avLst/>
          </a:prstGeom>
          <a:noFill/>
          <a:ln>
            <a:noFill/>
          </a:ln>
        </p:spPr>
      </p:pic>
      <p:pic>
        <p:nvPicPr>
          <p:cNvPr id="1884" name="Google Shape;1884;p35"/>
          <p:cNvPicPr preferRelativeResize="0"/>
          <p:nvPr/>
        </p:nvPicPr>
        <p:blipFill rotWithShape="1">
          <a:blip r:embed="rId5">
            <a:alphaModFix/>
          </a:blip>
          <a:srcRect b="0" l="0" r="0" t="0"/>
          <a:stretch/>
        </p:blipFill>
        <p:spPr>
          <a:xfrm>
            <a:off x="7574060" y="3906463"/>
            <a:ext cx="2628900" cy="368300"/>
          </a:xfrm>
          <a:prstGeom prst="rect">
            <a:avLst/>
          </a:prstGeom>
          <a:noFill/>
          <a:ln>
            <a:noFill/>
          </a:ln>
        </p:spPr>
      </p:pic>
      <p:pic>
        <p:nvPicPr>
          <p:cNvPr id="1885" name="Google Shape;1885;p35"/>
          <p:cNvPicPr preferRelativeResize="0"/>
          <p:nvPr/>
        </p:nvPicPr>
        <p:blipFill rotWithShape="1">
          <a:blip r:embed="rId6">
            <a:alphaModFix/>
          </a:blip>
          <a:srcRect b="0" l="0" r="0" t="0"/>
          <a:stretch/>
        </p:blipFill>
        <p:spPr>
          <a:xfrm>
            <a:off x="7574060" y="3459487"/>
            <a:ext cx="2527300" cy="393700"/>
          </a:xfrm>
          <a:prstGeom prst="rect">
            <a:avLst/>
          </a:prstGeom>
          <a:noFill/>
          <a:ln>
            <a:noFill/>
          </a:ln>
        </p:spPr>
      </p:pic>
      <p:sp>
        <p:nvSpPr>
          <p:cNvPr id="1886" name="Google Shape;1886;p35"/>
          <p:cNvSpPr txBox="1"/>
          <p:nvPr/>
        </p:nvSpPr>
        <p:spPr>
          <a:xfrm>
            <a:off x="7726877" y="5764691"/>
            <a:ext cx="3776145" cy="83099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Commands:</a:t>
            </a:r>
            <a:br>
              <a:rPr b="0" i="0" lang="en-US" sz="2400" u="none" cap="none" strike="noStrike">
                <a:solidFill>
                  <a:srgbClr val="000000"/>
                </a:solidFill>
                <a:latin typeface="Corbel"/>
                <a:ea typeface="Corbel"/>
                <a:cs typeface="Corbel"/>
                <a:sym typeface="Corbel"/>
              </a:rPr>
            </a:br>
            <a:r>
              <a:rPr b="1" i="0" lang="en-US" sz="2400" u="none" cap="none" strike="noStrike">
                <a:solidFill>
                  <a:srgbClr val="000000"/>
                </a:solidFill>
                <a:latin typeface="Corbel"/>
                <a:ea typeface="Corbel"/>
                <a:cs typeface="Corbel"/>
                <a:sym typeface="Corbel"/>
              </a:rPr>
              <a:t>ping 216.58.200.174</a:t>
            </a:r>
            <a:endParaRPr b="1" i="0" sz="2800" u="none" cap="none" strike="noStrike">
              <a:solidFill>
                <a:srgbClr val="000000"/>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85"/>
                                        </p:tgtEl>
                                        <p:attrNameLst>
                                          <p:attrName>style.visibility</p:attrName>
                                        </p:attrNameLst>
                                      </p:cBhvr>
                                      <p:to>
                                        <p:strVal val="visible"/>
                                      </p:to>
                                    </p:set>
                                    <p:anim calcmode="lin" valueType="num">
                                      <p:cBhvr additive="base">
                                        <p:cTn dur="500"/>
                                        <p:tgtEl>
                                          <p:spTgt spid="18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84"/>
                                        </p:tgtEl>
                                        <p:attrNameLst>
                                          <p:attrName>style.visibility</p:attrName>
                                        </p:attrNameLst>
                                      </p:cBhvr>
                                      <p:to>
                                        <p:strVal val="visible"/>
                                      </p:to>
                                    </p:set>
                                    <p:anim calcmode="lin" valueType="num">
                                      <p:cBhvr additive="base">
                                        <p:cTn dur="500"/>
                                        <p:tgtEl>
                                          <p:spTgt spid="18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19"/>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a:t>
            </a:r>
            <a:endParaRPr/>
          </a:p>
        </p:txBody>
      </p:sp>
      <p:pic>
        <p:nvPicPr>
          <p:cNvPr id="1892" name="Google Shape;1892;p19"/>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1893" name="Google Shape;1893;p19"/>
          <p:cNvPicPr preferRelativeResize="0"/>
          <p:nvPr/>
        </p:nvPicPr>
        <p:blipFill rotWithShape="1">
          <a:blip r:embed="rId4">
            <a:alphaModFix/>
          </a:blip>
          <a:srcRect b="0" l="0" r="0" t="0"/>
          <a:stretch/>
        </p:blipFill>
        <p:spPr>
          <a:xfrm>
            <a:off x="1820725" y="1066799"/>
            <a:ext cx="8422402" cy="3486727"/>
          </a:xfrm>
          <a:prstGeom prst="rect">
            <a:avLst/>
          </a:prstGeom>
          <a:noFill/>
          <a:ln>
            <a:noFill/>
          </a:ln>
        </p:spPr>
      </p:pic>
      <p:sp>
        <p:nvSpPr>
          <p:cNvPr id="1894" name="Google Shape;1894;p19"/>
          <p:cNvSpPr/>
          <p:nvPr/>
        </p:nvSpPr>
        <p:spPr>
          <a:xfrm>
            <a:off x="1820724" y="4898713"/>
            <a:ext cx="8646750" cy="1631216"/>
          </a:xfrm>
          <a:prstGeom prst="rect">
            <a:avLst/>
          </a:prstGeom>
          <a:noFill/>
          <a:ln>
            <a:noFill/>
          </a:ln>
        </p:spPr>
        <p:txBody>
          <a:bodyPr anchorCtr="0" anchor="t" bIns="45700" lIns="91425" spcFirstLastPara="1" rIns="91425" wrap="square" tIns="45700">
            <a:spAutoFit/>
          </a:bodyPr>
          <a:lstStyle/>
          <a:p>
            <a:pPr indent="-355600" lvl="0" marL="342900" marR="0" rtl="0" algn="l">
              <a:lnSpc>
                <a:spcPct val="100000"/>
              </a:lnSpc>
              <a:spcBef>
                <a:spcPts val="0"/>
              </a:spcBef>
              <a:spcAft>
                <a:spcPts val="0"/>
              </a:spcAft>
              <a:buClr>
                <a:srgbClr val="0070C0"/>
              </a:buClr>
              <a:buSzPts val="5600"/>
              <a:buFont typeface="Arial"/>
              <a:buChar char="•"/>
            </a:pPr>
            <a:r>
              <a:rPr b="1" i="0" lang="en-US" sz="2800" u="none" cap="none" strike="noStrike">
                <a:solidFill>
                  <a:srgbClr val="0070C0"/>
                </a:solidFill>
                <a:latin typeface="Corbel"/>
                <a:ea typeface="Corbel"/>
                <a:cs typeface="Corbel"/>
                <a:sym typeface="Corbel"/>
              </a:rPr>
              <a:t>Questions :</a:t>
            </a:r>
            <a:endParaRPr b="1" i="0" sz="2400" u="none" cap="none" strike="noStrike">
              <a:solidFill>
                <a:srgbClr val="0070C0"/>
              </a:solidFill>
              <a:latin typeface="Corbel"/>
              <a:ea typeface="Corbel"/>
              <a:cs typeface="Corbel"/>
              <a:sym typeface="Corbel"/>
            </a:endParaRPr>
          </a:p>
          <a:p>
            <a:pPr indent="-342900" lvl="7" marL="342900" marR="0" rtl="0" algn="l">
              <a:lnSpc>
                <a:spcPct val="100000"/>
              </a:lnSpc>
              <a:spcBef>
                <a:spcPts val="0"/>
              </a:spcBef>
              <a:spcAft>
                <a:spcPts val="0"/>
              </a:spcAft>
              <a:buClr>
                <a:srgbClr val="0070C0"/>
              </a:buClr>
              <a:buSzPts val="3600"/>
              <a:buFont typeface="Arial"/>
              <a:buChar char="•"/>
            </a:pPr>
            <a:r>
              <a:rPr b="0" i="0" lang="en-US" sz="2400" u="none" cap="none" strike="noStrike">
                <a:solidFill>
                  <a:schemeClr val="dk1"/>
                </a:solidFill>
                <a:latin typeface="Corbel"/>
                <a:ea typeface="Corbel"/>
                <a:cs typeface="Corbel"/>
                <a:sym typeface="Corbel"/>
              </a:rPr>
              <a:t>Why 4 replies?</a:t>
            </a:r>
            <a:endParaRPr b="0" i="0" sz="1400" u="none" cap="none" strike="noStrike">
              <a:solidFill>
                <a:srgbClr val="000000"/>
              </a:solidFill>
              <a:latin typeface="Arial"/>
              <a:ea typeface="Arial"/>
              <a:cs typeface="Arial"/>
              <a:sym typeface="Arial"/>
            </a:endParaRPr>
          </a:p>
          <a:p>
            <a:pPr indent="-342900" lvl="7" marL="342900" marR="0" rtl="0" algn="l">
              <a:lnSpc>
                <a:spcPct val="100000"/>
              </a:lnSpc>
              <a:spcBef>
                <a:spcPts val="0"/>
              </a:spcBef>
              <a:spcAft>
                <a:spcPts val="0"/>
              </a:spcAft>
              <a:buClr>
                <a:srgbClr val="0070C0"/>
              </a:buClr>
              <a:buSzPts val="3600"/>
              <a:buFont typeface="Arial"/>
              <a:buChar char="•"/>
            </a:pPr>
            <a:r>
              <a:rPr b="0" i="0" lang="en-US" sz="2400" u="none" cap="none" strike="noStrike">
                <a:solidFill>
                  <a:schemeClr val="dk1"/>
                </a:solidFill>
                <a:latin typeface="Corbel"/>
                <a:ea typeface="Corbel"/>
                <a:cs typeface="Corbel"/>
                <a:sym typeface="Corbel"/>
              </a:rPr>
              <a:t>What the time refer to?</a:t>
            </a:r>
            <a:endParaRPr b="0" i="0" sz="1400" u="none" cap="none" strike="noStrike">
              <a:solidFill>
                <a:srgbClr val="000000"/>
              </a:solidFill>
              <a:latin typeface="Arial"/>
              <a:ea typeface="Arial"/>
              <a:cs typeface="Arial"/>
              <a:sym typeface="Arial"/>
            </a:endParaRPr>
          </a:p>
          <a:p>
            <a:pPr indent="-342900" lvl="7" marL="342900" marR="0" rtl="0" algn="l">
              <a:lnSpc>
                <a:spcPct val="100000"/>
              </a:lnSpc>
              <a:spcBef>
                <a:spcPts val="0"/>
              </a:spcBef>
              <a:spcAft>
                <a:spcPts val="0"/>
              </a:spcAft>
              <a:buClr>
                <a:srgbClr val="0070C0"/>
              </a:buClr>
              <a:buSzPts val="3600"/>
              <a:buFont typeface="Arial"/>
              <a:buChar char="•"/>
            </a:pPr>
            <a:r>
              <a:rPr b="0" i="0" lang="en-US" sz="2400" u="none" cap="none" strike="noStrike">
                <a:solidFill>
                  <a:schemeClr val="dk1"/>
                </a:solidFill>
                <a:latin typeface="Corbel"/>
                <a:ea typeface="Corbel"/>
                <a:cs typeface="Corbel"/>
                <a:sym typeface="Corbel"/>
              </a:rPr>
              <a:t>What is the TTL refer to? </a:t>
            </a:r>
            <a:endParaRPr b="0" i="0" sz="2400" u="none" cap="none" strike="noStrike">
              <a:solidFill>
                <a:schemeClr val="dk1"/>
              </a:solidFill>
              <a:latin typeface="Corbel"/>
              <a:ea typeface="Corbel"/>
              <a:cs typeface="Corbel"/>
              <a:sym typeface="Corbel"/>
            </a:endParaRPr>
          </a:p>
        </p:txBody>
      </p:sp>
      <p:sp>
        <p:nvSpPr>
          <p:cNvPr id="1895" name="Google Shape;1895;p19"/>
          <p:cNvSpPr/>
          <p:nvPr/>
        </p:nvSpPr>
        <p:spPr>
          <a:xfrm>
            <a:off x="1484311" y="1808204"/>
            <a:ext cx="230190" cy="1114106"/>
          </a:xfrm>
          <a:prstGeom prst="leftBrace">
            <a:avLst>
              <a:gd fmla="val 8333" name="adj1"/>
              <a:gd fmla="val 50000" name="adj2"/>
            </a:avLst>
          </a:prstGeom>
          <a:noFill/>
          <a:ln cap="flat" cmpd="sng" w="28575">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96" name="Google Shape;1896;p19"/>
          <p:cNvSpPr/>
          <p:nvPr/>
        </p:nvSpPr>
        <p:spPr>
          <a:xfrm>
            <a:off x="6096000" y="1808204"/>
            <a:ext cx="1376363" cy="1220746"/>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97" name="Google Shape;1897;p19"/>
          <p:cNvSpPr/>
          <p:nvPr/>
        </p:nvSpPr>
        <p:spPr>
          <a:xfrm>
            <a:off x="7177256" y="1808204"/>
            <a:ext cx="1376363" cy="1220746"/>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36"/>
          <p:cNvSpPr txBox="1"/>
          <p:nvPr>
            <p:ph type="title"/>
          </p:nvPr>
        </p:nvSpPr>
        <p:spPr>
          <a:xfrm>
            <a:off x="483361" y="289503"/>
            <a:ext cx="9646514" cy="4872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ICMP Packet Format</a:t>
            </a:r>
            <a:endParaRPr/>
          </a:p>
        </p:txBody>
      </p:sp>
      <p:pic>
        <p:nvPicPr>
          <p:cNvPr descr="CS455 Sylabus" id="1903" name="Google Shape;1903;p36"/>
          <p:cNvPicPr preferRelativeResize="0"/>
          <p:nvPr/>
        </p:nvPicPr>
        <p:blipFill rotWithShape="1">
          <a:blip r:embed="rId3">
            <a:alphaModFix/>
          </a:blip>
          <a:srcRect b="0" l="0" r="0" t="0"/>
          <a:stretch/>
        </p:blipFill>
        <p:spPr>
          <a:xfrm>
            <a:off x="2054251" y="2651760"/>
            <a:ext cx="8996926" cy="3856617"/>
          </a:xfrm>
          <a:prstGeom prst="rect">
            <a:avLst/>
          </a:prstGeom>
          <a:noFill/>
          <a:ln>
            <a:noFill/>
          </a:ln>
        </p:spPr>
      </p:pic>
      <p:graphicFrame>
        <p:nvGraphicFramePr>
          <p:cNvPr id="1904" name="Google Shape;1904;p36"/>
          <p:cNvGraphicFramePr/>
          <p:nvPr/>
        </p:nvGraphicFramePr>
        <p:xfrm>
          <a:off x="2028063" y="1086495"/>
          <a:ext cx="3000000" cy="3000000"/>
        </p:xfrm>
        <a:graphic>
          <a:graphicData uri="http://schemas.openxmlformats.org/drawingml/2006/table">
            <a:tbl>
              <a:tblPr bandRow="1" firstRow="1">
                <a:gradFill>
                  <a:gsLst>
                    <a:gs pos="0">
                      <a:srgbClr val="C0FF9C"/>
                    </a:gs>
                    <a:gs pos="35000">
                      <a:srgbClr val="D0FFBB"/>
                    </a:gs>
                    <a:gs pos="100000">
                      <a:srgbClr val="EDFFE2"/>
                    </a:gs>
                  </a:gsLst>
                  <a:lin ang="16200000" scaled="0"/>
                </a:gradFill>
                <a:tableStyleId>{D0EF7B4F-6183-40D9-94A1-D0ABD6484E44}</a:tableStyleId>
              </a:tblPr>
              <a:tblGrid>
                <a:gridCol w="3094250"/>
                <a:gridCol w="5249600"/>
              </a:tblGrid>
              <a:tr h="572500">
                <a:tc>
                  <a:txBody>
                    <a:bodyPr/>
                    <a:lstStyle/>
                    <a:p>
                      <a:pPr indent="0" lvl="0" marL="0" marR="0" rtl="0" algn="ctr">
                        <a:lnSpc>
                          <a:spcPct val="100000"/>
                        </a:lnSpc>
                        <a:spcBef>
                          <a:spcPts val="0"/>
                        </a:spcBef>
                        <a:spcAft>
                          <a:spcPts val="0"/>
                        </a:spcAft>
                        <a:buNone/>
                      </a:pPr>
                      <a:r>
                        <a:rPr lang="en-US" sz="1800" u="none" cap="none" strike="noStrike">
                          <a:latin typeface="Corbel"/>
                          <a:ea typeface="Corbel"/>
                          <a:cs typeface="Corbel"/>
                          <a:sym typeface="Corbel"/>
                        </a:rPr>
                        <a:t>IP Header 20 bytes</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DB93"/>
                    </a:solidFill>
                  </a:tcPr>
                </a:tc>
                <a:tc>
                  <a:txBody>
                    <a:bodyPr/>
                    <a:lstStyle/>
                    <a:p>
                      <a:pPr indent="0" lvl="0" marL="0" marR="0" rtl="0" algn="ctr">
                        <a:lnSpc>
                          <a:spcPct val="100000"/>
                        </a:lnSpc>
                        <a:spcBef>
                          <a:spcPts val="0"/>
                        </a:spcBef>
                        <a:spcAft>
                          <a:spcPts val="0"/>
                        </a:spcAft>
                        <a:buNone/>
                      </a:pPr>
                      <a:r>
                        <a:rPr lang="en-US" sz="1800" u="none" cap="none" strike="noStrike">
                          <a:latin typeface="Corbel"/>
                          <a:ea typeface="Corbel"/>
                          <a:cs typeface="Corbel"/>
                          <a:sym typeface="Corbel"/>
                        </a:rPr>
                        <a:t>IP Payload/ Data</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DB93"/>
                    </a:solidFill>
                  </a:tcPr>
                </a:tc>
              </a:tr>
            </a:tbl>
          </a:graphicData>
        </a:graphic>
      </p:graphicFrame>
      <p:graphicFrame>
        <p:nvGraphicFramePr>
          <p:cNvPr id="1905" name="Google Shape;1905;p36"/>
          <p:cNvGraphicFramePr/>
          <p:nvPr/>
        </p:nvGraphicFramePr>
        <p:xfrm>
          <a:off x="5212079" y="1760058"/>
          <a:ext cx="3000000" cy="3000000"/>
        </p:xfrm>
        <a:graphic>
          <a:graphicData uri="http://schemas.openxmlformats.org/drawingml/2006/table">
            <a:tbl>
              <a:tblPr bandRow="1" firstRow="1">
                <a:gradFill>
                  <a:gsLst>
                    <a:gs pos="0">
                      <a:srgbClr val="FFCF8A"/>
                    </a:gs>
                    <a:gs pos="35000">
                      <a:srgbClr val="FFDDAD"/>
                    </a:gs>
                    <a:gs pos="100000">
                      <a:srgbClr val="FFEFDD"/>
                    </a:gs>
                  </a:gsLst>
                  <a:lin ang="16200000" scaled="0"/>
                </a:gradFill>
                <a:tableStyleId>{6598AEA3-BE5E-4938-8CE8-E5D2FBBD0F62}</a:tableStyleId>
              </a:tblPr>
              <a:tblGrid>
                <a:gridCol w="2521125"/>
                <a:gridCol w="2521125"/>
              </a:tblGrid>
              <a:tr h="525950">
                <a:tc>
                  <a:txBody>
                    <a:bodyPr/>
                    <a:lstStyle/>
                    <a:p>
                      <a:pPr indent="0" lvl="0" marL="0" marR="0" rtl="0" algn="l">
                        <a:lnSpc>
                          <a:spcPct val="100000"/>
                        </a:lnSpc>
                        <a:spcBef>
                          <a:spcPts val="0"/>
                        </a:spcBef>
                        <a:spcAft>
                          <a:spcPts val="0"/>
                        </a:spcAft>
                        <a:buNone/>
                      </a:pPr>
                      <a:r>
                        <a:rPr lang="en-US" sz="1800" u="none" cap="none" strike="noStrike">
                          <a:latin typeface="Corbel"/>
                          <a:ea typeface="Corbel"/>
                          <a:cs typeface="Corbel"/>
                          <a:sym typeface="Corbel"/>
                        </a:rPr>
                        <a:t>ICMP Header 8 bytes</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800" u="none" cap="none" strike="noStrike">
                          <a:latin typeface="Corbel"/>
                          <a:ea typeface="Corbel"/>
                          <a:cs typeface="Corbel"/>
                          <a:sym typeface="Corbel"/>
                        </a:rPr>
                        <a:t>ICMP Data (variable)</a:t>
                      </a:r>
                      <a:endParaRPr sz="1800" u="none" cap="none" strike="noStrike">
                        <a:latin typeface="Corbel"/>
                        <a:ea typeface="Corbel"/>
                        <a:cs typeface="Corbel"/>
                        <a:sym typeface="Corbe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16"/>
          <p:cNvSpPr txBox="1"/>
          <p:nvPr>
            <p:ph type="title"/>
          </p:nvPr>
        </p:nvSpPr>
        <p:spPr>
          <a:xfrm>
            <a:off x="483361" y="289503"/>
            <a:ext cx="9646514" cy="48721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ICMP Packet Format</a:t>
            </a:r>
            <a:endParaRPr/>
          </a:p>
        </p:txBody>
      </p:sp>
      <p:pic>
        <p:nvPicPr>
          <p:cNvPr descr="What is ICMP Protocol (Internet Control Message Protocol)?" id="1911" name="Google Shape;1911;p16"/>
          <p:cNvPicPr preferRelativeResize="0"/>
          <p:nvPr/>
        </p:nvPicPr>
        <p:blipFill rotWithShape="1">
          <a:blip r:embed="rId3">
            <a:alphaModFix/>
          </a:blip>
          <a:srcRect b="0" l="0" r="0" t="0"/>
          <a:stretch/>
        </p:blipFill>
        <p:spPr>
          <a:xfrm>
            <a:off x="1582353" y="1094506"/>
            <a:ext cx="5327897" cy="2210395"/>
          </a:xfrm>
          <a:prstGeom prst="rect">
            <a:avLst/>
          </a:prstGeom>
          <a:noFill/>
          <a:ln>
            <a:noFill/>
          </a:ln>
        </p:spPr>
      </p:pic>
      <p:pic>
        <p:nvPicPr>
          <p:cNvPr descr="ICMP: The Good, the Bad, and the Ugly | by Drew Branch | Independent  Security Evaluators" id="1912" name="Google Shape;1912;p16"/>
          <p:cNvPicPr preferRelativeResize="0"/>
          <p:nvPr/>
        </p:nvPicPr>
        <p:blipFill rotWithShape="1">
          <a:blip r:embed="rId4">
            <a:alphaModFix/>
          </a:blip>
          <a:srcRect b="0" l="0" r="0" t="0"/>
          <a:stretch/>
        </p:blipFill>
        <p:spPr>
          <a:xfrm>
            <a:off x="7643812" y="0"/>
            <a:ext cx="4548187" cy="6696363"/>
          </a:xfrm>
          <a:prstGeom prst="rect">
            <a:avLst/>
          </a:prstGeom>
          <a:noFill/>
          <a:ln>
            <a:noFill/>
          </a:ln>
        </p:spPr>
      </p:pic>
      <p:pic>
        <p:nvPicPr>
          <p:cNvPr id="1913" name="Google Shape;1913;p16"/>
          <p:cNvPicPr preferRelativeResize="0"/>
          <p:nvPr/>
        </p:nvPicPr>
        <p:blipFill rotWithShape="1">
          <a:blip r:embed="rId5">
            <a:alphaModFix/>
          </a:blip>
          <a:srcRect b="0" l="0" r="0" t="0"/>
          <a:stretch/>
        </p:blipFill>
        <p:spPr>
          <a:xfrm>
            <a:off x="674913" y="3962320"/>
            <a:ext cx="6618144" cy="25560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pic>
        <p:nvPicPr>
          <p:cNvPr descr="Testing VLM Server and Client Communication Using a Ping Test - NI" id="1918" name="Google Shape;1918;p37"/>
          <p:cNvPicPr preferRelativeResize="0"/>
          <p:nvPr/>
        </p:nvPicPr>
        <p:blipFill rotWithShape="1">
          <a:blip r:embed="rId3">
            <a:alphaModFix/>
          </a:blip>
          <a:srcRect b="0" l="0" r="0" t="0"/>
          <a:stretch/>
        </p:blipFill>
        <p:spPr>
          <a:xfrm>
            <a:off x="1781174" y="1530213"/>
            <a:ext cx="10106026" cy="4139067"/>
          </a:xfrm>
          <a:prstGeom prst="rect">
            <a:avLst/>
          </a:prstGeom>
          <a:noFill/>
          <a:ln>
            <a:noFill/>
          </a:ln>
        </p:spPr>
      </p:pic>
      <p:sp>
        <p:nvSpPr>
          <p:cNvPr id="1919" name="Google Shape;1919;p37"/>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Unsuccessful Ping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pic>
        <p:nvPicPr>
          <p:cNvPr id="1924" name="Google Shape;1924;p22"/>
          <p:cNvPicPr preferRelativeResize="0"/>
          <p:nvPr/>
        </p:nvPicPr>
        <p:blipFill rotWithShape="1">
          <a:blip r:embed="rId3">
            <a:alphaModFix/>
          </a:blip>
          <a:srcRect b="0" l="0" r="0" t="0"/>
          <a:stretch/>
        </p:blipFill>
        <p:spPr>
          <a:xfrm>
            <a:off x="1484310" y="1700213"/>
            <a:ext cx="9229725" cy="4895850"/>
          </a:xfrm>
          <a:prstGeom prst="rect">
            <a:avLst/>
          </a:prstGeom>
          <a:noFill/>
          <a:ln>
            <a:noFill/>
          </a:ln>
        </p:spPr>
      </p:pic>
      <p:sp>
        <p:nvSpPr>
          <p:cNvPr id="1925" name="Google Shape;1925;p22"/>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 Attacks</a:t>
            </a:r>
            <a:endParaRPr/>
          </a:p>
        </p:txBody>
      </p:sp>
      <p:sp>
        <p:nvSpPr>
          <p:cNvPr id="1926" name="Google Shape;1926;p22"/>
          <p:cNvSpPr txBox="1"/>
          <p:nvPr>
            <p:ph idx="1" type="body"/>
          </p:nvPr>
        </p:nvSpPr>
        <p:spPr>
          <a:xfrm>
            <a:off x="1484310" y="1066801"/>
            <a:ext cx="10018713" cy="633412"/>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sz="2800">
                <a:solidFill>
                  <a:srgbClr val="0070C0"/>
                </a:solidFill>
              </a:rPr>
              <a:t>ICMP DDOS attack – Zombie Attack:</a:t>
            </a:r>
            <a:endParaRPr b="1" sz="2800">
              <a:solidFill>
                <a:srgbClr val="0070C0"/>
              </a:solidFill>
            </a:endParaRPr>
          </a:p>
        </p:txBody>
      </p:sp>
      <p:pic>
        <p:nvPicPr>
          <p:cNvPr id="1927" name="Google Shape;1927;p22"/>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pic>
        <p:nvPicPr>
          <p:cNvPr id="1928" name="Google Shape;1928;p22"/>
          <p:cNvPicPr preferRelativeResize="0"/>
          <p:nvPr/>
        </p:nvPicPr>
        <p:blipFill rotWithShape="1">
          <a:blip r:embed="rId5">
            <a:alphaModFix/>
          </a:blip>
          <a:srcRect b="0" l="0" r="0" t="0"/>
          <a:stretch/>
        </p:blipFill>
        <p:spPr>
          <a:xfrm>
            <a:off x="7981950" y="2890837"/>
            <a:ext cx="2628900" cy="2905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2" name="Shape 1932"/>
        <p:cNvGrpSpPr/>
        <p:nvPr/>
      </p:nvGrpSpPr>
      <p:grpSpPr>
        <a:xfrm>
          <a:off x="0" y="0"/>
          <a:ext cx="0" cy="0"/>
          <a:chOff x="0" y="0"/>
          <a:chExt cx="0" cy="0"/>
        </a:xfrm>
      </p:grpSpPr>
      <p:pic>
        <p:nvPicPr>
          <p:cNvPr id="1933" name="Google Shape;1933;p23"/>
          <p:cNvPicPr preferRelativeResize="0"/>
          <p:nvPr/>
        </p:nvPicPr>
        <p:blipFill rotWithShape="1">
          <a:blip r:embed="rId3">
            <a:alphaModFix/>
          </a:blip>
          <a:srcRect b="0" l="0" r="0" t="0"/>
          <a:stretch/>
        </p:blipFill>
        <p:spPr>
          <a:xfrm>
            <a:off x="1999576" y="1981200"/>
            <a:ext cx="9029700" cy="4724400"/>
          </a:xfrm>
          <a:prstGeom prst="rect">
            <a:avLst/>
          </a:prstGeom>
          <a:noFill/>
          <a:ln>
            <a:noFill/>
          </a:ln>
        </p:spPr>
      </p:pic>
      <p:sp>
        <p:nvSpPr>
          <p:cNvPr id="1934" name="Google Shape;1934;p23"/>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Ping Attacks</a:t>
            </a:r>
            <a:endParaRPr/>
          </a:p>
        </p:txBody>
      </p:sp>
      <p:sp>
        <p:nvSpPr>
          <p:cNvPr id="1935" name="Google Shape;1935;p23"/>
          <p:cNvSpPr txBox="1"/>
          <p:nvPr>
            <p:ph idx="1" type="body"/>
          </p:nvPr>
        </p:nvSpPr>
        <p:spPr>
          <a:xfrm>
            <a:off x="1484310" y="1066801"/>
            <a:ext cx="10018713" cy="790573"/>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b="1" lang="en-US" sz="2800">
                <a:solidFill>
                  <a:srgbClr val="0070C0"/>
                </a:solidFill>
              </a:rPr>
              <a:t>ICMP DDOS attack – Packet magnification (or ICMP Smurf):</a:t>
            </a:r>
            <a:endParaRPr b="1" sz="2800">
              <a:solidFill>
                <a:srgbClr val="0070C0"/>
              </a:solidFill>
            </a:endParaRPr>
          </a:p>
          <a:p>
            <a:pPr indent="-64770" lvl="0" marL="285750" rtl="0" algn="l">
              <a:lnSpc>
                <a:spcPct val="100000"/>
              </a:lnSpc>
              <a:spcBef>
                <a:spcPts val="1080"/>
              </a:spcBef>
              <a:spcAft>
                <a:spcPts val="0"/>
              </a:spcAft>
              <a:buSzPts val="3480"/>
              <a:buNone/>
            </a:pPr>
            <a:r>
              <a:t/>
            </a:r>
            <a:endParaRPr/>
          </a:p>
        </p:txBody>
      </p:sp>
      <p:pic>
        <p:nvPicPr>
          <p:cNvPr id="1936" name="Google Shape;1936;p23"/>
          <p:cNvPicPr preferRelativeResize="0"/>
          <p:nvPr/>
        </p:nvPicPr>
        <p:blipFill rotWithShape="1">
          <a:blip r:embed="rId4">
            <a:alphaModFix/>
          </a:blip>
          <a:srcRect b="0" l="0" r="0" t="0"/>
          <a:stretch/>
        </p:blipFill>
        <p:spPr>
          <a:xfrm>
            <a:off x="11029276" y="0"/>
            <a:ext cx="1162724" cy="1066799"/>
          </a:xfrm>
          <a:prstGeom prst="rect">
            <a:avLst/>
          </a:prstGeom>
          <a:noFill/>
          <a:ln>
            <a:noFill/>
          </a:ln>
        </p:spPr>
      </p:pic>
      <p:sp>
        <p:nvSpPr>
          <p:cNvPr descr="Smurf (ICMP flood) attack. | Download Scientific Diagram" id="1937" name="Google Shape;1937;p23"/>
          <p:cNvSpPr/>
          <p:nvPr/>
        </p:nvSpPr>
        <p:spPr>
          <a:xfrm>
            <a:off x="2436958" y="5268046"/>
            <a:ext cx="184519" cy="184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8" name="Google Shape;1938;p23"/>
          <p:cNvPicPr preferRelativeResize="0"/>
          <p:nvPr/>
        </p:nvPicPr>
        <p:blipFill rotWithShape="1">
          <a:blip r:embed="rId5">
            <a:alphaModFix/>
          </a:blip>
          <a:srcRect b="0" l="0" r="0" t="0"/>
          <a:stretch/>
        </p:blipFill>
        <p:spPr>
          <a:xfrm>
            <a:off x="4573906" y="5459864"/>
            <a:ext cx="6153150" cy="771525"/>
          </a:xfrm>
          <a:prstGeom prst="rect">
            <a:avLst/>
          </a:prstGeom>
          <a:noFill/>
          <a:ln>
            <a:noFill/>
          </a:ln>
        </p:spPr>
      </p:pic>
      <p:pic>
        <p:nvPicPr>
          <p:cNvPr id="1939" name="Google Shape;1939;p23"/>
          <p:cNvPicPr preferRelativeResize="0"/>
          <p:nvPr/>
        </p:nvPicPr>
        <p:blipFill rotWithShape="1">
          <a:blip r:embed="rId6">
            <a:alphaModFix/>
          </a:blip>
          <a:srcRect b="0" l="0" r="0" t="0"/>
          <a:stretch/>
        </p:blipFill>
        <p:spPr>
          <a:xfrm>
            <a:off x="10087203" y="2823666"/>
            <a:ext cx="771525" cy="2628900"/>
          </a:xfrm>
          <a:prstGeom prst="rect">
            <a:avLst/>
          </a:prstGeom>
          <a:noFill/>
          <a:ln>
            <a:noFill/>
          </a:ln>
        </p:spPr>
      </p:pic>
      <p:pic>
        <p:nvPicPr>
          <p:cNvPr id="1940" name="Google Shape;1940;p23"/>
          <p:cNvPicPr preferRelativeResize="0"/>
          <p:nvPr/>
        </p:nvPicPr>
        <p:blipFill rotWithShape="1">
          <a:blip r:embed="rId7">
            <a:alphaModFix/>
          </a:blip>
          <a:srcRect b="0" l="0" r="0" t="0"/>
          <a:stretch/>
        </p:blipFill>
        <p:spPr>
          <a:xfrm>
            <a:off x="4612640" y="4942572"/>
            <a:ext cx="4466046" cy="598553"/>
          </a:xfrm>
          <a:prstGeom prst="rect">
            <a:avLst/>
          </a:prstGeom>
          <a:noFill/>
          <a:ln>
            <a:noFill/>
          </a:ln>
        </p:spPr>
      </p:pic>
      <p:pic>
        <p:nvPicPr>
          <p:cNvPr id="1941" name="Google Shape;1941;p23"/>
          <p:cNvPicPr preferRelativeResize="0"/>
          <p:nvPr/>
        </p:nvPicPr>
        <p:blipFill rotWithShape="1">
          <a:blip r:embed="rId8">
            <a:alphaModFix/>
          </a:blip>
          <a:srcRect b="0" l="0" r="0" t="0"/>
          <a:stretch/>
        </p:blipFill>
        <p:spPr>
          <a:xfrm>
            <a:off x="8752114" y="2941233"/>
            <a:ext cx="523717" cy="1962150"/>
          </a:xfrm>
          <a:prstGeom prst="rect">
            <a:avLst/>
          </a:prstGeom>
          <a:noFill/>
          <a:ln>
            <a:noFill/>
          </a:ln>
        </p:spPr>
      </p:pic>
      <p:pic>
        <p:nvPicPr>
          <p:cNvPr id="1942" name="Google Shape;1942;p23"/>
          <p:cNvPicPr preferRelativeResize="0"/>
          <p:nvPr/>
        </p:nvPicPr>
        <p:blipFill rotWithShape="1">
          <a:blip r:embed="rId9">
            <a:alphaModFix/>
          </a:blip>
          <a:srcRect b="0" l="0" r="0" t="0"/>
          <a:stretch/>
        </p:blipFill>
        <p:spPr>
          <a:xfrm>
            <a:off x="4612640" y="2726049"/>
            <a:ext cx="2076450" cy="215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3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948" name="Google Shape;1948;p38"/>
          <p:cNvGrpSpPr/>
          <p:nvPr/>
        </p:nvGrpSpPr>
        <p:grpSpPr>
          <a:xfrm>
            <a:off x="1522105" y="2929304"/>
            <a:ext cx="3124200" cy="1219200"/>
            <a:chOff x="576" y="960"/>
            <a:chExt cx="1968" cy="768"/>
          </a:xfrm>
        </p:grpSpPr>
        <p:sp>
          <p:nvSpPr>
            <p:cNvPr id="1949" name="Google Shape;1949;p38"/>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950" name="Google Shape;1950;p38"/>
            <p:cNvSpPr txBox="1"/>
            <p:nvPr/>
          </p:nvSpPr>
          <p:spPr>
            <a:xfrm>
              <a:off x="1123" y="1272"/>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951" name="Google Shape;1951;p38"/>
          <p:cNvSpPr txBox="1"/>
          <p:nvPr>
            <p:ph type="title"/>
          </p:nvPr>
        </p:nvSpPr>
        <p:spPr>
          <a:xfrm>
            <a:off x="1432562" y="-204132"/>
            <a:ext cx="10018713" cy="18665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952" name="Google Shape;1952;p38"/>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38"/>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38"/>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955" name="Google Shape;1955;p38"/>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956" name="Google Shape;1956;p38"/>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57" name="Google Shape;1957;p38"/>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958" name="Google Shape;1958;p38"/>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959" name="Google Shape;1959;p38"/>
          <p:cNvGrpSpPr/>
          <p:nvPr/>
        </p:nvGrpSpPr>
        <p:grpSpPr>
          <a:xfrm>
            <a:off x="170346" y="4322652"/>
            <a:ext cx="3563939" cy="955675"/>
            <a:chOff x="851" y="1831"/>
            <a:chExt cx="2245" cy="602"/>
          </a:xfrm>
        </p:grpSpPr>
        <p:sp>
          <p:nvSpPr>
            <p:cNvPr id="1960" name="Google Shape;1960;p38"/>
            <p:cNvSpPr/>
            <p:nvPr/>
          </p:nvSpPr>
          <p:spPr>
            <a:xfrm flipH="1">
              <a:off x="1056" y="2064"/>
              <a:ext cx="1116" cy="369"/>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961" name="Google Shape;1961;p38"/>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4000, Don’t Fragment</a:t>
              </a:r>
              <a:endParaRPr b="0" i="0" sz="1400" u="none" cap="none" strike="noStrike">
                <a:solidFill>
                  <a:srgbClr val="000000"/>
                </a:solidFill>
                <a:latin typeface="Arial"/>
                <a:ea typeface="Arial"/>
                <a:cs typeface="Arial"/>
                <a:sym typeface="Arial"/>
              </a:endParaRPr>
            </a:p>
          </p:txBody>
        </p:sp>
      </p:grpSp>
      <p:sp>
        <p:nvSpPr>
          <p:cNvPr id="1962" name="Google Shape;1962;p38"/>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grpSp>
        <p:nvGrpSpPr>
          <p:cNvPr id="1963" name="Google Shape;1963;p38"/>
          <p:cNvGrpSpPr/>
          <p:nvPr/>
        </p:nvGrpSpPr>
        <p:grpSpPr>
          <a:xfrm>
            <a:off x="2687330" y="1857624"/>
            <a:ext cx="2245019" cy="1379279"/>
            <a:chOff x="576" y="1440"/>
            <a:chExt cx="1075" cy="884"/>
          </a:xfrm>
        </p:grpSpPr>
        <p:sp>
          <p:nvSpPr>
            <p:cNvPr id="1964" name="Google Shape;1964;p38"/>
            <p:cNvSpPr/>
            <p:nvPr/>
          </p:nvSpPr>
          <p:spPr>
            <a:xfrm>
              <a:off x="1440" y="1648"/>
              <a:ext cx="211" cy="676"/>
            </a:xfrm>
            <a:custGeom>
              <a:rect b="b" l="l" r="r" t="t"/>
              <a:pathLst>
                <a:path extrusionOk="0" h="512" w="816">
                  <a:moveTo>
                    <a:pt x="816" y="512"/>
                  </a:moveTo>
                  <a:cubicBezTo>
                    <a:pt x="752" y="440"/>
                    <a:pt x="568" y="160"/>
                    <a:pt x="432" y="80"/>
                  </a:cubicBezTo>
                  <a:cubicBezTo>
                    <a:pt x="296" y="0"/>
                    <a:pt x="90" y="42"/>
                    <a:pt x="0" y="32"/>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38"/>
            <p:cNvSpPr/>
            <p:nvPr/>
          </p:nvSpPr>
          <p:spPr>
            <a:xfrm flipH="1">
              <a:off x="576" y="1440"/>
              <a:ext cx="864" cy="480"/>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Sends ICMP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Frag. Needed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MTU = 2000</a:t>
              </a:r>
              <a:endParaRPr b="0" i="0" sz="1400" u="none" cap="none" strike="noStrike">
                <a:solidFill>
                  <a:srgbClr val="FFFF00"/>
                </a:solidFill>
                <a:latin typeface="Helvetica Neue"/>
                <a:ea typeface="Helvetica Neue"/>
                <a:cs typeface="Helvetica Neue"/>
                <a:sym typeface="Helvetica Neue"/>
              </a:endParaRPr>
            </a:p>
          </p:txBody>
        </p:sp>
      </p:grpSp>
      <p:sp>
        <p:nvSpPr>
          <p:cNvPr id="1966" name="Google Shape;1966;p38"/>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7" name="Google Shape;1967;p38"/>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8" name="Google Shape;1968;p38"/>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9" name="Google Shape;1969;p38"/>
          <p:cNvSpPr txBox="1"/>
          <p:nvPr/>
        </p:nvSpPr>
        <p:spPr>
          <a:xfrm>
            <a:off x="2647179" y="1252420"/>
            <a:ext cx="1884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7D28CD"/>
                </a:solidFill>
                <a:latin typeface="Arial"/>
                <a:ea typeface="Arial"/>
                <a:cs typeface="Arial"/>
                <a:sym typeface="Arial"/>
              </a:rPr>
              <a:t>Router drops the packet and </a:t>
            </a:r>
            <a:endParaRPr b="1" i="0" sz="1400" u="none" cap="none" strike="noStrike">
              <a:solidFill>
                <a:srgbClr val="7D28CD"/>
              </a:solidFill>
              <a:latin typeface="Arial"/>
              <a:ea typeface="Arial"/>
              <a:cs typeface="Arial"/>
              <a:sym typeface="Arial"/>
            </a:endParaRPr>
          </a:p>
        </p:txBody>
      </p:sp>
      <p:sp>
        <p:nvSpPr>
          <p:cNvPr id="1970" name="Google Shape;1970;p38"/>
          <p:cNvSpPr/>
          <p:nvPr/>
        </p:nvSpPr>
        <p:spPr>
          <a:xfrm flipH="1">
            <a:off x="4343581" y="3961763"/>
            <a:ext cx="588768" cy="296892"/>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1400" u="none" cap="none" strike="noStrike">
                <a:solidFill>
                  <a:srgbClr val="CCFFCC"/>
                </a:solidFill>
                <a:latin typeface="Helvetica Neue"/>
                <a:ea typeface="Helvetica Neue"/>
                <a:cs typeface="Helvetica Neue"/>
                <a:sym typeface="Helvetica Neue"/>
              </a:rPr>
              <a:t>4000</a:t>
            </a:r>
            <a:endParaRPr b="0" i="0" sz="1400" u="none" cap="none" strike="noStrike">
              <a:solidFill>
                <a:srgbClr val="CCFFCC"/>
              </a:solidFill>
              <a:latin typeface="Helvetica Neue"/>
              <a:ea typeface="Helvetica Neue"/>
              <a:cs typeface="Helvetica Neue"/>
              <a:sym typeface="Helvetica Neue"/>
            </a:endParaRPr>
          </a:p>
        </p:txBody>
      </p:sp>
      <p:sp>
        <p:nvSpPr>
          <p:cNvPr id="1971" name="Google Shape;1971;p38"/>
          <p:cNvSpPr/>
          <p:nvPr/>
        </p:nvSpPr>
        <p:spPr>
          <a:xfrm flipH="1">
            <a:off x="4189169" y="2959595"/>
            <a:ext cx="422355" cy="333492"/>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400" u="none" cap="none" strike="noStrike">
              <a:solidFill>
                <a:srgbClr val="FFFF00"/>
              </a:solidFill>
              <a:latin typeface="Helvetica Neue"/>
              <a:ea typeface="Helvetica Neue"/>
              <a:cs typeface="Helvetica Neue"/>
              <a:sym typeface="Helvetica Neue"/>
            </a:endParaRPr>
          </a:p>
        </p:txBody>
      </p:sp>
      <p:pic>
        <p:nvPicPr>
          <p:cNvPr id="1972" name="Google Shape;1972;p38"/>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59"/>
                                        </p:tgtEl>
                                      </p:cBhvr>
                                    </p:animEffect>
                                    <p:set>
                                      <p:cBhvr>
                                        <p:cTn dur="1" fill="hold">
                                          <p:stCondLst>
                                            <p:cond delay="500"/>
                                          </p:stCondLst>
                                        </p:cTn>
                                        <p:tgtEl>
                                          <p:spTgt spid="19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sp>
        <p:nvSpPr>
          <p:cNvPr id="1977" name="Google Shape;1977;p3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1978" name="Google Shape;1978;p39"/>
          <p:cNvGrpSpPr/>
          <p:nvPr/>
        </p:nvGrpSpPr>
        <p:grpSpPr>
          <a:xfrm>
            <a:off x="1565100" y="2951507"/>
            <a:ext cx="3124200" cy="1219200"/>
            <a:chOff x="576" y="960"/>
            <a:chExt cx="1968" cy="768"/>
          </a:xfrm>
        </p:grpSpPr>
        <p:sp>
          <p:nvSpPr>
            <p:cNvPr id="1979" name="Google Shape;1979;p39"/>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1980" name="Google Shape;1980;p39"/>
            <p:cNvSpPr txBox="1"/>
            <p:nvPr/>
          </p:nvSpPr>
          <p:spPr>
            <a:xfrm>
              <a:off x="1037" y="1258"/>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1981" name="Google Shape;1981;p39"/>
          <p:cNvSpPr txBox="1"/>
          <p:nvPr>
            <p:ph type="title"/>
          </p:nvPr>
        </p:nvSpPr>
        <p:spPr>
          <a:xfrm>
            <a:off x="1558132" y="0"/>
            <a:ext cx="10018713" cy="123893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1982" name="Google Shape;1982;p39"/>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39"/>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39"/>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1985" name="Google Shape;1985;p39"/>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1986" name="Google Shape;1986;p39"/>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1987" name="Google Shape;1987;p39"/>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1988" name="Google Shape;1988;p39"/>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1989" name="Google Shape;1989;p39"/>
          <p:cNvGrpSpPr/>
          <p:nvPr/>
        </p:nvGrpSpPr>
        <p:grpSpPr>
          <a:xfrm>
            <a:off x="458856" y="4246148"/>
            <a:ext cx="3563939" cy="1038226"/>
            <a:chOff x="851" y="1831"/>
            <a:chExt cx="2245" cy="654"/>
          </a:xfrm>
        </p:grpSpPr>
        <p:sp>
          <p:nvSpPr>
            <p:cNvPr id="1990" name="Google Shape;1990;p39"/>
            <p:cNvSpPr/>
            <p:nvPr/>
          </p:nvSpPr>
          <p:spPr>
            <a:xfrm flipH="1">
              <a:off x="1056" y="2064"/>
              <a:ext cx="1283" cy="421"/>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1991" name="Google Shape;1991;p39"/>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2000, Don’t Fragment</a:t>
              </a:r>
              <a:endParaRPr b="0" i="0" sz="1400" u="none" cap="none" strike="noStrike">
                <a:solidFill>
                  <a:srgbClr val="000000"/>
                </a:solidFill>
                <a:latin typeface="Arial"/>
                <a:ea typeface="Arial"/>
                <a:cs typeface="Arial"/>
                <a:sym typeface="Arial"/>
              </a:endParaRPr>
            </a:p>
          </p:txBody>
        </p:sp>
      </p:grpSp>
      <p:sp>
        <p:nvSpPr>
          <p:cNvPr id="1992" name="Google Shape;1992;p39"/>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grpSp>
        <p:nvGrpSpPr>
          <p:cNvPr id="1993" name="Google Shape;1993;p39"/>
          <p:cNvGrpSpPr/>
          <p:nvPr/>
        </p:nvGrpSpPr>
        <p:grpSpPr>
          <a:xfrm>
            <a:off x="4617626" y="1655774"/>
            <a:ext cx="2245019" cy="1379279"/>
            <a:chOff x="576" y="1440"/>
            <a:chExt cx="1075" cy="884"/>
          </a:xfrm>
        </p:grpSpPr>
        <p:sp>
          <p:nvSpPr>
            <p:cNvPr id="1994" name="Google Shape;1994;p39"/>
            <p:cNvSpPr/>
            <p:nvPr/>
          </p:nvSpPr>
          <p:spPr>
            <a:xfrm>
              <a:off x="1440" y="1648"/>
              <a:ext cx="211" cy="676"/>
            </a:xfrm>
            <a:custGeom>
              <a:rect b="b" l="l" r="r" t="t"/>
              <a:pathLst>
                <a:path extrusionOk="0" h="512" w="816">
                  <a:moveTo>
                    <a:pt x="816" y="512"/>
                  </a:moveTo>
                  <a:cubicBezTo>
                    <a:pt x="752" y="440"/>
                    <a:pt x="568" y="160"/>
                    <a:pt x="432" y="80"/>
                  </a:cubicBezTo>
                  <a:cubicBezTo>
                    <a:pt x="296" y="0"/>
                    <a:pt x="90" y="42"/>
                    <a:pt x="0" y="32"/>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39"/>
            <p:cNvSpPr/>
            <p:nvPr/>
          </p:nvSpPr>
          <p:spPr>
            <a:xfrm flipH="1">
              <a:off x="576" y="1440"/>
              <a:ext cx="864" cy="480"/>
            </a:xfrm>
            <a:prstGeom prst="rect">
              <a:avLst/>
            </a:prstGeom>
            <a:solidFill>
              <a:srgbClr val="3333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Sends ICMP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Frag. Needed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Helvetica Neue"/>
                  <a:ea typeface="Helvetica Neue"/>
                  <a:cs typeface="Helvetica Neue"/>
                  <a:sym typeface="Helvetica Neue"/>
                </a:rPr>
                <a:t>MTU = 1500</a:t>
              </a:r>
              <a:endParaRPr b="0" i="0" sz="1400" u="none" cap="none" strike="noStrike">
                <a:solidFill>
                  <a:srgbClr val="FFFF00"/>
                </a:solidFill>
                <a:latin typeface="Helvetica Neue"/>
                <a:ea typeface="Helvetica Neue"/>
                <a:cs typeface="Helvetica Neue"/>
                <a:sym typeface="Helvetica Neue"/>
              </a:endParaRPr>
            </a:p>
          </p:txBody>
        </p:sp>
      </p:grpSp>
      <p:sp>
        <p:nvSpPr>
          <p:cNvPr id="1996" name="Google Shape;1996;p39"/>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7" name="Google Shape;1997;p39"/>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8" name="Google Shape;1998;p39"/>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9" name="Google Shape;1999;p39"/>
          <p:cNvSpPr txBox="1"/>
          <p:nvPr/>
        </p:nvSpPr>
        <p:spPr>
          <a:xfrm>
            <a:off x="4617626" y="1119337"/>
            <a:ext cx="188467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7D28CD"/>
                </a:solidFill>
                <a:latin typeface="Arial"/>
                <a:ea typeface="Arial"/>
                <a:cs typeface="Arial"/>
                <a:sym typeface="Arial"/>
              </a:rPr>
              <a:t>Router drops the packet and </a:t>
            </a:r>
            <a:endParaRPr b="1" i="0" sz="1400" u="none" cap="none" strike="noStrike">
              <a:solidFill>
                <a:srgbClr val="7D28CD"/>
              </a:solidFill>
              <a:latin typeface="Arial"/>
              <a:ea typeface="Arial"/>
              <a:cs typeface="Arial"/>
              <a:sym typeface="Arial"/>
            </a:endParaRPr>
          </a:p>
        </p:txBody>
      </p:sp>
      <p:sp>
        <p:nvSpPr>
          <p:cNvPr id="2000" name="Google Shape;2000;p39"/>
          <p:cNvSpPr/>
          <p:nvPr/>
        </p:nvSpPr>
        <p:spPr>
          <a:xfrm flipH="1">
            <a:off x="1095834" y="2568922"/>
            <a:ext cx="876550" cy="445467"/>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2000</a:t>
            </a:r>
            <a:endParaRPr b="0" i="0" sz="1400" u="none" cap="none" strike="noStrike">
              <a:solidFill>
                <a:srgbClr val="000000"/>
              </a:solidFill>
              <a:latin typeface="Arial"/>
              <a:ea typeface="Arial"/>
              <a:cs typeface="Arial"/>
              <a:sym typeface="Arial"/>
            </a:endParaRPr>
          </a:p>
        </p:txBody>
      </p:sp>
      <p:sp>
        <p:nvSpPr>
          <p:cNvPr id="2001" name="Google Shape;2001;p39"/>
          <p:cNvSpPr/>
          <p:nvPr/>
        </p:nvSpPr>
        <p:spPr>
          <a:xfrm flipH="1">
            <a:off x="4355321" y="2925986"/>
            <a:ext cx="876550" cy="459587"/>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2000</a:t>
            </a:r>
            <a:endParaRPr b="0" i="0" sz="1400" u="none" cap="none" strike="noStrike">
              <a:solidFill>
                <a:srgbClr val="000000"/>
              </a:solidFill>
              <a:latin typeface="Arial"/>
              <a:ea typeface="Arial"/>
              <a:cs typeface="Arial"/>
              <a:sym typeface="Arial"/>
            </a:endParaRPr>
          </a:p>
        </p:txBody>
      </p:sp>
      <p:pic>
        <p:nvPicPr>
          <p:cNvPr id="2002" name="Google Shape;2002;p39"/>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89"/>
                                        </p:tgtEl>
                                      </p:cBhvr>
                                    </p:animEffect>
                                    <p:set>
                                      <p:cBhvr>
                                        <p:cTn dur="1" fill="hold">
                                          <p:stCondLst>
                                            <p:cond delay="500"/>
                                          </p:stCondLst>
                                        </p:cTn>
                                        <p:tgtEl>
                                          <p:spTgt spid="19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00"/>
                                        </p:tgtEl>
                                      </p:cBhvr>
                                    </p:animEffect>
                                    <p:set>
                                      <p:cBhvr>
                                        <p:cTn dur="1" fill="hold">
                                          <p:stCondLst>
                                            <p:cond delay="500"/>
                                          </p:stCondLst>
                                        </p:cTn>
                                        <p:tgtEl>
                                          <p:spTgt spid="20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01"/>
                                        </p:tgtEl>
                                      </p:cBhvr>
                                    </p:animEffect>
                                    <p:set>
                                      <p:cBhvr>
                                        <p:cTn dur="1" fill="hold">
                                          <p:stCondLst>
                                            <p:cond delay="500"/>
                                          </p:stCondLst>
                                        </p:cTn>
                                        <p:tgtEl>
                                          <p:spTgt spid="20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6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grpSp>
        <p:nvGrpSpPr>
          <p:cNvPr id="2008" name="Google Shape;2008;p60"/>
          <p:cNvGrpSpPr/>
          <p:nvPr/>
        </p:nvGrpSpPr>
        <p:grpSpPr>
          <a:xfrm>
            <a:off x="1558132" y="2860427"/>
            <a:ext cx="3124200" cy="1219200"/>
            <a:chOff x="576" y="960"/>
            <a:chExt cx="1968" cy="768"/>
          </a:xfrm>
        </p:grpSpPr>
        <p:sp>
          <p:nvSpPr>
            <p:cNvPr id="2009" name="Google Shape;2009;p60"/>
            <p:cNvSpPr/>
            <p:nvPr/>
          </p:nvSpPr>
          <p:spPr>
            <a:xfrm>
              <a:off x="576" y="960"/>
              <a:ext cx="1968" cy="768"/>
            </a:xfrm>
            <a:prstGeom prst="ellipse">
              <a:avLst/>
            </a:prstGeom>
            <a:solidFill>
              <a:srgbClr val="FF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Helvetica Neue"/>
                <a:ea typeface="Helvetica Neue"/>
                <a:cs typeface="Helvetica Neue"/>
                <a:sym typeface="Helvetica Neue"/>
              </a:endParaRPr>
            </a:p>
          </p:txBody>
        </p:sp>
        <p:sp>
          <p:nvSpPr>
            <p:cNvPr id="2010" name="Google Shape;2010;p60"/>
            <p:cNvSpPr txBox="1"/>
            <p:nvPr/>
          </p:nvSpPr>
          <p:spPr>
            <a:xfrm>
              <a:off x="1157" y="1271"/>
              <a:ext cx="824" cy="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4000</a:t>
              </a:r>
              <a:endParaRPr b="0" i="0" sz="1400" u="none" cap="none" strike="noStrike">
                <a:solidFill>
                  <a:srgbClr val="000000"/>
                </a:solidFill>
                <a:latin typeface="Arial"/>
                <a:ea typeface="Arial"/>
                <a:cs typeface="Arial"/>
                <a:sym typeface="Arial"/>
              </a:endParaRPr>
            </a:p>
          </p:txBody>
        </p:sp>
      </p:grpSp>
      <p:sp>
        <p:nvSpPr>
          <p:cNvPr id="2011" name="Google Shape;2011;p60"/>
          <p:cNvSpPr txBox="1"/>
          <p:nvPr>
            <p:ph type="title"/>
          </p:nvPr>
        </p:nvSpPr>
        <p:spPr>
          <a:xfrm>
            <a:off x="1558132" y="0"/>
            <a:ext cx="10018713" cy="123893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4400"/>
              <a:t>IP MTU Discovery with ICMP</a:t>
            </a:r>
            <a:endParaRPr/>
          </a:p>
        </p:txBody>
      </p:sp>
      <p:sp>
        <p:nvSpPr>
          <p:cNvPr id="2012" name="Google Shape;2012;p60"/>
          <p:cNvSpPr/>
          <p:nvPr/>
        </p:nvSpPr>
        <p:spPr>
          <a:xfrm>
            <a:off x="6998648" y="2741414"/>
            <a:ext cx="3802701" cy="928668"/>
          </a:xfrm>
          <a:prstGeom prst="ellipse">
            <a:avLst/>
          </a:prstGeom>
          <a:solidFill>
            <a:srgbClr val="CCFF99"/>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60"/>
          <p:cNvSpPr/>
          <p:nvPr/>
        </p:nvSpPr>
        <p:spPr>
          <a:xfrm>
            <a:off x="4572000" y="3060203"/>
            <a:ext cx="2530476" cy="663417"/>
          </a:xfrm>
          <a:prstGeom prst="ellipse">
            <a:avLst/>
          </a:prstGeom>
          <a:solidFill>
            <a:srgbClr val="66FFFF">
              <a:alpha val="49019"/>
            </a:srgbClr>
          </a:solidFill>
          <a:ln cap="flat" cmpd="sng" w="1905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60"/>
          <p:cNvSpPr/>
          <p:nvPr/>
        </p:nvSpPr>
        <p:spPr>
          <a:xfrm>
            <a:off x="912809" y="3103453"/>
            <a:ext cx="1039507"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1" i="0" sz="1800" u="none" cap="none" strike="noStrike">
              <a:solidFill>
                <a:srgbClr val="000000"/>
              </a:solidFill>
              <a:latin typeface="Helvetica Neue"/>
              <a:ea typeface="Helvetica Neue"/>
              <a:cs typeface="Helvetica Neue"/>
              <a:sym typeface="Helvetica Neue"/>
            </a:endParaRPr>
          </a:p>
        </p:txBody>
      </p:sp>
      <p:sp>
        <p:nvSpPr>
          <p:cNvPr id="2015" name="Google Shape;2015;p60"/>
          <p:cNvSpPr/>
          <p:nvPr/>
        </p:nvSpPr>
        <p:spPr>
          <a:xfrm>
            <a:off x="9504670" y="2720060"/>
            <a:ext cx="1122055" cy="400110"/>
          </a:xfrm>
          <a:prstGeom prst="rect">
            <a:avLst/>
          </a:prstGeom>
          <a:solidFill>
            <a:srgbClr val="CC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host</a:t>
            </a:r>
            <a:endParaRPr b="0" i="0" sz="1400" u="none" cap="none" strike="noStrike">
              <a:solidFill>
                <a:srgbClr val="000000"/>
              </a:solidFill>
              <a:latin typeface="Arial"/>
              <a:ea typeface="Arial"/>
              <a:cs typeface="Arial"/>
              <a:sym typeface="Arial"/>
            </a:endParaRPr>
          </a:p>
        </p:txBody>
      </p:sp>
      <p:sp>
        <p:nvSpPr>
          <p:cNvPr id="2016" name="Google Shape;2016;p60"/>
          <p:cNvSpPr/>
          <p:nvPr/>
        </p:nvSpPr>
        <p:spPr>
          <a:xfrm>
            <a:off x="6248399" y="3048000"/>
            <a:ext cx="1050923" cy="643436"/>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2017" name="Google Shape;2017;p60"/>
          <p:cNvSpPr txBox="1"/>
          <p:nvPr/>
        </p:nvSpPr>
        <p:spPr>
          <a:xfrm>
            <a:off x="8157049" y="3269972"/>
            <a:ext cx="16017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C0000"/>
                </a:solidFill>
                <a:latin typeface="Helvetica Neue"/>
                <a:ea typeface="Helvetica Neue"/>
                <a:cs typeface="Helvetica Neue"/>
                <a:sym typeface="Helvetica Neue"/>
              </a:rPr>
              <a:t>MTU = 1500</a:t>
            </a:r>
            <a:endParaRPr b="0" i="0" sz="1400" u="none" cap="none" strike="noStrike">
              <a:solidFill>
                <a:srgbClr val="000000"/>
              </a:solidFill>
              <a:latin typeface="Arial"/>
              <a:ea typeface="Arial"/>
              <a:cs typeface="Arial"/>
              <a:sym typeface="Arial"/>
            </a:endParaRPr>
          </a:p>
        </p:txBody>
      </p:sp>
      <p:sp>
        <p:nvSpPr>
          <p:cNvPr id="2018" name="Google Shape;2018;p60"/>
          <p:cNvSpPr txBox="1"/>
          <p:nvPr/>
        </p:nvSpPr>
        <p:spPr>
          <a:xfrm>
            <a:off x="5027599" y="2698390"/>
            <a:ext cx="1697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00"/>
                </a:solidFill>
                <a:latin typeface="Helvetica Neue"/>
                <a:ea typeface="Helvetica Neue"/>
                <a:cs typeface="Helvetica Neue"/>
                <a:sym typeface="Helvetica Neue"/>
              </a:rPr>
              <a:t>MTU = 2000</a:t>
            </a:r>
            <a:endParaRPr b="0" i="0" sz="1400" u="none" cap="none" strike="noStrike">
              <a:solidFill>
                <a:srgbClr val="000000"/>
              </a:solidFill>
              <a:latin typeface="Arial"/>
              <a:ea typeface="Arial"/>
              <a:cs typeface="Arial"/>
              <a:sym typeface="Arial"/>
            </a:endParaRPr>
          </a:p>
        </p:txBody>
      </p:sp>
      <p:grpSp>
        <p:nvGrpSpPr>
          <p:cNvPr id="2019" name="Google Shape;2019;p60"/>
          <p:cNvGrpSpPr/>
          <p:nvPr/>
        </p:nvGrpSpPr>
        <p:grpSpPr>
          <a:xfrm>
            <a:off x="170346" y="4184400"/>
            <a:ext cx="3563939" cy="1050926"/>
            <a:chOff x="851" y="1831"/>
            <a:chExt cx="2245" cy="662"/>
          </a:xfrm>
        </p:grpSpPr>
        <p:sp>
          <p:nvSpPr>
            <p:cNvPr id="2020" name="Google Shape;2020;p60"/>
            <p:cNvSpPr/>
            <p:nvPr/>
          </p:nvSpPr>
          <p:spPr>
            <a:xfrm flipH="1">
              <a:off x="1056" y="2064"/>
              <a:ext cx="1250" cy="429"/>
            </a:xfrm>
            <a:prstGeom prst="rect">
              <a:avLst/>
            </a:prstGeom>
            <a:solidFill>
              <a:srgbClr val="0B598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IP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FFCC"/>
                  </a:solidFill>
                  <a:latin typeface="Helvetica Neue"/>
                  <a:ea typeface="Helvetica Neue"/>
                  <a:cs typeface="Helvetica Neue"/>
                  <a:sym typeface="Helvetica Neue"/>
                </a:rPr>
                <a:t>Packet</a:t>
              </a:r>
              <a:endParaRPr b="0" i="0" sz="1400" u="none" cap="none" strike="noStrike">
                <a:solidFill>
                  <a:srgbClr val="CCFFCC"/>
                </a:solidFill>
                <a:latin typeface="Helvetica Neue"/>
                <a:ea typeface="Helvetica Neue"/>
                <a:cs typeface="Helvetica Neue"/>
                <a:sym typeface="Helvetica Neue"/>
              </a:endParaRPr>
            </a:p>
          </p:txBody>
        </p:sp>
        <p:sp>
          <p:nvSpPr>
            <p:cNvPr id="2021" name="Google Shape;2021;p60"/>
            <p:cNvSpPr txBox="1"/>
            <p:nvPr/>
          </p:nvSpPr>
          <p:spPr>
            <a:xfrm>
              <a:off x="851" y="1831"/>
              <a:ext cx="2245" cy="2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Length = 1500, Don’t Fragment</a:t>
              </a:r>
              <a:endParaRPr b="0" i="0" sz="1400" u="none" cap="none" strike="noStrike">
                <a:solidFill>
                  <a:srgbClr val="000000"/>
                </a:solidFill>
                <a:latin typeface="Arial"/>
                <a:ea typeface="Arial"/>
                <a:cs typeface="Arial"/>
                <a:sym typeface="Arial"/>
              </a:endParaRPr>
            </a:p>
          </p:txBody>
        </p:sp>
      </p:grpSp>
      <p:sp>
        <p:nvSpPr>
          <p:cNvPr id="2022" name="Google Shape;2022;p60"/>
          <p:cNvSpPr/>
          <p:nvPr/>
        </p:nvSpPr>
        <p:spPr>
          <a:xfrm>
            <a:off x="4065586" y="3093273"/>
            <a:ext cx="1050924" cy="663417"/>
          </a:xfrm>
          <a:prstGeom prst="roundRect">
            <a:avLst>
              <a:gd fmla="val 16667" name="adj"/>
            </a:avLst>
          </a:prstGeom>
          <a:solidFill>
            <a:srgbClr val="FF99CC"/>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Helvetica Neue"/>
                <a:ea typeface="Helvetica Neue"/>
                <a:cs typeface="Helvetica Neue"/>
                <a:sym typeface="Helvetica Neue"/>
              </a:rPr>
              <a:t>router</a:t>
            </a:r>
            <a:endParaRPr b="1" i="0" sz="1400" u="none" cap="none" strike="noStrike">
              <a:solidFill>
                <a:srgbClr val="000000"/>
              </a:solidFill>
              <a:latin typeface="Helvetica Neue"/>
              <a:ea typeface="Helvetica Neue"/>
              <a:cs typeface="Helvetica Neue"/>
              <a:sym typeface="Helvetica Neue"/>
            </a:endParaRPr>
          </a:p>
        </p:txBody>
      </p:sp>
      <p:sp>
        <p:nvSpPr>
          <p:cNvPr id="2023" name="Google Shape;2023;p60"/>
          <p:cNvSpPr/>
          <p:nvPr/>
        </p:nvSpPr>
        <p:spPr>
          <a:xfrm>
            <a:off x="1952316" y="3269973"/>
            <a:ext cx="2129943" cy="69882"/>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4" name="Google Shape;2024;p60"/>
          <p:cNvSpPr/>
          <p:nvPr/>
        </p:nvSpPr>
        <p:spPr>
          <a:xfrm>
            <a:off x="5116510" y="3339854"/>
            <a:ext cx="1165228" cy="45719"/>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5" name="Google Shape;2025;p60"/>
          <p:cNvSpPr/>
          <p:nvPr/>
        </p:nvSpPr>
        <p:spPr>
          <a:xfrm>
            <a:off x="7197726" y="2883396"/>
            <a:ext cx="2306944" cy="456458"/>
          </a:xfrm>
          <a:custGeom>
            <a:rect b="b" l="l" r="r" t="t"/>
            <a:pathLst>
              <a:path extrusionOk="0" h="71437" w="1514475">
                <a:moveTo>
                  <a:pt x="0" y="71437"/>
                </a:moveTo>
                <a:cubicBezTo>
                  <a:pt x="573881" y="59531"/>
                  <a:pt x="1147763" y="47625"/>
                  <a:pt x="1514475" y="0"/>
                </a:cubicBezTo>
              </a:path>
            </a:pathLst>
          </a:custGeom>
          <a:noFill/>
          <a:ln cap="flat" cmpd="sng" w="57150">
            <a:solidFill>
              <a:srgbClr val="D4418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6" name="Google Shape;2026;p60"/>
          <p:cNvSpPr txBox="1"/>
          <p:nvPr/>
        </p:nvSpPr>
        <p:spPr>
          <a:xfrm>
            <a:off x="5114283" y="4956656"/>
            <a:ext cx="6676231" cy="1787044"/>
          </a:xfrm>
          <a:prstGeom prst="rect">
            <a:avLst/>
          </a:prstGeom>
          <a:noFill/>
          <a:ln>
            <a:noFill/>
          </a:ln>
        </p:spPr>
        <p:txBody>
          <a:bodyPr anchorCtr="0" anchor="t" bIns="45700" lIns="91425" spcFirstLastPara="1" rIns="91425" wrap="square" tIns="45700">
            <a:normAutofit lnSpcReduction="10000"/>
          </a:bodyPr>
          <a:lstStyle/>
          <a:p>
            <a:pPr indent="0" lvl="1" marL="0" marR="0" rtl="0" algn="l">
              <a:lnSpc>
                <a:spcPct val="90000"/>
              </a:lnSpc>
              <a:spcBef>
                <a:spcPts val="0"/>
              </a:spcBef>
              <a:spcAft>
                <a:spcPts val="0"/>
              </a:spcAft>
              <a:buNone/>
            </a:pPr>
            <a:r>
              <a:rPr b="0" i="0" lang="en-US" sz="2800" u="none" cap="none" strike="noStrike">
                <a:solidFill>
                  <a:srgbClr val="000000"/>
                </a:solidFill>
                <a:latin typeface="Corbel"/>
                <a:ea typeface="Corbel"/>
                <a:cs typeface="Corbel"/>
                <a:sym typeface="Corbel"/>
              </a:rPr>
              <a:t>When successful, no reply at IP level</a:t>
            </a:r>
            <a:endParaRPr b="0" i="0" sz="1400" u="none" cap="none" strike="noStrike">
              <a:solidFill>
                <a:srgbClr val="000000"/>
              </a:solidFill>
              <a:latin typeface="Arial"/>
              <a:ea typeface="Arial"/>
              <a:cs typeface="Arial"/>
              <a:sym typeface="Arial"/>
            </a:endParaRPr>
          </a:p>
          <a:p>
            <a:pPr indent="0" lvl="2"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7D28CD"/>
                </a:solidFill>
                <a:latin typeface="Corbel"/>
                <a:ea typeface="Corbel"/>
                <a:cs typeface="Corbel"/>
                <a:sym typeface="Corbel"/>
              </a:rPr>
              <a:t>“No news is good news”</a:t>
            </a:r>
            <a:endParaRPr b="1" i="0" sz="1400" u="none" cap="none" strike="noStrike">
              <a:solidFill>
                <a:srgbClr val="7D28CD"/>
              </a:solidFill>
              <a:latin typeface="Arial"/>
              <a:ea typeface="Arial"/>
              <a:cs typeface="Arial"/>
              <a:sym typeface="Arial"/>
            </a:endParaRPr>
          </a:p>
          <a:p>
            <a:pPr indent="0" lvl="2" marL="0" marR="0" rtl="0" algn="l">
              <a:lnSpc>
                <a:spcPct val="9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2" marL="0" marR="0" rtl="0" algn="l">
              <a:lnSpc>
                <a:spcPct val="90000"/>
              </a:lnSpc>
              <a:spcBef>
                <a:spcPts val="0"/>
              </a:spcBef>
              <a:spcAft>
                <a:spcPts val="0"/>
              </a:spcAft>
              <a:buClr>
                <a:srgbClr val="000000"/>
              </a:buClr>
              <a:buSzPts val="2800"/>
              <a:buFont typeface="Arial"/>
              <a:buNone/>
            </a:pPr>
            <a:r>
              <a:rPr b="0" i="0" lang="en-US" sz="2800" u="none" cap="none" strike="noStrike">
                <a:solidFill>
                  <a:srgbClr val="000000"/>
                </a:solidFill>
                <a:latin typeface="Corbel"/>
                <a:ea typeface="Corbel"/>
                <a:cs typeface="Corbel"/>
                <a:sym typeface="Corbel"/>
              </a:rPr>
              <a:t>Higher level protocol might have some form of acknowledgement</a:t>
            </a:r>
            <a:endParaRPr b="0" i="0" sz="1400" u="none" cap="none" strike="noStrike">
              <a:solidFill>
                <a:srgbClr val="000000"/>
              </a:solidFill>
              <a:latin typeface="Arial"/>
              <a:ea typeface="Arial"/>
              <a:cs typeface="Arial"/>
              <a:sym typeface="Arial"/>
            </a:endParaRPr>
          </a:p>
        </p:txBody>
      </p:sp>
      <p:pic>
        <p:nvPicPr>
          <p:cNvPr id="2027" name="Google Shape;2027;p6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p24"/>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sp>
        <p:nvSpPr>
          <p:cNvPr id="2033" name="Google Shape;2033;p24"/>
          <p:cNvSpPr txBox="1"/>
          <p:nvPr>
            <p:ph idx="1" type="body"/>
          </p:nvPr>
        </p:nvSpPr>
        <p:spPr>
          <a:xfrm>
            <a:off x="1278298" y="1110265"/>
            <a:ext cx="10018800" cy="4728832"/>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822"/>
              <a:buChar char="•"/>
            </a:pPr>
            <a:r>
              <a:rPr lang="en-US" sz="2800"/>
              <a:t>Shows the path your packets take through different routers to reach a destination.</a:t>
            </a:r>
            <a:endParaRPr/>
          </a:p>
          <a:p>
            <a:pPr indent="-240758" lvl="0" marL="457200" rtl="0" algn="l">
              <a:lnSpc>
                <a:spcPct val="100000"/>
              </a:lnSpc>
              <a:spcBef>
                <a:spcPts val="360"/>
              </a:spcBef>
              <a:spcAft>
                <a:spcPts val="0"/>
              </a:spcAft>
              <a:buSzPts val="2419"/>
              <a:buNone/>
            </a:pPr>
            <a:r>
              <a:t/>
            </a:r>
            <a:endParaRPr b="1">
              <a:solidFill>
                <a:srgbClr val="7D28CD"/>
              </a:solidFill>
            </a:endParaRPr>
          </a:p>
          <a:p>
            <a:pPr indent="-394335" lvl="0" marL="457200" rtl="0" algn="l">
              <a:lnSpc>
                <a:spcPct val="100000"/>
              </a:lnSpc>
              <a:spcBef>
                <a:spcPts val="360"/>
              </a:spcBef>
              <a:spcAft>
                <a:spcPts val="0"/>
              </a:spcAft>
              <a:buSzPts val="2419"/>
              <a:buChar char="•"/>
            </a:pPr>
            <a:r>
              <a:rPr b="1" lang="en-US">
                <a:solidFill>
                  <a:srgbClr val="7D28CD"/>
                </a:solidFill>
              </a:rPr>
              <a:t>Purpose</a:t>
            </a:r>
            <a:r>
              <a:rPr lang="en-US"/>
              <a:t>: </a:t>
            </a:r>
            <a:endParaRPr/>
          </a:p>
          <a:p>
            <a:pPr indent="-394335" lvl="1" marL="914400" rtl="0" algn="l">
              <a:lnSpc>
                <a:spcPct val="100000"/>
              </a:lnSpc>
              <a:spcBef>
                <a:spcPts val="600"/>
              </a:spcBef>
              <a:spcAft>
                <a:spcPts val="0"/>
              </a:spcAft>
              <a:buSzPts val="2419"/>
              <a:buChar char="•"/>
            </a:pPr>
            <a:r>
              <a:rPr lang="en-US" sz="2400"/>
              <a:t>Identifies the routers or hops data passes through to reach its destination mostly for troubleshooting</a:t>
            </a:r>
            <a:endParaRPr sz="2400"/>
          </a:p>
          <a:p>
            <a:pPr indent="-215161" lvl="0" marL="457200" rtl="0" algn="l">
              <a:lnSpc>
                <a:spcPct val="100000"/>
              </a:lnSpc>
              <a:spcBef>
                <a:spcPts val="360"/>
              </a:spcBef>
              <a:spcAft>
                <a:spcPts val="0"/>
              </a:spcAft>
              <a:buSzPts val="2822"/>
              <a:buNone/>
            </a:pPr>
            <a:r>
              <a:t/>
            </a:r>
            <a:endParaRPr b="1">
              <a:solidFill>
                <a:srgbClr val="7D28CD"/>
              </a:solidFill>
            </a:endParaRPr>
          </a:p>
          <a:p>
            <a:pPr indent="-394334" lvl="0" marL="457200" rtl="0" algn="l">
              <a:lnSpc>
                <a:spcPct val="100000"/>
              </a:lnSpc>
              <a:spcBef>
                <a:spcPts val="360"/>
              </a:spcBef>
              <a:spcAft>
                <a:spcPts val="0"/>
              </a:spcAft>
              <a:buSzPts val="2822"/>
              <a:buChar char="•"/>
            </a:pPr>
            <a:r>
              <a:rPr b="1" lang="en-US">
                <a:solidFill>
                  <a:srgbClr val="7D28CD"/>
                </a:solidFill>
              </a:rPr>
              <a:t>Mechanism</a:t>
            </a:r>
            <a:r>
              <a:rPr lang="en-US">
                <a:solidFill>
                  <a:srgbClr val="7D28CD"/>
                </a:solidFill>
              </a:rPr>
              <a:t>:</a:t>
            </a:r>
            <a:r>
              <a:rPr lang="en-US"/>
              <a:t> </a:t>
            </a:r>
            <a:endParaRPr/>
          </a:p>
          <a:p>
            <a:pPr indent="-394334" lvl="1" marL="914400" rtl="0" algn="l">
              <a:lnSpc>
                <a:spcPct val="100000"/>
              </a:lnSpc>
              <a:spcBef>
                <a:spcPts val="600"/>
              </a:spcBef>
              <a:spcAft>
                <a:spcPts val="0"/>
              </a:spcAft>
              <a:buSzPts val="2822"/>
              <a:buChar char="•"/>
            </a:pPr>
            <a:r>
              <a:rPr lang="en-US" sz="2400"/>
              <a:t>Sends ICMP packets with TTL = 1, 2, 3…</a:t>
            </a:r>
            <a:endParaRPr/>
          </a:p>
          <a:p>
            <a:pPr indent="-394334" lvl="1" marL="914400" rtl="0" algn="l">
              <a:lnSpc>
                <a:spcPct val="100000"/>
              </a:lnSpc>
              <a:spcBef>
                <a:spcPts val="600"/>
              </a:spcBef>
              <a:spcAft>
                <a:spcPts val="0"/>
              </a:spcAft>
              <a:buSzPts val="2822"/>
              <a:buChar char="•"/>
            </a:pPr>
            <a:r>
              <a:rPr lang="en-US" sz="2400"/>
              <a:t>Each router where TTL becomes 0 sends ICMP Time Exceeded</a:t>
            </a:r>
            <a:endParaRPr/>
          </a:p>
          <a:p>
            <a:pPr indent="-394334" lvl="1" marL="914400" rtl="0" algn="l">
              <a:lnSpc>
                <a:spcPct val="100000"/>
              </a:lnSpc>
              <a:spcBef>
                <a:spcPts val="600"/>
              </a:spcBef>
              <a:spcAft>
                <a:spcPts val="0"/>
              </a:spcAft>
              <a:buSzPts val="2822"/>
              <a:buChar char="•"/>
            </a:pPr>
            <a:r>
              <a:rPr lang="en-US" sz="2400"/>
              <a:t>Traceroute uses these replies to list each hop in order</a:t>
            </a:r>
            <a:endParaRPr/>
          </a:p>
          <a:p>
            <a:pPr indent="-215161" lvl="0" marL="457200" rtl="0" algn="l">
              <a:lnSpc>
                <a:spcPct val="100000"/>
              </a:lnSpc>
              <a:spcBef>
                <a:spcPts val="360"/>
              </a:spcBef>
              <a:spcAft>
                <a:spcPts val="0"/>
              </a:spcAft>
              <a:buSzPts val="2822"/>
              <a:buNone/>
            </a:pPr>
            <a:r>
              <a:t/>
            </a:r>
            <a:endParaRPr b="1">
              <a:solidFill>
                <a:srgbClr val="7D28CD"/>
              </a:solidFill>
            </a:endParaRPr>
          </a:p>
          <a:p>
            <a:pPr indent="-64770" lvl="0" marL="285750" rtl="0" algn="l">
              <a:lnSpc>
                <a:spcPct val="100000"/>
              </a:lnSpc>
              <a:spcBef>
                <a:spcPts val="1080"/>
              </a:spcBef>
              <a:spcAft>
                <a:spcPts val="0"/>
              </a:spcAft>
              <a:buSzPts val="3762"/>
              <a:buNone/>
            </a:pPr>
            <a:r>
              <a:t/>
            </a:r>
            <a:endParaRPr/>
          </a:p>
        </p:txBody>
      </p:sp>
      <p:pic>
        <p:nvPicPr>
          <p:cNvPr id="2034" name="Google Shape;2034;p24"/>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2035" name="Google Shape;2035;p24"/>
          <p:cNvPicPr preferRelativeResize="0"/>
          <p:nvPr/>
        </p:nvPicPr>
        <p:blipFill rotWithShape="1">
          <a:blip r:embed="rId4">
            <a:alphaModFix/>
          </a:blip>
          <a:srcRect b="0" l="0" r="0" t="0"/>
          <a:stretch/>
        </p:blipFill>
        <p:spPr>
          <a:xfrm>
            <a:off x="7337987" y="5404711"/>
            <a:ext cx="4403248" cy="13126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9" name="Shape 2039"/>
        <p:cNvGrpSpPr/>
        <p:nvPr/>
      </p:nvGrpSpPr>
      <p:grpSpPr>
        <a:xfrm>
          <a:off x="0" y="0"/>
          <a:ext cx="0" cy="0"/>
          <a:chOff x="0" y="0"/>
          <a:chExt cx="0" cy="0"/>
        </a:xfrm>
      </p:grpSpPr>
      <p:sp>
        <p:nvSpPr>
          <p:cNvPr id="2040" name="Google Shape;2040;p20"/>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pic>
        <p:nvPicPr>
          <p:cNvPr id="2041" name="Google Shape;2041;p2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descr="LayerStack Tutorials - LayerStack - How to install and use Traceroute on  Ubuntu, Debian, AlmaLinux, Rocky Linux &amp; CentOS Cloud Servers" id="2042" name="Google Shape;2042;p20"/>
          <p:cNvPicPr preferRelativeResize="0"/>
          <p:nvPr/>
        </p:nvPicPr>
        <p:blipFill rotWithShape="1">
          <a:blip r:embed="rId4">
            <a:alphaModFix/>
          </a:blip>
          <a:srcRect b="0" l="0" r="0" t="0"/>
          <a:stretch/>
        </p:blipFill>
        <p:spPr>
          <a:xfrm>
            <a:off x="1940670" y="1168480"/>
            <a:ext cx="9105991" cy="551970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21"/>
          <p:cNvSpPr txBox="1"/>
          <p:nvPr/>
        </p:nvSpPr>
        <p:spPr>
          <a:xfrm>
            <a:off x="1484310" y="4556802"/>
            <a:ext cx="6100762" cy="195438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Commands:</a:t>
            </a:r>
            <a:endParaRPr b="0" i="0" sz="28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Unix:  </a:t>
            </a:r>
            <a:r>
              <a:rPr b="1" i="0" lang="en-US" sz="2400" u="none" cap="none" strike="noStrike">
                <a:solidFill>
                  <a:srgbClr val="000000"/>
                </a:solidFill>
                <a:latin typeface="Corbel"/>
                <a:ea typeface="Corbel"/>
                <a:cs typeface="Corbel"/>
                <a:sym typeface="Corbel"/>
              </a:rPr>
              <a:t>traceroute</a:t>
            </a:r>
            <a:endParaRPr b="0" i="0" sz="24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Cisco IOS: </a:t>
            </a:r>
            <a:r>
              <a:rPr b="1" i="0" lang="en-US" sz="2400" u="none" cap="none" strike="noStrike">
                <a:solidFill>
                  <a:srgbClr val="000000"/>
                </a:solidFill>
                <a:latin typeface="Corbel"/>
                <a:ea typeface="Corbel"/>
                <a:cs typeface="Corbel"/>
                <a:sym typeface="Corbel"/>
              </a:rPr>
              <a:t>traceroute (trace)</a:t>
            </a:r>
            <a:endParaRPr b="0" i="0" sz="2400" u="none" cap="none" strike="noStrike">
              <a:solidFill>
                <a:srgbClr val="000000"/>
              </a:solidFill>
              <a:latin typeface="Corbel"/>
              <a:ea typeface="Corbel"/>
              <a:cs typeface="Corbel"/>
              <a:sym typeface="Corbel"/>
            </a:endParaRPr>
          </a:p>
          <a:p>
            <a:pPr indent="-285750" lvl="1" marL="742950" marR="0" rtl="0" algn="l">
              <a:lnSpc>
                <a:spcPct val="100000"/>
              </a:lnSpc>
              <a:spcBef>
                <a:spcPts val="1000"/>
              </a:spcBef>
              <a:spcAft>
                <a:spcPts val="0"/>
              </a:spcAft>
              <a:buClr>
                <a:srgbClr val="1186C3"/>
              </a:buClr>
              <a:buSzPts val="2900"/>
              <a:buFont typeface="Arial"/>
              <a:buChar char="•"/>
            </a:pPr>
            <a:r>
              <a:rPr b="0" i="0" lang="en-US" sz="2400" u="none" cap="none" strike="noStrike">
                <a:solidFill>
                  <a:srgbClr val="000000"/>
                </a:solidFill>
                <a:latin typeface="Corbel"/>
                <a:ea typeface="Corbel"/>
                <a:cs typeface="Corbel"/>
                <a:sym typeface="Corbel"/>
              </a:rPr>
              <a:t>DOS:  </a:t>
            </a:r>
            <a:r>
              <a:rPr b="1" i="0" lang="en-US" sz="2400" u="none" cap="none" strike="noStrike">
                <a:solidFill>
                  <a:srgbClr val="000000"/>
                </a:solidFill>
                <a:latin typeface="Corbel"/>
                <a:ea typeface="Corbel"/>
                <a:cs typeface="Corbel"/>
                <a:sym typeface="Corbel"/>
              </a:rPr>
              <a:t>tracert</a:t>
            </a:r>
            <a:endParaRPr b="0" i="0" sz="2400" u="none" cap="none" strike="noStrike">
              <a:solidFill>
                <a:srgbClr val="000000"/>
              </a:solidFill>
              <a:latin typeface="Corbel"/>
              <a:ea typeface="Corbel"/>
              <a:cs typeface="Corbel"/>
              <a:sym typeface="Corbel"/>
            </a:endParaRPr>
          </a:p>
        </p:txBody>
      </p:sp>
      <p:sp>
        <p:nvSpPr>
          <p:cNvPr id="2048" name="Google Shape;2048;p21"/>
          <p:cNvSpPr txBox="1"/>
          <p:nvPr>
            <p:ph idx="1" type="body"/>
          </p:nvPr>
        </p:nvSpPr>
        <p:spPr>
          <a:xfrm>
            <a:off x="1278298" y="1110265"/>
            <a:ext cx="10018800" cy="5563616"/>
          </a:xfrm>
          <a:prstGeom prst="rect">
            <a:avLst/>
          </a:prstGeom>
          <a:noFill/>
          <a:ln>
            <a:noFill/>
          </a:ln>
        </p:spPr>
        <p:txBody>
          <a:bodyPr anchorCtr="0" anchor="t" bIns="45700" lIns="91425" spcFirstLastPara="1" rIns="91425" wrap="square" tIns="45700">
            <a:normAutofit/>
          </a:bodyPr>
          <a:lstStyle/>
          <a:p>
            <a:pPr indent="-215161" lvl="0" marL="457200" rtl="0" algn="l">
              <a:lnSpc>
                <a:spcPct val="100000"/>
              </a:lnSpc>
              <a:spcBef>
                <a:spcPts val="360"/>
              </a:spcBef>
              <a:spcAft>
                <a:spcPts val="0"/>
              </a:spcAft>
              <a:buSzPts val="2822"/>
              <a:buNone/>
            </a:pPr>
            <a:r>
              <a:t/>
            </a:r>
            <a:endParaRPr b="1">
              <a:solidFill>
                <a:srgbClr val="7D28CD"/>
              </a:solidFill>
            </a:endParaRPr>
          </a:p>
          <a:p>
            <a:pPr indent="-394334" lvl="0" marL="457200" rtl="0" algn="l">
              <a:lnSpc>
                <a:spcPct val="100000"/>
              </a:lnSpc>
              <a:spcBef>
                <a:spcPts val="360"/>
              </a:spcBef>
              <a:spcAft>
                <a:spcPts val="0"/>
              </a:spcAft>
              <a:buSzPts val="2822"/>
              <a:buChar char="•"/>
            </a:pPr>
            <a:r>
              <a:rPr b="1" lang="en-US">
                <a:solidFill>
                  <a:srgbClr val="7D28CD"/>
                </a:solidFill>
              </a:rPr>
              <a:t>Results </a:t>
            </a:r>
            <a:r>
              <a:rPr lang="en-US">
                <a:solidFill>
                  <a:schemeClr val="dk1"/>
                </a:solidFill>
              </a:rPr>
              <a:t>The IP or hostname of every hop and the time each hop takes (latency)</a:t>
            </a:r>
            <a:endParaRPr>
              <a:solidFill>
                <a:schemeClr val="dk1"/>
              </a:solidFill>
            </a:endParaRPr>
          </a:p>
          <a:p>
            <a:pPr indent="-64770" lvl="0" marL="285750" rtl="0" algn="l">
              <a:lnSpc>
                <a:spcPct val="100000"/>
              </a:lnSpc>
              <a:spcBef>
                <a:spcPts val="1080"/>
              </a:spcBef>
              <a:spcAft>
                <a:spcPts val="0"/>
              </a:spcAft>
              <a:buSzPts val="3762"/>
              <a:buNone/>
            </a:pPr>
            <a:r>
              <a:t/>
            </a:r>
            <a:endParaRPr/>
          </a:p>
        </p:txBody>
      </p:sp>
      <p:sp>
        <p:nvSpPr>
          <p:cNvPr id="2049" name="Google Shape;2049;p21"/>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a:t>
            </a:r>
            <a:endParaRPr/>
          </a:p>
        </p:txBody>
      </p:sp>
      <p:pic>
        <p:nvPicPr>
          <p:cNvPr id="2050" name="Google Shape;2050;p21"/>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
        <p:nvSpPr>
          <p:cNvPr descr="How to use the traceroute (tracert) command" id="2051" name="Google Shape;2051;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052" name="Google Shape;2052;p21"/>
          <p:cNvPicPr preferRelativeResize="0"/>
          <p:nvPr/>
        </p:nvPicPr>
        <p:blipFill rotWithShape="1">
          <a:blip r:embed="rId4">
            <a:alphaModFix/>
          </a:blip>
          <a:srcRect b="0" l="0" r="0" t="0"/>
          <a:stretch/>
        </p:blipFill>
        <p:spPr>
          <a:xfrm>
            <a:off x="4638266" y="2070430"/>
            <a:ext cx="7287427" cy="3463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61"/>
          <p:cNvSpPr txBox="1"/>
          <p:nvPr>
            <p:ph type="title"/>
          </p:nvPr>
        </p:nvSpPr>
        <p:spPr>
          <a:xfrm>
            <a:off x="8743950" y="158118"/>
            <a:ext cx="2759074" cy="92333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50000"/>
              <a:buNone/>
            </a:pPr>
            <a:r>
              <a:rPr lang="en-US"/>
              <a:t>Using Tracert </a:t>
            </a:r>
            <a:endParaRPr/>
          </a:p>
        </p:txBody>
      </p:sp>
      <p:pic>
        <p:nvPicPr>
          <p:cNvPr id="2059" name="Google Shape;2059;p61"/>
          <p:cNvPicPr preferRelativeResize="0"/>
          <p:nvPr/>
        </p:nvPicPr>
        <p:blipFill rotWithShape="1">
          <a:blip r:embed="rId3">
            <a:alphaModFix/>
          </a:blip>
          <a:srcRect b="0" l="0" r="0" t="0"/>
          <a:stretch/>
        </p:blipFill>
        <p:spPr>
          <a:xfrm>
            <a:off x="117567" y="158117"/>
            <a:ext cx="8397866" cy="6830512"/>
          </a:xfrm>
          <a:prstGeom prst="rect">
            <a:avLst/>
          </a:prstGeom>
          <a:noFill/>
          <a:ln>
            <a:noFill/>
          </a:ln>
        </p:spPr>
      </p:pic>
      <p:sp>
        <p:nvSpPr>
          <p:cNvPr id="2060" name="Google Shape;2060;p61"/>
          <p:cNvSpPr txBox="1"/>
          <p:nvPr/>
        </p:nvSpPr>
        <p:spPr>
          <a:xfrm>
            <a:off x="8743950" y="1081448"/>
            <a:ext cx="3260816" cy="50782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1</a:t>
            </a:r>
            <a:r>
              <a:rPr b="0" i="0" lang="en-US" sz="1800" u="none" cap="none" strike="noStrike">
                <a:solidFill>
                  <a:srgbClr val="7D28CD"/>
                </a:solidFill>
                <a:latin typeface="Corbel"/>
                <a:ea typeface="Corbel"/>
                <a:cs typeface="Corbel"/>
                <a:sym typeface="Corbel"/>
              </a:rPr>
              <a:t>: </a:t>
            </a:r>
            <a:r>
              <a:rPr b="0" i="0" lang="en-US" sz="1800" u="none" cap="none" strike="noStrike">
                <a:solidFill>
                  <a:srgbClr val="000000"/>
                </a:solidFill>
                <a:latin typeface="Corbel"/>
                <a:ea typeface="Corbel"/>
                <a:cs typeface="Corbel"/>
                <a:sym typeface="Corbel"/>
              </a:rPr>
              <a:t>Our local router or gateway (private IP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2–5</a:t>
            </a:r>
            <a:r>
              <a:rPr b="0" i="0" lang="en-US" sz="1800" u="none" cap="none" strike="noStrike">
                <a:solidFill>
                  <a:srgbClr val="7D28CD"/>
                </a:solidFill>
                <a:latin typeface="Corbel"/>
                <a:ea typeface="Corbel"/>
                <a:cs typeface="Corbel"/>
                <a:sym typeface="Corbel"/>
              </a:rPr>
              <a:t>:</a:t>
            </a:r>
            <a:r>
              <a:rPr b="0" i="0" lang="en-US" sz="1800" u="none" cap="none" strike="noStrike">
                <a:solidFill>
                  <a:srgbClr val="000000"/>
                </a:solidFill>
                <a:latin typeface="Corbel"/>
                <a:ea typeface="Corbel"/>
                <a:cs typeface="Corbel"/>
                <a:sym typeface="Corbel"/>
              </a:rPr>
              <a:t> Internal routing within Bracu ISP's private network (non-public IPs).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6</a:t>
            </a:r>
            <a:r>
              <a:rPr b="0" i="0" lang="en-US" sz="1800" u="none" cap="none" strike="noStrike">
                <a:solidFill>
                  <a:srgbClr val="7D28CD"/>
                </a:solidFill>
                <a:latin typeface="Corbel"/>
                <a:ea typeface="Corbel"/>
                <a:cs typeface="Corbel"/>
                <a:sym typeface="Corbel"/>
              </a:rPr>
              <a:t>:</a:t>
            </a:r>
            <a:r>
              <a:rPr b="0" i="0" lang="en-US" sz="1800" u="none" cap="none" strike="noStrike">
                <a:solidFill>
                  <a:srgbClr val="000000"/>
                </a:solidFill>
                <a:latin typeface="Corbel"/>
                <a:ea typeface="Corbel"/>
                <a:cs typeface="Corbel"/>
                <a:sym typeface="Corbel"/>
              </a:rPr>
              <a:t> First public IP, ISP's gateway to the internet.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7–9</a:t>
            </a:r>
            <a:r>
              <a:rPr b="0" i="0" lang="en-US" sz="1800" u="none" cap="none" strike="noStrike">
                <a:solidFill>
                  <a:srgbClr val="000000"/>
                </a:solidFill>
                <a:latin typeface="Corbel"/>
                <a:ea typeface="Corbel"/>
                <a:cs typeface="Corbel"/>
                <a:sym typeface="Corbel"/>
              </a:rPr>
              <a:t>: Routing through regional and backbone ISPs.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10–13</a:t>
            </a:r>
            <a:r>
              <a:rPr b="0" i="0" lang="en-US" sz="1800" u="none" cap="none" strike="noStrike">
                <a:solidFill>
                  <a:srgbClr val="7D28CD"/>
                </a:solidFill>
                <a:latin typeface="Corbel"/>
                <a:ea typeface="Corbel"/>
                <a:cs typeface="Corbel"/>
                <a:sym typeface="Corbel"/>
              </a:rPr>
              <a:t>: </a:t>
            </a:r>
            <a:r>
              <a:rPr b="0" i="0" lang="en-US" sz="1800" u="none" cap="none" strike="noStrike">
                <a:solidFill>
                  <a:srgbClr val="000000"/>
                </a:solidFill>
                <a:latin typeface="Corbel"/>
                <a:ea typeface="Corbel"/>
                <a:cs typeface="Corbel"/>
                <a:sym typeface="Corbel"/>
              </a:rPr>
              <a:t>Routing through Singapore (a major internet hub).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Hops 14–19</a:t>
            </a:r>
            <a:r>
              <a:rPr b="0" i="0" lang="en-US" sz="1800" u="none" cap="none" strike="noStrike">
                <a:solidFill>
                  <a:srgbClr val="000000"/>
                </a:solidFill>
                <a:latin typeface="Corbel"/>
                <a:ea typeface="Corbel"/>
                <a:cs typeface="Corbel"/>
                <a:sym typeface="Corbel"/>
              </a:rPr>
              <a:t>: Routing through Indian networks, ending in Mumbai.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7D28CD"/>
                </a:solidFill>
                <a:latin typeface="Corbel"/>
                <a:ea typeface="Corbel"/>
                <a:cs typeface="Corbel"/>
                <a:sym typeface="Corbel"/>
              </a:rPr>
              <a:t>Hop 20</a:t>
            </a:r>
            <a:r>
              <a:rPr b="0" i="0" lang="en-US" sz="1800" u="none" cap="none" strike="noStrike">
                <a:solidFill>
                  <a:srgbClr val="000000"/>
                </a:solidFill>
                <a:latin typeface="Corbel"/>
                <a:ea typeface="Corbel"/>
                <a:cs typeface="Corbel"/>
                <a:sym typeface="Corbel"/>
              </a:rPr>
              <a:t>: Final destination—Yahoo's server, located in India, near Mumbai.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25"/>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 Another example</a:t>
            </a:r>
            <a:endParaRPr/>
          </a:p>
        </p:txBody>
      </p:sp>
      <p:sp>
        <p:nvSpPr>
          <p:cNvPr id="2066" name="Google Shape;2066;p25"/>
          <p:cNvSpPr txBox="1"/>
          <p:nvPr>
            <p:ph idx="1" type="body"/>
          </p:nvPr>
        </p:nvSpPr>
        <p:spPr>
          <a:xfrm>
            <a:off x="1484310" y="1066801"/>
            <a:ext cx="10018713" cy="4724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610"/>
              <a:buNone/>
            </a:pPr>
            <a:r>
              <a:rPr lang="en-US" sz="1800"/>
              <a:t>Hop 1:  User LAN router</a:t>
            </a:r>
            <a:endParaRPr/>
          </a:p>
          <a:p>
            <a:pPr indent="0" lvl="0" marL="0" rtl="0" algn="l">
              <a:lnSpc>
                <a:spcPct val="100000"/>
              </a:lnSpc>
              <a:spcBef>
                <a:spcPts val="960"/>
              </a:spcBef>
              <a:spcAft>
                <a:spcPts val="0"/>
              </a:spcAft>
              <a:buSzPts val="2610"/>
              <a:buNone/>
            </a:pPr>
            <a:r>
              <a:rPr lang="en-US" sz="1800"/>
              <a:t>Hops 2-4:  Verizon network (a backbone ISP)</a:t>
            </a:r>
            <a:endParaRPr/>
          </a:p>
          <a:p>
            <a:pPr indent="0" lvl="0" marL="0" rtl="0" algn="l">
              <a:lnSpc>
                <a:spcPct val="100000"/>
              </a:lnSpc>
              <a:spcBef>
                <a:spcPts val="960"/>
              </a:spcBef>
              <a:spcAft>
                <a:spcPts val="0"/>
              </a:spcAft>
              <a:buSzPts val="2610"/>
              <a:buNone/>
            </a:pPr>
            <a:r>
              <a:rPr lang="en-US" sz="1800"/>
              <a:t>Hops 5-6:  Alternet (a backbone ISP)</a:t>
            </a:r>
            <a:endParaRPr/>
          </a:p>
          <a:p>
            <a:pPr indent="0" lvl="0" marL="0" rtl="0" algn="l">
              <a:lnSpc>
                <a:spcPct val="100000"/>
              </a:lnSpc>
              <a:spcBef>
                <a:spcPts val="960"/>
              </a:spcBef>
              <a:spcAft>
                <a:spcPts val="0"/>
              </a:spcAft>
              <a:buSzPts val="2610"/>
              <a:buNone/>
            </a:pPr>
            <a:r>
              <a:rPr lang="en-US" sz="1800"/>
              <a:t>Hops 7-11:  Level 3 (a backbone ISP)</a:t>
            </a:r>
            <a:endParaRPr/>
          </a:p>
          <a:p>
            <a:pPr indent="0" lvl="0" marL="0" rtl="0" algn="l">
              <a:lnSpc>
                <a:spcPct val="100000"/>
              </a:lnSpc>
              <a:spcBef>
                <a:spcPts val="960"/>
              </a:spcBef>
              <a:spcAft>
                <a:spcPts val="0"/>
              </a:spcAft>
              <a:buSzPts val="2610"/>
              <a:buNone/>
            </a:pPr>
            <a:r>
              <a:rPr lang="en-US" sz="1800"/>
              <a:t>Hops 12-14:  the Google LAN</a:t>
            </a:r>
            <a:endParaRPr/>
          </a:p>
        </p:txBody>
      </p:sp>
      <p:pic>
        <p:nvPicPr>
          <p:cNvPr id="2067" name="Google Shape;2067;p25"/>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2068" name="Google Shape;2068;p25"/>
          <p:cNvPicPr preferRelativeResize="0"/>
          <p:nvPr/>
        </p:nvPicPr>
        <p:blipFill rotWithShape="1">
          <a:blip r:embed="rId4">
            <a:alphaModFix/>
          </a:blip>
          <a:srcRect b="0" l="0" r="0" t="0"/>
          <a:stretch/>
        </p:blipFill>
        <p:spPr>
          <a:xfrm>
            <a:off x="2420642" y="3095489"/>
            <a:ext cx="8921434" cy="376251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sp>
        <p:nvSpPr>
          <p:cNvPr id="2073" name="Google Shape;2073;p26"/>
          <p:cNvSpPr txBox="1"/>
          <p:nvPr>
            <p:ph type="title"/>
          </p:nvPr>
        </p:nvSpPr>
        <p:spPr>
          <a:xfrm>
            <a:off x="1484310" y="325395"/>
            <a:ext cx="10018713" cy="74140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Traceroute: Request Timed Out</a:t>
            </a:r>
            <a:endParaRPr/>
          </a:p>
        </p:txBody>
      </p:sp>
      <p:sp>
        <p:nvSpPr>
          <p:cNvPr id="2074" name="Google Shape;2074;p26"/>
          <p:cNvSpPr txBox="1"/>
          <p:nvPr>
            <p:ph idx="1" type="body"/>
          </p:nvPr>
        </p:nvSpPr>
        <p:spPr>
          <a:xfrm>
            <a:off x="1591925" y="1407433"/>
            <a:ext cx="10018713" cy="4724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lang="en-US"/>
              <a:t>This message indicates that the router security settings keep it from revealing its identity or the router and connection are slow.</a:t>
            </a:r>
            <a:endParaRPr/>
          </a:p>
        </p:txBody>
      </p:sp>
      <p:pic>
        <p:nvPicPr>
          <p:cNvPr id="2075" name="Google Shape;2075;p26"/>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pic>
        <p:nvPicPr>
          <p:cNvPr id="2076" name="Google Shape;2076;p26"/>
          <p:cNvPicPr preferRelativeResize="0"/>
          <p:nvPr/>
        </p:nvPicPr>
        <p:blipFill rotWithShape="1">
          <a:blip r:embed="rId4">
            <a:alphaModFix/>
          </a:blip>
          <a:srcRect b="0" l="0" r="0" t="0"/>
          <a:stretch/>
        </p:blipFill>
        <p:spPr>
          <a:xfrm>
            <a:off x="2150266" y="2874962"/>
            <a:ext cx="8229600" cy="55403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40"/>
          <p:cNvSpPr txBox="1"/>
          <p:nvPr>
            <p:ph type="title"/>
          </p:nvPr>
        </p:nvSpPr>
        <p:spPr>
          <a:xfrm>
            <a:off x="1484310" y="325395"/>
            <a:ext cx="10018713" cy="380794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7200"/>
              <a:buFont typeface="Corbel"/>
              <a:buNone/>
            </a:pPr>
            <a:r>
              <a:rPr lang="en-US" sz="7200"/>
              <a:t>The End</a:t>
            </a:r>
            <a:endParaRPr/>
          </a:p>
        </p:txBody>
      </p:sp>
      <p:pic>
        <p:nvPicPr>
          <p:cNvPr id="2082" name="Google Shape;2082;p40"/>
          <p:cNvPicPr preferRelativeResize="0"/>
          <p:nvPr/>
        </p:nvPicPr>
        <p:blipFill rotWithShape="1">
          <a:blip r:embed="rId3">
            <a:alphaModFix/>
          </a:blip>
          <a:srcRect b="0" l="0" r="0" t="0"/>
          <a:stretch/>
        </p:blipFill>
        <p:spPr>
          <a:xfrm>
            <a:off x="11029276" y="0"/>
            <a:ext cx="1162724" cy="1066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2020-06-17T13:03:26Z</dcterms:created>
  <dc:creator>Arif Shakil</dc:creator>
</cp:coreProperties>
</file>