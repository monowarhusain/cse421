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</p:sldIdLst>
  <p:sldSz cy="6858000" cx="12192000"/>
  <p:notesSz cx="6858000" cy="9144000"/>
  <p:embeddedFontLst>
    <p:embeddedFont>
      <p:font typeface="Corbel"/>
      <p:regular r:id="rId70"/>
      <p:bold r:id="rId71"/>
      <p:italic r:id="rId72"/>
      <p:boldItalic r:id="rId73"/>
    </p:embeddedFont>
    <p:embeddedFont>
      <p:font typeface="Arial Black"/>
      <p:regular r:id="rId7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75" roundtripDataSignature="AMtx7mhCLZoqRpK7gSomoFUqA4MNdcSq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D443BBA-3845-493F-8051-ACD5F123C0B7}">
  <a:tblStyle styleId="{6D443BBA-3845-493F-8051-ACD5F123C0B7}" styleName="Table_0">
    <a:wholeTbl>
      <a:tcTxStyle b="off" i="off">
        <a:font>
          <a:latin typeface="Corbel"/>
          <a:ea typeface="Corbel"/>
          <a:cs typeface="Corbel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font" Target="fonts/Corbel-boldItalic.fntdata"/><Relationship Id="rId72" Type="http://schemas.openxmlformats.org/officeDocument/2006/relationships/font" Target="fonts/Corbel-italic.fntdata"/><Relationship Id="rId31" Type="http://schemas.openxmlformats.org/officeDocument/2006/relationships/slide" Target="slides/slide26.xml"/><Relationship Id="rId75" Type="http://customschemas.google.com/relationships/presentationmetadata" Target="metadata"/><Relationship Id="rId30" Type="http://schemas.openxmlformats.org/officeDocument/2006/relationships/slide" Target="slides/slide25.xml"/><Relationship Id="rId74" Type="http://schemas.openxmlformats.org/officeDocument/2006/relationships/font" Target="fonts/ArialBlack-regular.fntdata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1" Type="http://schemas.openxmlformats.org/officeDocument/2006/relationships/font" Target="fonts/Corbel-bold.fntdata"/><Relationship Id="rId70" Type="http://schemas.openxmlformats.org/officeDocument/2006/relationships/font" Target="fonts/Corbel-regular.fntdata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" name="Google Shape;931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7" name="Google Shape;937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3" name="Google Shape;943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7" name="Google Shape;997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p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6" name="Google Shape;1056;p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66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4" name="Google Shape;24;p66"/>
            <p:cNvSpPr/>
            <p:nvPr/>
          </p:nvSpPr>
          <p:spPr>
            <a:xfrm>
              <a:off x="3367088" y="-4763"/>
              <a:ext cx="1063625" cy="2782888"/>
            </a:xfrm>
            <a:custGeom>
              <a:rect b="b" l="l" r="r" t="t"/>
              <a:pathLst>
                <a:path extrusionOk="0" h="1753" w="670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5" name="Google Shape;25;p66"/>
            <p:cNvSpPr/>
            <p:nvPr/>
          </p:nvSpPr>
          <p:spPr>
            <a:xfrm>
              <a:off x="2928938" y="-4763"/>
              <a:ext cx="1035050" cy="2673350"/>
            </a:xfrm>
            <a:custGeom>
              <a:rect b="b" l="l" r="r" t="t"/>
              <a:pathLst>
                <a:path extrusionOk="0" h="1684" w="652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6" name="Google Shape;26;p66"/>
            <p:cNvSpPr/>
            <p:nvPr/>
          </p:nvSpPr>
          <p:spPr>
            <a:xfrm>
              <a:off x="2928938" y="2582862"/>
              <a:ext cx="2693987" cy="4275138"/>
            </a:xfrm>
            <a:custGeom>
              <a:rect b="b" l="l" r="r" t="t"/>
              <a:pathLst>
                <a:path extrusionOk="0" h="2693" w="1697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7" name="Google Shape;27;p66"/>
            <p:cNvSpPr/>
            <p:nvPr/>
          </p:nvSpPr>
          <p:spPr>
            <a:xfrm>
              <a:off x="3371850" y="2692400"/>
              <a:ext cx="3332162" cy="4165600"/>
            </a:xfrm>
            <a:custGeom>
              <a:rect b="b" l="l" r="r" t="t"/>
              <a:pathLst>
                <a:path extrusionOk="0" h="2624" w="2099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28" name="Google Shape;28;p66"/>
            <p:cNvSpPr/>
            <p:nvPr/>
          </p:nvSpPr>
          <p:spPr>
            <a:xfrm>
              <a:off x="3367088" y="2687637"/>
              <a:ext cx="4576762" cy="4170363"/>
            </a:xfrm>
            <a:custGeom>
              <a:rect b="b" l="l" r="r" t="t"/>
              <a:pathLst>
                <a:path extrusionOk="0" h="2627" w="2883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29" name="Google Shape;29;p66"/>
            <p:cNvSpPr/>
            <p:nvPr/>
          </p:nvSpPr>
          <p:spPr>
            <a:xfrm>
              <a:off x="2928938" y="2578100"/>
              <a:ext cx="3584575" cy="4279900"/>
            </a:xfrm>
            <a:custGeom>
              <a:rect b="b" l="l" r="r" t="t"/>
              <a:pathLst>
                <a:path extrusionOk="0" h="2696" w="2258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30" name="Google Shape;30;p66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  <a:defRPr sz="6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6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420"/>
              </a:spcBef>
              <a:spcAft>
                <a:spcPts val="0"/>
              </a:spcAft>
              <a:buSzPts val="3045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29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261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232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203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66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66"/>
          <p:cNvSpPr txBox="1"/>
          <p:nvPr>
            <p:ph idx="11" type="ftr"/>
          </p:nvPr>
        </p:nvSpPr>
        <p:spPr>
          <a:xfrm>
            <a:off x="5332412" y="5883275"/>
            <a:ext cx="432404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7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7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38" name="Google Shape;38;p67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7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7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8"/>
          <p:cNvSpPr txBox="1"/>
          <p:nvPr>
            <p:ph type="title"/>
          </p:nvPr>
        </p:nvSpPr>
        <p:spPr>
          <a:xfrm>
            <a:off x="2572279" y="2666999"/>
            <a:ext cx="8930747" cy="211038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8"/>
          <p:cNvSpPr txBox="1"/>
          <p:nvPr>
            <p:ph idx="1" type="body"/>
          </p:nvPr>
        </p:nvSpPr>
        <p:spPr>
          <a:xfrm>
            <a:off x="2572278" y="4777381"/>
            <a:ext cx="893074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4" name="Google Shape;44;p68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8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8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9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9"/>
          <p:cNvSpPr txBox="1"/>
          <p:nvPr>
            <p:ph idx="1" type="body"/>
          </p:nvPr>
        </p:nvSpPr>
        <p:spPr>
          <a:xfrm>
            <a:off x="1484312" y="2666999"/>
            <a:ext cx="4895055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50" name="Google Shape;50;p69"/>
          <p:cNvSpPr txBox="1"/>
          <p:nvPr>
            <p:ph idx="2" type="body"/>
          </p:nvPr>
        </p:nvSpPr>
        <p:spPr>
          <a:xfrm>
            <a:off x="6607967" y="2667000"/>
            <a:ext cx="4895056" cy="31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51" name="Google Shape;51;p69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9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9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0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0"/>
          <p:cNvSpPr txBox="1"/>
          <p:nvPr>
            <p:ph idx="1" type="body"/>
          </p:nvPr>
        </p:nvSpPr>
        <p:spPr>
          <a:xfrm>
            <a:off x="1772179" y="2658533"/>
            <a:ext cx="460718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1186C3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57" name="Google Shape;57;p70"/>
          <p:cNvSpPr txBox="1"/>
          <p:nvPr>
            <p:ph idx="2" type="body"/>
          </p:nvPr>
        </p:nvSpPr>
        <p:spPr>
          <a:xfrm>
            <a:off x="1484311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58" name="Google Shape;58;p70"/>
          <p:cNvSpPr txBox="1"/>
          <p:nvPr>
            <p:ph idx="3" type="body"/>
          </p:nvPr>
        </p:nvSpPr>
        <p:spPr>
          <a:xfrm>
            <a:off x="6880487" y="2667000"/>
            <a:ext cx="4622537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1186C3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59" name="Google Shape;59;p70"/>
          <p:cNvSpPr txBox="1"/>
          <p:nvPr>
            <p:ph idx="4" type="body"/>
          </p:nvPr>
        </p:nvSpPr>
        <p:spPr>
          <a:xfrm>
            <a:off x="6607967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60" name="Google Shape;60;p70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70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0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71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71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71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7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2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72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72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3"/>
          <p:cNvSpPr txBox="1"/>
          <p:nvPr>
            <p:ph type="title"/>
          </p:nvPr>
        </p:nvSpPr>
        <p:spPr>
          <a:xfrm>
            <a:off x="1484312" y="1600200"/>
            <a:ext cx="3549121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73"/>
          <p:cNvSpPr txBox="1"/>
          <p:nvPr>
            <p:ph idx="1" type="body"/>
          </p:nvPr>
        </p:nvSpPr>
        <p:spPr>
          <a:xfrm>
            <a:off x="5262033" y="685799"/>
            <a:ext cx="6240990" cy="5105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12750" lvl="0" marL="457200" algn="l">
              <a:spcBef>
                <a:spcPts val="400"/>
              </a:spcBef>
              <a:spcAft>
                <a:spcPts val="0"/>
              </a:spcAft>
              <a:buSzPts val="2900"/>
              <a:buChar char="•"/>
              <a:defRPr sz="2000"/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 sz="1800"/>
            </a:lvl2pPr>
            <a:lvl3pPr indent="-375919" lvl="2" marL="1371600" algn="l"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3pPr>
            <a:lvl4pPr indent="-357505" lvl="3" marL="18288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4pPr>
            <a:lvl5pPr indent="-357504" lvl="4" marL="22860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5pPr>
            <a:lvl6pPr indent="-357504" lvl="5" marL="27432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6pPr>
            <a:lvl7pPr indent="-357504" lvl="6" marL="32004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7pPr>
            <a:lvl8pPr indent="-357504" lvl="7" marL="36576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8pPr>
            <a:lvl9pPr indent="-357504" lvl="8" marL="4114800" algn="l">
              <a:spcBef>
                <a:spcPts val="600"/>
              </a:spcBef>
              <a:spcAft>
                <a:spcPts val="600"/>
              </a:spcAft>
              <a:buSzPts val="2030"/>
              <a:buChar char="•"/>
              <a:defRPr sz="1400"/>
            </a:lvl9pPr>
          </a:lstStyle>
          <a:p/>
        </p:txBody>
      </p:sp>
      <p:sp>
        <p:nvSpPr>
          <p:cNvPr id="75" name="Google Shape;75;p73"/>
          <p:cNvSpPr txBox="1"/>
          <p:nvPr>
            <p:ph idx="2" type="body"/>
          </p:nvPr>
        </p:nvSpPr>
        <p:spPr>
          <a:xfrm>
            <a:off x="1484312" y="2971800"/>
            <a:ext cx="3549121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320"/>
              </a:spcBef>
              <a:spcAft>
                <a:spcPts val="0"/>
              </a:spcAft>
              <a:buSzPts val="2320"/>
              <a:buNone/>
              <a:defRPr sz="16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76" name="Google Shape;76;p73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73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7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4"/>
          <p:cNvSpPr txBox="1"/>
          <p:nvPr>
            <p:ph type="title"/>
          </p:nvPr>
        </p:nvSpPr>
        <p:spPr>
          <a:xfrm>
            <a:off x="1482724" y="1752599"/>
            <a:ext cx="542615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rbel"/>
              <a:buNone/>
              <a:defRPr b="0" sz="2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74"/>
          <p:cNvSpPr/>
          <p:nvPr>
            <p:ph idx="2" type="pic"/>
          </p:nvPr>
        </p:nvSpPr>
        <p:spPr>
          <a:xfrm>
            <a:off x="7594682" y="914400"/>
            <a:ext cx="3280974" cy="4572000"/>
          </a:xfrm>
          <a:prstGeom prst="roundRect">
            <a:avLst>
              <a:gd fmla="val 42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74"/>
          <p:cNvSpPr txBox="1"/>
          <p:nvPr>
            <p:ph idx="1" type="body"/>
          </p:nvPr>
        </p:nvSpPr>
        <p:spPr>
          <a:xfrm>
            <a:off x="1482724" y="3124199"/>
            <a:ext cx="542615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360"/>
              </a:spcBef>
              <a:spcAft>
                <a:spcPts val="0"/>
              </a:spcAft>
              <a:buSzPts val="2610"/>
              <a:buNone/>
              <a:defRPr sz="18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83" name="Google Shape;83;p74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74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7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5"/>
          <p:cNvSpPr txBox="1"/>
          <p:nvPr>
            <p:ph type="title"/>
          </p:nvPr>
        </p:nvSpPr>
        <p:spPr>
          <a:xfrm>
            <a:off x="1484311" y="4732865"/>
            <a:ext cx="10018711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75"/>
          <p:cNvSpPr/>
          <p:nvPr>
            <p:ph idx="2" type="pic"/>
          </p:nvPr>
        </p:nvSpPr>
        <p:spPr>
          <a:xfrm>
            <a:off x="2386012" y="932112"/>
            <a:ext cx="8225944" cy="3164976"/>
          </a:xfrm>
          <a:prstGeom prst="roundRect">
            <a:avLst>
              <a:gd fmla="val 43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75"/>
          <p:cNvSpPr txBox="1"/>
          <p:nvPr>
            <p:ph idx="1" type="body"/>
          </p:nvPr>
        </p:nvSpPr>
        <p:spPr>
          <a:xfrm>
            <a:off x="1484311" y="5299603"/>
            <a:ext cx="10018711" cy="493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280"/>
              </a:spcBef>
              <a:spcAft>
                <a:spcPts val="0"/>
              </a:spcAft>
              <a:buSzPts val="2030"/>
              <a:buNone/>
              <a:defRPr sz="1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90" name="Google Shape;90;p75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75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7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6"/>
          <p:cNvSpPr txBox="1"/>
          <p:nvPr>
            <p:ph type="title"/>
          </p:nvPr>
        </p:nvSpPr>
        <p:spPr>
          <a:xfrm>
            <a:off x="1484312" y="685800"/>
            <a:ext cx="10018711" cy="30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76"/>
          <p:cNvSpPr txBox="1"/>
          <p:nvPr>
            <p:ph idx="1" type="body"/>
          </p:nvPr>
        </p:nvSpPr>
        <p:spPr>
          <a:xfrm>
            <a:off x="1484312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6" name="Google Shape;96;p76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76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7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7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lang="en-US" sz="8000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/>
          </a:p>
        </p:txBody>
      </p:sp>
      <p:sp>
        <p:nvSpPr>
          <p:cNvPr id="101" name="Google Shape;101;p77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lang="en-US" sz="8000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/>
          </a:p>
        </p:txBody>
      </p:sp>
      <p:sp>
        <p:nvSpPr>
          <p:cNvPr id="102" name="Google Shape;102;p77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77"/>
          <p:cNvSpPr txBox="1"/>
          <p:nvPr>
            <p:ph idx="1" type="body"/>
          </p:nvPr>
        </p:nvSpPr>
        <p:spPr>
          <a:xfrm>
            <a:off x="2436811" y="3428999"/>
            <a:ext cx="853281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2610"/>
              <a:buFont typeface="Corbel"/>
              <a:buNone/>
              <a:defRPr sz="18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900"/>
              <a:buFont typeface="Corbel"/>
              <a:buNone/>
              <a:defRPr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610"/>
              <a:buFont typeface="Corbel"/>
              <a:buNone/>
              <a:defRPr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320"/>
              <a:buFont typeface="Corbel"/>
              <a:buNone/>
              <a:defRPr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Font typeface="Corbel"/>
              <a:buNone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04" name="Google Shape;104;p77"/>
          <p:cNvSpPr txBox="1"/>
          <p:nvPr>
            <p:ph idx="2" type="body"/>
          </p:nvPr>
        </p:nvSpPr>
        <p:spPr>
          <a:xfrm>
            <a:off x="1484311" y="4343400"/>
            <a:ext cx="10018711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5" name="Google Shape;105;p77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77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7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8"/>
          <p:cNvSpPr txBox="1"/>
          <p:nvPr>
            <p:ph type="title"/>
          </p:nvPr>
        </p:nvSpPr>
        <p:spPr>
          <a:xfrm>
            <a:off x="1484313" y="3308581"/>
            <a:ext cx="10018709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78"/>
          <p:cNvSpPr txBox="1"/>
          <p:nvPr>
            <p:ph idx="1" type="body"/>
          </p:nvPr>
        </p:nvSpPr>
        <p:spPr>
          <a:xfrm>
            <a:off x="1484312" y="4777381"/>
            <a:ext cx="10018710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1" name="Google Shape;111;p78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78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78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9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lang="en-US" sz="8000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/>
          </a:p>
        </p:txBody>
      </p:sp>
      <p:sp>
        <p:nvSpPr>
          <p:cNvPr id="116" name="Google Shape;116;p79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lang="en-US" sz="8000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/>
          </a:p>
        </p:txBody>
      </p:sp>
      <p:sp>
        <p:nvSpPr>
          <p:cNvPr id="117" name="Google Shape;117;p79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79"/>
          <p:cNvSpPr txBox="1"/>
          <p:nvPr>
            <p:ph idx="1" type="body"/>
          </p:nvPr>
        </p:nvSpPr>
        <p:spPr>
          <a:xfrm>
            <a:off x="1484313" y="3886200"/>
            <a:ext cx="10018710" cy="88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480"/>
              </a:spcBef>
              <a:spcAft>
                <a:spcPts val="0"/>
              </a:spcAft>
              <a:buSzPts val="3480"/>
              <a:buNone/>
              <a:defRPr b="0" sz="2400" cap="none">
                <a:solidFill>
                  <a:schemeClr val="dk1"/>
                </a:solidFill>
              </a:defRPr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19" name="Google Shape;119;p79"/>
          <p:cNvSpPr txBox="1"/>
          <p:nvPr>
            <p:ph idx="2" type="body"/>
          </p:nvPr>
        </p:nvSpPr>
        <p:spPr>
          <a:xfrm>
            <a:off x="1484312" y="4775200"/>
            <a:ext cx="1001871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0" name="Google Shape;120;p79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79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79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0"/>
          <p:cNvSpPr txBox="1"/>
          <p:nvPr>
            <p:ph type="title"/>
          </p:nvPr>
        </p:nvSpPr>
        <p:spPr>
          <a:xfrm>
            <a:off x="1484313" y="685800"/>
            <a:ext cx="10018712" cy="2727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80"/>
          <p:cNvSpPr txBox="1"/>
          <p:nvPr>
            <p:ph idx="1" type="body"/>
          </p:nvPr>
        </p:nvSpPr>
        <p:spPr>
          <a:xfrm>
            <a:off x="1484312" y="3505200"/>
            <a:ext cx="10018713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 cap="none">
                <a:solidFill>
                  <a:schemeClr val="dk1"/>
                </a:solidFill>
              </a:defRPr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26" name="Google Shape;126;p80"/>
          <p:cNvSpPr txBox="1"/>
          <p:nvPr>
            <p:ph idx="2" type="body"/>
          </p:nvPr>
        </p:nvSpPr>
        <p:spPr>
          <a:xfrm>
            <a:off x="1484311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7" name="Google Shape;127;p80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80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80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1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81"/>
          <p:cNvSpPr txBox="1"/>
          <p:nvPr>
            <p:ph idx="1" type="body"/>
          </p:nvPr>
        </p:nvSpPr>
        <p:spPr>
          <a:xfrm rot="5400000">
            <a:off x="4931566" y="-780257"/>
            <a:ext cx="3124201" cy="10018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33" name="Google Shape;133;p81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81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8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2"/>
          <p:cNvSpPr txBox="1"/>
          <p:nvPr>
            <p:ph type="title"/>
          </p:nvPr>
        </p:nvSpPr>
        <p:spPr>
          <a:xfrm rot="5400000">
            <a:off x="8065140" y="2353316"/>
            <a:ext cx="5105400" cy="17703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82"/>
          <p:cNvSpPr txBox="1"/>
          <p:nvPr>
            <p:ph idx="1" type="body"/>
          </p:nvPr>
        </p:nvSpPr>
        <p:spPr>
          <a:xfrm rot="5400000">
            <a:off x="2941483" y="-771371"/>
            <a:ext cx="5105400" cy="8019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39" name="Google Shape;139;p82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82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82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1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65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1" name="Google Shape;11;p65"/>
            <p:cNvSpPr/>
            <p:nvPr/>
          </p:nvSpPr>
          <p:spPr>
            <a:xfrm>
              <a:off x="1627188" y="0"/>
              <a:ext cx="1122363" cy="5329238"/>
            </a:xfrm>
            <a:custGeom>
              <a:rect b="b" l="l" r="r" t="t"/>
              <a:pathLst>
                <a:path extrusionOk="0" h="3357" w="70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" name="Google Shape;12;p65"/>
            <p:cNvSpPr/>
            <p:nvPr/>
          </p:nvSpPr>
          <p:spPr>
            <a:xfrm>
              <a:off x="1320800" y="0"/>
              <a:ext cx="1117600" cy="5276850"/>
            </a:xfrm>
            <a:custGeom>
              <a:rect b="b" l="l" r="r" t="t"/>
              <a:pathLst>
                <a:path extrusionOk="0" h="3324" w="70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3" name="Google Shape;13;p65"/>
            <p:cNvSpPr/>
            <p:nvPr/>
          </p:nvSpPr>
          <p:spPr>
            <a:xfrm>
              <a:off x="1320800" y="5238750"/>
              <a:ext cx="1228725" cy="1619250"/>
            </a:xfrm>
            <a:custGeom>
              <a:rect b="b" l="l" r="r" t="t"/>
              <a:pathLst>
                <a:path extrusionOk="0" h="1020" w="774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4" name="Google Shape;14;p65"/>
            <p:cNvSpPr/>
            <p:nvPr/>
          </p:nvSpPr>
          <p:spPr>
            <a:xfrm>
              <a:off x="1627188" y="5291138"/>
              <a:ext cx="1495425" cy="1566863"/>
            </a:xfrm>
            <a:custGeom>
              <a:rect b="b" l="l" r="r" t="t"/>
              <a:pathLst>
                <a:path extrusionOk="0" h="987" w="942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15" name="Google Shape;15;p65"/>
            <p:cNvSpPr/>
            <p:nvPr/>
          </p:nvSpPr>
          <p:spPr>
            <a:xfrm>
              <a:off x="1627188" y="5286375"/>
              <a:ext cx="2130425" cy="1571625"/>
            </a:xfrm>
            <a:custGeom>
              <a:rect b="b" l="l" r="r" t="t"/>
              <a:pathLst>
                <a:path extrusionOk="0" h="990" w="1342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16" name="Google Shape;16;p65"/>
            <p:cNvSpPr/>
            <p:nvPr/>
          </p:nvSpPr>
          <p:spPr>
            <a:xfrm>
              <a:off x="1320800" y="5238750"/>
              <a:ext cx="1695450" cy="1619250"/>
            </a:xfrm>
            <a:custGeom>
              <a:rect b="b" l="l" r="r" t="t"/>
              <a:pathLst>
                <a:path extrusionOk="0" h="1020" w="1068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17" name="Google Shape;17;p65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i="0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" name="Google Shape;18;p65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49580" lvl="0" marL="457200" marR="0" rtl="0" algn="l"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412750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94335" lvl="2" marL="1371600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75919" lvl="3" marL="1828800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57504" lvl="4" marL="2286000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57504" lvl="5" marL="2743200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57504" lvl="6" marL="3200400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57504" lvl="7" marL="3657600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57504" lvl="8" marL="4114800" marR="0" rtl="0" algn="l">
              <a:spcBef>
                <a:spcPts val="600"/>
              </a:spcBef>
              <a:spcAft>
                <a:spcPts val="60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9" name="Google Shape;19;p65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0" name="Google Shape;20;p65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1" name="Google Shape;21;p6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7.png"/><Relationship Id="rId4" Type="http://schemas.openxmlformats.org/officeDocument/2006/relationships/image" Target="../media/image5.png"/><Relationship Id="rId5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9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3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3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2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16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3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6.jpg"/><Relationship Id="rId5" Type="http://schemas.openxmlformats.org/officeDocument/2006/relationships/image" Target="../media/image1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8.jpg"/><Relationship Id="rId6" Type="http://schemas.openxmlformats.org/officeDocument/2006/relationships/image" Target="../media/image45.jpg"/><Relationship Id="rId7" Type="http://schemas.openxmlformats.org/officeDocument/2006/relationships/image" Target="../media/image1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png"/><Relationship Id="rId4" Type="http://schemas.openxmlformats.org/officeDocument/2006/relationships/image" Target="../media/image1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png"/><Relationship Id="rId4" Type="http://schemas.openxmlformats.org/officeDocument/2006/relationships/image" Target="../media/image22.png"/><Relationship Id="rId5" Type="http://schemas.openxmlformats.org/officeDocument/2006/relationships/image" Target="../media/image24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1.png"/><Relationship Id="rId4" Type="http://schemas.openxmlformats.org/officeDocument/2006/relationships/image" Target="../media/image1.png"/><Relationship Id="rId5" Type="http://schemas.openxmlformats.org/officeDocument/2006/relationships/image" Target="../media/image18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.png"/><Relationship Id="rId4" Type="http://schemas.openxmlformats.org/officeDocument/2006/relationships/image" Target="../media/image43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.png"/><Relationship Id="rId4" Type="http://schemas.openxmlformats.org/officeDocument/2006/relationships/image" Target="../media/image20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.png"/><Relationship Id="rId4" Type="http://schemas.openxmlformats.org/officeDocument/2006/relationships/image" Target="../media/image33.png"/><Relationship Id="rId5" Type="http://schemas.openxmlformats.org/officeDocument/2006/relationships/image" Target="../media/image21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.png"/><Relationship Id="rId4" Type="http://schemas.openxmlformats.org/officeDocument/2006/relationships/image" Target="../media/image30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.png"/><Relationship Id="rId4" Type="http://schemas.openxmlformats.org/officeDocument/2006/relationships/image" Target="../media/image28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.png"/><Relationship Id="rId4" Type="http://schemas.openxmlformats.org/officeDocument/2006/relationships/image" Target="../media/image37.png"/><Relationship Id="rId5" Type="http://schemas.openxmlformats.org/officeDocument/2006/relationships/image" Target="../media/image44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35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.png"/><Relationship Id="rId4" Type="http://schemas.openxmlformats.org/officeDocument/2006/relationships/image" Target="../media/image36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42.png"/><Relationship Id="rId4" Type="http://schemas.openxmlformats.org/officeDocument/2006/relationships/image" Target="../media/image1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46.png"/><Relationship Id="rId4" Type="http://schemas.openxmlformats.org/officeDocument/2006/relationships/image" Target="../media/image1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1.png"/><Relationship Id="rId4" Type="http://schemas.openxmlformats.org/officeDocument/2006/relationships/image" Target="../media/image47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Network Models &amp;</a:t>
            </a:r>
            <a:br>
              <a:rPr lang="en-US"/>
            </a:br>
            <a:r>
              <a:rPr lang="en-US"/>
              <a:t>Protocol Architectures</a:t>
            </a:r>
            <a:endParaRPr/>
          </a:p>
        </p:txBody>
      </p:sp>
      <p:sp>
        <p:nvSpPr>
          <p:cNvPr id="148" name="Google Shape;148;p1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3045"/>
              <a:buNone/>
            </a:pPr>
            <a:r>
              <a:rPr lang="en-US"/>
              <a:t>Lecture 1 | CSE421 – Computer Networks</a:t>
            </a:r>
            <a:endParaRPr/>
          </a:p>
          <a:p>
            <a:pPr indent="0" lvl="0" marL="0" rtl="0" algn="r">
              <a:spcBef>
                <a:spcPts val="1020"/>
              </a:spcBef>
              <a:spcAft>
                <a:spcPts val="0"/>
              </a:spcAft>
              <a:buSzPts val="3045"/>
              <a:buNone/>
            </a:pPr>
            <a:r>
              <a:rPr lang="en-US"/>
              <a:t>Department of Computer Science and Engineering</a:t>
            </a:r>
            <a:br>
              <a:rPr lang="en-US"/>
            </a:br>
            <a:r>
              <a:rPr lang="en-US"/>
              <a:t>School of Data &amp; Science</a:t>
            </a:r>
            <a:endParaRPr/>
          </a:p>
        </p:txBody>
      </p:sp>
      <p:pic>
        <p:nvPicPr>
          <p:cNvPr id="149" name="Google Shape;14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76333" y="217086"/>
            <a:ext cx="1639334" cy="15040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Objectives</a:t>
            </a:r>
            <a:endParaRPr/>
          </a:p>
        </p:txBody>
      </p:sp>
      <p:sp>
        <p:nvSpPr>
          <p:cNvPr id="155" name="Google Shape;155;p2"/>
          <p:cNvSpPr txBox="1"/>
          <p:nvPr>
            <p:ph idx="1" type="body"/>
          </p:nvPr>
        </p:nvSpPr>
        <p:spPr>
          <a:xfrm>
            <a:off x="1484310" y="1066801"/>
            <a:ext cx="10018713" cy="47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Layering in communication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Protocols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Standards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Protocol Suites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OSI Model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TCP/IP Model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Addressing</a:t>
            </a:r>
            <a:endParaRPr/>
          </a:p>
          <a:p>
            <a:pPr indent="-64770" lvl="0" marL="285750" rtl="0" algn="l"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pic>
        <p:nvPicPr>
          <p:cNvPr id="156" name="Google Shape;15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Layering</a:t>
            </a:r>
            <a:endParaRPr/>
          </a:p>
        </p:txBody>
      </p:sp>
      <p:sp>
        <p:nvSpPr>
          <p:cNvPr id="162" name="Google Shape;162;p3"/>
          <p:cNvSpPr txBox="1"/>
          <p:nvPr>
            <p:ph idx="1" type="body"/>
          </p:nvPr>
        </p:nvSpPr>
        <p:spPr>
          <a:xfrm>
            <a:off x="1484310" y="1421027"/>
            <a:ext cx="10018713" cy="4370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3480"/>
              <a:buNone/>
            </a:pPr>
            <a:r>
              <a:rPr lang="en-US"/>
              <a:t>Tasks of communication are broken up into </a:t>
            </a:r>
            <a:r>
              <a:rPr b="1" lang="en-US"/>
              <a:t>layers</a:t>
            </a:r>
            <a:endParaRPr/>
          </a:p>
        </p:txBody>
      </p:sp>
      <p:sp>
        <p:nvSpPr>
          <p:cNvPr id="163" name="Google Shape;163;p3"/>
          <p:cNvSpPr/>
          <p:nvPr/>
        </p:nvSpPr>
        <p:spPr>
          <a:xfrm>
            <a:off x="3910914" y="2520778"/>
            <a:ext cx="2082113" cy="2174789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Communication</a:t>
            </a:r>
            <a:endParaRPr/>
          </a:p>
        </p:txBody>
      </p:sp>
      <p:sp>
        <p:nvSpPr>
          <p:cNvPr id="164" name="Google Shape;164;p3"/>
          <p:cNvSpPr/>
          <p:nvPr/>
        </p:nvSpPr>
        <p:spPr>
          <a:xfrm>
            <a:off x="7149883" y="2520777"/>
            <a:ext cx="2082113" cy="586947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Layer 1</a:t>
            </a:r>
            <a:endParaRPr/>
          </a:p>
        </p:txBody>
      </p:sp>
      <p:sp>
        <p:nvSpPr>
          <p:cNvPr id="165" name="Google Shape;165;p3"/>
          <p:cNvSpPr/>
          <p:nvPr/>
        </p:nvSpPr>
        <p:spPr>
          <a:xfrm>
            <a:off x="7157563" y="3314698"/>
            <a:ext cx="2082113" cy="586947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Layer 2</a:t>
            </a:r>
            <a:endParaRPr/>
          </a:p>
        </p:txBody>
      </p:sp>
      <p:sp>
        <p:nvSpPr>
          <p:cNvPr id="166" name="Google Shape;166;p3"/>
          <p:cNvSpPr/>
          <p:nvPr/>
        </p:nvSpPr>
        <p:spPr>
          <a:xfrm>
            <a:off x="7157563" y="4108620"/>
            <a:ext cx="2082113" cy="586947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Layer 3</a:t>
            </a:r>
            <a:endParaRPr/>
          </a:p>
        </p:txBody>
      </p:sp>
      <p:cxnSp>
        <p:nvCxnSpPr>
          <p:cNvPr id="167" name="Google Shape;167;p3"/>
          <p:cNvCxnSpPr/>
          <p:nvPr/>
        </p:nvCxnSpPr>
        <p:spPr>
          <a:xfrm>
            <a:off x="6023917" y="2814250"/>
            <a:ext cx="1132144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8" name="Google Shape;168;p3"/>
          <p:cNvCxnSpPr/>
          <p:nvPr/>
        </p:nvCxnSpPr>
        <p:spPr>
          <a:xfrm>
            <a:off x="6025419" y="3596843"/>
            <a:ext cx="1132144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9" name="Google Shape;169;p3"/>
          <p:cNvCxnSpPr/>
          <p:nvPr/>
        </p:nvCxnSpPr>
        <p:spPr>
          <a:xfrm>
            <a:off x="6025419" y="4402093"/>
            <a:ext cx="1132144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170" name="Google Shape;17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Layers: Sending a letter</a:t>
            </a:r>
            <a:endParaRPr/>
          </a:p>
        </p:txBody>
      </p:sp>
      <p:pic>
        <p:nvPicPr>
          <p:cNvPr id="176" name="Google Shape;17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80779" y="1412532"/>
            <a:ext cx="676275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19601" y="1364907"/>
            <a:ext cx="733425" cy="90487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4"/>
          <p:cNvSpPr/>
          <p:nvPr/>
        </p:nvSpPr>
        <p:spPr>
          <a:xfrm>
            <a:off x="3136554" y="2681417"/>
            <a:ext cx="1964724" cy="741405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The letter is written, put in an envelope, and dropped in a mailbox.</a:t>
            </a:r>
            <a:endParaRPr/>
          </a:p>
        </p:txBody>
      </p:sp>
      <p:sp>
        <p:nvSpPr>
          <p:cNvPr id="179" name="Google Shape;179;p4"/>
          <p:cNvSpPr/>
          <p:nvPr/>
        </p:nvSpPr>
        <p:spPr>
          <a:xfrm>
            <a:off x="3136554" y="3828536"/>
            <a:ext cx="1964724" cy="741405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The letter is carried from the mailbox to a post office.</a:t>
            </a:r>
            <a:endParaRPr/>
          </a:p>
        </p:txBody>
      </p:sp>
      <p:sp>
        <p:nvSpPr>
          <p:cNvPr id="180" name="Google Shape;180;p4"/>
          <p:cNvSpPr/>
          <p:nvPr/>
        </p:nvSpPr>
        <p:spPr>
          <a:xfrm>
            <a:off x="3136554" y="4975655"/>
            <a:ext cx="1964724" cy="741405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The letter is delivered to a carrie</a:t>
            </a:r>
            <a:r>
              <a:rPr lang="en-US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r</a:t>
            </a:r>
            <a:r>
              <a:rPr b="0" i="0" lang="en-US" sz="14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 by the post office</a:t>
            </a:r>
            <a:endParaRPr/>
          </a:p>
        </p:txBody>
      </p:sp>
      <p:sp>
        <p:nvSpPr>
          <p:cNvPr id="181" name="Google Shape;181;p4"/>
          <p:cNvSpPr/>
          <p:nvPr/>
        </p:nvSpPr>
        <p:spPr>
          <a:xfrm>
            <a:off x="7941272" y="2681417"/>
            <a:ext cx="1964724" cy="741405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The letter is picked up, removed from the envelope, and read.</a:t>
            </a:r>
            <a:endParaRPr/>
          </a:p>
        </p:txBody>
      </p:sp>
      <p:sp>
        <p:nvSpPr>
          <p:cNvPr id="182" name="Google Shape;182;p4"/>
          <p:cNvSpPr/>
          <p:nvPr/>
        </p:nvSpPr>
        <p:spPr>
          <a:xfrm>
            <a:off x="7941272" y="3828536"/>
            <a:ext cx="1964724" cy="741405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The letter is carried from the post office to the mailbox.</a:t>
            </a:r>
            <a:endParaRPr/>
          </a:p>
        </p:txBody>
      </p:sp>
      <p:sp>
        <p:nvSpPr>
          <p:cNvPr id="183" name="Google Shape;183;p4"/>
          <p:cNvSpPr/>
          <p:nvPr/>
        </p:nvSpPr>
        <p:spPr>
          <a:xfrm>
            <a:off x="7941272" y="4975655"/>
            <a:ext cx="1964724" cy="741405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The letter is </a:t>
            </a:r>
            <a:r>
              <a:rPr lang="en-US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received</a:t>
            </a:r>
            <a:r>
              <a:rPr b="0" i="0" lang="en-US" sz="14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 from the carrier to the post office.</a:t>
            </a:r>
            <a:endParaRPr/>
          </a:p>
        </p:txBody>
      </p:sp>
      <p:cxnSp>
        <p:nvCxnSpPr>
          <p:cNvPr id="184" name="Google Shape;184;p4"/>
          <p:cNvCxnSpPr>
            <a:stCxn id="176" idx="2"/>
            <a:endCxn id="178" idx="0"/>
          </p:cNvCxnSpPr>
          <p:nvPr/>
        </p:nvCxnSpPr>
        <p:spPr>
          <a:xfrm>
            <a:off x="4118917" y="2269782"/>
            <a:ext cx="0" cy="411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5" name="Google Shape;185;p4"/>
          <p:cNvCxnSpPr>
            <a:stCxn id="178" idx="2"/>
            <a:endCxn id="179" idx="0"/>
          </p:cNvCxnSpPr>
          <p:nvPr/>
        </p:nvCxnSpPr>
        <p:spPr>
          <a:xfrm>
            <a:off x="4118916" y="3422822"/>
            <a:ext cx="0" cy="405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6" name="Google Shape;186;p4"/>
          <p:cNvCxnSpPr/>
          <p:nvPr/>
        </p:nvCxnSpPr>
        <p:spPr>
          <a:xfrm>
            <a:off x="4139508" y="4569941"/>
            <a:ext cx="0" cy="405714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7" name="Google Shape;187;p4"/>
          <p:cNvCxnSpPr>
            <a:stCxn id="183" idx="0"/>
          </p:cNvCxnSpPr>
          <p:nvPr/>
        </p:nvCxnSpPr>
        <p:spPr>
          <a:xfrm rot="10800000">
            <a:off x="8923634" y="4570055"/>
            <a:ext cx="0" cy="405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8" name="Google Shape;188;p4"/>
          <p:cNvCxnSpPr/>
          <p:nvPr/>
        </p:nvCxnSpPr>
        <p:spPr>
          <a:xfrm rot="10800000">
            <a:off x="8923634" y="3422824"/>
            <a:ext cx="0" cy="405712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9" name="Google Shape;189;p4"/>
          <p:cNvCxnSpPr/>
          <p:nvPr/>
        </p:nvCxnSpPr>
        <p:spPr>
          <a:xfrm rot="10800000">
            <a:off x="8886313" y="2269782"/>
            <a:ext cx="0" cy="405712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0" name="Google Shape;190;p4"/>
          <p:cNvSpPr txBox="1"/>
          <p:nvPr/>
        </p:nvSpPr>
        <p:spPr>
          <a:xfrm>
            <a:off x="5802168" y="2867453"/>
            <a:ext cx="14382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Higher layers</a:t>
            </a:r>
            <a:endParaRPr/>
          </a:p>
        </p:txBody>
      </p:sp>
      <p:sp>
        <p:nvSpPr>
          <p:cNvPr id="191" name="Google Shape;191;p4"/>
          <p:cNvSpPr txBox="1"/>
          <p:nvPr/>
        </p:nvSpPr>
        <p:spPr>
          <a:xfrm>
            <a:off x="5768147" y="4014572"/>
            <a:ext cx="145103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Middle layers</a:t>
            </a:r>
            <a:endParaRPr/>
          </a:p>
        </p:txBody>
      </p:sp>
      <p:sp>
        <p:nvSpPr>
          <p:cNvPr id="192" name="Google Shape;192;p4"/>
          <p:cNvSpPr txBox="1"/>
          <p:nvPr/>
        </p:nvSpPr>
        <p:spPr>
          <a:xfrm>
            <a:off x="5824251" y="5161691"/>
            <a:ext cx="139493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Lower layers</a:t>
            </a:r>
            <a:endParaRPr/>
          </a:p>
        </p:txBody>
      </p:sp>
      <p:cxnSp>
        <p:nvCxnSpPr>
          <p:cNvPr id="193" name="Google Shape;193;p4"/>
          <p:cNvCxnSpPr>
            <a:stCxn id="180" idx="2"/>
          </p:cNvCxnSpPr>
          <p:nvPr/>
        </p:nvCxnSpPr>
        <p:spPr>
          <a:xfrm>
            <a:off x="4118916" y="5717060"/>
            <a:ext cx="0" cy="364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4" name="Google Shape;194;p4"/>
          <p:cNvCxnSpPr/>
          <p:nvPr/>
        </p:nvCxnSpPr>
        <p:spPr>
          <a:xfrm>
            <a:off x="4118916" y="6081585"/>
            <a:ext cx="480471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5" name="Google Shape;195;p4"/>
          <p:cNvCxnSpPr/>
          <p:nvPr/>
        </p:nvCxnSpPr>
        <p:spPr>
          <a:xfrm rot="10800000">
            <a:off x="8923634" y="5717060"/>
            <a:ext cx="0" cy="36452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6" name="Google Shape;196;p4"/>
          <p:cNvSpPr txBox="1"/>
          <p:nvPr/>
        </p:nvSpPr>
        <p:spPr>
          <a:xfrm>
            <a:off x="5365349" y="5825012"/>
            <a:ext cx="231185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The parcel is carried from</a:t>
            </a:r>
            <a:br>
              <a:rPr lang="en-US" sz="1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</a:br>
            <a:r>
              <a:rPr lang="en-US" sz="1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the source to the destination</a:t>
            </a:r>
            <a:endParaRPr/>
          </a:p>
        </p:txBody>
      </p:sp>
      <p:pic>
        <p:nvPicPr>
          <p:cNvPr id="197" name="Google Shape;197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5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Benefits of using a layered model</a:t>
            </a:r>
            <a:endParaRPr/>
          </a:p>
        </p:txBody>
      </p:sp>
      <p:sp>
        <p:nvSpPr>
          <p:cNvPr id="203" name="Google Shape;203;p5"/>
          <p:cNvSpPr txBox="1"/>
          <p:nvPr>
            <p:ph idx="1" type="body"/>
          </p:nvPr>
        </p:nvSpPr>
        <p:spPr>
          <a:xfrm>
            <a:off x="1484310" y="1421027"/>
            <a:ext cx="10018713" cy="4370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Fosters </a:t>
            </a:r>
            <a:r>
              <a:rPr b="1" lang="en-US"/>
              <a:t>competition</a:t>
            </a:r>
            <a:r>
              <a:rPr lang="en-US"/>
              <a:t>.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b="1" lang="en-US"/>
              <a:t>Technology changes </a:t>
            </a:r>
            <a:r>
              <a:rPr lang="en-US"/>
              <a:t>in one layer do not affect other layers.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Each layer have </a:t>
            </a:r>
            <a:r>
              <a:rPr b="1" lang="en-US"/>
              <a:t>defined functions </a:t>
            </a:r>
            <a:r>
              <a:rPr lang="en-US"/>
              <a:t>that they act upon.</a:t>
            </a:r>
            <a:endParaRPr/>
          </a:p>
        </p:txBody>
      </p:sp>
      <p:pic>
        <p:nvPicPr>
          <p:cNvPr id="204" name="Google Shape;20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49204" y="3311530"/>
            <a:ext cx="5943599" cy="3546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6"/>
          <p:cNvSpPr txBox="1"/>
          <p:nvPr>
            <p:ph type="title"/>
          </p:nvPr>
        </p:nvSpPr>
        <p:spPr>
          <a:xfrm>
            <a:off x="1484310" y="325395"/>
            <a:ext cx="10018713" cy="3807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Protocols</a:t>
            </a:r>
            <a:endParaRPr/>
          </a:p>
        </p:txBody>
      </p:sp>
      <p:pic>
        <p:nvPicPr>
          <p:cNvPr id="211" name="Google Shape;21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17266" y="3095110"/>
            <a:ext cx="3352800" cy="207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7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Protocols</a:t>
            </a:r>
            <a:endParaRPr/>
          </a:p>
        </p:txBody>
      </p:sp>
      <p:sp>
        <p:nvSpPr>
          <p:cNvPr id="218" name="Google Shape;218;p7"/>
          <p:cNvSpPr txBox="1"/>
          <p:nvPr>
            <p:ph idx="1" type="body"/>
          </p:nvPr>
        </p:nvSpPr>
        <p:spPr>
          <a:xfrm>
            <a:off x="1484310" y="1421027"/>
            <a:ext cx="10018713" cy="4370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All communications are governed by protocols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Protocols are the rules that communications will follow.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These rules will vary depending on the protocol.</a:t>
            </a:r>
            <a:endParaRPr/>
          </a:p>
          <a:p>
            <a:pPr indent="-64770" lvl="0" marL="285750" rtl="0" algn="l"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 b="1"/>
          </a:p>
        </p:txBody>
      </p:sp>
      <p:pic>
        <p:nvPicPr>
          <p:cNvPr id="219" name="Google Shape;21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10775" y="3572558"/>
            <a:ext cx="5333999" cy="32146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Protocols</a:t>
            </a:r>
            <a:endParaRPr/>
          </a:p>
        </p:txBody>
      </p:sp>
      <p:sp>
        <p:nvSpPr>
          <p:cNvPr id="226" name="Google Shape;226;p8"/>
          <p:cNvSpPr txBox="1"/>
          <p:nvPr>
            <p:ph idx="1" type="body"/>
          </p:nvPr>
        </p:nvSpPr>
        <p:spPr>
          <a:xfrm>
            <a:off x="1484310" y="1421027"/>
            <a:ext cx="10018713" cy="4370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lang="en-US"/>
              <a:t>Protocols must account for the following requirements: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lang="en-US" sz="2400"/>
              <a:t>An identified sender and receiver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lang="en-US" sz="2400"/>
              <a:t>Common language and grammar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lang="en-US" sz="2400"/>
              <a:t>Speed and timing of delivery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lang="en-US" sz="2400"/>
              <a:t>Confirmation or acknowledgment requirements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lang="en-US"/>
              <a:t>Common computer protocols must agree in: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lang="en-US" sz="2400"/>
              <a:t>Message encoding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lang="en-US" sz="2400"/>
              <a:t>Message formatting and encapsulation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lang="en-US" sz="2400"/>
              <a:t>Message size, timing, delivery option.</a:t>
            </a:r>
            <a:endParaRPr/>
          </a:p>
        </p:txBody>
      </p:sp>
      <p:pic>
        <p:nvPicPr>
          <p:cNvPr id="227" name="Google Shape;22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9"/>
          <p:cNvSpPr txBox="1"/>
          <p:nvPr>
            <p:ph type="title"/>
          </p:nvPr>
        </p:nvSpPr>
        <p:spPr>
          <a:xfrm>
            <a:off x="1484310" y="325395"/>
            <a:ext cx="10018713" cy="3807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Standards</a:t>
            </a:r>
            <a:endParaRPr/>
          </a:p>
        </p:txBody>
      </p:sp>
      <p:pic>
        <p:nvPicPr>
          <p:cNvPr id="233" name="Google Shape;23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9666" y="2732903"/>
            <a:ext cx="3048000" cy="30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0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Standards</a:t>
            </a:r>
            <a:endParaRPr/>
          </a:p>
        </p:txBody>
      </p:sp>
      <p:sp>
        <p:nvSpPr>
          <p:cNvPr id="240" name="Google Shape;240;p10"/>
          <p:cNvSpPr txBox="1"/>
          <p:nvPr>
            <p:ph idx="1" type="body"/>
          </p:nvPr>
        </p:nvSpPr>
        <p:spPr>
          <a:xfrm>
            <a:off x="1484310" y="1421027"/>
            <a:ext cx="10018713" cy="4370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b="1" lang="en-US"/>
              <a:t>Standards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b="1" lang="en-US"/>
              <a:t>Standards Organizations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b="1" lang="en-US"/>
              <a:t>Internet Standards</a:t>
            </a:r>
            <a:endParaRPr/>
          </a:p>
        </p:txBody>
      </p:sp>
      <p:pic>
        <p:nvPicPr>
          <p:cNvPr id="241" name="Google Shape;24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1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Standards</a:t>
            </a:r>
            <a:endParaRPr/>
          </a:p>
        </p:txBody>
      </p:sp>
      <p:sp>
        <p:nvSpPr>
          <p:cNvPr id="247" name="Google Shape;247;p11"/>
          <p:cNvSpPr txBox="1"/>
          <p:nvPr>
            <p:ph idx="1" type="body"/>
          </p:nvPr>
        </p:nvSpPr>
        <p:spPr>
          <a:xfrm>
            <a:off x="1484310" y="1421027"/>
            <a:ext cx="10018713" cy="4370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Endorsed by the networking industry and approved by a standards organization.  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Benefits: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Create and maintain an open and competitive market.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Ensured greater compatibility and interoperability. 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Categories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b="1" lang="en-US">
                <a:solidFill>
                  <a:schemeClr val="dk2"/>
                </a:solidFill>
              </a:rPr>
              <a:t>De facto – TCP/IP Protocol Model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b="1" lang="en-US">
                <a:solidFill>
                  <a:schemeClr val="dk2"/>
                </a:solidFill>
              </a:rPr>
              <a:t>De jure – OSI Reference Model</a:t>
            </a:r>
            <a:endParaRPr b="1">
              <a:solidFill>
                <a:schemeClr val="dk2"/>
              </a:solidFill>
            </a:endParaRPr>
          </a:p>
        </p:txBody>
      </p:sp>
      <p:pic>
        <p:nvPicPr>
          <p:cNvPr id="248" name="Google Shape;24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2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Open Standards</a:t>
            </a:r>
            <a:endParaRPr/>
          </a:p>
        </p:txBody>
      </p:sp>
      <p:sp>
        <p:nvSpPr>
          <p:cNvPr id="254" name="Google Shape;254;p12"/>
          <p:cNvSpPr txBox="1"/>
          <p:nvPr>
            <p:ph idx="1" type="body"/>
          </p:nvPr>
        </p:nvSpPr>
        <p:spPr>
          <a:xfrm>
            <a:off x="1484311" y="1421027"/>
            <a:ext cx="5571398" cy="4370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Open standards encourage: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Interoperability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Competition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Innovation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Standards organizations are: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vendor-neutral 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non-profit organizations 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established to develop and promote the concept of open standards. </a:t>
            </a:r>
            <a:endParaRPr b="1"/>
          </a:p>
        </p:txBody>
      </p:sp>
      <p:pic>
        <p:nvPicPr>
          <p:cNvPr id="255" name="Google Shape;25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94548" y="1421027"/>
            <a:ext cx="4308475" cy="409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3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Internet Standards</a:t>
            </a:r>
            <a:endParaRPr/>
          </a:p>
        </p:txBody>
      </p:sp>
      <p:sp>
        <p:nvSpPr>
          <p:cNvPr id="262" name="Google Shape;262;p13"/>
          <p:cNvSpPr txBox="1"/>
          <p:nvPr>
            <p:ph idx="1" type="body"/>
          </p:nvPr>
        </p:nvSpPr>
        <p:spPr>
          <a:xfrm>
            <a:off x="1484311" y="1421027"/>
            <a:ext cx="5571398" cy="4370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ct val="119999"/>
              <a:buFont typeface="Arial"/>
              <a:buChar char="•"/>
            </a:pPr>
            <a:r>
              <a:rPr b="1" lang="en-US"/>
              <a:t>Internet Society (ISOC)</a:t>
            </a:r>
            <a:r>
              <a:rPr lang="en-US"/>
              <a:t> - Promotes the open development and evolution of internet</a:t>
            </a:r>
            <a:endParaRPr/>
          </a:p>
          <a:p>
            <a:pPr indent="-285750" lvl="0" marL="285750" rtl="0" algn="l">
              <a:spcBef>
                <a:spcPts val="1044"/>
              </a:spcBef>
              <a:spcAft>
                <a:spcPts val="0"/>
              </a:spcAft>
              <a:buSzPct val="119999"/>
              <a:buFont typeface="Arial"/>
              <a:buChar char="•"/>
            </a:pPr>
            <a:r>
              <a:rPr b="1" lang="en-US"/>
              <a:t>Internet Architecture Board (IAB)</a:t>
            </a:r>
            <a:r>
              <a:rPr lang="en-US"/>
              <a:t> - Responsible for management and development of internet standards</a:t>
            </a:r>
            <a:endParaRPr/>
          </a:p>
          <a:p>
            <a:pPr indent="-285750" lvl="0" marL="285750" rtl="0" algn="l">
              <a:spcBef>
                <a:spcPts val="1044"/>
              </a:spcBef>
              <a:spcAft>
                <a:spcPts val="0"/>
              </a:spcAft>
              <a:buSzPct val="119999"/>
              <a:buFont typeface="Arial"/>
              <a:buChar char="•"/>
            </a:pPr>
            <a:r>
              <a:rPr b="1" lang="en-US"/>
              <a:t>Internet Engineering Task Force (IETF) </a:t>
            </a:r>
            <a:r>
              <a:rPr lang="en-US"/>
              <a:t>- Develops, updates, and maintains internet and TCP/IP technologies</a:t>
            </a:r>
            <a:endParaRPr/>
          </a:p>
          <a:p>
            <a:pPr indent="-285750" lvl="0" marL="285750" rtl="0" algn="l">
              <a:spcBef>
                <a:spcPts val="1044"/>
              </a:spcBef>
              <a:spcAft>
                <a:spcPts val="0"/>
              </a:spcAft>
              <a:buSzPct val="144000"/>
              <a:buFont typeface="Arial"/>
              <a:buChar char="•"/>
            </a:pPr>
            <a:r>
              <a:rPr b="1" lang="en-US"/>
              <a:t>Internet Research Task Force (IRTF) </a:t>
            </a:r>
            <a:r>
              <a:rPr lang="en-US"/>
              <a:t>- Focused on long-term research related to internet and TCP/IP protocols</a:t>
            </a:r>
            <a:endParaRPr b="1" sz="2000"/>
          </a:p>
        </p:txBody>
      </p:sp>
      <p:pic>
        <p:nvPicPr>
          <p:cNvPr id="263" name="Google Shape;26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55709" y="1392194"/>
            <a:ext cx="4289066" cy="4319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4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Internet Standards (Continued)</a:t>
            </a:r>
            <a:endParaRPr/>
          </a:p>
        </p:txBody>
      </p:sp>
      <p:sp>
        <p:nvSpPr>
          <p:cNvPr id="270" name="Google Shape;270;p14"/>
          <p:cNvSpPr txBox="1"/>
          <p:nvPr>
            <p:ph idx="1" type="body"/>
          </p:nvPr>
        </p:nvSpPr>
        <p:spPr>
          <a:xfrm>
            <a:off x="1484311" y="1421027"/>
            <a:ext cx="5571398" cy="4370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900"/>
              <a:buFont typeface="Noto Sans Symbols"/>
              <a:buNone/>
            </a:pPr>
            <a:r>
              <a:rPr lang="en-US" sz="2000"/>
              <a:t>Standards organizations involved with the development and support of TCP/IP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b="1" lang="en-US"/>
              <a:t>Internet Corporation for Assigned Names and Numbers (ICANN) </a:t>
            </a:r>
            <a:r>
              <a:rPr lang="en-US"/>
              <a:t>-  Coordinates IP address allocation, the management of domain names, and assignment of other information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b="1" lang="en-US"/>
              <a:t>Internet Assigned Numbers Authority (IANA) </a:t>
            </a:r>
            <a:r>
              <a:rPr lang="en-US"/>
              <a:t>- Oversees and manages IP address allocation, domain name management, and protocol identifiers for ICANN</a:t>
            </a:r>
            <a:endParaRPr sz="1600"/>
          </a:p>
        </p:txBody>
      </p:sp>
      <p:pic>
        <p:nvPicPr>
          <p:cNvPr id="271" name="Google Shape;27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88280" y="1920867"/>
            <a:ext cx="3614266" cy="30162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5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Internet Standards (Continued)</a:t>
            </a:r>
            <a:endParaRPr/>
          </a:p>
        </p:txBody>
      </p:sp>
      <p:sp>
        <p:nvSpPr>
          <p:cNvPr id="278" name="Google Shape;278;p15"/>
          <p:cNvSpPr txBox="1"/>
          <p:nvPr>
            <p:ph idx="1" type="body"/>
          </p:nvPr>
        </p:nvSpPr>
        <p:spPr>
          <a:xfrm>
            <a:off x="1484310" y="1421027"/>
            <a:ext cx="5657895" cy="4370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Formalized regulations and specifications for the Internet by IETF.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Internet Draft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No official status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6 month lifetime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Request for comment (RFC)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Upon recommendation from Internet authorities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Different maturity levels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Example: Internet Protocol – RFC : 791</a:t>
            </a:r>
            <a:endParaRPr/>
          </a:p>
        </p:txBody>
      </p:sp>
      <p:pic>
        <p:nvPicPr>
          <p:cNvPr id="279" name="Google Shape;27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odel05" id="280" name="Google Shape;28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55496" y="2156254"/>
            <a:ext cx="5565123" cy="4034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6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Electronic and Communications Standards</a:t>
            </a:r>
            <a:endParaRPr/>
          </a:p>
        </p:txBody>
      </p:sp>
      <p:sp>
        <p:nvSpPr>
          <p:cNvPr id="286" name="Google Shape;286;p16"/>
          <p:cNvSpPr txBox="1"/>
          <p:nvPr>
            <p:ph idx="1" type="body"/>
          </p:nvPr>
        </p:nvSpPr>
        <p:spPr>
          <a:xfrm>
            <a:off x="1484310" y="1421027"/>
            <a:ext cx="10018713" cy="4370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ct val="119999"/>
              <a:buFont typeface="Noto Sans Symbols"/>
              <a:buChar char="▪"/>
            </a:pPr>
            <a:r>
              <a:rPr b="1" lang="en-US"/>
              <a:t>Institute of Electrical and Electronics Engineers </a:t>
            </a:r>
            <a:r>
              <a:rPr lang="en-US"/>
              <a:t>(</a:t>
            </a:r>
            <a:r>
              <a:rPr b="1" lang="en-US"/>
              <a:t>IEEE</a:t>
            </a:r>
            <a:r>
              <a:rPr lang="en-US"/>
              <a:t>, pronounced “I-triple-E”) - dedicated to creating standards in power and energy, healthcare, telecommunications, and networking</a:t>
            </a:r>
            <a:endParaRPr/>
          </a:p>
          <a:p>
            <a:pPr indent="-285750" lvl="0" marL="285750" rtl="0" algn="l">
              <a:spcBef>
                <a:spcPts val="1044"/>
              </a:spcBef>
              <a:spcAft>
                <a:spcPts val="0"/>
              </a:spcAft>
              <a:buSzPct val="119999"/>
              <a:buFont typeface="Noto Sans Symbols"/>
              <a:buChar char="▪"/>
            </a:pPr>
            <a:r>
              <a:rPr b="1" lang="en-US"/>
              <a:t>Electronic Industries Alliance (EIA) </a:t>
            </a:r>
            <a:r>
              <a:rPr lang="en-US"/>
              <a:t>- develops standards relating to electrical wiring, connectors, and the 19-inch racks used to mount networking equipment</a:t>
            </a:r>
            <a:endParaRPr/>
          </a:p>
          <a:p>
            <a:pPr indent="-285750" lvl="0" marL="285750" rtl="0" algn="l">
              <a:spcBef>
                <a:spcPts val="1044"/>
              </a:spcBef>
              <a:spcAft>
                <a:spcPts val="0"/>
              </a:spcAft>
              <a:buSzPct val="119999"/>
              <a:buFont typeface="Noto Sans Symbols"/>
              <a:buChar char="▪"/>
            </a:pPr>
            <a:r>
              <a:rPr b="1" lang="en-US"/>
              <a:t>Telecommunications Industry Association (TIA) </a:t>
            </a:r>
            <a:r>
              <a:rPr lang="en-US"/>
              <a:t>- develops communication standards in radio equipment, cellular towers, Voice over IP (VoIP) devices, satellite communications, and more</a:t>
            </a:r>
            <a:endParaRPr/>
          </a:p>
          <a:p>
            <a:pPr indent="-285750" lvl="0" marL="285750" rtl="0" algn="l">
              <a:spcBef>
                <a:spcPts val="1044"/>
              </a:spcBef>
              <a:spcAft>
                <a:spcPts val="0"/>
              </a:spcAft>
              <a:buSzPct val="119999"/>
              <a:buFont typeface="Noto Sans Symbols"/>
              <a:buChar char="▪"/>
            </a:pPr>
            <a:r>
              <a:rPr b="1" lang="en-US"/>
              <a:t>International Telecommunications Union-Telecommunication Standardization Sector (ITU-T</a:t>
            </a:r>
            <a:r>
              <a:rPr lang="en-US"/>
              <a:t>) - defines standards for video compression, Internet Protocol Television (IPTV), and broadband communications, such as a digital subscriber line (DSL)</a:t>
            </a:r>
            <a:endParaRPr/>
          </a:p>
        </p:txBody>
      </p:sp>
      <p:pic>
        <p:nvPicPr>
          <p:cNvPr id="287" name="Google Shape;28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7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Technology Independent Protocols</a:t>
            </a:r>
            <a:endParaRPr/>
          </a:p>
        </p:txBody>
      </p:sp>
      <p:sp>
        <p:nvSpPr>
          <p:cNvPr id="293" name="Google Shape;293;p17"/>
          <p:cNvSpPr txBox="1"/>
          <p:nvPr>
            <p:ph idx="1" type="body"/>
          </p:nvPr>
        </p:nvSpPr>
        <p:spPr>
          <a:xfrm>
            <a:off x="1484310" y="1421027"/>
            <a:ext cx="10018713" cy="4370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Protocols are not dependent upon any specific technology.</a:t>
            </a:r>
            <a:endParaRPr/>
          </a:p>
          <a:p>
            <a:pPr indent="-288925" lvl="1" marL="855663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They describe </a:t>
            </a:r>
            <a:r>
              <a:rPr b="1" lang="en-US"/>
              <a:t>what</a:t>
            </a:r>
            <a:r>
              <a:rPr lang="en-US">
                <a:solidFill>
                  <a:schemeClr val="folHlink"/>
                </a:solidFill>
              </a:rPr>
              <a:t> </a:t>
            </a:r>
            <a:r>
              <a:rPr lang="en-US"/>
              <a:t>must be done to communicate but </a:t>
            </a:r>
            <a:r>
              <a:rPr b="1" lang="en-US"/>
              <a:t>not how </a:t>
            </a:r>
            <a:r>
              <a:rPr lang="en-US"/>
              <a:t>its is to be carried out.</a:t>
            </a:r>
            <a:endParaRPr/>
          </a:p>
        </p:txBody>
      </p:sp>
      <p:pic>
        <p:nvPicPr>
          <p:cNvPr id="294" name="Google Shape;29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81422" y="2588741"/>
            <a:ext cx="5424488" cy="298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8"/>
          <p:cNvSpPr txBox="1"/>
          <p:nvPr>
            <p:ph type="title"/>
          </p:nvPr>
        </p:nvSpPr>
        <p:spPr>
          <a:xfrm>
            <a:off x="1484310" y="325395"/>
            <a:ext cx="10018800" cy="38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Protocol Suites</a:t>
            </a:r>
            <a:endParaRPr/>
          </a:p>
        </p:txBody>
      </p:sp>
      <p:pic>
        <p:nvPicPr>
          <p:cNvPr id="301" name="Google Shape;30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CP/IP vs OSI Model: What's the Difference?" id="302" name="Google Shape;30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3400" y="2835321"/>
            <a:ext cx="4305300" cy="34749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9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Protocol Suites</a:t>
            </a:r>
            <a:endParaRPr/>
          </a:p>
        </p:txBody>
      </p:sp>
      <p:sp>
        <p:nvSpPr>
          <p:cNvPr id="308" name="Google Shape;308;p19"/>
          <p:cNvSpPr txBox="1"/>
          <p:nvPr>
            <p:ph idx="1" type="body"/>
          </p:nvPr>
        </p:nvSpPr>
        <p:spPr>
          <a:xfrm>
            <a:off x="1484310" y="1421027"/>
            <a:ext cx="10018713" cy="4370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TCP/IP Protocol Model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Open De Facto Standard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Governed by IETF  Working</a:t>
            </a:r>
            <a:br>
              <a:rPr lang="en-US"/>
            </a:br>
            <a:r>
              <a:rPr lang="en-US"/>
              <a:t>Groups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OSI Reference model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De Jure Standard</a:t>
            </a:r>
            <a:endParaRPr/>
          </a:p>
        </p:txBody>
      </p:sp>
      <p:pic>
        <p:nvPicPr>
          <p:cNvPr id="309" name="Google Shape;30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0"/>
          <p:cNvSpPr txBox="1"/>
          <p:nvPr>
            <p:ph type="title"/>
          </p:nvPr>
        </p:nvSpPr>
        <p:spPr>
          <a:xfrm>
            <a:off x="1484310" y="325395"/>
            <a:ext cx="10018713" cy="3807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OSI Model</a:t>
            </a:r>
            <a:br>
              <a:rPr lang="en-US" sz="7200"/>
            </a:br>
            <a:r>
              <a:rPr lang="en-US" sz="1800"/>
              <a:t>De Jure Standard</a:t>
            </a:r>
            <a:endParaRPr sz="7200"/>
          </a:p>
        </p:txBody>
      </p:sp>
      <p:pic>
        <p:nvPicPr>
          <p:cNvPr id="315" name="Google Shape;31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16" name="Google Shape;316;p20"/>
          <p:cNvGraphicFramePr/>
          <p:nvPr/>
        </p:nvGraphicFramePr>
        <p:xfrm>
          <a:off x="5718228" y="320981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{6D443BBA-3845-493F-8051-ACD5F123C0B7}</a:tableStyleId>
              </a:tblPr>
              <a:tblGrid>
                <a:gridCol w="289125"/>
                <a:gridCol w="1482675"/>
              </a:tblGrid>
              <a:tr h="370850"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/>
                        <a:t>Layers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7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Application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Presentation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Session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Transport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Network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Data Link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Physical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1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OSI Model</a:t>
            </a:r>
            <a:endParaRPr/>
          </a:p>
        </p:txBody>
      </p:sp>
      <p:sp>
        <p:nvSpPr>
          <p:cNvPr id="322" name="Google Shape;322;p21"/>
          <p:cNvSpPr txBox="1"/>
          <p:nvPr>
            <p:ph idx="1" type="body"/>
          </p:nvPr>
        </p:nvSpPr>
        <p:spPr>
          <a:xfrm>
            <a:off x="1484310" y="1421027"/>
            <a:ext cx="5688787" cy="4370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Open Systems Interconnection (OSI)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Seven layers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A theoretical system delivered too late!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TCP/IP is the de facto standard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Developed by the International Organization for Standardization (ISO) in 1984.</a:t>
            </a:r>
            <a:endParaRPr/>
          </a:p>
          <a:p>
            <a:pPr indent="-64770" lvl="0" marL="28575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pic>
        <p:nvPicPr>
          <p:cNvPr id="323" name="Google Shape;32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odel08" id="324" name="Google Shape;32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17340" y="3979270"/>
            <a:ext cx="4151871" cy="25533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48451" y="1421027"/>
            <a:ext cx="3452417" cy="3770871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1"/>
          <p:cNvSpPr txBox="1"/>
          <p:nvPr/>
        </p:nvSpPr>
        <p:spPr>
          <a:xfrm>
            <a:off x="7247996" y="5369011"/>
            <a:ext cx="4151871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ISO is the </a:t>
            </a:r>
            <a:r>
              <a:rPr b="1" lang="en-US"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organization</a:t>
            </a:r>
            <a:r>
              <a:rPr lang="en-US"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.</a:t>
            </a:r>
            <a:br>
              <a:rPr lang="en-US"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</a:br>
            <a:r>
              <a:rPr lang="en-US"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OSI is the </a:t>
            </a:r>
            <a:r>
              <a:rPr b="1" lang="en-US"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model</a:t>
            </a:r>
            <a:r>
              <a:rPr lang="en-US"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2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OSI Model - Layers</a:t>
            </a:r>
            <a:endParaRPr/>
          </a:p>
        </p:txBody>
      </p:sp>
      <p:pic>
        <p:nvPicPr>
          <p:cNvPr id="332" name="Google Shape;33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3" name="Google Shape;333;p22"/>
          <p:cNvGraphicFramePr/>
          <p:nvPr/>
        </p:nvGraphicFramePr>
        <p:xfrm>
          <a:off x="2392062" y="129128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{6D443BBA-3845-493F-8051-ACD5F123C0B7}</a:tableStyleId>
              </a:tblPr>
              <a:tblGrid>
                <a:gridCol w="2712300"/>
                <a:gridCol w="630200"/>
                <a:gridCol w="1896750"/>
                <a:gridCol w="2168600"/>
              </a:tblGrid>
              <a:tr h="587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Primary Concern</a:t>
                      </a:r>
                      <a:endParaRPr/>
                    </a:p>
                  </a:txBody>
                  <a:tcPr marT="45725" marB="45725" marR="91450" marL="91450" anchor="ctr"/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Layers</a:t>
                      </a:r>
                      <a:endParaRPr/>
                    </a:p>
                  </a:txBody>
                  <a:tcPr marT="45725" marB="45725" marR="91450" marL="91450" anchor="ctr"/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Cisco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587725">
                <a:tc rowSpan="5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Communications between applications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7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Application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A</a:t>
                      </a:r>
                      <a:r>
                        <a:rPr lang="en-US" sz="2400"/>
                        <a:t>ll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5877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6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Presentation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P</a:t>
                      </a:r>
                      <a:r>
                        <a:rPr lang="en-US" sz="2400"/>
                        <a:t>eople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5877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Session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S</a:t>
                      </a:r>
                      <a:r>
                        <a:rPr lang="en-US" sz="2400"/>
                        <a:t>eem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5877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Transport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T</a:t>
                      </a:r>
                      <a:r>
                        <a:rPr lang="en-US" sz="2400"/>
                        <a:t>o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5877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Network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N</a:t>
                      </a:r>
                      <a:r>
                        <a:rPr lang="en-US" sz="2400"/>
                        <a:t>eed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587725"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Moving raw data across the network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Data Link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D</a:t>
                      </a:r>
                      <a:r>
                        <a:rPr lang="en-US" sz="2400"/>
                        <a:t>ata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5877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Physical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P</a:t>
                      </a:r>
                      <a:r>
                        <a:rPr lang="en-US" sz="2400"/>
                        <a:t>rocessing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3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OSI Model - Layers</a:t>
            </a:r>
            <a:endParaRPr/>
          </a:p>
        </p:txBody>
      </p:sp>
      <p:pic>
        <p:nvPicPr>
          <p:cNvPr id="339" name="Google Shape;33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23"/>
          <p:cNvSpPr/>
          <p:nvPr/>
        </p:nvSpPr>
        <p:spPr>
          <a:xfrm>
            <a:off x="2381250" y="1385888"/>
            <a:ext cx="7429500" cy="4783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341" name="Google Shape;341;p23"/>
          <p:cNvCxnSpPr/>
          <p:nvPr/>
        </p:nvCxnSpPr>
        <p:spPr>
          <a:xfrm>
            <a:off x="5102225" y="1387475"/>
            <a:ext cx="0" cy="471646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2" name="Google Shape;342;p23"/>
          <p:cNvCxnSpPr/>
          <p:nvPr/>
        </p:nvCxnSpPr>
        <p:spPr>
          <a:xfrm>
            <a:off x="5732463" y="1974850"/>
            <a:ext cx="0" cy="4129087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3" name="Google Shape;343;p23"/>
          <p:cNvCxnSpPr/>
          <p:nvPr/>
        </p:nvCxnSpPr>
        <p:spPr>
          <a:xfrm>
            <a:off x="7629525" y="1387475"/>
            <a:ext cx="0" cy="471646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4" name="Google Shape;344;p23"/>
          <p:cNvCxnSpPr/>
          <p:nvPr/>
        </p:nvCxnSpPr>
        <p:spPr>
          <a:xfrm>
            <a:off x="2382838" y="1981200"/>
            <a:ext cx="7421563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5" name="Google Shape;345;p23"/>
          <p:cNvCxnSpPr/>
          <p:nvPr/>
        </p:nvCxnSpPr>
        <p:spPr>
          <a:xfrm>
            <a:off x="5095875" y="2568575"/>
            <a:ext cx="4708525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6" name="Google Shape;346;p23"/>
          <p:cNvCxnSpPr/>
          <p:nvPr/>
        </p:nvCxnSpPr>
        <p:spPr>
          <a:xfrm>
            <a:off x="5095875" y="3157538"/>
            <a:ext cx="4708525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7" name="Google Shape;347;p23"/>
          <p:cNvCxnSpPr/>
          <p:nvPr/>
        </p:nvCxnSpPr>
        <p:spPr>
          <a:xfrm>
            <a:off x="5095875" y="3744913"/>
            <a:ext cx="4708525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8" name="Google Shape;348;p23"/>
          <p:cNvCxnSpPr/>
          <p:nvPr/>
        </p:nvCxnSpPr>
        <p:spPr>
          <a:xfrm>
            <a:off x="5095875" y="4332288"/>
            <a:ext cx="4708525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9" name="Google Shape;349;p23"/>
          <p:cNvCxnSpPr/>
          <p:nvPr/>
        </p:nvCxnSpPr>
        <p:spPr>
          <a:xfrm>
            <a:off x="2382838" y="4921250"/>
            <a:ext cx="7421563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0" name="Google Shape;350;p23"/>
          <p:cNvCxnSpPr/>
          <p:nvPr/>
        </p:nvCxnSpPr>
        <p:spPr>
          <a:xfrm>
            <a:off x="5095875" y="5508625"/>
            <a:ext cx="4708525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1" name="Google Shape;351;p23"/>
          <p:cNvCxnSpPr/>
          <p:nvPr/>
        </p:nvCxnSpPr>
        <p:spPr>
          <a:xfrm>
            <a:off x="2389188" y="1387475"/>
            <a:ext cx="0" cy="471646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2" name="Google Shape;352;p23"/>
          <p:cNvCxnSpPr/>
          <p:nvPr/>
        </p:nvCxnSpPr>
        <p:spPr>
          <a:xfrm>
            <a:off x="9798050" y="1387475"/>
            <a:ext cx="0" cy="471646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3" name="Google Shape;353;p23"/>
          <p:cNvCxnSpPr/>
          <p:nvPr/>
        </p:nvCxnSpPr>
        <p:spPr>
          <a:xfrm>
            <a:off x="2382838" y="1393825"/>
            <a:ext cx="7421563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4" name="Google Shape;354;p23"/>
          <p:cNvCxnSpPr/>
          <p:nvPr/>
        </p:nvCxnSpPr>
        <p:spPr>
          <a:xfrm>
            <a:off x="2382838" y="6097588"/>
            <a:ext cx="7421563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5" name="Google Shape;355;p23"/>
          <p:cNvSpPr/>
          <p:nvPr/>
        </p:nvSpPr>
        <p:spPr>
          <a:xfrm>
            <a:off x="2654300" y="1497013"/>
            <a:ext cx="236061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Primary Concern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23"/>
          <p:cNvSpPr/>
          <p:nvPr/>
        </p:nvSpPr>
        <p:spPr>
          <a:xfrm>
            <a:off x="5930900" y="1497013"/>
            <a:ext cx="103663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Layers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23"/>
          <p:cNvSpPr/>
          <p:nvPr/>
        </p:nvSpPr>
        <p:spPr>
          <a:xfrm>
            <a:off x="8369300" y="1497013"/>
            <a:ext cx="8540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Cisco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23"/>
          <p:cNvSpPr/>
          <p:nvPr/>
        </p:nvSpPr>
        <p:spPr>
          <a:xfrm>
            <a:off x="2481263" y="2895600"/>
            <a:ext cx="2363788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Communications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23"/>
          <p:cNvSpPr/>
          <p:nvPr/>
        </p:nvSpPr>
        <p:spPr>
          <a:xfrm>
            <a:off x="2481263" y="3263900"/>
            <a:ext cx="1325563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between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23"/>
          <p:cNvSpPr/>
          <p:nvPr/>
        </p:nvSpPr>
        <p:spPr>
          <a:xfrm>
            <a:off x="2481263" y="3627438"/>
            <a:ext cx="1684338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applications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23"/>
          <p:cNvSpPr/>
          <p:nvPr/>
        </p:nvSpPr>
        <p:spPr>
          <a:xfrm>
            <a:off x="5351463" y="2087563"/>
            <a:ext cx="290513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7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23"/>
          <p:cNvSpPr/>
          <p:nvPr/>
        </p:nvSpPr>
        <p:spPr>
          <a:xfrm>
            <a:off x="5824538" y="2087563"/>
            <a:ext cx="1604963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Application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23"/>
          <p:cNvSpPr/>
          <p:nvPr/>
        </p:nvSpPr>
        <p:spPr>
          <a:xfrm>
            <a:off x="7721600" y="2087563"/>
            <a:ext cx="366713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23"/>
          <p:cNvSpPr/>
          <p:nvPr/>
        </p:nvSpPr>
        <p:spPr>
          <a:xfrm>
            <a:off x="7920038" y="2087563"/>
            <a:ext cx="304800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ll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23"/>
          <p:cNvSpPr/>
          <p:nvPr/>
        </p:nvSpPr>
        <p:spPr>
          <a:xfrm>
            <a:off x="5337175" y="2673350"/>
            <a:ext cx="322263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6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23"/>
          <p:cNvSpPr/>
          <p:nvPr/>
        </p:nvSpPr>
        <p:spPr>
          <a:xfrm>
            <a:off x="5824538" y="2673350"/>
            <a:ext cx="1781175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Presentation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23"/>
          <p:cNvSpPr/>
          <p:nvPr/>
        </p:nvSpPr>
        <p:spPr>
          <a:xfrm>
            <a:off x="7721600" y="2673350"/>
            <a:ext cx="350838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P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23"/>
          <p:cNvSpPr/>
          <p:nvPr/>
        </p:nvSpPr>
        <p:spPr>
          <a:xfrm>
            <a:off x="7904163" y="2673350"/>
            <a:ext cx="860425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eople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23"/>
          <p:cNvSpPr/>
          <p:nvPr/>
        </p:nvSpPr>
        <p:spPr>
          <a:xfrm>
            <a:off x="5343525" y="3263900"/>
            <a:ext cx="307975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23"/>
          <p:cNvSpPr/>
          <p:nvPr/>
        </p:nvSpPr>
        <p:spPr>
          <a:xfrm>
            <a:off x="5824538" y="3263900"/>
            <a:ext cx="1122363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Session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23"/>
          <p:cNvSpPr/>
          <p:nvPr/>
        </p:nvSpPr>
        <p:spPr>
          <a:xfrm>
            <a:off x="7721600" y="3263900"/>
            <a:ext cx="344488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23"/>
          <p:cNvSpPr/>
          <p:nvPr/>
        </p:nvSpPr>
        <p:spPr>
          <a:xfrm>
            <a:off x="7896225" y="3263900"/>
            <a:ext cx="719138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eem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23"/>
          <p:cNvSpPr/>
          <p:nvPr/>
        </p:nvSpPr>
        <p:spPr>
          <a:xfrm>
            <a:off x="5338763" y="3851275"/>
            <a:ext cx="319088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23"/>
          <p:cNvSpPr/>
          <p:nvPr/>
        </p:nvSpPr>
        <p:spPr>
          <a:xfrm>
            <a:off x="5824538" y="3851275"/>
            <a:ext cx="1397000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Transport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23"/>
          <p:cNvSpPr/>
          <p:nvPr/>
        </p:nvSpPr>
        <p:spPr>
          <a:xfrm>
            <a:off x="7721600" y="3851275"/>
            <a:ext cx="342900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23"/>
          <p:cNvSpPr/>
          <p:nvPr/>
        </p:nvSpPr>
        <p:spPr>
          <a:xfrm>
            <a:off x="7894638" y="3851275"/>
            <a:ext cx="323850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23"/>
          <p:cNvSpPr/>
          <p:nvPr/>
        </p:nvSpPr>
        <p:spPr>
          <a:xfrm>
            <a:off x="5348288" y="4437063"/>
            <a:ext cx="300038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23"/>
          <p:cNvSpPr/>
          <p:nvPr/>
        </p:nvSpPr>
        <p:spPr>
          <a:xfrm>
            <a:off x="5824538" y="4437063"/>
            <a:ext cx="1262063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Network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23"/>
          <p:cNvSpPr/>
          <p:nvPr/>
        </p:nvSpPr>
        <p:spPr>
          <a:xfrm>
            <a:off x="7721600" y="4437063"/>
            <a:ext cx="388938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23"/>
          <p:cNvSpPr/>
          <p:nvPr/>
        </p:nvSpPr>
        <p:spPr>
          <a:xfrm>
            <a:off x="7943850" y="4437063"/>
            <a:ext cx="628650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eed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23"/>
          <p:cNvSpPr/>
          <p:nvPr/>
        </p:nvSpPr>
        <p:spPr>
          <a:xfrm>
            <a:off x="2481263" y="5138738"/>
            <a:ext cx="2327275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Moving raw data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23"/>
          <p:cNvSpPr/>
          <p:nvPr/>
        </p:nvSpPr>
        <p:spPr>
          <a:xfrm>
            <a:off x="2481263" y="5502275"/>
            <a:ext cx="2543175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across the network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23"/>
          <p:cNvSpPr/>
          <p:nvPr/>
        </p:nvSpPr>
        <p:spPr>
          <a:xfrm>
            <a:off x="5338763" y="5027613"/>
            <a:ext cx="317500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23"/>
          <p:cNvSpPr/>
          <p:nvPr/>
        </p:nvSpPr>
        <p:spPr>
          <a:xfrm>
            <a:off x="5824538" y="5027613"/>
            <a:ext cx="1370013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Data Link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23"/>
          <p:cNvSpPr/>
          <p:nvPr/>
        </p:nvSpPr>
        <p:spPr>
          <a:xfrm>
            <a:off x="7721600" y="5027613"/>
            <a:ext cx="376238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D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23"/>
          <p:cNvSpPr/>
          <p:nvPr/>
        </p:nvSpPr>
        <p:spPr>
          <a:xfrm>
            <a:off x="7931150" y="5027613"/>
            <a:ext cx="566738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ata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23"/>
          <p:cNvSpPr/>
          <p:nvPr/>
        </p:nvSpPr>
        <p:spPr>
          <a:xfrm>
            <a:off x="5348288" y="5613400"/>
            <a:ext cx="298450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23"/>
          <p:cNvSpPr/>
          <p:nvPr/>
        </p:nvSpPr>
        <p:spPr>
          <a:xfrm>
            <a:off x="5824538" y="5613400"/>
            <a:ext cx="1192213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Physical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23"/>
          <p:cNvSpPr/>
          <p:nvPr/>
        </p:nvSpPr>
        <p:spPr>
          <a:xfrm>
            <a:off x="7721600" y="5613400"/>
            <a:ext cx="350838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P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23"/>
          <p:cNvSpPr/>
          <p:nvPr/>
        </p:nvSpPr>
        <p:spPr>
          <a:xfrm>
            <a:off x="7904163" y="5613400"/>
            <a:ext cx="1352550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rocessing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4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An exchange using the OSI Model</a:t>
            </a:r>
            <a:endParaRPr/>
          </a:p>
        </p:txBody>
      </p:sp>
      <p:pic>
        <p:nvPicPr>
          <p:cNvPr id="396" name="Google Shape;39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00927" y="1514989"/>
            <a:ext cx="1162050" cy="88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06758" y="1514988"/>
            <a:ext cx="1162050" cy="885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24"/>
          <p:cNvSpPr/>
          <p:nvPr/>
        </p:nvSpPr>
        <p:spPr>
          <a:xfrm>
            <a:off x="4308518" y="2664329"/>
            <a:ext cx="581025" cy="22242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D7</a:t>
            </a:r>
            <a:endParaRPr/>
          </a:p>
        </p:txBody>
      </p:sp>
      <p:sp>
        <p:nvSpPr>
          <p:cNvPr id="400" name="Google Shape;400;p24"/>
          <p:cNvSpPr/>
          <p:nvPr/>
        </p:nvSpPr>
        <p:spPr>
          <a:xfrm>
            <a:off x="3908983" y="2664329"/>
            <a:ext cx="399535" cy="222422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H7</a:t>
            </a:r>
            <a:endParaRPr/>
          </a:p>
        </p:txBody>
      </p:sp>
      <p:sp>
        <p:nvSpPr>
          <p:cNvPr id="401" name="Google Shape;401;p24"/>
          <p:cNvSpPr/>
          <p:nvPr/>
        </p:nvSpPr>
        <p:spPr>
          <a:xfrm>
            <a:off x="3908983" y="3151206"/>
            <a:ext cx="980560" cy="22242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D6</a:t>
            </a:r>
            <a:endParaRPr/>
          </a:p>
        </p:txBody>
      </p:sp>
      <p:sp>
        <p:nvSpPr>
          <p:cNvPr id="402" name="Google Shape;402;p24"/>
          <p:cNvSpPr/>
          <p:nvPr/>
        </p:nvSpPr>
        <p:spPr>
          <a:xfrm>
            <a:off x="3509447" y="3151206"/>
            <a:ext cx="399535" cy="222422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H6</a:t>
            </a:r>
            <a:endParaRPr/>
          </a:p>
        </p:txBody>
      </p:sp>
      <p:sp>
        <p:nvSpPr>
          <p:cNvPr id="403" name="Google Shape;403;p24"/>
          <p:cNvSpPr/>
          <p:nvPr/>
        </p:nvSpPr>
        <p:spPr>
          <a:xfrm>
            <a:off x="3511379" y="3638548"/>
            <a:ext cx="1378164" cy="22242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D5</a:t>
            </a:r>
            <a:endParaRPr/>
          </a:p>
        </p:txBody>
      </p:sp>
      <p:sp>
        <p:nvSpPr>
          <p:cNvPr id="404" name="Google Shape;404;p24"/>
          <p:cNvSpPr/>
          <p:nvPr/>
        </p:nvSpPr>
        <p:spPr>
          <a:xfrm>
            <a:off x="3111843" y="3638548"/>
            <a:ext cx="399535" cy="222422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H5</a:t>
            </a:r>
            <a:endParaRPr/>
          </a:p>
        </p:txBody>
      </p:sp>
      <p:sp>
        <p:nvSpPr>
          <p:cNvPr id="405" name="Google Shape;405;p24"/>
          <p:cNvSpPr/>
          <p:nvPr/>
        </p:nvSpPr>
        <p:spPr>
          <a:xfrm>
            <a:off x="3111844" y="4124961"/>
            <a:ext cx="1777699" cy="22242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D4</a:t>
            </a:r>
            <a:endParaRPr/>
          </a:p>
        </p:txBody>
      </p:sp>
      <p:sp>
        <p:nvSpPr>
          <p:cNvPr id="406" name="Google Shape;406;p24"/>
          <p:cNvSpPr/>
          <p:nvPr/>
        </p:nvSpPr>
        <p:spPr>
          <a:xfrm>
            <a:off x="2712309" y="4124961"/>
            <a:ext cx="399535" cy="222422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H4</a:t>
            </a:r>
            <a:endParaRPr/>
          </a:p>
        </p:txBody>
      </p:sp>
      <p:sp>
        <p:nvSpPr>
          <p:cNvPr id="407" name="Google Shape;407;p24"/>
          <p:cNvSpPr/>
          <p:nvPr/>
        </p:nvSpPr>
        <p:spPr>
          <a:xfrm>
            <a:off x="2712310" y="4607403"/>
            <a:ext cx="2177235" cy="22242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D3</a:t>
            </a:r>
            <a:endParaRPr/>
          </a:p>
        </p:txBody>
      </p:sp>
      <p:sp>
        <p:nvSpPr>
          <p:cNvPr id="408" name="Google Shape;408;p24"/>
          <p:cNvSpPr/>
          <p:nvPr/>
        </p:nvSpPr>
        <p:spPr>
          <a:xfrm>
            <a:off x="2312775" y="4607403"/>
            <a:ext cx="399535" cy="222422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H3</a:t>
            </a:r>
            <a:endParaRPr/>
          </a:p>
        </p:txBody>
      </p:sp>
      <p:sp>
        <p:nvSpPr>
          <p:cNvPr id="409" name="Google Shape;409;p24"/>
          <p:cNvSpPr/>
          <p:nvPr/>
        </p:nvSpPr>
        <p:spPr>
          <a:xfrm>
            <a:off x="2312775" y="5093816"/>
            <a:ext cx="2576769" cy="22242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D2</a:t>
            </a:r>
            <a:endParaRPr/>
          </a:p>
        </p:txBody>
      </p:sp>
      <p:sp>
        <p:nvSpPr>
          <p:cNvPr id="410" name="Google Shape;410;p24"/>
          <p:cNvSpPr/>
          <p:nvPr/>
        </p:nvSpPr>
        <p:spPr>
          <a:xfrm>
            <a:off x="1913240" y="5093816"/>
            <a:ext cx="399535" cy="222422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H2</a:t>
            </a:r>
            <a:endParaRPr/>
          </a:p>
        </p:txBody>
      </p:sp>
      <p:sp>
        <p:nvSpPr>
          <p:cNvPr id="411" name="Google Shape;411;p24"/>
          <p:cNvSpPr/>
          <p:nvPr/>
        </p:nvSpPr>
        <p:spPr>
          <a:xfrm>
            <a:off x="1913240" y="5583841"/>
            <a:ext cx="3375838" cy="22242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01010111100001101010101110011101</a:t>
            </a:r>
            <a:endParaRPr/>
          </a:p>
        </p:txBody>
      </p:sp>
      <p:sp>
        <p:nvSpPr>
          <p:cNvPr id="412" name="Google Shape;412;p24"/>
          <p:cNvSpPr/>
          <p:nvPr/>
        </p:nvSpPr>
        <p:spPr>
          <a:xfrm>
            <a:off x="1513704" y="5583841"/>
            <a:ext cx="399535" cy="222422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010</a:t>
            </a:r>
            <a:endParaRPr/>
          </a:p>
        </p:txBody>
      </p:sp>
      <p:sp>
        <p:nvSpPr>
          <p:cNvPr id="413" name="Google Shape;413;p24"/>
          <p:cNvSpPr/>
          <p:nvPr/>
        </p:nvSpPr>
        <p:spPr>
          <a:xfrm>
            <a:off x="4889543" y="5093340"/>
            <a:ext cx="399535" cy="222422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T2</a:t>
            </a:r>
            <a:endParaRPr/>
          </a:p>
        </p:txBody>
      </p:sp>
      <p:sp>
        <p:nvSpPr>
          <p:cNvPr id="414" name="Google Shape;414;p24"/>
          <p:cNvSpPr/>
          <p:nvPr/>
        </p:nvSpPr>
        <p:spPr>
          <a:xfrm>
            <a:off x="10387783" y="2664329"/>
            <a:ext cx="581025" cy="22242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D7</a:t>
            </a:r>
            <a:endParaRPr/>
          </a:p>
        </p:txBody>
      </p:sp>
      <p:sp>
        <p:nvSpPr>
          <p:cNvPr id="415" name="Google Shape;415;p24"/>
          <p:cNvSpPr/>
          <p:nvPr/>
        </p:nvSpPr>
        <p:spPr>
          <a:xfrm>
            <a:off x="9988248" y="2664329"/>
            <a:ext cx="399535" cy="222422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H7</a:t>
            </a:r>
            <a:endParaRPr/>
          </a:p>
        </p:txBody>
      </p:sp>
      <p:sp>
        <p:nvSpPr>
          <p:cNvPr id="416" name="Google Shape;416;p24"/>
          <p:cNvSpPr/>
          <p:nvPr/>
        </p:nvSpPr>
        <p:spPr>
          <a:xfrm>
            <a:off x="9988248" y="3151206"/>
            <a:ext cx="980560" cy="22242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D6</a:t>
            </a:r>
            <a:endParaRPr/>
          </a:p>
        </p:txBody>
      </p:sp>
      <p:sp>
        <p:nvSpPr>
          <p:cNvPr id="417" name="Google Shape;417;p24"/>
          <p:cNvSpPr/>
          <p:nvPr/>
        </p:nvSpPr>
        <p:spPr>
          <a:xfrm>
            <a:off x="9588712" y="3151206"/>
            <a:ext cx="399535" cy="222422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H6</a:t>
            </a:r>
            <a:endParaRPr/>
          </a:p>
        </p:txBody>
      </p:sp>
      <p:sp>
        <p:nvSpPr>
          <p:cNvPr id="418" name="Google Shape;418;p24"/>
          <p:cNvSpPr/>
          <p:nvPr/>
        </p:nvSpPr>
        <p:spPr>
          <a:xfrm>
            <a:off x="9590644" y="3638548"/>
            <a:ext cx="1378164" cy="22242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D5</a:t>
            </a:r>
            <a:endParaRPr/>
          </a:p>
        </p:txBody>
      </p:sp>
      <p:sp>
        <p:nvSpPr>
          <p:cNvPr id="419" name="Google Shape;419;p24"/>
          <p:cNvSpPr/>
          <p:nvPr/>
        </p:nvSpPr>
        <p:spPr>
          <a:xfrm>
            <a:off x="9191108" y="3638548"/>
            <a:ext cx="399535" cy="222422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H5</a:t>
            </a:r>
            <a:endParaRPr/>
          </a:p>
        </p:txBody>
      </p:sp>
      <p:sp>
        <p:nvSpPr>
          <p:cNvPr id="420" name="Google Shape;420;p24"/>
          <p:cNvSpPr/>
          <p:nvPr/>
        </p:nvSpPr>
        <p:spPr>
          <a:xfrm>
            <a:off x="9191109" y="4124961"/>
            <a:ext cx="1777699" cy="22242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D4</a:t>
            </a:r>
            <a:endParaRPr/>
          </a:p>
        </p:txBody>
      </p:sp>
      <p:sp>
        <p:nvSpPr>
          <p:cNvPr id="421" name="Google Shape;421;p24"/>
          <p:cNvSpPr/>
          <p:nvPr/>
        </p:nvSpPr>
        <p:spPr>
          <a:xfrm>
            <a:off x="8791574" y="4124961"/>
            <a:ext cx="399535" cy="222422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H4</a:t>
            </a:r>
            <a:endParaRPr/>
          </a:p>
        </p:txBody>
      </p:sp>
      <p:sp>
        <p:nvSpPr>
          <p:cNvPr id="422" name="Google Shape;422;p24"/>
          <p:cNvSpPr/>
          <p:nvPr/>
        </p:nvSpPr>
        <p:spPr>
          <a:xfrm>
            <a:off x="8791575" y="4607403"/>
            <a:ext cx="2177235" cy="22242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D3</a:t>
            </a:r>
            <a:endParaRPr/>
          </a:p>
        </p:txBody>
      </p:sp>
      <p:sp>
        <p:nvSpPr>
          <p:cNvPr id="423" name="Google Shape;423;p24"/>
          <p:cNvSpPr/>
          <p:nvPr/>
        </p:nvSpPr>
        <p:spPr>
          <a:xfrm>
            <a:off x="8392040" y="4607403"/>
            <a:ext cx="399535" cy="222422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H3</a:t>
            </a:r>
            <a:endParaRPr/>
          </a:p>
        </p:txBody>
      </p:sp>
      <p:sp>
        <p:nvSpPr>
          <p:cNvPr id="424" name="Google Shape;424;p24"/>
          <p:cNvSpPr/>
          <p:nvPr/>
        </p:nvSpPr>
        <p:spPr>
          <a:xfrm>
            <a:off x="8392040" y="5093816"/>
            <a:ext cx="2576769" cy="22242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D2</a:t>
            </a:r>
            <a:endParaRPr/>
          </a:p>
        </p:txBody>
      </p:sp>
      <p:sp>
        <p:nvSpPr>
          <p:cNvPr id="425" name="Google Shape;425;p24"/>
          <p:cNvSpPr/>
          <p:nvPr/>
        </p:nvSpPr>
        <p:spPr>
          <a:xfrm>
            <a:off x="7992505" y="5093816"/>
            <a:ext cx="399535" cy="222422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H2</a:t>
            </a:r>
            <a:endParaRPr/>
          </a:p>
        </p:txBody>
      </p:sp>
      <p:sp>
        <p:nvSpPr>
          <p:cNvPr id="426" name="Google Shape;426;p24"/>
          <p:cNvSpPr/>
          <p:nvPr/>
        </p:nvSpPr>
        <p:spPr>
          <a:xfrm>
            <a:off x="7992505" y="5583841"/>
            <a:ext cx="2976304" cy="22242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01010111100001101010101110011101</a:t>
            </a:r>
            <a:endParaRPr/>
          </a:p>
        </p:txBody>
      </p:sp>
      <p:sp>
        <p:nvSpPr>
          <p:cNvPr id="427" name="Google Shape;427;p24"/>
          <p:cNvSpPr/>
          <p:nvPr/>
        </p:nvSpPr>
        <p:spPr>
          <a:xfrm>
            <a:off x="7592969" y="5583841"/>
            <a:ext cx="399535" cy="222422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010</a:t>
            </a:r>
            <a:endParaRPr/>
          </a:p>
        </p:txBody>
      </p:sp>
      <p:sp>
        <p:nvSpPr>
          <p:cNvPr id="428" name="Google Shape;428;p24"/>
          <p:cNvSpPr/>
          <p:nvPr/>
        </p:nvSpPr>
        <p:spPr>
          <a:xfrm>
            <a:off x="10968808" y="5093340"/>
            <a:ext cx="399535" cy="222422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T2</a:t>
            </a:r>
            <a:endParaRPr/>
          </a:p>
        </p:txBody>
      </p:sp>
      <p:cxnSp>
        <p:nvCxnSpPr>
          <p:cNvPr id="429" name="Google Shape;429;p24"/>
          <p:cNvCxnSpPr>
            <a:stCxn id="399" idx="2"/>
            <a:endCxn id="401" idx="0"/>
          </p:cNvCxnSpPr>
          <p:nvPr/>
        </p:nvCxnSpPr>
        <p:spPr>
          <a:xfrm rot="5400000">
            <a:off x="4366831" y="2919151"/>
            <a:ext cx="264600" cy="1998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30" name="Google Shape;430;p24"/>
          <p:cNvCxnSpPr>
            <a:stCxn id="400" idx="2"/>
            <a:endCxn id="401" idx="0"/>
          </p:cNvCxnSpPr>
          <p:nvPr/>
        </p:nvCxnSpPr>
        <p:spPr>
          <a:xfrm flipH="1" rot="-5400000">
            <a:off x="4121651" y="2873851"/>
            <a:ext cx="264600" cy="2904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31" name="Google Shape;431;p24"/>
          <p:cNvCxnSpPr>
            <a:stCxn id="401" idx="2"/>
          </p:cNvCxnSpPr>
          <p:nvPr/>
        </p:nvCxnSpPr>
        <p:spPr>
          <a:xfrm rot="5400000">
            <a:off x="4166313" y="3402578"/>
            <a:ext cx="261900" cy="2040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32" name="Google Shape;432;p24"/>
          <p:cNvCxnSpPr>
            <a:stCxn id="402" idx="2"/>
            <a:endCxn id="403" idx="0"/>
          </p:cNvCxnSpPr>
          <p:nvPr/>
        </p:nvCxnSpPr>
        <p:spPr>
          <a:xfrm flipH="1" rot="-5400000">
            <a:off x="3822315" y="3260528"/>
            <a:ext cx="264900" cy="491100"/>
          </a:xfrm>
          <a:prstGeom prst="bentConnector3">
            <a:avLst>
              <a:gd fmla="val 50004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33" name="Google Shape;433;p24"/>
          <p:cNvCxnSpPr>
            <a:stCxn id="404" idx="2"/>
            <a:endCxn id="405" idx="0"/>
          </p:cNvCxnSpPr>
          <p:nvPr/>
        </p:nvCxnSpPr>
        <p:spPr>
          <a:xfrm flipH="1" rot="-5400000">
            <a:off x="3524161" y="3648420"/>
            <a:ext cx="264000" cy="6891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34" name="Google Shape;434;p24"/>
          <p:cNvCxnSpPr>
            <a:stCxn id="403" idx="2"/>
            <a:endCxn id="405" idx="0"/>
          </p:cNvCxnSpPr>
          <p:nvPr/>
        </p:nvCxnSpPr>
        <p:spPr>
          <a:xfrm rot="5400000">
            <a:off x="3968561" y="3893070"/>
            <a:ext cx="264000" cy="1998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35" name="Google Shape;435;p24"/>
          <p:cNvCxnSpPr>
            <a:stCxn id="406" idx="2"/>
            <a:endCxn id="407" idx="0"/>
          </p:cNvCxnSpPr>
          <p:nvPr/>
        </p:nvCxnSpPr>
        <p:spPr>
          <a:xfrm flipH="1" rot="-5400000">
            <a:off x="3226477" y="4032983"/>
            <a:ext cx="260100" cy="8889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36" name="Google Shape;436;p24"/>
          <p:cNvCxnSpPr>
            <a:stCxn id="405" idx="2"/>
            <a:endCxn id="407" idx="0"/>
          </p:cNvCxnSpPr>
          <p:nvPr/>
        </p:nvCxnSpPr>
        <p:spPr>
          <a:xfrm rot="5400000">
            <a:off x="3770744" y="4377533"/>
            <a:ext cx="260100" cy="1998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37" name="Google Shape;437;p24"/>
          <p:cNvCxnSpPr>
            <a:stCxn id="408" idx="2"/>
            <a:endCxn id="409" idx="0"/>
          </p:cNvCxnSpPr>
          <p:nvPr/>
        </p:nvCxnSpPr>
        <p:spPr>
          <a:xfrm flipH="1" rot="-5400000">
            <a:off x="2924893" y="4417475"/>
            <a:ext cx="264000" cy="10887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38" name="Google Shape;438;p24"/>
          <p:cNvCxnSpPr>
            <a:stCxn id="407" idx="2"/>
            <a:endCxn id="409" idx="0"/>
          </p:cNvCxnSpPr>
          <p:nvPr/>
        </p:nvCxnSpPr>
        <p:spPr>
          <a:xfrm rot="5400000">
            <a:off x="3569028" y="4861925"/>
            <a:ext cx="264000" cy="1998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39" name="Google Shape;439;p24"/>
          <p:cNvCxnSpPr>
            <a:stCxn id="410" idx="2"/>
            <a:endCxn id="411" idx="0"/>
          </p:cNvCxnSpPr>
          <p:nvPr/>
        </p:nvCxnSpPr>
        <p:spPr>
          <a:xfrm flipH="1" rot="-5400000">
            <a:off x="2723358" y="4705888"/>
            <a:ext cx="267600" cy="14883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40" name="Google Shape;440;p24"/>
          <p:cNvCxnSpPr>
            <a:stCxn id="409" idx="2"/>
            <a:endCxn id="411" idx="0"/>
          </p:cNvCxnSpPr>
          <p:nvPr/>
        </p:nvCxnSpPr>
        <p:spPr>
          <a:xfrm flipH="1" rot="-5400000">
            <a:off x="3467660" y="5449738"/>
            <a:ext cx="267600" cy="6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41" name="Google Shape;441;p24"/>
          <p:cNvCxnSpPr>
            <a:stCxn id="411" idx="2"/>
            <a:endCxn id="426" idx="2"/>
          </p:cNvCxnSpPr>
          <p:nvPr/>
        </p:nvCxnSpPr>
        <p:spPr>
          <a:xfrm flipH="1" rot="-5400000">
            <a:off x="6540559" y="2866863"/>
            <a:ext cx="600" cy="5879400"/>
          </a:xfrm>
          <a:prstGeom prst="bentConnector3">
            <a:avLst>
              <a:gd fmla="val 37041667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42" name="Google Shape;442;p24"/>
          <p:cNvCxnSpPr>
            <a:stCxn id="426" idx="0"/>
            <a:endCxn id="425" idx="2"/>
          </p:cNvCxnSpPr>
          <p:nvPr/>
        </p:nvCxnSpPr>
        <p:spPr>
          <a:xfrm flipH="1" rot="5400000">
            <a:off x="8702607" y="4805791"/>
            <a:ext cx="267600" cy="12885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43" name="Google Shape;443;p24"/>
          <p:cNvCxnSpPr>
            <a:stCxn id="426" idx="0"/>
            <a:endCxn id="424" idx="2"/>
          </p:cNvCxnSpPr>
          <p:nvPr/>
        </p:nvCxnSpPr>
        <p:spPr>
          <a:xfrm rot="-5400000">
            <a:off x="9446757" y="5350141"/>
            <a:ext cx="267600" cy="1998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44" name="Google Shape;444;p24"/>
          <p:cNvCxnSpPr>
            <a:stCxn id="424" idx="0"/>
            <a:endCxn id="423" idx="2"/>
          </p:cNvCxnSpPr>
          <p:nvPr/>
        </p:nvCxnSpPr>
        <p:spPr>
          <a:xfrm flipH="1" rot="5400000">
            <a:off x="9004075" y="4417466"/>
            <a:ext cx="264000" cy="10887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45" name="Google Shape;445;p24"/>
          <p:cNvCxnSpPr>
            <a:stCxn id="424" idx="0"/>
            <a:endCxn id="422" idx="2"/>
          </p:cNvCxnSpPr>
          <p:nvPr/>
        </p:nvCxnSpPr>
        <p:spPr>
          <a:xfrm rot="-5400000">
            <a:off x="9648325" y="4861916"/>
            <a:ext cx="264000" cy="1998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46" name="Google Shape;446;p24"/>
          <p:cNvCxnSpPr>
            <a:stCxn id="422" idx="0"/>
            <a:endCxn id="421" idx="2"/>
          </p:cNvCxnSpPr>
          <p:nvPr/>
        </p:nvCxnSpPr>
        <p:spPr>
          <a:xfrm flipH="1" rot="5400000">
            <a:off x="9305693" y="4032903"/>
            <a:ext cx="260100" cy="8889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47" name="Google Shape;447;p24"/>
          <p:cNvCxnSpPr>
            <a:stCxn id="422" idx="0"/>
            <a:endCxn id="420" idx="2"/>
          </p:cNvCxnSpPr>
          <p:nvPr/>
        </p:nvCxnSpPr>
        <p:spPr>
          <a:xfrm rot="-5400000">
            <a:off x="9850043" y="4377453"/>
            <a:ext cx="260100" cy="1998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48" name="Google Shape;448;p24"/>
          <p:cNvCxnSpPr>
            <a:stCxn id="420" idx="0"/>
            <a:endCxn id="419" idx="2"/>
          </p:cNvCxnSpPr>
          <p:nvPr/>
        </p:nvCxnSpPr>
        <p:spPr>
          <a:xfrm flipH="1" rot="5400000">
            <a:off x="9603409" y="3648411"/>
            <a:ext cx="264000" cy="6891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49" name="Google Shape;449;p24"/>
          <p:cNvCxnSpPr>
            <a:stCxn id="420" idx="0"/>
            <a:endCxn id="418" idx="2"/>
          </p:cNvCxnSpPr>
          <p:nvPr/>
        </p:nvCxnSpPr>
        <p:spPr>
          <a:xfrm rot="-5400000">
            <a:off x="10047859" y="3893061"/>
            <a:ext cx="264000" cy="1998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50" name="Google Shape;450;p24"/>
          <p:cNvCxnSpPr>
            <a:stCxn id="418" idx="0"/>
            <a:endCxn id="417" idx="2"/>
          </p:cNvCxnSpPr>
          <p:nvPr/>
        </p:nvCxnSpPr>
        <p:spPr>
          <a:xfrm flipH="1" rot="5400000">
            <a:off x="9901726" y="3260548"/>
            <a:ext cx="264900" cy="4911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51" name="Google Shape;451;p24"/>
          <p:cNvCxnSpPr>
            <a:stCxn id="418" idx="0"/>
            <a:endCxn id="416" idx="2"/>
          </p:cNvCxnSpPr>
          <p:nvPr/>
        </p:nvCxnSpPr>
        <p:spPr>
          <a:xfrm rot="-5400000">
            <a:off x="10246726" y="3406648"/>
            <a:ext cx="264900" cy="1989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52" name="Google Shape;452;p24"/>
          <p:cNvCxnSpPr>
            <a:stCxn id="416" idx="0"/>
            <a:endCxn id="415" idx="2"/>
          </p:cNvCxnSpPr>
          <p:nvPr/>
        </p:nvCxnSpPr>
        <p:spPr>
          <a:xfrm flipH="1" rot="5400000">
            <a:off x="10201028" y="2873706"/>
            <a:ext cx="264600" cy="2904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53" name="Google Shape;453;p24"/>
          <p:cNvCxnSpPr>
            <a:stCxn id="416" idx="0"/>
            <a:endCxn id="414" idx="2"/>
          </p:cNvCxnSpPr>
          <p:nvPr/>
        </p:nvCxnSpPr>
        <p:spPr>
          <a:xfrm rot="-5400000">
            <a:off x="10446128" y="2919006"/>
            <a:ext cx="264600" cy="1998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54" name="Google Shape;454;p24"/>
          <p:cNvCxnSpPr>
            <a:stCxn id="413" idx="2"/>
            <a:endCxn id="411" idx="0"/>
          </p:cNvCxnSpPr>
          <p:nvPr/>
        </p:nvCxnSpPr>
        <p:spPr>
          <a:xfrm rot="5400000">
            <a:off x="4211061" y="4705712"/>
            <a:ext cx="268200" cy="14883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55" name="Google Shape;455;p24"/>
          <p:cNvCxnSpPr>
            <a:stCxn id="426" idx="0"/>
            <a:endCxn id="428" idx="2"/>
          </p:cNvCxnSpPr>
          <p:nvPr/>
        </p:nvCxnSpPr>
        <p:spPr>
          <a:xfrm rot="-5400000">
            <a:off x="10190457" y="4605841"/>
            <a:ext cx="268200" cy="16878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56" name="Google Shape;456;p24"/>
          <p:cNvCxnSpPr>
            <a:stCxn id="397" idx="2"/>
            <a:endCxn id="399" idx="0"/>
          </p:cNvCxnSpPr>
          <p:nvPr/>
        </p:nvCxnSpPr>
        <p:spPr>
          <a:xfrm flipH="1" rot="-5400000">
            <a:off x="4358852" y="2423914"/>
            <a:ext cx="263400" cy="2172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57" name="Google Shape;457;p24"/>
          <p:cNvCxnSpPr>
            <a:stCxn id="414" idx="0"/>
            <a:endCxn id="398" idx="2"/>
          </p:cNvCxnSpPr>
          <p:nvPr/>
        </p:nvCxnSpPr>
        <p:spPr>
          <a:xfrm flipH="1" rot="5400000">
            <a:off x="10401396" y="2387429"/>
            <a:ext cx="263400" cy="2904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58" name="Google Shape;458;p24"/>
          <p:cNvSpPr txBox="1"/>
          <p:nvPr/>
        </p:nvSpPr>
        <p:spPr>
          <a:xfrm>
            <a:off x="3946180" y="1207529"/>
            <a:ext cx="86433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Sender</a:t>
            </a:r>
            <a:endParaRPr/>
          </a:p>
        </p:txBody>
      </p:sp>
      <p:sp>
        <p:nvSpPr>
          <p:cNvPr id="459" name="Google Shape;459;p24"/>
          <p:cNvSpPr txBox="1"/>
          <p:nvPr/>
        </p:nvSpPr>
        <p:spPr>
          <a:xfrm>
            <a:off x="9832814" y="1182420"/>
            <a:ext cx="100091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Receiver</a:t>
            </a:r>
            <a:endParaRPr/>
          </a:p>
        </p:txBody>
      </p:sp>
      <p:sp>
        <p:nvSpPr>
          <p:cNvPr id="460" name="Google Shape;460;p24"/>
          <p:cNvSpPr txBox="1"/>
          <p:nvPr/>
        </p:nvSpPr>
        <p:spPr>
          <a:xfrm>
            <a:off x="5521217" y="6022333"/>
            <a:ext cx="22715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Transmission medium</a:t>
            </a:r>
            <a:endParaRPr/>
          </a:p>
        </p:txBody>
      </p:sp>
      <p:graphicFrame>
        <p:nvGraphicFramePr>
          <p:cNvPr id="461" name="Google Shape;461;p24"/>
          <p:cNvGraphicFramePr/>
          <p:nvPr/>
        </p:nvGraphicFramePr>
        <p:xfrm>
          <a:off x="6120837" y="151067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{6D443BBA-3845-493F-8051-ACD5F123C0B7}</a:tableStyleId>
              </a:tblPr>
              <a:tblGrid>
                <a:gridCol w="289125"/>
                <a:gridCol w="1482675"/>
              </a:tblGrid>
              <a:tr h="370850"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Layers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Application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Presentation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Session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Transport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Network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Data Link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Physical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5"/>
          <p:cNvSpPr txBox="1"/>
          <p:nvPr>
            <p:ph type="title"/>
          </p:nvPr>
        </p:nvSpPr>
        <p:spPr>
          <a:xfrm>
            <a:off x="1484310" y="325395"/>
            <a:ext cx="10018713" cy="32539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Application Layer</a:t>
            </a:r>
            <a:endParaRPr/>
          </a:p>
        </p:txBody>
      </p:sp>
      <p:pic>
        <p:nvPicPr>
          <p:cNvPr id="467" name="Google Shape;46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25"/>
          <p:cNvSpPr txBox="1"/>
          <p:nvPr/>
        </p:nvSpPr>
        <p:spPr>
          <a:xfrm>
            <a:off x="7132756" y="2583919"/>
            <a:ext cx="280640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- The 7</a:t>
            </a:r>
            <a:r>
              <a:rPr baseline="30000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th</a:t>
            </a: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Layer of OSI Model</a:t>
            </a:r>
            <a:endParaRPr/>
          </a:p>
        </p:txBody>
      </p:sp>
      <p:sp>
        <p:nvSpPr>
          <p:cNvPr id="469" name="Google Shape;469;p25"/>
          <p:cNvSpPr txBox="1"/>
          <p:nvPr/>
        </p:nvSpPr>
        <p:spPr>
          <a:xfrm>
            <a:off x="3058044" y="3510585"/>
            <a:ext cx="239520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Sender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From Email/Other app</a:t>
            </a:r>
            <a:endParaRPr/>
          </a:p>
        </p:txBody>
      </p:sp>
      <p:sp>
        <p:nvSpPr>
          <p:cNvPr id="470" name="Google Shape;470;p25"/>
          <p:cNvSpPr txBox="1"/>
          <p:nvPr/>
        </p:nvSpPr>
        <p:spPr>
          <a:xfrm>
            <a:off x="3077536" y="6046260"/>
            <a:ext cx="237571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To Presentation Layer</a:t>
            </a:r>
            <a:endParaRPr/>
          </a:p>
        </p:txBody>
      </p:sp>
      <p:sp>
        <p:nvSpPr>
          <p:cNvPr id="471" name="Google Shape;471;p25"/>
          <p:cNvSpPr txBox="1"/>
          <p:nvPr/>
        </p:nvSpPr>
        <p:spPr>
          <a:xfrm>
            <a:off x="7478747" y="3524207"/>
            <a:ext cx="211442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Receiver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To Email/Other app</a:t>
            </a:r>
            <a:endParaRPr/>
          </a:p>
        </p:txBody>
      </p:sp>
      <p:sp>
        <p:nvSpPr>
          <p:cNvPr id="472" name="Google Shape;472;p25"/>
          <p:cNvSpPr txBox="1"/>
          <p:nvPr/>
        </p:nvSpPr>
        <p:spPr>
          <a:xfrm>
            <a:off x="7282669" y="6046260"/>
            <a:ext cx="26564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From Presentation Layer</a:t>
            </a:r>
            <a:endParaRPr/>
          </a:p>
        </p:txBody>
      </p:sp>
      <p:sp>
        <p:nvSpPr>
          <p:cNvPr id="473" name="Google Shape;473;p25"/>
          <p:cNvSpPr/>
          <p:nvPr/>
        </p:nvSpPr>
        <p:spPr>
          <a:xfrm>
            <a:off x="3746285" y="4668510"/>
            <a:ext cx="2133135" cy="646330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/>
          </a:p>
        </p:txBody>
      </p:sp>
      <p:sp>
        <p:nvSpPr>
          <p:cNvPr id="474" name="Google Shape;474;p25"/>
          <p:cNvSpPr/>
          <p:nvPr/>
        </p:nvSpPr>
        <p:spPr>
          <a:xfrm>
            <a:off x="2639440" y="4668510"/>
            <a:ext cx="1106845" cy="646330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Header</a:t>
            </a:r>
            <a:endParaRPr/>
          </a:p>
        </p:txBody>
      </p:sp>
      <p:cxnSp>
        <p:nvCxnSpPr>
          <p:cNvPr id="475" name="Google Shape;475;p25"/>
          <p:cNvCxnSpPr>
            <a:stCxn id="469" idx="2"/>
            <a:endCxn id="473" idx="0"/>
          </p:cNvCxnSpPr>
          <p:nvPr/>
        </p:nvCxnSpPr>
        <p:spPr>
          <a:xfrm flipH="1" rot="-5400000">
            <a:off x="4278448" y="4134116"/>
            <a:ext cx="511500" cy="5571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76" name="Google Shape;476;p25"/>
          <p:cNvCxnSpPr>
            <a:stCxn id="474" idx="2"/>
            <a:endCxn id="470" idx="0"/>
          </p:cNvCxnSpPr>
          <p:nvPr/>
        </p:nvCxnSpPr>
        <p:spPr>
          <a:xfrm flipH="1" rot="-5400000">
            <a:off x="3363413" y="5144290"/>
            <a:ext cx="731400" cy="10725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77" name="Google Shape;477;p25"/>
          <p:cNvCxnSpPr>
            <a:stCxn id="473" idx="2"/>
            <a:endCxn id="470" idx="0"/>
          </p:cNvCxnSpPr>
          <p:nvPr/>
        </p:nvCxnSpPr>
        <p:spPr>
          <a:xfrm rot="5400000">
            <a:off x="4173403" y="5406790"/>
            <a:ext cx="731400" cy="5475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78" name="Google Shape;478;p25"/>
          <p:cNvSpPr/>
          <p:nvPr/>
        </p:nvSpPr>
        <p:spPr>
          <a:xfrm>
            <a:off x="8058797" y="4668509"/>
            <a:ext cx="2133135" cy="646330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/>
          </a:p>
        </p:txBody>
      </p:sp>
      <p:sp>
        <p:nvSpPr>
          <p:cNvPr id="479" name="Google Shape;479;p25"/>
          <p:cNvSpPr/>
          <p:nvPr/>
        </p:nvSpPr>
        <p:spPr>
          <a:xfrm>
            <a:off x="6951952" y="4668509"/>
            <a:ext cx="1106845" cy="646330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Header</a:t>
            </a:r>
            <a:endParaRPr/>
          </a:p>
        </p:txBody>
      </p:sp>
      <p:cxnSp>
        <p:nvCxnSpPr>
          <p:cNvPr id="480" name="Google Shape;480;p25"/>
          <p:cNvCxnSpPr>
            <a:stCxn id="472" idx="0"/>
            <a:endCxn id="479" idx="2"/>
          </p:cNvCxnSpPr>
          <p:nvPr/>
        </p:nvCxnSpPr>
        <p:spPr>
          <a:xfrm flipH="1" rot="5400000">
            <a:off x="7692467" y="5127810"/>
            <a:ext cx="731400" cy="11055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81" name="Google Shape;481;p25"/>
          <p:cNvCxnSpPr>
            <a:stCxn id="472" idx="0"/>
            <a:endCxn id="478" idx="2"/>
          </p:cNvCxnSpPr>
          <p:nvPr/>
        </p:nvCxnSpPr>
        <p:spPr>
          <a:xfrm rot="-5400000">
            <a:off x="8502467" y="5423310"/>
            <a:ext cx="731400" cy="5145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82" name="Google Shape;482;p25"/>
          <p:cNvCxnSpPr>
            <a:stCxn id="478" idx="0"/>
            <a:endCxn id="471" idx="2"/>
          </p:cNvCxnSpPr>
          <p:nvPr/>
        </p:nvCxnSpPr>
        <p:spPr>
          <a:xfrm flipH="1" rot="5400000">
            <a:off x="8581615" y="4124759"/>
            <a:ext cx="498000" cy="5895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26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Applications</a:t>
            </a:r>
            <a:endParaRPr/>
          </a:p>
        </p:txBody>
      </p:sp>
      <p:sp>
        <p:nvSpPr>
          <p:cNvPr id="488" name="Google Shape;488;p26"/>
          <p:cNvSpPr txBox="1"/>
          <p:nvPr>
            <p:ph idx="1" type="body"/>
          </p:nvPr>
        </p:nvSpPr>
        <p:spPr>
          <a:xfrm>
            <a:off x="1484310" y="1421027"/>
            <a:ext cx="10018713" cy="4370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The Interface Between Human and Data Networks</a:t>
            </a:r>
            <a:endParaRPr/>
          </a:p>
          <a:p>
            <a:pPr indent="-285750" lvl="0" marL="285750" rtl="0" algn="l">
              <a:lnSpc>
                <a:spcPct val="8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Responsible for providing services to the user.</a:t>
            </a:r>
            <a:endParaRPr/>
          </a:p>
        </p:txBody>
      </p:sp>
      <p:pic>
        <p:nvPicPr>
          <p:cNvPr id="489" name="Google Shape;48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5468" y="2720801"/>
            <a:ext cx="4629520" cy="29594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ow to get a cutting-edge web browser | Computerworld" id="491" name="Google Shape;491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13769" y="1244484"/>
            <a:ext cx="2797054" cy="2181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40471" y="3677622"/>
            <a:ext cx="3470352" cy="2467806"/>
          </a:xfrm>
          <a:prstGeom prst="rect">
            <a:avLst/>
          </a:prstGeom>
          <a:noFill/>
          <a:ln>
            <a:noFill/>
          </a:ln>
        </p:spPr>
      </p:pic>
      <p:pic>
        <p:nvPicPr>
          <p:cNvPr id="493" name="Google Shape;493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96096" y="4486292"/>
            <a:ext cx="3550894" cy="2219308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26"/>
          <p:cNvSpPr txBox="1"/>
          <p:nvPr/>
        </p:nvSpPr>
        <p:spPr>
          <a:xfrm>
            <a:off x="5972316" y="4116960"/>
            <a:ext cx="7216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Email</a:t>
            </a:r>
            <a:endParaRPr/>
          </a:p>
        </p:txBody>
      </p:sp>
      <p:sp>
        <p:nvSpPr>
          <p:cNvPr id="495" name="Google Shape;495;p26"/>
          <p:cNvSpPr txBox="1"/>
          <p:nvPr/>
        </p:nvSpPr>
        <p:spPr>
          <a:xfrm>
            <a:off x="6693988" y="3601648"/>
            <a:ext cx="19207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Instant Messaging</a:t>
            </a:r>
            <a:endParaRPr/>
          </a:p>
        </p:txBody>
      </p:sp>
      <p:sp>
        <p:nvSpPr>
          <p:cNvPr id="496" name="Google Shape;496;p26"/>
          <p:cNvSpPr txBox="1"/>
          <p:nvPr/>
        </p:nvSpPr>
        <p:spPr>
          <a:xfrm>
            <a:off x="8149054" y="2150759"/>
            <a:ext cx="106471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Browsers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7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Examples: Application Layer Protocols</a:t>
            </a:r>
            <a:endParaRPr/>
          </a:p>
        </p:txBody>
      </p:sp>
      <p:pic>
        <p:nvPicPr>
          <p:cNvPr id="502" name="Google Shape;50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03" name="Google Shape;503;p27"/>
          <p:cNvGraphicFramePr/>
          <p:nvPr/>
        </p:nvGraphicFramePr>
        <p:xfrm>
          <a:off x="2093898" y="227131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{6D443BBA-3845-493F-8051-ACD5F123C0B7}</a:tableStyleId>
              </a:tblPr>
              <a:tblGrid>
                <a:gridCol w="1797475"/>
                <a:gridCol w="1400400"/>
                <a:gridCol w="1400400"/>
                <a:gridCol w="1400400"/>
                <a:gridCol w="1400400"/>
                <a:gridCol w="1400400"/>
              </a:tblGrid>
              <a:tr h="370850">
                <a:tc row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Application Layer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Name System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Host Config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Email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File Transfer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Web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DNS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BOOTP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SMTP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FTP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HTTP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DHCP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POP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TFTP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HTTPS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IMAP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28"/>
          <p:cNvSpPr txBox="1"/>
          <p:nvPr>
            <p:ph type="title"/>
          </p:nvPr>
        </p:nvSpPr>
        <p:spPr>
          <a:xfrm>
            <a:off x="1484310" y="325395"/>
            <a:ext cx="10018713" cy="32539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Presentation Layer</a:t>
            </a:r>
            <a:endParaRPr/>
          </a:p>
        </p:txBody>
      </p:sp>
      <p:pic>
        <p:nvPicPr>
          <p:cNvPr id="509" name="Google Shape;50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p28"/>
          <p:cNvSpPr txBox="1"/>
          <p:nvPr/>
        </p:nvSpPr>
        <p:spPr>
          <a:xfrm>
            <a:off x="7132756" y="2583919"/>
            <a:ext cx="280640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- The 6</a:t>
            </a:r>
            <a:r>
              <a:rPr baseline="30000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th</a:t>
            </a: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Layer of OSI Model</a:t>
            </a:r>
            <a:endParaRPr/>
          </a:p>
        </p:txBody>
      </p:sp>
      <p:sp>
        <p:nvSpPr>
          <p:cNvPr id="511" name="Google Shape;511;p28"/>
          <p:cNvSpPr txBox="1"/>
          <p:nvPr/>
        </p:nvSpPr>
        <p:spPr>
          <a:xfrm>
            <a:off x="3006204" y="3510585"/>
            <a:ext cx="249888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Sender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From Application Layer</a:t>
            </a:r>
            <a:endParaRPr/>
          </a:p>
        </p:txBody>
      </p:sp>
      <p:sp>
        <p:nvSpPr>
          <p:cNvPr id="512" name="Google Shape;512;p28"/>
          <p:cNvSpPr txBox="1"/>
          <p:nvPr/>
        </p:nvSpPr>
        <p:spPr>
          <a:xfrm>
            <a:off x="3077536" y="6046260"/>
            <a:ext cx="184108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To Session Layer</a:t>
            </a:r>
            <a:endParaRPr/>
          </a:p>
        </p:txBody>
      </p:sp>
      <p:sp>
        <p:nvSpPr>
          <p:cNvPr id="513" name="Google Shape;513;p28"/>
          <p:cNvSpPr txBox="1"/>
          <p:nvPr/>
        </p:nvSpPr>
        <p:spPr>
          <a:xfrm>
            <a:off x="7426906" y="3524207"/>
            <a:ext cx="221810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Receiver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To Application Layer</a:t>
            </a:r>
            <a:endParaRPr/>
          </a:p>
        </p:txBody>
      </p:sp>
      <p:sp>
        <p:nvSpPr>
          <p:cNvPr id="514" name="Google Shape;514;p28"/>
          <p:cNvSpPr txBox="1"/>
          <p:nvPr/>
        </p:nvSpPr>
        <p:spPr>
          <a:xfrm>
            <a:off x="7282669" y="6046260"/>
            <a:ext cx="21218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From Session Layer</a:t>
            </a:r>
            <a:endParaRPr/>
          </a:p>
        </p:txBody>
      </p:sp>
      <p:sp>
        <p:nvSpPr>
          <p:cNvPr id="515" name="Google Shape;515;p28"/>
          <p:cNvSpPr/>
          <p:nvPr/>
        </p:nvSpPr>
        <p:spPr>
          <a:xfrm>
            <a:off x="3746285" y="4668510"/>
            <a:ext cx="2133135" cy="646330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/>
          </a:p>
        </p:txBody>
      </p:sp>
      <p:sp>
        <p:nvSpPr>
          <p:cNvPr id="516" name="Google Shape;516;p28"/>
          <p:cNvSpPr/>
          <p:nvPr/>
        </p:nvSpPr>
        <p:spPr>
          <a:xfrm>
            <a:off x="2639440" y="4668510"/>
            <a:ext cx="1106845" cy="646330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Header</a:t>
            </a:r>
            <a:endParaRPr/>
          </a:p>
        </p:txBody>
      </p:sp>
      <p:cxnSp>
        <p:nvCxnSpPr>
          <p:cNvPr id="517" name="Google Shape;517;p28"/>
          <p:cNvCxnSpPr>
            <a:stCxn id="511" idx="2"/>
            <a:endCxn id="515" idx="0"/>
          </p:cNvCxnSpPr>
          <p:nvPr/>
        </p:nvCxnSpPr>
        <p:spPr>
          <a:xfrm flipH="1" rot="-5400000">
            <a:off x="4278449" y="4134116"/>
            <a:ext cx="511500" cy="5571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18" name="Google Shape;518;p28"/>
          <p:cNvCxnSpPr>
            <a:stCxn id="516" idx="2"/>
            <a:endCxn id="512" idx="0"/>
          </p:cNvCxnSpPr>
          <p:nvPr/>
        </p:nvCxnSpPr>
        <p:spPr>
          <a:xfrm flipH="1" rot="-5400000">
            <a:off x="3229763" y="5277940"/>
            <a:ext cx="731400" cy="8052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19" name="Google Shape;519;p28"/>
          <p:cNvCxnSpPr>
            <a:stCxn id="515" idx="2"/>
            <a:endCxn id="512" idx="0"/>
          </p:cNvCxnSpPr>
          <p:nvPr/>
        </p:nvCxnSpPr>
        <p:spPr>
          <a:xfrm rot="5400000">
            <a:off x="4039753" y="5273140"/>
            <a:ext cx="731400" cy="8148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20" name="Google Shape;520;p28"/>
          <p:cNvSpPr/>
          <p:nvPr/>
        </p:nvSpPr>
        <p:spPr>
          <a:xfrm>
            <a:off x="8058797" y="4668509"/>
            <a:ext cx="2133135" cy="646330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/>
          </a:p>
        </p:txBody>
      </p:sp>
      <p:sp>
        <p:nvSpPr>
          <p:cNvPr id="521" name="Google Shape;521;p28"/>
          <p:cNvSpPr/>
          <p:nvPr/>
        </p:nvSpPr>
        <p:spPr>
          <a:xfrm>
            <a:off x="6951952" y="4668509"/>
            <a:ext cx="1106845" cy="646330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Header</a:t>
            </a:r>
            <a:endParaRPr/>
          </a:p>
        </p:txBody>
      </p:sp>
      <p:cxnSp>
        <p:nvCxnSpPr>
          <p:cNvPr id="522" name="Google Shape;522;p28"/>
          <p:cNvCxnSpPr>
            <a:stCxn id="514" idx="0"/>
            <a:endCxn id="521" idx="2"/>
          </p:cNvCxnSpPr>
          <p:nvPr/>
        </p:nvCxnSpPr>
        <p:spPr>
          <a:xfrm flipH="1" rot="5400000">
            <a:off x="7558801" y="5261460"/>
            <a:ext cx="731400" cy="8382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23" name="Google Shape;523;p28"/>
          <p:cNvCxnSpPr>
            <a:stCxn id="514" idx="0"/>
            <a:endCxn id="520" idx="2"/>
          </p:cNvCxnSpPr>
          <p:nvPr/>
        </p:nvCxnSpPr>
        <p:spPr>
          <a:xfrm rot="-5400000">
            <a:off x="8368801" y="5289660"/>
            <a:ext cx="731400" cy="7818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24" name="Google Shape;524;p28"/>
          <p:cNvCxnSpPr>
            <a:stCxn id="520" idx="0"/>
            <a:endCxn id="513" idx="2"/>
          </p:cNvCxnSpPr>
          <p:nvPr/>
        </p:nvCxnSpPr>
        <p:spPr>
          <a:xfrm flipH="1" rot="5400000">
            <a:off x="8581615" y="4124759"/>
            <a:ext cx="498000" cy="5895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29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Presentation Layer</a:t>
            </a:r>
            <a:endParaRPr/>
          </a:p>
        </p:txBody>
      </p:sp>
      <p:sp>
        <p:nvSpPr>
          <p:cNvPr id="530" name="Google Shape;530;p29"/>
          <p:cNvSpPr txBox="1"/>
          <p:nvPr>
            <p:ph idx="1" type="body"/>
          </p:nvPr>
        </p:nvSpPr>
        <p:spPr>
          <a:xfrm>
            <a:off x="1484310" y="1421027"/>
            <a:ext cx="10018713" cy="4370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The presentation layer is responsible for translation, compression, and encryption. i.e. the three primary functions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Presentation layer implementations are not typically associated with a particular protocol stack. </a:t>
            </a:r>
            <a:endParaRPr/>
          </a:p>
          <a:p>
            <a:pPr indent="-64770" lvl="0" marL="285750" rtl="0" algn="l"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pic>
        <p:nvPicPr>
          <p:cNvPr id="531" name="Google Shape;53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30"/>
          <p:cNvSpPr txBox="1"/>
          <p:nvPr>
            <p:ph type="title"/>
          </p:nvPr>
        </p:nvSpPr>
        <p:spPr>
          <a:xfrm>
            <a:off x="1484310" y="325395"/>
            <a:ext cx="10018713" cy="32539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Session Layer</a:t>
            </a:r>
            <a:endParaRPr/>
          </a:p>
        </p:txBody>
      </p:sp>
      <p:pic>
        <p:nvPicPr>
          <p:cNvPr id="537" name="Google Shape;53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538" name="Google Shape;538;p30"/>
          <p:cNvSpPr txBox="1"/>
          <p:nvPr/>
        </p:nvSpPr>
        <p:spPr>
          <a:xfrm>
            <a:off x="6397529" y="2563674"/>
            <a:ext cx="280640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- The 5</a:t>
            </a:r>
            <a:r>
              <a:rPr baseline="30000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th</a:t>
            </a: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Layer of OSI Model</a:t>
            </a:r>
            <a:endParaRPr/>
          </a:p>
        </p:txBody>
      </p:sp>
      <p:sp>
        <p:nvSpPr>
          <p:cNvPr id="539" name="Google Shape;539;p30"/>
          <p:cNvSpPr txBox="1"/>
          <p:nvPr/>
        </p:nvSpPr>
        <p:spPr>
          <a:xfrm>
            <a:off x="2927401" y="3510585"/>
            <a:ext cx="265649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Sender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From Presentation Layer</a:t>
            </a:r>
            <a:endParaRPr/>
          </a:p>
        </p:txBody>
      </p:sp>
      <p:sp>
        <p:nvSpPr>
          <p:cNvPr id="540" name="Google Shape;540;p30"/>
          <p:cNvSpPr txBox="1"/>
          <p:nvPr/>
        </p:nvSpPr>
        <p:spPr>
          <a:xfrm>
            <a:off x="3077536" y="6046260"/>
            <a:ext cx="20342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To Transport Layer</a:t>
            </a:r>
            <a:endParaRPr/>
          </a:p>
        </p:txBody>
      </p:sp>
      <p:sp>
        <p:nvSpPr>
          <p:cNvPr id="541" name="Google Shape;541;p30"/>
          <p:cNvSpPr txBox="1"/>
          <p:nvPr/>
        </p:nvSpPr>
        <p:spPr>
          <a:xfrm>
            <a:off x="7348104" y="3524207"/>
            <a:ext cx="237571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Receiver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To Presentation Layer</a:t>
            </a:r>
            <a:endParaRPr/>
          </a:p>
        </p:txBody>
      </p:sp>
      <p:sp>
        <p:nvSpPr>
          <p:cNvPr id="542" name="Google Shape;542;p30"/>
          <p:cNvSpPr txBox="1"/>
          <p:nvPr/>
        </p:nvSpPr>
        <p:spPr>
          <a:xfrm>
            <a:off x="7282669" y="6046260"/>
            <a:ext cx="23150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From Transport Layer</a:t>
            </a:r>
            <a:endParaRPr/>
          </a:p>
        </p:txBody>
      </p:sp>
      <p:sp>
        <p:nvSpPr>
          <p:cNvPr id="543" name="Google Shape;543;p30"/>
          <p:cNvSpPr/>
          <p:nvPr/>
        </p:nvSpPr>
        <p:spPr>
          <a:xfrm>
            <a:off x="3746285" y="4668510"/>
            <a:ext cx="2133135" cy="646330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/>
          </a:p>
        </p:txBody>
      </p:sp>
      <p:sp>
        <p:nvSpPr>
          <p:cNvPr id="544" name="Google Shape;544;p30"/>
          <p:cNvSpPr/>
          <p:nvPr/>
        </p:nvSpPr>
        <p:spPr>
          <a:xfrm>
            <a:off x="2639440" y="4668510"/>
            <a:ext cx="1106845" cy="646330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Header</a:t>
            </a:r>
            <a:endParaRPr/>
          </a:p>
        </p:txBody>
      </p:sp>
      <p:cxnSp>
        <p:nvCxnSpPr>
          <p:cNvPr id="545" name="Google Shape;545;p30"/>
          <p:cNvCxnSpPr>
            <a:stCxn id="539" idx="2"/>
            <a:endCxn id="543" idx="0"/>
          </p:cNvCxnSpPr>
          <p:nvPr/>
        </p:nvCxnSpPr>
        <p:spPr>
          <a:xfrm flipH="1" rot="-5400000">
            <a:off x="4278449" y="4134116"/>
            <a:ext cx="511500" cy="5571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46" name="Google Shape;546;p30"/>
          <p:cNvCxnSpPr>
            <a:stCxn id="544" idx="2"/>
            <a:endCxn id="540" idx="0"/>
          </p:cNvCxnSpPr>
          <p:nvPr/>
        </p:nvCxnSpPr>
        <p:spPr>
          <a:xfrm flipH="1" rot="-5400000">
            <a:off x="3278063" y="5229640"/>
            <a:ext cx="731400" cy="9018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47" name="Google Shape;547;p30"/>
          <p:cNvCxnSpPr>
            <a:stCxn id="543" idx="2"/>
            <a:endCxn id="540" idx="0"/>
          </p:cNvCxnSpPr>
          <p:nvPr/>
        </p:nvCxnSpPr>
        <p:spPr>
          <a:xfrm rot="5400000">
            <a:off x="4088053" y="5321440"/>
            <a:ext cx="731400" cy="7182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48" name="Google Shape;548;p30"/>
          <p:cNvSpPr/>
          <p:nvPr/>
        </p:nvSpPr>
        <p:spPr>
          <a:xfrm>
            <a:off x="8058797" y="4668509"/>
            <a:ext cx="2133135" cy="646330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/>
          </a:p>
        </p:txBody>
      </p:sp>
      <p:sp>
        <p:nvSpPr>
          <p:cNvPr id="549" name="Google Shape;549;p30"/>
          <p:cNvSpPr/>
          <p:nvPr/>
        </p:nvSpPr>
        <p:spPr>
          <a:xfrm>
            <a:off x="6951952" y="4668509"/>
            <a:ext cx="1106845" cy="646330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Header</a:t>
            </a:r>
            <a:endParaRPr/>
          </a:p>
        </p:txBody>
      </p:sp>
      <p:cxnSp>
        <p:nvCxnSpPr>
          <p:cNvPr id="550" name="Google Shape;550;p30"/>
          <p:cNvCxnSpPr>
            <a:stCxn id="542" idx="0"/>
            <a:endCxn id="549" idx="2"/>
          </p:cNvCxnSpPr>
          <p:nvPr/>
        </p:nvCxnSpPr>
        <p:spPr>
          <a:xfrm flipH="1" rot="5400000">
            <a:off x="7607098" y="5213160"/>
            <a:ext cx="731400" cy="9348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51" name="Google Shape;551;p30"/>
          <p:cNvCxnSpPr>
            <a:stCxn id="542" idx="0"/>
            <a:endCxn id="548" idx="2"/>
          </p:cNvCxnSpPr>
          <p:nvPr/>
        </p:nvCxnSpPr>
        <p:spPr>
          <a:xfrm rot="-5400000">
            <a:off x="8417098" y="5337960"/>
            <a:ext cx="731400" cy="6852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52" name="Google Shape;552;p30"/>
          <p:cNvCxnSpPr>
            <a:stCxn id="548" idx="0"/>
            <a:endCxn id="541" idx="2"/>
          </p:cNvCxnSpPr>
          <p:nvPr/>
        </p:nvCxnSpPr>
        <p:spPr>
          <a:xfrm flipH="1" rot="5400000">
            <a:off x="8581615" y="4124759"/>
            <a:ext cx="498000" cy="5895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31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Session Layer</a:t>
            </a:r>
            <a:endParaRPr/>
          </a:p>
        </p:txBody>
      </p:sp>
      <p:sp>
        <p:nvSpPr>
          <p:cNvPr id="558" name="Google Shape;558;p31"/>
          <p:cNvSpPr txBox="1"/>
          <p:nvPr>
            <p:ph idx="1" type="body"/>
          </p:nvPr>
        </p:nvSpPr>
        <p:spPr>
          <a:xfrm>
            <a:off x="1484310" y="1421026"/>
            <a:ext cx="9927155" cy="26385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The session layer is responsible for dialog control and synchronization.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It handles the exchange of information 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to initiate dialogs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keep them active, and 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to restart sessions that are disrupted or idle for a long period of time</a:t>
            </a:r>
            <a:endParaRPr/>
          </a:p>
        </p:txBody>
      </p:sp>
      <p:pic>
        <p:nvPicPr>
          <p:cNvPr id="559" name="Google Shape;55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60" name="Google Shape;560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28733" y="4771064"/>
            <a:ext cx="5680614" cy="2638525"/>
          </a:xfrm>
          <a:prstGeom prst="rect">
            <a:avLst/>
          </a:prstGeom>
          <a:noFill/>
          <a:ln>
            <a:noFill/>
          </a:ln>
        </p:spPr>
      </p:pic>
      <p:sp>
        <p:nvSpPr>
          <p:cNvPr id="561" name="Google Shape;561;p31"/>
          <p:cNvSpPr txBox="1"/>
          <p:nvPr/>
        </p:nvSpPr>
        <p:spPr>
          <a:xfrm>
            <a:off x="1252960" y="4699665"/>
            <a:ext cx="4181400" cy="26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</a:pPr>
            <a:r>
              <a:rPr lang="en-US" sz="2400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Most applications, like web browsers or e-mail clients, incorporate functionality of the OSI layers 5, 6 and 7.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32"/>
          <p:cNvSpPr txBox="1"/>
          <p:nvPr>
            <p:ph type="title"/>
          </p:nvPr>
        </p:nvSpPr>
        <p:spPr>
          <a:xfrm>
            <a:off x="1484310" y="325395"/>
            <a:ext cx="10018713" cy="32539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Transport Layer</a:t>
            </a:r>
            <a:endParaRPr/>
          </a:p>
        </p:txBody>
      </p:sp>
      <p:pic>
        <p:nvPicPr>
          <p:cNvPr id="567" name="Google Shape;56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32"/>
          <p:cNvSpPr txBox="1"/>
          <p:nvPr/>
        </p:nvSpPr>
        <p:spPr>
          <a:xfrm>
            <a:off x="6791317" y="2563674"/>
            <a:ext cx="280640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- The 4</a:t>
            </a:r>
            <a:r>
              <a:rPr baseline="30000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th</a:t>
            </a: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Layer of OSI Model</a:t>
            </a:r>
            <a:endParaRPr/>
          </a:p>
        </p:txBody>
      </p:sp>
      <p:sp>
        <p:nvSpPr>
          <p:cNvPr id="569" name="Google Shape;569;p32"/>
          <p:cNvSpPr txBox="1"/>
          <p:nvPr/>
        </p:nvSpPr>
        <p:spPr>
          <a:xfrm>
            <a:off x="3194718" y="3510585"/>
            <a:ext cx="212186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Sender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From Session Layer</a:t>
            </a:r>
            <a:endParaRPr/>
          </a:p>
        </p:txBody>
      </p:sp>
      <p:sp>
        <p:nvSpPr>
          <p:cNvPr id="570" name="Google Shape;570;p32"/>
          <p:cNvSpPr txBox="1"/>
          <p:nvPr/>
        </p:nvSpPr>
        <p:spPr>
          <a:xfrm>
            <a:off x="3077536" y="6046260"/>
            <a:ext cx="196053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To Network Layer</a:t>
            </a:r>
            <a:endParaRPr/>
          </a:p>
        </p:txBody>
      </p:sp>
      <p:sp>
        <p:nvSpPr>
          <p:cNvPr id="571" name="Google Shape;571;p32"/>
          <p:cNvSpPr txBox="1"/>
          <p:nvPr/>
        </p:nvSpPr>
        <p:spPr>
          <a:xfrm>
            <a:off x="7615421" y="3524207"/>
            <a:ext cx="184108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Receiver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To Session Layer</a:t>
            </a:r>
            <a:endParaRPr/>
          </a:p>
        </p:txBody>
      </p:sp>
      <p:sp>
        <p:nvSpPr>
          <p:cNvPr id="572" name="Google Shape;572;p32"/>
          <p:cNvSpPr txBox="1"/>
          <p:nvPr/>
        </p:nvSpPr>
        <p:spPr>
          <a:xfrm>
            <a:off x="7282669" y="6046260"/>
            <a:ext cx="22413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From Network Layer</a:t>
            </a:r>
            <a:endParaRPr/>
          </a:p>
        </p:txBody>
      </p:sp>
      <p:sp>
        <p:nvSpPr>
          <p:cNvPr id="573" name="Google Shape;573;p32"/>
          <p:cNvSpPr/>
          <p:nvPr/>
        </p:nvSpPr>
        <p:spPr>
          <a:xfrm>
            <a:off x="3746285" y="4668510"/>
            <a:ext cx="2133135" cy="646330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/>
          </a:p>
        </p:txBody>
      </p:sp>
      <p:sp>
        <p:nvSpPr>
          <p:cNvPr id="574" name="Google Shape;574;p32"/>
          <p:cNvSpPr/>
          <p:nvPr/>
        </p:nvSpPr>
        <p:spPr>
          <a:xfrm>
            <a:off x="2639440" y="4668510"/>
            <a:ext cx="1106845" cy="646330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Header</a:t>
            </a:r>
            <a:endParaRPr/>
          </a:p>
        </p:txBody>
      </p:sp>
      <p:cxnSp>
        <p:nvCxnSpPr>
          <p:cNvPr id="575" name="Google Shape;575;p32"/>
          <p:cNvCxnSpPr>
            <a:stCxn id="569" idx="2"/>
            <a:endCxn id="573" idx="0"/>
          </p:cNvCxnSpPr>
          <p:nvPr/>
        </p:nvCxnSpPr>
        <p:spPr>
          <a:xfrm flipH="1" rot="-5400000">
            <a:off x="4278450" y="4134116"/>
            <a:ext cx="511500" cy="5571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76" name="Google Shape;576;p32"/>
          <p:cNvCxnSpPr>
            <a:stCxn id="574" idx="2"/>
            <a:endCxn id="570" idx="0"/>
          </p:cNvCxnSpPr>
          <p:nvPr/>
        </p:nvCxnSpPr>
        <p:spPr>
          <a:xfrm flipH="1" rot="-5400000">
            <a:off x="3259613" y="5248090"/>
            <a:ext cx="731400" cy="8649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77" name="Google Shape;577;p32"/>
          <p:cNvCxnSpPr>
            <a:stCxn id="573" idx="2"/>
            <a:endCxn id="570" idx="0"/>
          </p:cNvCxnSpPr>
          <p:nvPr/>
        </p:nvCxnSpPr>
        <p:spPr>
          <a:xfrm rot="5400000">
            <a:off x="4069603" y="5302990"/>
            <a:ext cx="731400" cy="7551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78" name="Google Shape;578;p32"/>
          <p:cNvSpPr/>
          <p:nvPr/>
        </p:nvSpPr>
        <p:spPr>
          <a:xfrm>
            <a:off x="8058797" y="4668509"/>
            <a:ext cx="2133135" cy="646330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/>
          </a:p>
        </p:txBody>
      </p:sp>
      <p:sp>
        <p:nvSpPr>
          <p:cNvPr id="579" name="Google Shape;579;p32"/>
          <p:cNvSpPr/>
          <p:nvPr/>
        </p:nvSpPr>
        <p:spPr>
          <a:xfrm>
            <a:off x="6951952" y="4668509"/>
            <a:ext cx="1106845" cy="646330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Header</a:t>
            </a:r>
            <a:endParaRPr/>
          </a:p>
        </p:txBody>
      </p:sp>
      <p:cxnSp>
        <p:nvCxnSpPr>
          <p:cNvPr id="580" name="Google Shape;580;p32"/>
          <p:cNvCxnSpPr>
            <a:stCxn id="572" idx="0"/>
            <a:endCxn id="579" idx="2"/>
          </p:cNvCxnSpPr>
          <p:nvPr/>
        </p:nvCxnSpPr>
        <p:spPr>
          <a:xfrm flipH="1" rot="5400000">
            <a:off x="7588679" y="5231610"/>
            <a:ext cx="731400" cy="8979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81" name="Google Shape;581;p32"/>
          <p:cNvCxnSpPr>
            <a:stCxn id="572" idx="0"/>
            <a:endCxn id="578" idx="2"/>
          </p:cNvCxnSpPr>
          <p:nvPr/>
        </p:nvCxnSpPr>
        <p:spPr>
          <a:xfrm rot="-5400000">
            <a:off x="8398679" y="5319510"/>
            <a:ext cx="731400" cy="7221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82" name="Google Shape;582;p32"/>
          <p:cNvCxnSpPr>
            <a:stCxn id="578" idx="0"/>
            <a:endCxn id="571" idx="2"/>
          </p:cNvCxnSpPr>
          <p:nvPr/>
        </p:nvCxnSpPr>
        <p:spPr>
          <a:xfrm flipH="1" rot="5400000">
            <a:off x="8581615" y="4124759"/>
            <a:ext cx="498000" cy="5895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33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Transport Layer</a:t>
            </a:r>
            <a:endParaRPr/>
          </a:p>
        </p:txBody>
      </p:sp>
      <p:sp>
        <p:nvSpPr>
          <p:cNvPr id="588" name="Google Shape;588;p33"/>
          <p:cNvSpPr txBox="1"/>
          <p:nvPr>
            <p:ph idx="1" type="body"/>
          </p:nvPr>
        </p:nvSpPr>
        <p:spPr>
          <a:xfrm>
            <a:off x="1484310" y="1421027"/>
            <a:ext cx="9927155" cy="52218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ct val="145000"/>
              <a:buChar char="•"/>
            </a:pPr>
            <a:r>
              <a:rPr lang="en-US"/>
              <a:t>The transport layer is responsible for the delivery of a message from one process (sender) to another (receiver).</a:t>
            </a:r>
            <a:endParaRPr/>
          </a:p>
          <a:p>
            <a:pPr indent="-285750" lvl="0" marL="285750" rtl="0" algn="l">
              <a:spcBef>
                <a:spcPts val="1044"/>
              </a:spcBef>
              <a:spcAft>
                <a:spcPts val="0"/>
              </a:spcAft>
              <a:buSzPct val="145000"/>
              <a:buChar char="•"/>
            </a:pPr>
            <a:r>
              <a:rPr lang="en-US"/>
              <a:t>Transport Layer PDU is called  </a:t>
            </a:r>
            <a:r>
              <a:rPr b="1" lang="en-US"/>
              <a:t>Segments</a:t>
            </a:r>
            <a:endParaRPr/>
          </a:p>
          <a:p>
            <a:pPr indent="-285750" lvl="0" marL="285750" rtl="0" algn="l">
              <a:spcBef>
                <a:spcPts val="1044"/>
              </a:spcBef>
              <a:spcAft>
                <a:spcPts val="0"/>
              </a:spcAft>
              <a:buSzPct val="145000"/>
              <a:buChar char="•"/>
            </a:pPr>
            <a:r>
              <a:rPr lang="en-US"/>
              <a:t>Functions:</a:t>
            </a:r>
            <a:endParaRPr/>
          </a:p>
          <a:p>
            <a:pPr indent="-285750" lvl="1" marL="742950" rtl="0" algn="l">
              <a:spcBef>
                <a:spcPts val="970"/>
              </a:spcBef>
              <a:spcAft>
                <a:spcPts val="0"/>
              </a:spcAft>
              <a:buSzPct val="145000"/>
              <a:buChar char="•"/>
            </a:pPr>
            <a:r>
              <a:rPr lang="en-US"/>
              <a:t>Segmentation and Reassembly</a:t>
            </a:r>
            <a:endParaRPr/>
          </a:p>
          <a:p>
            <a:pPr indent="-285750" lvl="1" marL="742950" rtl="0" algn="l">
              <a:spcBef>
                <a:spcPts val="970"/>
              </a:spcBef>
              <a:spcAft>
                <a:spcPts val="0"/>
              </a:spcAft>
              <a:buSzPct val="145000"/>
              <a:buChar char="•"/>
            </a:pPr>
            <a:r>
              <a:rPr lang="en-US"/>
              <a:t>Adds Port Address and Sequence Number.</a:t>
            </a:r>
            <a:endParaRPr/>
          </a:p>
          <a:p>
            <a:pPr indent="-285750" lvl="1" marL="742950" rtl="0" algn="l">
              <a:spcBef>
                <a:spcPts val="970"/>
              </a:spcBef>
              <a:spcAft>
                <a:spcPts val="0"/>
              </a:spcAft>
              <a:buSzPct val="145000"/>
              <a:buChar char="•"/>
            </a:pPr>
            <a:r>
              <a:rPr lang="en-US"/>
              <a:t>Connection Control</a:t>
            </a:r>
            <a:endParaRPr/>
          </a:p>
          <a:p>
            <a:pPr indent="-285750" lvl="1" marL="742950" rtl="0" algn="l">
              <a:spcBef>
                <a:spcPts val="970"/>
              </a:spcBef>
              <a:spcAft>
                <a:spcPts val="0"/>
              </a:spcAft>
              <a:buSzPct val="145000"/>
              <a:buChar char="•"/>
            </a:pPr>
            <a:r>
              <a:rPr lang="en-US"/>
              <a:t>Flow and Error Control</a:t>
            </a:r>
            <a:endParaRPr/>
          </a:p>
          <a:p>
            <a:pPr indent="-285750" lvl="1" marL="742950" rtl="0" algn="l">
              <a:spcBef>
                <a:spcPts val="970"/>
              </a:spcBef>
              <a:spcAft>
                <a:spcPts val="0"/>
              </a:spcAft>
              <a:buSzPct val="145000"/>
              <a:buChar char="•"/>
            </a:pPr>
            <a:r>
              <a:rPr lang="en-US"/>
              <a:t>Multiplexing</a:t>
            </a:r>
            <a:endParaRPr/>
          </a:p>
          <a:p>
            <a:pPr indent="0" lvl="0" marL="0" rtl="0" algn="l">
              <a:spcBef>
                <a:spcPts val="1044"/>
              </a:spcBef>
              <a:spcAft>
                <a:spcPts val="0"/>
              </a:spcAft>
              <a:buSzPct val="145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44"/>
              </a:spcBef>
              <a:spcAft>
                <a:spcPts val="0"/>
              </a:spcAft>
              <a:buSzPct val="145000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044"/>
              </a:spcBef>
              <a:spcAft>
                <a:spcPts val="0"/>
              </a:spcAft>
              <a:buSzPct val="145000"/>
              <a:buNone/>
            </a:pPr>
            <a:r>
              <a:rPr b="1" lang="en-US"/>
              <a:t>Notes</a:t>
            </a:r>
            <a:endParaRPr/>
          </a:p>
          <a:p>
            <a:pPr indent="-285796" lvl="0" marL="285750" rtl="0" algn="l">
              <a:spcBef>
                <a:spcPts val="951"/>
              </a:spcBef>
              <a:spcAft>
                <a:spcPts val="0"/>
              </a:spcAft>
              <a:buSzPct val="145000"/>
              <a:buChar char="•"/>
            </a:pPr>
            <a:r>
              <a:rPr lang="en-US" sz="1900"/>
              <a:t>A common protocol used in Transport Layer is </a:t>
            </a:r>
            <a:r>
              <a:rPr b="1" lang="en-US" sz="1900"/>
              <a:t>TCP</a:t>
            </a:r>
            <a:r>
              <a:rPr lang="en-US" sz="1900"/>
              <a:t>.</a:t>
            </a:r>
            <a:endParaRPr/>
          </a:p>
          <a:p>
            <a:pPr indent="-285796" lvl="0" marL="285750" rtl="0" algn="l">
              <a:spcBef>
                <a:spcPts val="951"/>
              </a:spcBef>
              <a:spcAft>
                <a:spcPts val="0"/>
              </a:spcAft>
              <a:buSzPct val="145000"/>
              <a:buChar char="•"/>
            </a:pPr>
            <a:r>
              <a:rPr i="1" lang="en-US" sz="1900"/>
              <a:t>*PDU – Packet Data Unit</a:t>
            </a:r>
            <a:endParaRPr/>
          </a:p>
        </p:txBody>
      </p:sp>
      <p:pic>
        <p:nvPicPr>
          <p:cNvPr id="589" name="Google Shape;58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90" name="Google Shape;590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08241" y="3444832"/>
            <a:ext cx="5383749" cy="2215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34"/>
          <p:cNvSpPr/>
          <p:nvPr/>
        </p:nvSpPr>
        <p:spPr>
          <a:xfrm>
            <a:off x="7222102" y="3984016"/>
            <a:ext cx="4696748" cy="535510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96" name="Google Shape;596;p34"/>
          <p:cNvSpPr/>
          <p:nvPr/>
        </p:nvSpPr>
        <p:spPr>
          <a:xfrm>
            <a:off x="7217953" y="3107536"/>
            <a:ext cx="4696747" cy="626558"/>
          </a:xfrm>
          <a:prstGeom prst="rect">
            <a:avLst/>
          </a:prstGeom>
          <a:solidFill>
            <a:schemeClr val="accent3"/>
          </a:solidFill>
          <a:ln cap="rnd" cmpd="sng" w="15875">
            <a:solidFill>
              <a:srgbClr val="A472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Segments:</a:t>
            </a:r>
            <a:endParaRPr/>
          </a:p>
        </p:txBody>
      </p:sp>
      <p:sp>
        <p:nvSpPr>
          <p:cNvPr id="597" name="Google Shape;597;p34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Functions – Segmentation/Reassembly</a:t>
            </a:r>
            <a:endParaRPr/>
          </a:p>
        </p:txBody>
      </p:sp>
      <p:pic>
        <p:nvPicPr>
          <p:cNvPr id="598" name="Google Shape;59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599" name="Google Shape;599;p34"/>
          <p:cNvSpPr txBox="1"/>
          <p:nvPr>
            <p:ph idx="1" type="body"/>
          </p:nvPr>
        </p:nvSpPr>
        <p:spPr>
          <a:xfrm>
            <a:off x="1484310" y="1392194"/>
            <a:ext cx="10018713" cy="10484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Segments data received from application layer into small parts</a:t>
            </a:r>
            <a:endParaRPr/>
          </a:p>
        </p:txBody>
      </p:sp>
      <p:sp>
        <p:nvSpPr>
          <p:cNvPr id="600" name="Google Shape;600;p34"/>
          <p:cNvSpPr txBox="1"/>
          <p:nvPr/>
        </p:nvSpPr>
        <p:spPr>
          <a:xfrm>
            <a:off x="1484310" y="1807479"/>
            <a:ext cx="6153620" cy="42223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</a:pPr>
            <a:r>
              <a:rPr lang="en-US" sz="2400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Steps (Sender):</a:t>
            </a:r>
            <a:endParaRPr/>
          </a:p>
          <a:p>
            <a:pPr indent="-285750" lvl="1" marL="742950" marR="0" rtl="0" algn="l">
              <a:spcBef>
                <a:spcPts val="10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Segments into small parts</a:t>
            </a:r>
            <a:endParaRPr/>
          </a:p>
          <a:p>
            <a:pPr indent="-285750" lvl="1" marL="742950" marR="0" rtl="0" algn="l">
              <a:spcBef>
                <a:spcPts val="10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Add a number to identify the application</a:t>
            </a:r>
            <a:endParaRPr/>
          </a:p>
          <a:p>
            <a:pPr indent="-285750" lvl="1" marL="742950" marR="0" rtl="0" algn="l">
              <a:spcBef>
                <a:spcPts val="10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Add a number sequence the segmented parts</a:t>
            </a:r>
            <a:endParaRPr/>
          </a:p>
          <a:p>
            <a:pPr indent="-285750" lvl="0" marL="285750" marR="0" rtl="0" algn="l">
              <a:spcBef>
                <a:spcPts val="108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</a:pPr>
            <a:r>
              <a:rPr lang="en-US" sz="2400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What do you think will happen at the Receiver end?</a:t>
            </a:r>
            <a:endParaRPr/>
          </a:p>
          <a:p>
            <a:pPr indent="-285750" lvl="1" marL="742950" marR="0" rtl="0" algn="l">
              <a:spcBef>
                <a:spcPts val="10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Uses the 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sequence number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to order them sequentially, merges them and sends to the upper layer</a:t>
            </a:r>
            <a:endParaRPr/>
          </a:p>
        </p:txBody>
      </p:sp>
      <p:sp>
        <p:nvSpPr>
          <p:cNvPr id="601" name="Google Shape;601;p34"/>
          <p:cNvSpPr/>
          <p:nvPr/>
        </p:nvSpPr>
        <p:spPr>
          <a:xfrm>
            <a:off x="8116413" y="3379194"/>
            <a:ext cx="581025" cy="22242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D_1</a:t>
            </a:r>
            <a:endParaRPr/>
          </a:p>
        </p:txBody>
      </p:sp>
      <p:sp>
        <p:nvSpPr>
          <p:cNvPr id="602" name="Google Shape;602;p34"/>
          <p:cNvSpPr/>
          <p:nvPr/>
        </p:nvSpPr>
        <p:spPr>
          <a:xfrm>
            <a:off x="7716878" y="3379194"/>
            <a:ext cx="399535" cy="222422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H4</a:t>
            </a:r>
            <a:endParaRPr/>
          </a:p>
        </p:txBody>
      </p:sp>
      <p:sp>
        <p:nvSpPr>
          <p:cNvPr id="603" name="Google Shape;603;p34"/>
          <p:cNvSpPr/>
          <p:nvPr/>
        </p:nvSpPr>
        <p:spPr>
          <a:xfrm>
            <a:off x="9614343" y="3379194"/>
            <a:ext cx="581025" cy="22242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D_2</a:t>
            </a:r>
            <a:endParaRPr/>
          </a:p>
        </p:txBody>
      </p:sp>
      <p:sp>
        <p:nvSpPr>
          <p:cNvPr id="604" name="Google Shape;604;p34"/>
          <p:cNvSpPr/>
          <p:nvPr/>
        </p:nvSpPr>
        <p:spPr>
          <a:xfrm>
            <a:off x="9214808" y="3379194"/>
            <a:ext cx="399535" cy="222422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H4</a:t>
            </a:r>
            <a:endParaRPr/>
          </a:p>
        </p:txBody>
      </p:sp>
      <p:sp>
        <p:nvSpPr>
          <p:cNvPr id="605" name="Google Shape;605;p34"/>
          <p:cNvSpPr/>
          <p:nvPr/>
        </p:nvSpPr>
        <p:spPr>
          <a:xfrm>
            <a:off x="11107226" y="3373893"/>
            <a:ext cx="581025" cy="22242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D_3</a:t>
            </a:r>
            <a:endParaRPr/>
          </a:p>
        </p:txBody>
      </p:sp>
      <p:sp>
        <p:nvSpPr>
          <p:cNvPr id="606" name="Google Shape;606;p34"/>
          <p:cNvSpPr/>
          <p:nvPr/>
        </p:nvSpPr>
        <p:spPr>
          <a:xfrm>
            <a:off x="10707691" y="3373893"/>
            <a:ext cx="399535" cy="222422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H4</a:t>
            </a:r>
            <a:endParaRPr/>
          </a:p>
        </p:txBody>
      </p:sp>
      <p:sp>
        <p:nvSpPr>
          <p:cNvPr id="607" name="Google Shape;607;p34"/>
          <p:cNvSpPr/>
          <p:nvPr/>
        </p:nvSpPr>
        <p:spPr>
          <a:xfrm>
            <a:off x="7734778" y="4135107"/>
            <a:ext cx="980559" cy="22242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D_41</a:t>
            </a:r>
            <a:endParaRPr/>
          </a:p>
        </p:txBody>
      </p:sp>
      <p:sp>
        <p:nvSpPr>
          <p:cNvPr id="608" name="Google Shape;608;p34"/>
          <p:cNvSpPr/>
          <p:nvPr/>
        </p:nvSpPr>
        <p:spPr>
          <a:xfrm>
            <a:off x="7335243" y="4135107"/>
            <a:ext cx="399535" cy="222422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H3</a:t>
            </a:r>
            <a:endParaRPr/>
          </a:p>
        </p:txBody>
      </p:sp>
      <p:sp>
        <p:nvSpPr>
          <p:cNvPr id="609" name="Google Shape;609;p34"/>
          <p:cNvSpPr/>
          <p:nvPr/>
        </p:nvSpPr>
        <p:spPr>
          <a:xfrm>
            <a:off x="10725591" y="4135107"/>
            <a:ext cx="980559" cy="22242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D_43</a:t>
            </a:r>
            <a:endParaRPr/>
          </a:p>
        </p:txBody>
      </p:sp>
      <p:sp>
        <p:nvSpPr>
          <p:cNvPr id="610" name="Google Shape;610;p34"/>
          <p:cNvSpPr/>
          <p:nvPr/>
        </p:nvSpPr>
        <p:spPr>
          <a:xfrm>
            <a:off x="10326056" y="4135107"/>
            <a:ext cx="399535" cy="222422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H3</a:t>
            </a:r>
            <a:endParaRPr/>
          </a:p>
        </p:txBody>
      </p:sp>
      <p:sp>
        <p:nvSpPr>
          <p:cNvPr id="611" name="Google Shape;611;p34"/>
          <p:cNvSpPr/>
          <p:nvPr/>
        </p:nvSpPr>
        <p:spPr>
          <a:xfrm>
            <a:off x="9232709" y="4137847"/>
            <a:ext cx="980559" cy="22242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D_42</a:t>
            </a:r>
            <a:endParaRPr/>
          </a:p>
        </p:txBody>
      </p:sp>
      <p:sp>
        <p:nvSpPr>
          <p:cNvPr id="612" name="Google Shape;612;p34"/>
          <p:cNvSpPr/>
          <p:nvPr/>
        </p:nvSpPr>
        <p:spPr>
          <a:xfrm>
            <a:off x="8833174" y="4137847"/>
            <a:ext cx="399535" cy="222422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H3</a:t>
            </a:r>
            <a:endParaRPr/>
          </a:p>
        </p:txBody>
      </p:sp>
      <p:sp>
        <p:nvSpPr>
          <p:cNvPr id="613" name="Google Shape;613;p34"/>
          <p:cNvSpPr/>
          <p:nvPr/>
        </p:nvSpPr>
        <p:spPr>
          <a:xfrm>
            <a:off x="7217953" y="2223956"/>
            <a:ext cx="4696747" cy="535510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14" name="Google Shape;614;p34"/>
          <p:cNvSpPr/>
          <p:nvPr/>
        </p:nvSpPr>
        <p:spPr>
          <a:xfrm>
            <a:off x="8846146" y="2387753"/>
            <a:ext cx="2070215" cy="22242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/>
          </a:p>
        </p:txBody>
      </p:sp>
      <p:sp>
        <p:nvSpPr>
          <p:cNvPr id="615" name="Google Shape;615;p34"/>
          <p:cNvSpPr/>
          <p:nvPr/>
        </p:nvSpPr>
        <p:spPr>
          <a:xfrm>
            <a:off x="8446611" y="2387753"/>
            <a:ext cx="399535" cy="222422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H5</a:t>
            </a:r>
            <a:endParaRPr/>
          </a:p>
        </p:txBody>
      </p:sp>
      <p:cxnSp>
        <p:nvCxnSpPr>
          <p:cNvPr id="616" name="Google Shape;616;p34"/>
          <p:cNvCxnSpPr>
            <a:stCxn id="613" idx="2"/>
            <a:endCxn id="601" idx="0"/>
          </p:cNvCxnSpPr>
          <p:nvPr/>
        </p:nvCxnSpPr>
        <p:spPr>
          <a:xfrm rot="5400000">
            <a:off x="8676677" y="2489616"/>
            <a:ext cx="619800" cy="11595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17" name="Google Shape;617;p34"/>
          <p:cNvCxnSpPr>
            <a:stCxn id="613" idx="2"/>
            <a:endCxn id="603" idx="0"/>
          </p:cNvCxnSpPr>
          <p:nvPr/>
        </p:nvCxnSpPr>
        <p:spPr>
          <a:xfrm flipH="1" rot="-5400000">
            <a:off x="9425627" y="2900166"/>
            <a:ext cx="619800" cy="3384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18" name="Google Shape;618;p34"/>
          <p:cNvCxnSpPr>
            <a:stCxn id="613" idx="2"/>
            <a:endCxn id="605" idx="0"/>
          </p:cNvCxnSpPr>
          <p:nvPr/>
        </p:nvCxnSpPr>
        <p:spPr>
          <a:xfrm flipH="1" rot="-5400000">
            <a:off x="10174877" y="2150916"/>
            <a:ext cx="614400" cy="18315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19" name="Google Shape;619;p34"/>
          <p:cNvCxnSpPr>
            <a:stCxn id="602" idx="2"/>
            <a:endCxn id="607" idx="0"/>
          </p:cNvCxnSpPr>
          <p:nvPr/>
        </p:nvCxnSpPr>
        <p:spPr>
          <a:xfrm flipH="1" rot="-5400000">
            <a:off x="7804146" y="3714116"/>
            <a:ext cx="533400" cy="3084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20" name="Google Shape;620;p34"/>
          <p:cNvCxnSpPr>
            <a:stCxn id="601" idx="2"/>
            <a:endCxn id="607" idx="0"/>
          </p:cNvCxnSpPr>
          <p:nvPr/>
        </p:nvCxnSpPr>
        <p:spPr>
          <a:xfrm rot="5400000">
            <a:off x="8049326" y="3777416"/>
            <a:ext cx="533400" cy="181800"/>
          </a:xfrm>
          <a:prstGeom prst="bentConnector3">
            <a:avLst>
              <a:gd fmla="val 50008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21" name="Google Shape;621;p34"/>
          <p:cNvCxnSpPr>
            <a:endCxn id="611" idx="0"/>
          </p:cNvCxnSpPr>
          <p:nvPr/>
        </p:nvCxnSpPr>
        <p:spPr>
          <a:xfrm rot="5400000">
            <a:off x="9543139" y="3776197"/>
            <a:ext cx="541500" cy="181800"/>
          </a:xfrm>
          <a:prstGeom prst="bentConnector3">
            <a:avLst>
              <a:gd fmla="val 49997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22" name="Google Shape;622;p34"/>
          <p:cNvCxnSpPr>
            <a:stCxn id="604" idx="2"/>
            <a:endCxn id="611" idx="0"/>
          </p:cNvCxnSpPr>
          <p:nvPr/>
        </p:nvCxnSpPr>
        <p:spPr>
          <a:xfrm flipH="1" rot="-5400000">
            <a:off x="9300726" y="3715466"/>
            <a:ext cx="536100" cy="308400"/>
          </a:xfrm>
          <a:prstGeom prst="bentConnector3">
            <a:avLst>
              <a:gd fmla="val 50012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23" name="Google Shape;623;p34"/>
          <p:cNvCxnSpPr>
            <a:stCxn id="606" idx="2"/>
            <a:endCxn id="609" idx="0"/>
          </p:cNvCxnSpPr>
          <p:nvPr/>
        </p:nvCxnSpPr>
        <p:spPr>
          <a:xfrm flipH="1" rot="-5400000">
            <a:off x="10792259" y="3711515"/>
            <a:ext cx="538800" cy="3084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24" name="Google Shape;624;p34"/>
          <p:cNvCxnSpPr>
            <a:stCxn id="605" idx="2"/>
            <a:endCxn id="609" idx="0"/>
          </p:cNvCxnSpPr>
          <p:nvPr/>
        </p:nvCxnSpPr>
        <p:spPr>
          <a:xfrm rot="5400000">
            <a:off x="11037439" y="3774815"/>
            <a:ext cx="538800" cy="1818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25" name="Google Shape;625;p34"/>
          <p:cNvSpPr/>
          <p:nvPr/>
        </p:nvSpPr>
        <p:spPr>
          <a:xfrm>
            <a:off x="10536640" y="5220808"/>
            <a:ext cx="1378060" cy="316258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Session Layer</a:t>
            </a:r>
            <a:endParaRPr/>
          </a:p>
        </p:txBody>
      </p:sp>
      <p:sp>
        <p:nvSpPr>
          <p:cNvPr id="626" name="Google Shape;626;p34"/>
          <p:cNvSpPr/>
          <p:nvPr/>
        </p:nvSpPr>
        <p:spPr>
          <a:xfrm>
            <a:off x="10536639" y="5543941"/>
            <a:ext cx="1378060" cy="316258"/>
          </a:xfrm>
          <a:prstGeom prst="rect">
            <a:avLst/>
          </a:prstGeom>
          <a:solidFill>
            <a:schemeClr val="accent3"/>
          </a:solidFill>
          <a:ln cap="rnd" cmpd="sng" w="15875">
            <a:solidFill>
              <a:srgbClr val="A472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Transport Layer</a:t>
            </a:r>
            <a:endParaRPr/>
          </a:p>
        </p:txBody>
      </p:sp>
      <p:sp>
        <p:nvSpPr>
          <p:cNvPr id="627" name="Google Shape;627;p34"/>
          <p:cNvSpPr/>
          <p:nvPr/>
        </p:nvSpPr>
        <p:spPr>
          <a:xfrm>
            <a:off x="10536639" y="5871727"/>
            <a:ext cx="1378060" cy="316258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Network Layer</a:t>
            </a:r>
            <a:endParaRPr/>
          </a:p>
        </p:txBody>
      </p:sp>
      <p:sp>
        <p:nvSpPr>
          <p:cNvPr id="628" name="Google Shape;628;p34"/>
          <p:cNvSpPr txBox="1"/>
          <p:nvPr/>
        </p:nvSpPr>
        <p:spPr>
          <a:xfrm>
            <a:off x="10774263" y="4891970"/>
            <a:ext cx="90281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Legend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35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Function – Identification Using Port Address</a:t>
            </a:r>
            <a:endParaRPr/>
          </a:p>
        </p:txBody>
      </p:sp>
      <p:sp>
        <p:nvSpPr>
          <p:cNvPr id="634" name="Google Shape;634;p35"/>
          <p:cNvSpPr txBox="1"/>
          <p:nvPr>
            <p:ph idx="1" type="body"/>
          </p:nvPr>
        </p:nvSpPr>
        <p:spPr>
          <a:xfrm>
            <a:off x="1484310" y="1421026"/>
            <a:ext cx="9927155" cy="4811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Port Numbers/Addresses are used to identify different applications/processes running in a computer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16-bit in length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Represented as one single decimal number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e.g. 80 – Web; 23 – TCP;</a:t>
            </a:r>
            <a:endParaRPr/>
          </a:p>
        </p:txBody>
      </p:sp>
      <p:pic>
        <p:nvPicPr>
          <p:cNvPr id="635" name="Google Shape;635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36" name="Google Shape;636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5127" y="3968990"/>
            <a:ext cx="5408796" cy="3120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36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Function – Connection Control</a:t>
            </a:r>
            <a:endParaRPr/>
          </a:p>
        </p:txBody>
      </p:sp>
      <p:sp>
        <p:nvSpPr>
          <p:cNvPr id="642" name="Google Shape;642;p36"/>
          <p:cNvSpPr txBox="1"/>
          <p:nvPr>
            <p:ph idx="1" type="body"/>
          </p:nvPr>
        </p:nvSpPr>
        <p:spPr>
          <a:xfrm>
            <a:off x="1484310" y="1421026"/>
            <a:ext cx="9927155" cy="4811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Establishes secure connection (TCP – Three Way Handshake)</a:t>
            </a:r>
            <a:endParaRPr/>
          </a:p>
        </p:txBody>
      </p:sp>
      <p:pic>
        <p:nvPicPr>
          <p:cNvPr id="643" name="Google Shape;64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44" name="Google Shape;644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82078" y="2660277"/>
            <a:ext cx="7623175" cy="3136900"/>
          </a:xfrm>
          <a:prstGeom prst="rect">
            <a:avLst/>
          </a:prstGeom>
          <a:noFill/>
          <a:ln>
            <a:noFill/>
          </a:ln>
        </p:spPr>
      </p:pic>
      <p:sp>
        <p:nvSpPr>
          <p:cNvPr id="645" name="Google Shape;645;p36"/>
          <p:cNvSpPr/>
          <p:nvPr/>
        </p:nvSpPr>
        <p:spPr>
          <a:xfrm>
            <a:off x="3482788" y="2971800"/>
            <a:ext cx="1337983" cy="336177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Are you up?</a:t>
            </a:r>
            <a:endParaRPr/>
          </a:p>
        </p:txBody>
      </p:sp>
      <p:sp>
        <p:nvSpPr>
          <p:cNvPr id="646" name="Google Shape;646;p36"/>
          <p:cNvSpPr/>
          <p:nvPr/>
        </p:nvSpPr>
        <p:spPr>
          <a:xfrm>
            <a:off x="8287870" y="3092823"/>
            <a:ext cx="1337983" cy="336177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Yes</a:t>
            </a:r>
            <a:endParaRPr/>
          </a:p>
        </p:txBody>
      </p:sp>
      <p:sp>
        <p:nvSpPr>
          <p:cNvPr id="647" name="Google Shape;647;p36"/>
          <p:cNvSpPr/>
          <p:nvPr/>
        </p:nvSpPr>
        <p:spPr>
          <a:xfrm>
            <a:off x="3748369" y="3656661"/>
            <a:ext cx="356347" cy="295835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/>
          </a:p>
        </p:txBody>
      </p:sp>
      <p:sp>
        <p:nvSpPr>
          <p:cNvPr id="648" name="Google Shape;648;p36"/>
          <p:cNvSpPr/>
          <p:nvPr/>
        </p:nvSpPr>
        <p:spPr>
          <a:xfrm>
            <a:off x="4464424" y="3655479"/>
            <a:ext cx="356347" cy="295835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3</a:t>
            </a:r>
            <a:endParaRPr/>
          </a:p>
        </p:txBody>
      </p:sp>
      <p:sp>
        <p:nvSpPr>
          <p:cNvPr id="649" name="Google Shape;649;p36"/>
          <p:cNvSpPr/>
          <p:nvPr/>
        </p:nvSpPr>
        <p:spPr>
          <a:xfrm>
            <a:off x="4104716" y="3656661"/>
            <a:ext cx="356347" cy="295835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37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Function – Flow Control</a:t>
            </a:r>
            <a:endParaRPr/>
          </a:p>
        </p:txBody>
      </p:sp>
      <p:sp>
        <p:nvSpPr>
          <p:cNvPr id="655" name="Google Shape;655;p37"/>
          <p:cNvSpPr txBox="1"/>
          <p:nvPr>
            <p:ph idx="1" type="body"/>
          </p:nvPr>
        </p:nvSpPr>
        <p:spPr>
          <a:xfrm>
            <a:off x="1484310" y="1421026"/>
            <a:ext cx="9927155" cy="4811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Establishes secure connection (TCP – Three Way Handshake)</a:t>
            </a:r>
            <a:endParaRPr/>
          </a:p>
        </p:txBody>
      </p:sp>
      <p:pic>
        <p:nvPicPr>
          <p:cNvPr id="656" name="Google Shape;656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57" name="Google Shape;657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82078" y="2660277"/>
            <a:ext cx="7623175" cy="3136900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37"/>
          <p:cNvSpPr/>
          <p:nvPr/>
        </p:nvSpPr>
        <p:spPr>
          <a:xfrm>
            <a:off x="3748369" y="3656661"/>
            <a:ext cx="356347" cy="295835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/>
          </a:p>
        </p:txBody>
      </p:sp>
      <p:sp>
        <p:nvSpPr>
          <p:cNvPr id="659" name="Google Shape;659;p37"/>
          <p:cNvSpPr/>
          <p:nvPr/>
        </p:nvSpPr>
        <p:spPr>
          <a:xfrm>
            <a:off x="4464424" y="3655479"/>
            <a:ext cx="356347" cy="295835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3</a:t>
            </a:r>
            <a:endParaRPr/>
          </a:p>
        </p:txBody>
      </p:sp>
      <p:sp>
        <p:nvSpPr>
          <p:cNvPr id="660" name="Google Shape;660;p37"/>
          <p:cNvSpPr/>
          <p:nvPr/>
        </p:nvSpPr>
        <p:spPr>
          <a:xfrm>
            <a:off x="4104716" y="3656661"/>
            <a:ext cx="356347" cy="295835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/>
          </a:p>
        </p:txBody>
      </p:sp>
      <p:sp>
        <p:nvSpPr>
          <p:cNvPr id="661" name="Google Shape;661;p37"/>
          <p:cNvSpPr txBox="1"/>
          <p:nvPr/>
        </p:nvSpPr>
        <p:spPr>
          <a:xfrm>
            <a:off x="7681021" y="1921613"/>
            <a:ext cx="3177338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At this point, this host has too many packets to process. Hence, the </a:t>
            </a:r>
            <a:r>
              <a:rPr b="1" lang="en-US" sz="1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buffer</a:t>
            </a:r>
            <a:r>
              <a:rPr lang="en-US" sz="1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to store incoming packets overflows.</a:t>
            </a:r>
            <a:endParaRPr/>
          </a:p>
        </p:txBody>
      </p:sp>
      <p:sp>
        <p:nvSpPr>
          <p:cNvPr id="662" name="Google Shape;662;p37"/>
          <p:cNvSpPr/>
          <p:nvPr/>
        </p:nvSpPr>
        <p:spPr>
          <a:xfrm>
            <a:off x="8329424" y="2975967"/>
            <a:ext cx="1501588" cy="369794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Please, send less packets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38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Function – Error Control</a:t>
            </a:r>
            <a:endParaRPr/>
          </a:p>
        </p:txBody>
      </p:sp>
      <p:sp>
        <p:nvSpPr>
          <p:cNvPr id="668" name="Google Shape;668;p38"/>
          <p:cNvSpPr txBox="1"/>
          <p:nvPr>
            <p:ph idx="1" type="body"/>
          </p:nvPr>
        </p:nvSpPr>
        <p:spPr>
          <a:xfrm>
            <a:off x="1484310" y="1421026"/>
            <a:ext cx="9927155" cy="4811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Establishes secure connection (TCP – Three Way Handshake)</a:t>
            </a:r>
            <a:endParaRPr/>
          </a:p>
        </p:txBody>
      </p:sp>
      <p:pic>
        <p:nvPicPr>
          <p:cNvPr id="669" name="Google Shape;669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70" name="Google Shape;670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82078" y="2660277"/>
            <a:ext cx="7623175" cy="3136900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38"/>
          <p:cNvSpPr/>
          <p:nvPr/>
        </p:nvSpPr>
        <p:spPr>
          <a:xfrm>
            <a:off x="3748369" y="3656661"/>
            <a:ext cx="356347" cy="295835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/>
          </a:p>
        </p:txBody>
      </p:sp>
      <p:sp>
        <p:nvSpPr>
          <p:cNvPr id="672" name="Google Shape;672;p38"/>
          <p:cNvSpPr/>
          <p:nvPr/>
        </p:nvSpPr>
        <p:spPr>
          <a:xfrm>
            <a:off x="4464424" y="3655479"/>
            <a:ext cx="356347" cy="295835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3</a:t>
            </a:r>
            <a:endParaRPr/>
          </a:p>
        </p:txBody>
      </p:sp>
      <p:sp>
        <p:nvSpPr>
          <p:cNvPr id="673" name="Google Shape;673;p38"/>
          <p:cNvSpPr/>
          <p:nvPr/>
        </p:nvSpPr>
        <p:spPr>
          <a:xfrm>
            <a:off x="4104716" y="3656661"/>
            <a:ext cx="356347" cy="295835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/>
          </a:p>
        </p:txBody>
      </p:sp>
      <p:sp>
        <p:nvSpPr>
          <p:cNvPr id="674" name="Google Shape;674;p38"/>
          <p:cNvSpPr/>
          <p:nvPr/>
        </p:nvSpPr>
        <p:spPr>
          <a:xfrm>
            <a:off x="8329424" y="2975967"/>
            <a:ext cx="1501588" cy="369794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Please send Packet 2</a:t>
            </a:r>
            <a:endParaRPr/>
          </a:p>
        </p:txBody>
      </p:sp>
      <p:sp>
        <p:nvSpPr>
          <p:cNvPr id="675" name="Google Shape;675;p38"/>
          <p:cNvSpPr/>
          <p:nvPr/>
        </p:nvSpPr>
        <p:spPr>
          <a:xfrm>
            <a:off x="6573460" y="3655478"/>
            <a:ext cx="356347" cy="295835"/>
          </a:xfrm>
          <a:prstGeom prst="rect">
            <a:avLst/>
          </a:prstGeom>
          <a:solidFill>
            <a:schemeClr val="accent4"/>
          </a:solidFill>
          <a:ln cap="rnd" cmpd="sng" w="15875">
            <a:solidFill>
              <a:srgbClr val="9C36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/>
          </a:p>
        </p:txBody>
      </p:sp>
      <p:sp>
        <p:nvSpPr>
          <p:cNvPr id="676" name="Google Shape;676;p38"/>
          <p:cNvSpPr txBox="1"/>
          <p:nvPr/>
        </p:nvSpPr>
        <p:spPr>
          <a:xfrm>
            <a:off x="6131857" y="3345761"/>
            <a:ext cx="14302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Lost in transition</a:t>
            </a:r>
            <a:endParaRPr/>
          </a:p>
        </p:txBody>
      </p:sp>
      <p:sp>
        <p:nvSpPr>
          <p:cNvPr id="677" name="Google Shape;677;p38"/>
          <p:cNvSpPr/>
          <p:nvPr/>
        </p:nvSpPr>
        <p:spPr>
          <a:xfrm>
            <a:off x="4108077" y="3655478"/>
            <a:ext cx="356347" cy="295835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39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Function – Multiplexing</a:t>
            </a:r>
            <a:endParaRPr/>
          </a:p>
        </p:txBody>
      </p:sp>
      <p:pic>
        <p:nvPicPr>
          <p:cNvPr id="683" name="Google Shape;6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84" name="Google Shape;684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62935" y="1464846"/>
            <a:ext cx="6867453" cy="50797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ENADU PRATIBHA ENGINEERING" id="685" name="Google Shape;685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91343" y="1464846"/>
            <a:ext cx="3346282" cy="18715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40"/>
          <p:cNvSpPr txBox="1"/>
          <p:nvPr>
            <p:ph type="title"/>
          </p:nvPr>
        </p:nvSpPr>
        <p:spPr>
          <a:xfrm>
            <a:off x="1484310" y="325395"/>
            <a:ext cx="10018713" cy="32539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Network Layer</a:t>
            </a:r>
            <a:endParaRPr/>
          </a:p>
        </p:txBody>
      </p:sp>
      <p:pic>
        <p:nvPicPr>
          <p:cNvPr id="691" name="Google Shape;691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692" name="Google Shape;692;p40"/>
          <p:cNvSpPr txBox="1"/>
          <p:nvPr/>
        </p:nvSpPr>
        <p:spPr>
          <a:xfrm>
            <a:off x="6791317" y="2563674"/>
            <a:ext cx="280640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- The 3</a:t>
            </a:r>
            <a:r>
              <a:rPr baseline="30000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rd</a:t>
            </a: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Layer of OSI Model</a:t>
            </a:r>
            <a:endParaRPr/>
          </a:p>
        </p:txBody>
      </p:sp>
      <p:sp>
        <p:nvSpPr>
          <p:cNvPr id="693" name="Google Shape;693;p40"/>
          <p:cNvSpPr txBox="1"/>
          <p:nvPr/>
        </p:nvSpPr>
        <p:spPr>
          <a:xfrm>
            <a:off x="3098122" y="3510585"/>
            <a:ext cx="231505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Sender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From Transport Layer</a:t>
            </a:r>
            <a:endParaRPr/>
          </a:p>
        </p:txBody>
      </p:sp>
      <p:sp>
        <p:nvSpPr>
          <p:cNvPr id="694" name="Google Shape;694;p40"/>
          <p:cNvSpPr txBox="1"/>
          <p:nvPr/>
        </p:nvSpPr>
        <p:spPr>
          <a:xfrm>
            <a:off x="3077536" y="6046260"/>
            <a:ext cx="20454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To Data Link Layer</a:t>
            </a:r>
            <a:endParaRPr/>
          </a:p>
        </p:txBody>
      </p:sp>
      <p:sp>
        <p:nvSpPr>
          <p:cNvPr id="695" name="Google Shape;695;p40"/>
          <p:cNvSpPr txBox="1"/>
          <p:nvPr/>
        </p:nvSpPr>
        <p:spPr>
          <a:xfrm>
            <a:off x="7518825" y="3524207"/>
            <a:ext cx="203427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Receiver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To Transport Layer</a:t>
            </a:r>
            <a:endParaRPr/>
          </a:p>
        </p:txBody>
      </p:sp>
      <p:sp>
        <p:nvSpPr>
          <p:cNvPr id="696" name="Google Shape;696;p40"/>
          <p:cNvSpPr txBox="1"/>
          <p:nvPr/>
        </p:nvSpPr>
        <p:spPr>
          <a:xfrm>
            <a:off x="7282669" y="6046260"/>
            <a:ext cx="232627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From Data Link Layer</a:t>
            </a:r>
            <a:endParaRPr/>
          </a:p>
        </p:txBody>
      </p:sp>
      <p:sp>
        <p:nvSpPr>
          <p:cNvPr id="697" name="Google Shape;697;p40"/>
          <p:cNvSpPr/>
          <p:nvPr/>
        </p:nvSpPr>
        <p:spPr>
          <a:xfrm>
            <a:off x="3746285" y="4668510"/>
            <a:ext cx="2133135" cy="646330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/>
          </a:p>
        </p:txBody>
      </p:sp>
      <p:sp>
        <p:nvSpPr>
          <p:cNvPr id="698" name="Google Shape;698;p40"/>
          <p:cNvSpPr/>
          <p:nvPr/>
        </p:nvSpPr>
        <p:spPr>
          <a:xfrm>
            <a:off x="2639440" y="4668510"/>
            <a:ext cx="1106845" cy="646330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Header</a:t>
            </a:r>
            <a:endParaRPr/>
          </a:p>
        </p:txBody>
      </p:sp>
      <p:cxnSp>
        <p:nvCxnSpPr>
          <p:cNvPr id="699" name="Google Shape;699;p40"/>
          <p:cNvCxnSpPr>
            <a:stCxn id="693" idx="2"/>
            <a:endCxn id="697" idx="0"/>
          </p:cNvCxnSpPr>
          <p:nvPr/>
        </p:nvCxnSpPr>
        <p:spPr>
          <a:xfrm flipH="1" rot="-5400000">
            <a:off x="4278451" y="4134116"/>
            <a:ext cx="511500" cy="5571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00" name="Google Shape;700;p40"/>
          <p:cNvCxnSpPr>
            <a:stCxn id="698" idx="2"/>
            <a:endCxn id="694" idx="0"/>
          </p:cNvCxnSpPr>
          <p:nvPr/>
        </p:nvCxnSpPr>
        <p:spPr>
          <a:xfrm flipH="1" rot="-5400000">
            <a:off x="3280913" y="5226790"/>
            <a:ext cx="731400" cy="9075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01" name="Google Shape;701;p40"/>
          <p:cNvCxnSpPr>
            <a:stCxn id="697" idx="2"/>
            <a:endCxn id="694" idx="0"/>
          </p:cNvCxnSpPr>
          <p:nvPr/>
        </p:nvCxnSpPr>
        <p:spPr>
          <a:xfrm rot="5400000">
            <a:off x="4090903" y="5324290"/>
            <a:ext cx="731400" cy="7125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02" name="Google Shape;702;p40"/>
          <p:cNvSpPr/>
          <p:nvPr/>
        </p:nvSpPr>
        <p:spPr>
          <a:xfrm>
            <a:off x="8058797" y="4668509"/>
            <a:ext cx="2133135" cy="646330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/>
          </a:p>
        </p:txBody>
      </p:sp>
      <p:sp>
        <p:nvSpPr>
          <p:cNvPr id="703" name="Google Shape;703;p40"/>
          <p:cNvSpPr/>
          <p:nvPr/>
        </p:nvSpPr>
        <p:spPr>
          <a:xfrm>
            <a:off x="6951952" y="4668509"/>
            <a:ext cx="1106845" cy="646330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Header</a:t>
            </a:r>
            <a:endParaRPr/>
          </a:p>
        </p:txBody>
      </p:sp>
      <p:cxnSp>
        <p:nvCxnSpPr>
          <p:cNvPr id="704" name="Google Shape;704;p40"/>
          <p:cNvCxnSpPr>
            <a:stCxn id="696" idx="0"/>
            <a:endCxn id="703" idx="2"/>
          </p:cNvCxnSpPr>
          <p:nvPr/>
        </p:nvCxnSpPr>
        <p:spPr>
          <a:xfrm flipH="1" rot="5400000">
            <a:off x="7609858" y="5210310"/>
            <a:ext cx="731400" cy="9405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05" name="Google Shape;705;p40"/>
          <p:cNvCxnSpPr>
            <a:stCxn id="696" idx="0"/>
            <a:endCxn id="702" idx="2"/>
          </p:cNvCxnSpPr>
          <p:nvPr/>
        </p:nvCxnSpPr>
        <p:spPr>
          <a:xfrm rot="-5400000">
            <a:off x="8419858" y="5340810"/>
            <a:ext cx="731400" cy="6795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06" name="Google Shape;706;p40"/>
          <p:cNvCxnSpPr>
            <a:stCxn id="702" idx="0"/>
            <a:endCxn id="695" idx="2"/>
          </p:cNvCxnSpPr>
          <p:nvPr/>
        </p:nvCxnSpPr>
        <p:spPr>
          <a:xfrm flipH="1" rot="5400000">
            <a:off x="8581615" y="4124759"/>
            <a:ext cx="498000" cy="5895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41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Network Layer</a:t>
            </a:r>
            <a:endParaRPr/>
          </a:p>
        </p:txBody>
      </p:sp>
      <p:sp>
        <p:nvSpPr>
          <p:cNvPr id="712" name="Google Shape;712;p41"/>
          <p:cNvSpPr txBox="1"/>
          <p:nvPr>
            <p:ph idx="1" type="body"/>
          </p:nvPr>
        </p:nvSpPr>
        <p:spPr>
          <a:xfrm>
            <a:off x="1484310" y="1434775"/>
            <a:ext cx="9927155" cy="37559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Network Layer PDU is called </a:t>
            </a:r>
            <a:r>
              <a:rPr b="1" lang="en-US"/>
              <a:t>Packet</a:t>
            </a:r>
            <a:r>
              <a:rPr lang="en-US"/>
              <a:t>.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The network layer is responsible for the delivery of  individual packets from  the </a:t>
            </a:r>
            <a:r>
              <a:rPr b="1" lang="en-US"/>
              <a:t>source host </a:t>
            </a:r>
            <a:r>
              <a:rPr lang="en-US"/>
              <a:t>to the </a:t>
            </a:r>
            <a:r>
              <a:rPr b="1" lang="en-US"/>
              <a:t>destination host</a:t>
            </a:r>
            <a:r>
              <a:rPr lang="en-US"/>
              <a:t>.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Common Network Layer Protocol is called </a:t>
            </a:r>
            <a:r>
              <a:rPr b="1" lang="en-US"/>
              <a:t>Internet Protocol (IP)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Functions :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Adds an address (Logical Address) to identify sender and receiver hosts.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Decides which path to take (Routing).</a:t>
            </a:r>
            <a:endParaRPr/>
          </a:p>
        </p:txBody>
      </p:sp>
      <p:pic>
        <p:nvPicPr>
          <p:cNvPr id="713" name="Google Shape;713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42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Network Layer – Logical Address</a:t>
            </a:r>
            <a:endParaRPr/>
          </a:p>
        </p:txBody>
      </p:sp>
      <p:sp>
        <p:nvSpPr>
          <p:cNvPr id="719" name="Google Shape;719;p42"/>
          <p:cNvSpPr txBox="1"/>
          <p:nvPr>
            <p:ph idx="1" type="body"/>
          </p:nvPr>
        </p:nvSpPr>
        <p:spPr>
          <a:xfrm>
            <a:off x="1484310" y="1434775"/>
            <a:ext cx="9927155" cy="37559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Universal address, each host uniquely defined.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32-bit address also known as IP Address.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The bits are written in dotted decimal notation. Each decimal represented by 8 bits.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Example: 192.168.10.1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Independent of underlying physical networks.</a:t>
            </a:r>
            <a:endParaRPr/>
          </a:p>
          <a:p>
            <a:pPr indent="-64770" lvl="0" marL="285750" rtl="0" algn="l"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pic>
        <p:nvPicPr>
          <p:cNvPr id="720" name="Google Shape;720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5" name="Google Shape;725;p43"/>
          <p:cNvPicPr preferRelativeResize="0"/>
          <p:nvPr/>
        </p:nvPicPr>
        <p:blipFill rotWithShape="1">
          <a:blip r:embed="rId3">
            <a:alphaModFix/>
          </a:blip>
          <a:srcRect b="39837" l="0" r="0" t="0"/>
          <a:stretch/>
        </p:blipFill>
        <p:spPr>
          <a:xfrm>
            <a:off x="3997781" y="2135265"/>
            <a:ext cx="5077362" cy="2471111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43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Network Layer - Example</a:t>
            </a:r>
            <a:endParaRPr/>
          </a:p>
        </p:txBody>
      </p:sp>
      <p:pic>
        <p:nvPicPr>
          <p:cNvPr id="727" name="Google Shape;727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728" name="Google Shape;728;p43"/>
          <p:cNvSpPr/>
          <p:nvPr/>
        </p:nvSpPr>
        <p:spPr>
          <a:xfrm>
            <a:off x="4028862" y="2564138"/>
            <a:ext cx="749396" cy="935025"/>
          </a:xfrm>
          <a:prstGeom prst="ellipse">
            <a:avLst/>
          </a:prstGeom>
          <a:noFill/>
          <a:ln cap="flat" cmpd="sng" w="38100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29" name="Google Shape;729;p43"/>
          <p:cNvSpPr/>
          <p:nvPr/>
        </p:nvSpPr>
        <p:spPr>
          <a:xfrm>
            <a:off x="8285749" y="3052275"/>
            <a:ext cx="749396" cy="935025"/>
          </a:xfrm>
          <a:prstGeom prst="ellipse">
            <a:avLst/>
          </a:prstGeom>
          <a:noFill/>
          <a:ln cap="flat" cmpd="sng" w="38100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30" name="Google Shape;730;p43"/>
          <p:cNvSpPr txBox="1"/>
          <p:nvPr/>
        </p:nvSpPr>
        <p:spPr>
          <a:xfrm>
            <a:off x="1575876" y="1558020"/>
            <a:ext cx="9927155" cy="93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Packet to be delivered from A to F</a:t>
            </a:r>
            <a:endParaRPr/>
          </a:p>
        </p:txBody>
      </p:sp>
      <p:sp>
        <p:nvSpPr>
          <p:cNvPr id="731" name="Google Shape;731;p43"/>
          <p:cNvSpPr/>
          <p:nvPr/>
        </p:nvSpPr>
        <p:spPr>
          <a:xfrm>
            <a:off x="4283244" y="3277857"/>
            <a:ext cx="240632" cy="254381"/>
          </a:xfrm>
          <a:prstGeom prst="ellipse">
            <a:avLst/>
          </a:prstGeom>
          <a:noFill/>
          <a:ln cap="flat" cmpd="sng" w="38100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32" name="Google Shape;732;p43"/>
          <p:cNvSpPr/>
          <p:nvPr/>
        </p:nvSpPr>
        <p:spPr>
          <a:xfrm>
            <a:off x="5693804" y="3265406"/>
            <a:ext cx="240632" cy="254381"/>
          </a:xfrm>
          <a:prstGeom prst="ellipse">
            <a:avLst/>
          </a:prstGeom>
          <a:noFill/>
          <a:ln cap="flat" cmpd="sng" w="38100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33" name="Google Shape;733;p43"/>
          <p:cNvSpPr/>
          <p:nvPr/>
        </p:nvSpPr>
        <p:spPr>
          <a:xfrm>
            <a:off x="7075717" y="2777269"/>
            <a:ext cx="240632" cy="254381"/>
          </a:xfrm>
          <a:prstGeom prst="ellipse">
            <a:avLst/>
          </a:prstGeom>
          <a:noFill/>
          <a:ln cap="flat" cmpd="sng" w="38100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34" name="Google Shape;734;p43"/>
          <p:cNvSpPr/>
          <p:nvPr/>
        </p:nvSpPr>
        <p:spPr>
          <a:xfrm>
            <a:off x="8540131" y="2821959"/>
            <a:ext cx="240632" cy="254381"/>
          </a:xfrm>
          <a:prstGeom prst="ellipse">
            <a:avLst/>
          </a:prstGeom>
          <a:noFill/>
          <a:ln cap="flat" cmpd="sng" w="38100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35" name="Google Shape;735;p43"/>
          <p:cNvSpPr/>
          <p:nvPr/>
        </p:nvSpPr>
        <p:spPr>
          <a:xfrm>
            <a:off x="7075717" y="3737083"/>
            <a:ext cx="240632" cy="254381"/>
          </a:xfrm>
          <a:prstGeom prst="ellipse">
            <a:avLst/>
          </a:prstGeom>
          <a:noFill/>
          <a:ln cap="flat" cmpd="sng" w="38100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36" name="Google Shape;736;p43"/>
          <p:cNvSpPr/>
          <p:nvPr/>
        </p:nvSpPr>
        <p:spPr>
          <a:xfrm>
            <a:off x="8540131" y="3760417"/>
            <a:ext cx="240632" cy="254381"/>
          </a:xfrm>
          <a:prstGeom prst="ellipse">
            <a:avLst/>
          </a:prstGeom>
          <a:noFill/>
          <a:ln cap="flat" cmpd="sng" w="38100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37" name="Google Shape;737;p43"/>
          <p:cNvSpPr txBox="1"/>
          <p:nvPr/>
        </p:nvSpPr>
        <p:spPr>
          <a:xfrm>
            <a:off x="1575875" y="1098527"/>
            <a:ext cx="9927155" cy="93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A,B,C,D,E and F are Logical addresses</a:t>
            </a:r>
            <a:endParaRPr/>
          </a:p>
        </p:txBody>
      </p:sp>
      <p:sp>
        <p:nvSpPr>
          <p:cNvPr id="738" name="Google Shape;738;p43"/>
          <p:cNvSpPr/>
          <p:nvPr/>
        </p:nvSpPr>
        <p:spPr>
          <a:xfrm>
            <a:off x="4276369" y="2887271"/>
            <a:ext cx="240632" cy="254226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739" name="Google Shape;739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97781" y="4585441"/>
            <a:ext cx="5077362" cy="19255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44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Network Layer – Another Example</a:t>
            </a:r>
            <a:endParaRPr/>
          </a:p>
        </p:txBody>
      </p:sp>
      <p:pic>
        <p:nvPicPr>
          <p:cNvPr id="745" name="Google Shape;74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46" name="Google Shape;746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21866" y="1084305"/>
            <a:ext cx="5943600" cy="5448300"/>
          </a:xfrm>
          <a:prstGeom prst="rect">
            <a:avLst/>
          </a:prstGeom>
          <a:noFill/>
          <a:ln>
            <a:noFill/>
          </a:ln>
        </p:spPr>
      </p:pic>
      <p:sp>
        <p:nvSpPr>
          <p:cNvPr id="747" name="Google Shape;747;p44"/>
          <p:cNvSpPr/>
          <p:nvPr/>
        </p:nvSpPr>
        <p:spPr>
          <a:xfrm>
            <a:off x="3348217" y="1326911"/>
            <a:ext cx="2076306" cy="5307645"/>
          </a:xfrm>
          <a:prstGeom prst="ellipse">
            <a:avLst/>
          </a:prstGeom>
          <a:noFill/>
          <a:ln cap="flat" cmpd="sng" w="381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48" name="Google Shape;748;p44"/>
          <p:cNvSpPr/>
          <p:nvPr/>
        </p:nvSpPr>
        <p:spPr>
          <a:xfrm>
            <a:off x="7562808" y="907526"/>
            <a:ext cx="2323711" cy="2521474"/>
          </a:xfrm>
          <a:prstGeom prst="ellipse">
            <a:avLst/>
          </a:prstGeom>
          <a:noFill/>
          <a:ln cap="flat" cmpd="sng" w="381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49" name="Google Shape;749;p44"/>
          <p:cNvSpPr/>
          <p:nvPr/>
        </p:nvSpPr>
        <p:spPr>
          <a:xfrm>
            <a:off x="7352281" y="3814216"/>
            <a:ext cx="2323711" cy="2521474"/>
          </a:xfrm>
          <a:prstGeom prst="ellipse">
            <a:avLst/>
          </a:prstGeom>
          <a:noFill/>
          <a:ln cap="flat" cmpd="sng" w="381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50" name="Google Shape;750;p44"/>
          <p:cNvSpPr/>
          <p:nvPr/>
        </p:nvSpPr>
        <p:spPr>
          <a:xfrm>
            <a:off x="5331810" y="1648931"/>
            <a:ext cx="2643408" cy="3882158"/>
          </a:xfrm>
          <a:prstGeom prst="ellipse">
            <a:avLst/>
          </a:prstGeom>
          <a:noFill/>
          <a:ln cap="flat" cmpd="sng" w="381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51" name="Google Shape;751;p44"/>
          <p:cNvSpPr txBox="1"/>
          <p:nvPr/>
        </p:nvSpPr>
        <p:spPr>
          <a:xfrm>
            <a:off x="3521866" y="1279599"/>
            <a:ext cx="9412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LAN 1</a:t>
            </a:r>
            <a:endParaRPr/>
          </a:p>
        </p:txBody>
      </p:sp>
      <p:sp>
        <p:nvSpPr>
          <p:cNvPr id="752" name="Google Shape;752;p44"/>
          <p:cNvSpPr txBox="1"/>
          <p:nvPr/>
        </p:nvSpPr>
        <p:spPr>
          <a:xfrm>
            <a:off x="7352281" y="1177648"/>
            <a:ext cx="9412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LAN 2</a:t>
            </a:r>
            <a:endParaRPr/>
          </a:p>
        </p:txBody>
      </p:sp>
      <p:sp>
        <p:nvSpPr>
          <p:cNvPr id="753" name="Google Shape;753;p44"/>
          <p:cNvSpPr txBox="1"/>
          <p:nvPr/>
        </p:nvSpPr>
        <p:spPr>
          <a:xfrm>
            <a:off x="8725280" y="3777486"/>
            <a:ext cx="9412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LAN 3</a:t>
            </a:r>
            <a:endParaRPr/>
          </a:p>
        </p:txBody>
      </p:sp>
      <p:sp>
        <p:nvSpPr>
          <p:cNvPr id="754" name="Google Shape;754;p44"/>
          <p:cNvSpPr txBox="1"/>
          <p:nvPr/>
        </p:nvSpPr>
        <p:spPr>
          <a:xfrm>
            <a:off x="4881845" y="1464265"/>
            <a:ext cx="241604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Inter-connections</a:t>
            </a:r>
            <a:endParaRPr/>
          </a:p>
        </p:txBody>
      </p:sp>
      <p:sp>
        <p:nvSpPr>
          <p:cNvPr id="755" name="Google Shape;755;p44"/>
          <p:cNvSpPr/>
          <p:nvPr/>
        </p:nvSpPr>
        <p:spPr>
          <a:xfrm>
            <a:off x="3992507" y="5578401"/>
            <a:ext cx="328087" cy="313635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756" name="Google Shape;756;p44"/>
          <p:cNvCxnSpPr/>
          <p:nvPr/>
        </p:nvCxnSpPr>
        <p:spPr>
          <a:xfrm flipH="1" rot="10800000">
            <a:off x="5747657" y="2646947"/>
            <a:ext cx="226881" cy="467513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57" name="Google Shape;757;p44"/>
          <p:cNvSpPr txBox="1"/>
          <p:nvPr/>
        </p:nvSpPr>
        <p:spPr>
          <a:xfrm>
            <a:off x="5584792" y="2646947"/>
            <a:ext cx="3257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?</a:t>
            </a:r>
            <a:endParaRPr/>
          </a:p>
        </p:txBody>
      </p:sp>
      <p:cxnSp>
        <p:nvCxnSpPr>
          <p:cNvPr id="758" name="Google Shape;758;p44"/>
          <p:cNvCxnSpPr/>
          <p:nvPr/>
        </p:nvCxnSpPr>
        <p:spPr>
          <a:xfrm flipH="1" rot="10800000">
            <a:off x="6311423" y="3580014"/>
            <a:ext cx="534970" cy="7041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59" name="Google Shape;759;p44"/>
          <p:cNvSpPr txBox="1"/>
          <p:nvPr/>
        </p:nvSpPr>
        <p:spPr>
          <a:xfrm>
            <a:off x="6456647" y="3580012"/>
            <a:ext cx="3257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?</a:t>
            </a:r>
            <a:endParaRPr/>
          </a:p>
        </p:txBody>
      </p:sp>
      <p:cxnSp>
        <p:nvCxnSpPr>
          <p:cNvPr id="760" name="Google Shape;760;p44"/>
          <p:cNvCxnSpPr/>
          <p:nvPr/>
        </p:nvCxnSpPr>
        <p:spPr>
          <a:xfrm rot="10800000">
            <a:off x="7019398" y="2473049"/>
            <a:ext cx="361527" cy="393406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61" name="Google Shape;761;p44"/>
          <p:cNvSpPr txBox="1"/>
          <p:nvPr/>
        </p:nvSpPr>
        <p:spPr>
          <a:xfrm>
            <a:off x="7141755" y="2443368"/>
            <a:ext cx="3257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?</a:t>
            </a:r>
            <a:endParaRPr/>
          </a:p>
        </p:txBody>
      </p:sp>
      <p:cxnSp>
        <p:nvCxnSpPr>
          <p:cNvPr id="762" name="Google Shape;762;p44"/>
          <p:cNvCxnSpPr/>
          <p:nvPr/>
        </p:nvCxnSpPr>
        <p:spPr>
          <a:xfrm flipH="1">
            <a:off x="6961847" y="3715587"/>
            <a:ext cx="247504" cy="548016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63" name="Google Shape;763;p44"/>
          <p:cNvSpPr txBox="1"/>
          <p:nvPr/>
        </p:nvSpPr>
        <p:spPr>
          <a:xfrm>
            <a:off x="6808109" y="3715587"/>
            <a:ext cx="3257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?</a:t>
            </a:r>
            <a:endParaRPr/>
          </a:p>
        </p:txBody>
      </p:sp>
      <p:sp>
        <p:nvSpPr>
          <p:cNvPr id="764" name="Google Shape;764;p44"/>
          <p:cNvSpPr/>
          <p:nvPr/>
        </p:nvSpPr>
        <p:spPr>
          <a:xfrm>
            <a:off x="5667814" y="3216411"/>
            <a:ext cx="328087" cy="313635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65" name="Google Shape;765;p44"/>
          <p:cNvSpPr/>
          <p:nvPr/>
        </p:nvSpPr>
        <p:spPr>
          <a:xfrm>
            <a:off x="7694114" y="2999823"/>
            <a:ext cx="328087" cy="313635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66" name="Google Shape;766;p44"/>
          <p:cNvSpPr/>
          <p:nvPr/>
        </p:nvSpPr>
        <p:spPr>
          <a:xfrm>
            <a:off x="3750006" y="5330342"/>
            <a:ext cx="1032975" cy="1219768"/>
          </a:xfrm>
          <a:prstGeom prst="ellipse">
            <a:avLst/>
          </a:prstGeom>
          <a:noFill/>
          <a:ln cap="flat" cmpd="sng" w="38100">
            <a:solidFill>
              <a:srgbClr val="13FF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67" name="Google Shape;767;p44"/>
          <p:cNvSpPr txBox="1"/>
          <p:nvPr/>
        </p:nvSpPr>
        <p:spPr>
          <a:xfrm>
            <a:off x="4426763" y="5637654"/>
            <a:ext cx="8915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Sender</a:t>
            </a:r>
            <a:endParaRPr/>
          </a:p>
        </p:txBody>
      </p:sp>
      <p:sp>
        <p:nvSpPr>
          <p:cNvPr id="768" name="Google Shape;768;p44"/>
          <p:cNvSpPr/>
          <p:nvPr/>
        </p:nvSpPr>
        <p:spPr>
          <a:xfrm>
            <a:off x="8539433" y="4968517"/>
            <a:ext cx="1032975" cy="1219768"/>
          </a:xfrm>
          <a:prstGeom prst="ellipse">
            <a:avLst/>
          </a:prstGeom>
          <a:noFill/>
          <a:ln cap="flat" cmpd="sng" w="38100">
            <a:solidFill>
              <a:srgbClr val="13FF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69" name="Google Shape;769;p44"/>
          <p:cNvSpPr txBox="1"/>
          <p:nvPr/>
        </p:nvSpPr>
        <p:spPr>
          <a:xfrm>
            <a:off x="9195921" y="5268322"/>
            <a:ext cx="10329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Receiver</a:t>
            </a:r>
            <a:endParaRPr/>
          </a:p>
        </p:txBody>
      </p:sp>
      <p:cxnSp>
        <p:nvCxnSpPr>
          <p:cNvPr id="770" name="Google Shape;770;p44"/>
          <p:cNvCxnSpPr/>
          <p:nvPr/>
        </p:nvCxnSpPr>
        <p:spPr>
          <a:xfrm flipH="1" rot="10800000">
            <a:off x="6312570" y="3581164"/>
            <a:ext cx="534970" cy="70410"/>
          </a:xfrm>
          <a:prstGeom prst="straightConnector1">
            <a:avLst/>
          </a:prstGeom>
          <a:noFill/>
          <a:ln cap="flat" cmpd="sng" w="38100">
            <a:solidFill>
              <a:srgbClr val="13FF1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71" name="Google Shape;771;p44"/>
          <p:cNvCxnSpPr/>
          <p:nvPr/>
        </p:nvCxnSpPr>
        <p:spPr>
          <a:xfrm flipH="1">
            <a:off x="6962997" y="3709862"/>
            <a:ext cx="247504" cy="548016"/>
          </a:xfrm>
          <a:prstGeom prst="straightConnector1">
            <a:avLst/>
          </a:prstGeom>
          <a:noFill/>
          <a:ln cap="flat" cmpd="sng" w="38100">
            <a:solidFill>
              <a:srgbClr val="13FF1E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45"/>
          <p:cNvSpPr txBox="1"/>
          <p:nvPr>
            <p:ph type="title"/>
          </p:nvPr>
        </p:nvSpPr>
        <p:spPr>
          <a:xfrm>
            <a:off x="1484310" y="325395"/>
            <a:ext cx="10018713" cy="32539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Data Link Layer</a:t>
            </a:r>
            <a:endParaRPr/>
          </a:p>
        </p:txBody>
      </p:sp>
      <p:pic>
        <p:nvPicPr>
          <p:cNvPr id="777" name="Google Shape;777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778" name="Google Shape;778;p45"/>
          <p:cNvSpPr txBox="1"/>
          <p:nvPr/>
        </p:nvSpPr>
        <p:spPr>
          <a:xfrm>
            <a:off x="6791317" y="2563674"/>
            <a:ext cx="28544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- The 2</a:t>
            </a:r>
            <a:r>
              <a:rPr baseline="30000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nd</a:t>
            </a: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Layer of OSI Model</a:t>
            </a:r>
            <a:endParaRPr/>
          </a:p>
        </p:txBody>
      </p:sp>
      <p:sp>
        <p:nvSpPr>
          <p:cNvPr id="779" name="Google Shape;779;p45"/>
          <p:cNvSpPr txBox="1"/>
          <p:nvPr/>
        </p:nvSpPr>
        <p:spPr>
          <a:xfrm>
            <a:off x="3134992" y="3510585"/>
            <a:ext cx="224131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Sender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From Network Layer</a:t>
            </a:r>
            <a:endParaRPr/>
          </a:p>
        </p:txBody>
      </p:sp>
      <p:sp>
        <p:nvSpPr>
          <p:cNvPr id="780" name="Google Shape;780;p45"/>
          <p:cNvSpPr txBox="1"/>
          <p:nvPr/>
        </p:nvSpPr>
        <p:spPr>
          <a:xfrm>
            <a:off x="3077536" y="6046260"/>
            <a:ext cx="19044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To Physical Layer</a:t>
            </a:r>
            <a:endParaRPr/>
          </a:p>
        </p:txBody>
      </p:sp>
      <p:sp>
        <p:nvSpPr>
          <p:cNvPr id="781" name="Google Shape;781;p45"/>
          <p:cNvSpPr txBox="1"/>
          <p:nvPr/>
        </p:nvSpPr>
        <p:spPr>
          <a:xfrm>
            <a:off x="7555695" y="3524207"/>
            <a:ext cx="196053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Receiver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To Network Layer</a:t>
            </a:r>
            <a:endParaRPr/>
          </a:p>
        </p:txBody>
      </p:sp>
      <p:sp>
        <p:nvSpPr>
          <p:cNvPr id="782" name="Google Shape;782;p45"/>
          <p:cNvSpPr txBox="1"/>
          <p:nvPr/>
        </p:nvSpPr>
        <p:spPr>
          <a:xfrm>
            <a:off x="7282669" y="6046260"/>
            <a:ext cx="21852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From Physical Layer</a:t>
            </a:r>
            <a:endParaRPr/>
          </a:p>
        </p:txBody>
      </p:sp>
      <p:sp>
        <p:nvSpPr>
          <p:cNvPr id="783" name="Google Shape;783;p45"/>
          <p:cNvSpPr/>
          <p:nvPr/>
        </p:nvSpPr>
        <p:spPr>
          <a:xfrm>
            <a:off x="3029772" y="4668510"/>
            <a:ext cx="2133135" cy="646330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/>
          </a:p>
        </p:txBody>
      </p:sp>
      <p:sp>
        <p:nvSpPr>
          <p:cNvPr id="784" name="Google Shape;784;p45"/>
          <p:cNvSpPr/>
          <p:nvPr/>
        </p:nvSpPr>
        <p:spPr>
          <a:xfrm>
            <a:off x="1922927" y="4668510"/>
            <a:ext cx="1106845" cy="646330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Header</a:t>
            </a:r>
            <a:endParaRPr/>
          </a:p>
        </p:txBody>
      </p:sp>
      <p:cxnSp>
        <p:nvCxnSpPr>
          <p:cNvPr id="785" name="Google Shape;785;p45"/>
          <p:cNvCxnSpPr>
            <a:stCxn id="779" idx="2"/>
            <a:endCxn id="783" idx="0"/>
          </p:cNvCxnSpPr>
          <p:nvPr/>
        </p:nvCxnSpPr>
        <p:spPr>
          <a:xfrm rot="5400000">
            <a:off x="3920252" y="4333016"/>
            <a:ext cx="511500" cy="1593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86" name="Google Shape;786;p45"/>
          <p:cNvCxnSpPr>
            <a:stCxn id="784" idx="2"/>
            <a:endCxn id="780" idx="0"/>
          </p:cNvCxnSpPr>
          <p:nvPr/>
        </p:nvCxnSpPr>
        <p:spPr>
          <a:xfrm flipH="1" rot="-5400000">
            <a:off x="2887350" y="4903840"/>
            <a:ext cx="731400" cy="15534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87" name="Google Shape;787;p45"/>
          <p:cNvCxnSpPr>
            <a:stCxn id="783" idx="2"/>
            <a:endCxn id="780" idx="0"/>
          </p:cNvCxnSpPr>
          <p:nvPr/>
        </p:nvCxnSpPr>
        <p:spPr>
          <a:xfrm rot="5400000">
            <a:off x="3697339" y="5647240"/>
            <a:ext cx="731400" cy="666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88" name="Google Shape;788;p45"/>
          <p:cNvSpPr/>
          <p:nvPr/>
        </p:nvSpPr>
        <p:spPr>
          <a:xfrm>
            <a:off x="8058797" y="4668509"/>
            <a:ext cx="2133135" cy="646330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/>
          </a:p>
        </p:txBody>
      </p:sp>
      <p:sp>
        <p:nvSpPr>
          <p:cNvPr id="789" name="Google Shape;789;p45"/>
          <p:cNvSpPr/>
          <p:nvPr/>
        </p:nvSpPr>
        <p:spPr>
          <a:xfrm>
            <a:off x="6951952" y="4668509"/>
            <a:ext cx="1106845" cy="646330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Header</a:t>
            </a:r>
            <a:endParaRPr/>
          </a:p>
        </p:txBody>
      </p:sp>
      <p:cxnSp>
        <p:nvCxnSpPr>
          <p:cNvPr id="790" name="Google Shape;790;p45"/>
          <p:cNvCxnSpPr>
            <a:stCxn id="782" idx="0"/>
            <a:endCxn id="789" idx="2"/>
          </p:cNvCxnSpPr>
          <p:nvPr/>
        </p:nvCxnSpPr>
        <p:spPr>
          <a:xfrm flipH="1" rot="5400000">
            <a:off x="7574576" y="5245560"/>
            <a:ext cx="731400" cy="8700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91" name="Google Shape;791;p45"/>
          <p:cNvCxnSpPr>
            <a:stCxn id="782" idx="0"/>
            <a:endCxn id="788" idx="2"/>
          </p:cNvCxnSpPr>
          <p:nvPr/>
        </p:nvCxnSpPr>
        <p:spPr>
          <a:xfrm rot="-5400000">
            <a:off x="8384576" y="5305560"/>
            <a:ext cx="731400" cy="7500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92" name="Google Shape;792;p45"/>
          <p:cNvCxnSpPr>
            <a:stCxn id="788" idx="0"/>
            <a:endCxn id="781" idx="2"/>
          </p:cNvCxnSpPr>
          <p:nvPr/>
        </p:nvCxnSpPr>
        <p:spPr>
          <a:xfrm flipH="1" rot="5400000">
            <a:off x="8581615" y="4124759"/>
            <a:ext cx="498000" cy="5895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93" name="Google Shape;793;p45"/>
          <p:cNvSpPr/>
          <p:nvPr/>
        </p:nvSpPr>
        <p:spPr>
          <a:xfrm>
            <a:off x="5163872" y="4668509"/>
            <a:ext cx="1106845" cy="646330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Trailer</a:t>
            </a:r>
            <a:endParaRPr/>
          </a:p>
        </p:txBody>
      </p:sp>
      <p:sp>
        <p:nvSpPr>
          <p:cNvPr id="794" name="Google Shape;794;p45"/>
          <p:cNvSpPr/>
          <p:nvPr/>
        </p:nvSpPr>
        <p:spPr>
          <a:xfrm>
            <a:off x="10191599" y="4668508"/>
            <a:ext cx="1106845" cy="646330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Trailer</a:t>
            </a:r>
            <a:endParaRPr/>
          </a:p>
        </p:txBody>
      </p:sp>
      <p:cxnSp>
        <p:nvCxnSpPr>
          <p:cNvPr id="795" name="Google Shape;795;p45"/>
          <p:cNvCxnSpPr>
            <a:stCxn id="793" idx="2"/>
            <a:endCxn id="780" idx="0"/>
          </p:cNvCxnSpPr>
          <p:nvPr/>
        </p:nvCxnSpPr>
        <p:spPr>
          <a:xfrm rot="5400000">
            <a:off x="4507845" y="4836789"/>
            <a:ext cx="731400" cy="16875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96" name="Google Shape;796;p45"/>
          <p:cNvCxnSpPr>
            <a:stCxn id="782" idx="0"/>
            <a:endCxn id="794" idx="2"/>
          </p:cNvCxnSpPr>
          <p:nvPr/>
        </p:nvCxnSpPr>
        <p:spPr>
          <a:xfrm rot="-5400000">
            <a:off x="9194426" y="4495710"/>
            <a:ext cx="731400" cy="23697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46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Data Link Layer Layer</a:t>
            </a:r>
            <a:endParaRPr/>
          </a:p>
        </p:txBody>
      </p:sp>
      <p:sp>
        <p:nvSpPr>
          <p:cNvPr id="802" name="Google Shape;802;p46"/>
          <p:cNvSpPr txBox="1"/>
          <p:nvPr>
            <p:ph idx="1" type="body"/>
          </p:nvPr>
        </p:nvSpPr>
        <p:spPr>
          <a:xfrm>
            <a:off x="1484310" y="1434775"/>
            <a:ext cx="9927155" cy="46316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Data Link Layer PDU is called </a:t>
            </a:r>
            <a:r>
              <a:rPr b="1" lang="en-US"/>
              <a:t>Frame</a:t>
            </a:r>
            <a:r>
              <a:rPr lang="en-US"/>
              <a:t>.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The data link layer is responsible for moving frames from one hop (node) to the next.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Protocols on this layer varies.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Functions :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Framing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Physical Addressing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Flow Control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Error Control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Access Control</a:t>
            </a:r>
            <a:endParaRPr/>
          </a:p>
        </p:txBody>
      </p:sp>
      <p:pic>
        <p:nvPicPr>
          <p:cNvPr id="803" name="Google Shape;803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804" name="Google Shape;804;p46"/>
          <p:cNvSpPr txBox="1"/>
          <p:nvPr/>
        </p:nvSpPr>
        <p:spPr>
          <a:xfrm>
            <a:off x="7399917" y="3161423"/>
            <a:ext cx="22413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From Network Layer</a:t>
            </a:r>
            <a:endParaRPr/>
          </a:p>
        </p:txBody>
      </p:sp>
      <p:sp>
        <p:nvSpPr>
          <p:cNvPr id="805" name="Google Shape;805;p46"/>
          <p:cNvSpPr txBox="1"/>
          <p:nvPr/>
        </p:nvSpPr>
        <p:spPr>
          <a:xfrm>
            <a:off x="7342461" y="5697098"/>
            <a:ext cx="19044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To Physical Layer</a:t>
            </a:r>
            <a:endParaRPr/>
          </a:p>
        </p:txBody>
      </p:sp>
      <p:sp>
        <p:nvSpPr>
          <p:cNvPr id="806" name="Google Shape;806;p46"/>
          <p:cNvSpPr/>
          <p:nvPr/>
        </p:nvSpPr>
        <p:spPr>
          <a:xfrm>
            <a:off x="7294697" y="4319348"/>
            <a:ext cx="2133135" cy="646330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/>
          </a:p>
        </p:txBody>
      </p:sp>
      <p:sp>
        <p:nvSpPr>
          <p:cNvPr id="807" name="Google Shape;807;p46"/>
          <p:cNvSpPr/>
          <p:nvPr/>
        </p:nvSpPr>
        <p:spPr>
          <a:xfrm>
            <a:off x="6187852" y="4319348"/>
            <a:ext cx="1106845" cy="646330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Header</a:t>
            </a:r>
            <a:endParaRPr/>
          </a:p>
        </p:txBody>
      </p:sp>
      <p:cxnSp>
        <p:nvCxnSpPr>
          <p:cNvPr id="808" name="Google Shape;808;p46"/>
          <p:cNvCxnSpPr>
            <a:stCxn id="804" idx="2"/>
            <a:endCxn id="806" idx="0"/>
          </p:cNvCxnSpPr>
          <p:nvPr/>
        </p:nvCxnSpPr>
        <p:spPr>
          <a:xfrm rot="5400000">
            <a:off x="8046577" y="3845455"/>
            <a:ext cx="788700" cy="1593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09" name="Google Shape;809;p46"/>
          <p:cNvCxnSpPr>
            <a:stCxn id="807" idx="2"/>
            <a:endCxn id="805" idx="0"/>
          </p:cNvCxnSpPr>
          <p:nvPr/>
        </p:nvCxnSpPr>
        <p:spPr>
          <a:xfrm flipH="1" rot="-5400000">
            <a:off x="7152274" y="4554678"/>
            <a:ext cx="731400" cy="15534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10" name="Google Shape;810;p46"/>
          <p:cNvCxnSpPr>
            <a:stCxn id="806" idx="2"/>
            <a:endCxn id="805" idx="0"/>
          </p:cNvCxnSpPr>
          <p:nvPr/>
        </p:nvCxnSpPr>
        <p:spPr>
          <a:xfrm rot="5400000">
            <a:off x="7962265" y="5298078"/>
            <a:ext cx="731400" cy="666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11" name="Google Shape;811;p46"/>
          <p:cNvSpPr/>
          <p:nvPr/>
        </p:nvSpPr>
        <p:spPr>
          <a:xfrm>
            <a:off x="9428797" y="4319347"/>
            <a:ext cx="1106845" cy="646330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Trailer</a:t>
            </a:r>
            <a:endParaRPr/>
          </a:p>
        </p:txBody>
      </p:sp>
      <p:cxnSp>
        <p:nvCxnSpPr>
          <p:cNvPr id="812" name="Google Shape;812;p46"/>
          <p:cNvCxnSpPr>
            <a:stCxn id="811" idx="2"/>
            <a:endCxn id="805" idx="0"/>
          </p:cNvCxnSpPr>
          <p:nvPr/>
        </p:nvCxnSpPr>
        <p:spPr>
          <a:xfrm rot="5400000">
            <a:off x="8772770" y="4487627"/>
            <a:ext cx="731400" cy="16875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13" name="Google Shape;813;p46"/>
          <p:cNvCxnSpPr/>
          <p:nvPr/>
        </p:nvCxnSpPr>
        <p:spPr>
          <a:xfrm>
            <a:off x="3370997" y="4046561"/>
            <a:ext cx="2627194" cy="272786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47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Hop-to-Hop Delivery</a:t>
            </a:r>
            <a:endParaRPr/>
          </a:p>
        </p:txBody>
      </p:sp>
      <p:pic>
        <p:nvPicPr>
          <p:cNvPr id="819" name="Google Shape;819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20" name="Google Shape;820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05100" y="1146412"/>
            <a:ext cx="6781800" cy="49958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48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Data Link Layer – Physical Address</a:t>
            </a:r>
            <a:endParaRPr/>
          </a:p>
        </p:txBody>
      </p:sp>
      <p:sp>
        <p:nvSpPr>
          <p:cNvPr id="826" name="Google Shape;826;p48"/>
          <p:cNvSpPr txBox="1"/>
          <p:nvPr>
            <p:ph idx="1" type="body"/>
          </p:nvPr>
        </p:nvSpPr>
        <p:spPr>
          <a:xfrm>
            <a:off x="1484310" y="1434775"/>
            <a:ext cx="9927155" cy="37559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Also known as  </a:t>
            </a:r>
            <a:r>
              <a:rPr b="1" lang="en-US"/>
              <a:t>MAC (Media Access Control)</a:t>
            </a:r>
            <a:r>
              <a:rPr lang="en-US"/>
              <a:t> Address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Every interface/port/device has an unique identifying number. 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Given by manufacturer.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48 bits long, represented by 12 hexadecimal digits grouped in pairs and separated by </a:t>
            </a:r>
            <a:r>
              <a:rPr b="1" lang="en-US"/>
              <a:t>‘–’</a:t>
            </a:r>
            <a:r>
              <a:rPr lang="en-US"/>
              <a:t> or </a:t>
            </a:r>
            <a:r>
              <a:rPr b="1" lang="en-US"/>
              <a:t>‘:’</a:t>
            </a:r>
            <a:r>
              <a:rPr lang="en-US"/>
              <a:t> .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Example: 07:01:02:01:2C:4B</a:t>
            </a:r>
            <a:endParaRPr/>
          </a:p>
          <a:p>
            <a:pPr indent="-64770" lvl="0" marL="285750" rtl="0" algn="l"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pic>
        <p:nvPicPr>
          <p:cNvPr id="827" name="Google Shape;827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49"/>
          <p:cNvSpPr txBox="1"/>
          <p:nvPr>
            <p:ph type="title"/>
          </p:nvPr>
        </p:nvSpPr>
        <p:spPr>
          <a:xfrm>
            <a:off x="1484310" y="325395"/>
            <a:ext cx="10018713" cy="32539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Physical Layer</a:t>
            </a:r>
            <a:endParaRPr/>
          </a:p>
        </p:txBody>
      </p:sp>
      <p:pic>
        <p:nvPicPr>
          <p:cNvPr id="833" name="Google Shape;833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834" name="Google Shape;834;p49"/>
          <p:cNvSpPr txBox="1"/>
          <p:nvPr/>
        </p:nvSpPr>
        <p:spPr>
          <a:xfrm>
            <a:off x="6791317" y="2563674"/>
            <a:ext cx="284007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- The 1</a:t>
            </a:r>
            <a:r>
              <a:rPr baseline="30000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st</a:t>
            </a: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Layer of OSI Model</a:t>
            </a:r>
            <a:endParaRPr/>
          </a:p>
        </p:txBody>
      </p:sp>
      <p:sp>
        <p:nvSpPr>
          <p:cNvPr id="835" name="Google Shape;835;p49"/>
          <p:cNvSpPr txBox="1"/>
          <p:nvPr/>
        </p:nvSpPr>
        <p:spPr>
          <a:xfrm>
            <a:off x="3092514" y="3510585"/>
            <a:ext cx="232627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Sender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From Data Link Layer</a:t>
            </a:r>
            <a:endParaRPr/>
          </a:p>
        </p:txBody>
      </p:sp>
      <p:sp>
        <p:nvSpPr>
          <p:cNvPr id="836" name="Google Shape;836;p49"/>
          <p:cNvSpPr txBox="1"/>
          <p:nvPr/>
        </p:nvSpPr>
        <p:spPr>
          <a:xfrm>
            <a:off x="3077536" y="6046260"/>
            <a:ext cx="236609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To transport medium</a:t>
            </a:r>
            <a:endParaRPr/>
          </a:p>
        </p:txBody>
      </p:sp>
      <p:sp>
        <p:nvSpPr>
          <p:cNvPr id="837" name="Google Shape;837;p49"/>
          <p:cNvSpPr txBox="1"/>
          <p:nvPr/>
        </p:nvSpPr>
        <p:spPr>
          <a:xfrm>
            <a:off x="7513216" y="3524207"/>
            <a:ext cx="204549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Receiver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To Data Link Layer</a:t>
            </a:r>
            <a:endParaRPr/>
          </a:p>
        </p:txBody>
      </p:sp>
      <p:sp>
        <p:nvSpPr>
          <p:cNvPr id="838" name="Google Shape;838;p49"/>
          <p:cNvSpPr txBox="1"/>
          <p:nvPr/>
        </p:nvSpPr>
        <p:spPr>
          <a:xfrm>
            <a:off x="7282669" y="6046260"/>
            <a:ext cx="264687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From transport medium</a:t>
            </a:r>
            <a:endParaRPr/>
          </a:p>
        </p:txBody>
      </p:sp>
      <p:sp>
        <p:nvSpPr>
          <p:cNvPr id="839" name="Google Shape;839;p49"/>
          <p:cNvSpPr/>
          <p:nvPr/>
        </p:nvSpPr>
        <p:spPr>
          <a:xfrm>
            <a:off x="3029772" y="4668510"/>
            <a:ext cx="3292556" cy="646330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010100001111100110110111101010101001</a:t>
            </a:r>
            <a:endParaRPr/>
          </a:p>
        </p:txBody>
      </p:sp>
      <p:sp>
        <p:nvSpPr>
          <p:cNvPr id="840" name="Google Shape;840;p49"/>
          <p:cNvSpPr/>
          <p:nvPr/>
        </p:nvSpPr>
        <p:spPr>
          <a:xfrm>
            <a:off x="1922927" y="4668510"/>
            <a:ext cx="1106845" cy="646330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0011010100</a:t>
            </a:r>
            <a:endParaRPr/>
          </a:p>
        </p:txBody>
      </p:sp>
      <p:cxnSp>
        <p:nvCxnSpPr>
          <p:cNvPr id="841" name="Google Shape;841;p49"/>
          <p:cNvCxnSpPr>
            <a:stCxn id="835" idx="2"/>
            <a:endCxn id="839" idx="0"/>
          </p:cNvCxnSpPr>
          <p:nvPr/>
        </p:nvCxnSpPr>
        <p:spPr>
          <a:xfrm flipH="1" rot="-5400000">
            <a:off x="4210053" y="4202516"/>
            <a:ext cx="511500" cy="4203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42" name="Google Shape;842;p49"/>
          <p:cNvCxnSpPr>
            <a:stCxn id="840" idx="2"/>
            <a:endCxn id="836" idx="0"/>
          </p:cNvCxnSpPr>
          <p:nvPr/>
        </p:nvCxnSpPr>
        <p:spPr>
          <a:xfrm flipH="1" rot="-5400000">
            <a:off x="3002699" y="4788490"/>
            <a:ext cx="731400" cy="17841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43" name="Google Shape;843;p49"/>
          <p:cNvCxnSpPr>
            <a:stCxn id="839" idx="2"/>
            <a:endCxn id="836" idx="0"/>
          </p:cNvCxnSpPr>
          <p:nvPr/>
        </p:nvCxnSpPr>
        <p:spPr>
          <a:xfrm rot="5400000">
            <a:off x="4102600" y="5472790"/>
            <a:ext cx="731400" cy="4155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44" name="Google Shape;844;p49"/>
          <p:cNvSpPr/>
          <p:nvPr/>
        </p:nvSpPr>
        <p:spPr>
          <a:xfrm>
            <a:off x="8058797" y="4668509"/>
            <a:ext cx="3132367" cy="646330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0101000011111001101101111010101010</a:t>
            </a:r>
            <a:endParaRPr/>
          </a:p>
        </p:txBody>
      </p:sp>
      <p:sp>
        <p:nvSpPr>
          <p:cNvPr id="845" name="Google Shape;845;p49"/>
          <p:cNvSpPr/>
          <p:nvPr/>
        </p:nvSpPr>
        <p:spPr>
          <a:xfrm>
            <a:off x="6951952" y="4668509"/>
            <a:ext cx="1106845" cy="646330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0011010100</a:t>
            </a:r>
            <a:endParaRPr/>
          </a:p>
        </p:txBody>
      </p:sp>
      <p:cxnSp>
        <p:nvCxnSpPr>
          <p:cNvPr id="846" name="Google Shape;846;p49"/>
          <p:cNvCxnSpPr>
            <a:stCxn id="838" idx="0"/>
            <a:endCxn id="845" idx="2"/>
          </p:cNvCxnSpPr>
          <p:nvPr/>
        </p:nvCxnSpPr>
        <p:spPr>
          <a:xfrm flipH="1" rot="5400000">
            <a:off x="7690058" y="5130210"/>
            <a:ext cx="731400" cy="11007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47" name="Google Shape;847;p49"/>
          <p:cNvCxnSpPr>
            <a:stCxn id="838" idx="0"/>
            <a:endCxn id="844" idx="2"/>
          </p:cNvCxnSpPr>
          <p:nvPr/>
        </p:nvCxnSpPr>
        <p:spPr>
          <a:xfrm rot="-5400000">
            <a:off x="8749808" y="5171160"/>
            <a:ext cx="731400" cy="10188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48" name="Google Shape;848;p49"/>
          <p:cNvCxnSpPr>
            <a:stCxn id="844" idx="0"/>
            <a:endCxn id="837" idx="2"/>
          </p:cNvCxnSpPr>
          <p:nvPr/>
        </p:nvCxnSpPr>
        <p:spPr>
          <a:xfrm flipH="1" rot="5400000">
            <a:off x="8831481" y="3875009"/>
            <a:ext cx="498000" cy="10890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50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Physical Layer</a:t>
            </a:r>
            <a:endParaRPr/>
          </a:p>
        </p:txBody>
      </p:sp>
      <p:sp>
        <p:nvSpPr>
          <p:cNvPr id="854" name="Google Shape;854;p50"/>
          <p:cNvSpPr txBox="1"/>
          <p:nvPr>
            <p:ph idx="1" type="body"/>
          </p:nvPr>
        </p:nvSpPr>
        <p:spPr>
          <a:xfrm>
            <a:off x="1484310" y="1434775"/>
            <a:ext cx="9927155" cy="37559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The physical layer is responsible for movements of individual bits from one hop (node) to the next.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Functions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Physical Characteristics of interfaces and medium.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Representation of bits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Data Rate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Synchronization of bits</a:t>
            </a:r>
            <a:endParaRPr/>
          </a:p>
        </p:txBody>
      </p:sp>
      <p:pic>
        <p:nvPicPr>
          <p:cNvPr id="855" name="Google Shape;855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56" name="Google Shape;856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56428" y="2097245"/>
            <a:ext cx="3714750" cy="1976438"/>
          </a:xfrm>
          <a:prstGeom prst="rect">
            <a:avLst/>
          </a:prstGeom>
          <a:noFill/>
          <a:ln>
            <a:noFill/>
          </a:ln>
        </p:spPr>
      </p:pic>
      <p:pic>
        <p:nvPicPr>
          <p:cNvPr id="857" name="Google Shape;857;p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02959" y="4132061"/>
            <a:ext cx="4038600" cy="208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51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Physical Layer</a:t>
            </a:r>
            <a:endParaRPr/>
          </a:p>
        </p:txBody>
      </p:sp>
      <p:sp>
        <p:nvSpPr>
          <p:cNvPr id="863" name="Google Shape;863;p51"/>
          <p:cNvSpPr txBox="1"/>
          <p:nvPr>
            <p:ph idx="1" type="body"/>
          </p:nvPr>
        </p:nvSpPr>
        <p:spPr>
          <a:xfrm>
            <a:off x="1484310" y="1434775"/>
            <a:ext cx="9927155" cy="5094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Physical Topology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Example: Bus, ring, etc.</a:t>
            </a:r>
            <a:endParaRPr/>
          </a:p>
          <a:p>
            <a:pPr indent="-101600" lvl="1" marL="742950" rtl="0" algn="l">
              <a:spcBef>
                <a:spcPts val="1000"/>
              </a:spcBef>
              <a:spcAft>
                <a:spcPts val="0"/>
              </a:spcAft>
              <a:buSzPts val="2900"/>
              <a:buNone/>
            </a:pPr>
            <a:r>
              <a:t/>
            </a:r>
            <a:endParaRPr/>
          </a:p>
          <a:p>
            <a:pPr indent="-101600" lvl="1" marL="742950" rtl="0" algn="l">
              <a:spcBef>
                <a:spcPts val="1000"/>
              </a:spcBef>
              <a:spcAft>
                <a:spcPts val="0"/>
              </a:spcAft>
              <a:buSzPts val="2900"/>
              <a:buNone/>
            </a:pPr>
            <a:r>
              <a:t/>
            </a:r>
            <a:endParaRPr/>
          </a:p>
          <a:p>
            <a:pPr indent="-64770" lvl="0" marL="285750" rtl="0" algn="l"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  <a:p>
            <a:pPr indent="-64770" lvl="0" marL="285750" rtl="0" algn="l"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Transmission Modes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Simplex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Half Duplex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Full Duplex</a:t>
            </a:r>
            <a:endParaRPr/>
          </a:p>
        </p:txBody>
      </p:sp>
      <p:pic>
        <p:nvPicPr>
          <p:cNvPr id="864" name="Google Shape;864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65" name="Google Shape;865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05549" y="1511490"/>
            <a:ext cx="1914525" cy="212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6" name="Google Shape;866;p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81349" y="1511490"/>
            <a:ext cx="2971800" cy="2300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867" name="Google Shape;867;p5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04837" y="4102238"/>
            <a:ext cx="3086100" cy="252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52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Summary of OSI Layers</a:t>
            </a:r>
            <a:endParaRPr/>
          </a:p>
        </p:txBody>
      </p:sp>
      <p:pic>
        <p:nvPicPr>
          <p:cNvPr id="873" name="Google Shape;873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74" name="Google Shape;874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08210" y="1568355"/>
            <a:ext cx="8570912" cy="394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53"/>
          <p:cNvSpPr txBox="1"/>
          <p:nvPr>
            <p:ph type="title"/>
          </p:nvPr>
        </p:nvSpPr>
        <p:spPr>
          <a:xfrm>
            <a:off x="1484310" y="325395"/>
            <a:ext cx="10018713" cy="3807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TCP/IP Model</a:t>
            </a:r>
            <a:br>
              <a:rPr lang="en-US" sz="7200"/>
            </a:br>
            <a:r>
              <a:rPr lang="en-US" sz="1800"/>
              <a:t>De Facto Standard</a:t>
            </a:r>
            <a:endParaRPr sz="7200"/>
          </a:p>
        </p:txBody>
      </p:sp>
      <p:pic>
        <p:nvPicPr>
          <p:cNvPr id="880" name="Google Shape;880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81" name="Google Shape;881;p53"/>
          <p:cNvGraphicFramePr/>
          <p:nvPr/>
        </p:nvGraphicFramePr>
        <p:xfrm>
          <a:off x="4501001" y="321664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{6D443BBA-3845-493F-8051-ACD5F123C0B7}</a:tableStyleId>
              </a:tblPr>
              <a:tblGrid>
                <a:gridCol w="455400"/>
                <a:gridCol w="1764950"/>
                <a:gridCol w="1764950"/>
              </a:tblGrid>
              <a:tr h="370850"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OSI Model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TCP/IP Model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Application</a:t>
                      </a:r>
                      <a:endParaRPr/>
                    </a:p>
                  </a:txBody>
                  <a:tcPr marT="45725" marB="45725" marR="91450" marL="91450"/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Application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Presentation</a:t>
                      </a:r>
                      <a:endParaRPr/>
                    </a:p>
                  </a:txBody>
                  <a:tcPr marT="45725" marB="45725" marR="91450" marL="91450"/>
                </a:tc>
                <a:tc vMerge="1"/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Session</a:t>
                      </a:r>
                      <a:endParaRPr/>
                    </a:p>
                  </a:txBody>
                  <a:tcPr marT="45725" marB="45725" marR="91450" marL="91450"/>
                </a:tc>
                <a:tc vMerge="1"/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Transport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Transport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Network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Internet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Data Link</a:t>
                      </a:r>
                      <a:endParaRPr/>
                    </a:p>
                  </a:txBody>
                  <a:tcPr marT="45725" marB="45725" marR="91450" marL="91450"/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Network Access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Physical</a:t>
                      </a:r>
                      <a:endParaRPr/>
                    </a:p>
                  </a:txBody>
                  <a:tcPr marT="45725" marB="45725" marR="91450" marL="91450"/>
                </a:tc>
                <a:tc vMerge="1"/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54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TCP/IP Model</a:t>
            </a:r>
            <a:endParaRPr/>
          </a:p>
        </p:txBody>
      </p:sp>
      <p:sp>
        <p:nvSpPr>
          <p:cNvPr id="887" name="Google Shape;887;p54"/>
          <p:cNvSpPr txBox="1"/>
          <p:nvPr>
            <p:ph idx="1" type="body"/>
          </p:nvPr>
        </p:nvSpPr>
        <p:spPr>
          <a:xfrm>
            <a:off x="1484310" y="1434775"/>
            <a:ext cx="9927155" cy="37559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Developed by the US Defense Advanced Research Project Agency (DARPA) for its packet switched network (ARPANET)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Used by the global Internet.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Also known as </a:t>
            </a:r>
            <a:r>
              <a:rPr b="1" lang="en-US"/>
              <a:t>De Facto Standard.</a:t>
            </a:r>
            <a:endParaRPr/>
          </a:p>
        </p:txBody>
      </p:sp>
      <p:pic>
        <p:nvPicPr>
          <p:cNvPr id="888" name="Google Shape;888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89" name="Google Shape;889;p54"/>
          <p:cNvGraphicFramePr/>
          <p:nvPr/>
        </p:nvGraphicFramePr>
        <p:xfrm>
          <a:off x="6722361" y="296415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{6D443BBA-3845-493F-8051-ACD5F123C0B7}</a:tableStyleId>
              </a:tblPr>
              <a:tblGrid>
                <a:gridCol w="455400"/>
                <a:gridCol w="1764950"/>
                <a:gridCol w="1764950"/>
              </a:tblGrid>
              <a:tr h="370850"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OSI Model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TCP/IP Model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Application</a:t>
                      </a:r>
                      <a:endParaRPr/>
                    </a:p>
                  </a:txBody>
                  <a:tcPr marT="45725" marB="45725" marR="91450" marL="91450"/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Application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Presentation</a:t>
                      </a:r>
                      <a:endParaRPr/>
                    </a:p>
                  </a:txBody>
                  <a:tcPr marT="45725" marB="45725" marR="91450" marL="91450"/>
                </a:tc>
                <a:tc vMerge="1"/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Session</a:t>
                      </a:r>
                      <a:endParaRPr/>
                    </a:p>
                  </a:txBody>
                  <a:tcPr marT="45725" marB="45725" marR="91450" marL="91450"/>
                </a:tc>
                <a:tc vMerge="1"/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Transport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Transport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Network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Internet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Data Link</a:t>
                      </a:r>
                      <a:endParaRPr/>
                    </a:p>
                  </a:txBody>
                  <a:tcPr marT="45725" marB="45725" marR="91450" marL="91450"/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Network Access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Physical</a:t>
                      </a:r>
                      <a:endParaRPr/>
                    </a:p>
                  </a:txBody>
                  <a:tcPr marT="45725" marB="45725" marR="91450" marL="91450"/>
                </a:tc>
                <a:tc vMerge="1"/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55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TCP/IP Encapsulation and PDU</a:t>
            </a:r>
            <a:endParaRPr/>
          </a:p>
        </p:txBody>
      </p:sp>
      <p:pic>
        <p:nvPicPr>
          <p:cNvPr id="895" name="Google Shape;895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896" name="Google Shape;896;p55"/>
          <p:cNvSpPr/>
          <p:nvPr/>
        </p:nvSpPr>
        <p:spPr>
          <a:xfrm>
            <a:off x="3692741" y="1592842"/>
            <a:ext cx="1985755" cy="525439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Email Data</a:t>
            </a:r>
            <a:endParaRPr/>
          </a:p>
        </p:txBody>
      </p:sp>
      <p:pic>
        <p:nvPicPr>
          <p:cNvPr id="897" name="Google Shape;897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04448" y="964799"/>
            <a:ext cx="1066800" cy="1171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8" name="Google Shape;898;p5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3636" y="5822176"/>
            <a:ext cx="1607096" cy="55866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99" name="Google Shape;899;p55"/>
          <p:cNvCxnSpPr/>
          <p:nvPr/>
        </p:nvCxnSpPr>
        <p:spPr>
          <a:xfrm flipH="1" rot="10800000">
            <a:off x="3623481" y="1501253"/>
            <a:ext cx="3377821" cy="1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0" name="Google Shape;900;p55"/>
          <p:cNvCxnSpPr/>
          <p:nvPr/>
        </p:nvCxnSpPr>
        <p:spPr>
          <a:xfrm rot="10800000">
            <a:off x="7001302" y="1501253"/>
            <a:ext cx="0" cy="4361867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1" name="Google Shape;901;p55"/>
          <p:cNvSpPr/>
          <p:nvPr/>
        </p:nvSpPr>
        <p:spPr>
          <a:xfrm>
            <a:off x="5015546" y="2288699"/>
            <a:ext cx="662950" cy="525439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/>
          </a:p>
        </p:txBody>
      </p:sp>
      <p:sp>
        <p:nvSpPr>
          <p:cNvPr id="902" name="Google Shape;902;p55"/>
          <p:cNvSpPr/>
          <p:nvPr/>
        </p:nvSpPr>
        <p:spPr>
          <a:xfrm>
            <a:off x="4355691" y="2284506"/>
            <a:ext cx="662950" cy="525439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/>
          </a:p>
        </p:txBody>
      </p:sp>
      <p:sp>
        <p:nvSpPr>
          <p:cNvPr id="903" name="Google Shape;903;p55"/>
          <p:cNvSpPr/>
          <p:nvPr/>
        </p:nvSpPr>
        <p:spPr>
          <a:xfrm>
            <a:off x="3692741" y="2284506"/>
            <a:ext cx="662950" cy="525439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/>
          </a:p>
        </p:txBody>
      </p:sp>
      <p:sp>
        <p:nvSpPr>
          <p:cNvPr id="904" name="Google Shape;904;p55"/>
          <p:cNvSpPr/>
          <p:nvPr/>
        </p:nvSpPr>
        <p:spPr>
          <a:xfrm>
            <a:off x="5015547" y="2984556"/>
            <a:ext cx="662950" cy="525439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/>
          </a:p>
        </p:txBody>
      </p:sp>
      <p:sp>
        <p:nvSpPr>
          <p:cNvPr id="905" name="Google Shape;905;p55"/>
          <p:cNvSpPr/>
          <p:nvPr/>
        </p:nvSpPr>
        <p:spPr>
          <a:xfrm>
            <a:off x="4005620" y="2980363"/>
            <a:ext cx="1013022" cy="525439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Transport Header</a:t>
            </a:r>
            <a:endParaRPr/>
          </a:p>
        </p:txBody>
      </p:sp>
      <p:sp>
        <p:nvSpPr>
          <p:cNvPr id="906" name="Google Shape;906;p55"/>
          <p:cNvSpPr/>
          <p:nvPr/>
        </p:nvSpPr>
        <p:spPr>
          <a:xfrm>
            <a:off x="5015546" y="3663175"/>
            <a:ext cx="662950" cy="525439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/>
          </a:p>
        </p:txBody>
      </p:sp>
      <p:sp>
        <p:nvSpPr>
          <p:cNvPr id="907" name="Google Shape;907;p55"/>
          <p:cNvSpPr/>
          <p:nvPr/>
        </p:nvSpPr>
        <p:spPr>
          <a:xfrm>
            <a:off x="4005619" y="3665806"/>
            <a:ext cx="1013022" cy="525439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Transport Header</a:t>
            </a:r>
            <a:endParaRPr/>
          </a:p>
        </p:txBody>
      </p:sp>
      <p:sp>
        <p:nvSpPr>
          <p:cNvPr id="908" name="Google Shape;908;p55"/>
          <p:cNvSpPr/>
          <p:nvPr/>
        </p:nvSpPr>
        <p:spPr>
          <a:xfrm>
            <a:off x="2991050" y="3665806"/>
            <a:ext cx="1013022" cy="525439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Network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Header</a:t>
            </a:r>
            <a:endParaRPr/>
          </a:p>
        </p:txBody>
      </p:sp>
      <p:sp>
        <p:nvSpPr>
          <p:cNvPr id="909" name="Google Shape;909;p55"/>
          <p:cNvSpPr/>
          <p:nvPr/>
        </p:nvSpPr>
        <p:spPr>
          <a:xfrm>
            <a:off x="5013999" y="4339163"/>
            <a:ext cx="662950" cy="525439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/>
          </a:p>
        </p:txBody>
      </p:sp>
      <p:sp>
        <p:nvSpPr>
          <p:cNvPr id="910" name="Google Shape;910;p55"/>
          <p:cNvSpPr/>
          <p:nvPr/>
        </p:nvSpPr>
        <p:spPr>
          <a:xfrm>
            <a:off x="4004072" y="4341794"/>
            <a:ext cx="1013022" cy="525439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Transport Header</a:t>
            </a:r>
            <a:endParaRPr/>
          </a:p>
        </p:txBody>
      </p:sp>
      <p:sp>
        <p:nvSpPr>
          <p:cNvPr id="911" name="Google Shape;911;p55"/>
          <p:cNvSpPr/>
          <p:nvPr/>
        </p:nvSpPr>
        <p:spPr>
          <a:xfrm>
            <a:off x="2989503" y="4341794"/>
            <a:ext cx="1013022" cy="525439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Network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Header</a:t>
            </a:r>
            <a:endParaRPr/>
          </a:p>
        </p:txBody>
      </p:sp>
      <p:sp>
        <p:nvSpPr>
          <p:cNvPr id="912" name="Google Shape;912;p55"/>
          <p:cNvSpPr/>
          <p:nvPr/>
        </p:nvSpPr>
        <p:spPr>
          <a:xfrm>
            <a:off x="1974934" y="4339162"/>
            <a:ext cx="1013022" cy="525439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Frame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Header</a:t>
            </a:r>
            <a:endParaRPr/>
          </a:p>
        </p:txBody>
      </p:sp>
      <p:sp>
        <p:nvSpPr>
          <p:cNvPr id="913" name="Google Shape;913;p55"/>
          <p:cNvSpPr/>
          <p:nvPr/>
        </p:nvSpPr>
        <p:spPr>
          <a:xfrm>
            <a:off x="5684739" y="4339161"/>
            <a:ext cx="1013022" cy="525439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Frame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Trailer</a:t>
            </a:r>
            <a:endParaRPr/>
          </a:p>
        </p:txBody>
      </p:sp>
      <p:sp>
        <p:nvSpPr>
          <p:cNvPr id="914" name="Google Shape;914;p55"/>
          <p:cNvSpPr/>
          <p:nvPr/>
        </p:nvSpPr>
        <p:spPr>
          <a:xfrm>
            <a:off x="1974933" y="5054542"/>
            <a:ext cx="4722823" cy="525439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10011010111010101010101010101010101011010101010101010</a:t>
            </a:r>
            <a:endParaRPr/>
          </a:p>
        </p:txBody>
      </p:sp>
      <p:sp>
        <p:nvSpPr>
          <p:cNvPr id="915" name="Google Shape;915;p55"/>
          <p:cNvSpPr/>
          <p:nvPr/>
        </p:nvSpPr>
        <p:spPr>
          <a:xfrm>
            <a:off x="7508757" y="1592843"/>
            <a:ext cx="1218975" cy="1219444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/>
          </a:p>
        </p:txBody>
      </p:sp>
      <p:sp>
        <p:nvSpPr>
          <p:cNvPr id="916" name="Google Shape;916;p55"/>
          <p:cNvSpPr/>
          <p:nvPr/>
        </p:nvSpPr>
        <p:spPr>
          <a:xfrm>
            <a:off x="7508758" y="2982704"/>
            <a:ext cx="1218975" cy="525439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Segment</a:t>
            </a:r>
            <a:endParaRPr/>
          </a:p>
        </p:txBody>
      </p:sp>
      <p:sp>
        <p:nvSpPr>
          <p:cNvPr id="917" name="Google Shape;917;p55"/>
          <p:cNvSpPr/>
          <p:nvPr/>
        </p:nvSpPr>
        <p:spPr>
          <a:xfrm>
            <a:off x="7508757" y="3661323"/>
            <a:ext cx="1218975" cy="525439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/>
          </a:p>
        </p:txBody>
      </p:sp>
      <p:sp>
        <p:nvSpPr>
          <p:cNvPr id="918" name="Google Shape;918;p55"/>
          <p:cNvSpPr/>
          <p:nvPr/>
        </p:nvSpPr>
        <p:spPr>
          <a:xfrm>
            <a:off x="7507210" y="4337311"/>
            <a:ext cx="1218975" cy="525439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Frame </a:t>
            </a: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(Medium Dependent)</a:t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19" name="Google Shape;919;p55"/>
          <p:cNvSpPr/>
          <p:nvPr/>
        </p:nvSpPr>
        <p:spPr>
          <a:xfrm>
            <a:off x="7508757" y="5054541"/>
            <a:ext cx="1218975" cy="525439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Bits</a:t>
            </a:r>
            <a:endParaRPr/>
          </a:p>
        </p:txBody>
      </p:sp>
      <p:sp>
        <p:nvSpPr>
          <p:cNvPr id="920" name="Google Shape;920;p55"/>
          <p:cNvSpPr txBox="1"/>
          <p:nvPr/>
        </p:nvSpPr>
        <p:spPr>
          <a:xfrm>
            <a:off x="7795134" y="1197018"/>
            <a:ext cx="6431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PDU</a:t>
            </a:r>
            <a:endParaRPr/>
          </a:p>
        </p:txBody>
      </p:sp>
      <p:cxnSp>
        <p:nvCxnSpPr>
          <p:cNvPr id="921" name="Google Shape;921;p55"/>
          <p:cNvCxnSpPr>
            <a:stCxn id="896" idx="3"/>
            <a:endCxn id="915" idx="1"/>
          </p:cNvCxnSpPr>
          <p:nvPr/>
        </p:nvCxnSpPr>
        <p:spPr>
          <a:xfrm>
            <a:off x="5678496" y="1855562"/>
            <a:ext cx="1830300" cy="3471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0070C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22" name="Google Shape;922;p55"/>
          <p:cNvCxnSpPr>
            <a:stCxn id="901" idx="3"/>
            <a:endCxn id="915" idx="1"/>
          </p:cNvCxnSpPr>
          <p:nvPr/>
        </p:nvCxnSpPr>
        <p:spPr>
          <a:xfrm flipH="1" rot="10800000">
            <a:off x="5678496" y="2202519"/>
            <a:ext cx="1830300" cy="3489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0070C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23" name="Google Shape;923;p55"/>
          <p:cNvCxnSpPr>
            <a:stCxn id="904" idx="3"/>
            <a:endCxn id="916" idx="1"/>
          </p:cNvCxnSpPr>
          <p:nvPr/>
        </p:nvCxnSpPr>
        <p:spPr>
          <a:xfrm flipH="1" rot="10800000">
            <a:off x="5678497" y="3245476"/>
            <a:ext cx="1830300" cy="18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0070C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24" name="Google Shape;924;p55"/>
          <p:cNvCxnSpPr>
            <a:stCxn id="906" idx="3"/>
            <a:endCxn id="917" idx="1"/>
          </p:cNvCxnSpPr>
          <p:nvPr/>
        </p:nvCxnSpPr>
        <p:spPr>
          <a:xfrm flipH="1" rot="10800000">
            <a:off x="5678496" y="3924095"/>
            <a:ext cx="1830300" cy="18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0070C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25" name="Google Shape;925;p55"/>
          <p:cNvCxnSpPr>
            <a:stCxn id="913" idx="3"/>
            <a:endCxn id="918" idx="1"/>
          </p:cNvCxnSpPr>
          <p:nvPr/>
        </p:nvCxnSpPr>
        <p:spPr>
          <a:xfrm flipH="1" rot="10800000">
            <a:off x="6697761" y="4600081"/>
            <a:ext cx="809400" cy="18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0070C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26" name="Google Shape;926;p55"/>
          <p:cNvCxnSpPr>
            <a:stCxn id="914" idx="3"/>
            <a:endCxn id="919" idx="1"/>
          </p:cNvCxnSpPr>
          <p:nvPr/>
        </p:nvCxnSpPr>
        <p:spPr>
          <a:xfrm>
            <a:off x="6697756" y="5317262"/>
            <a:ext cx="810900" cy="6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0070C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27" name="Google Shape;927;p55"/>
          <p:cNvCxnSpPr/>
          <p:nvPr/>
        </p:nvCxnSpPr>
        <p:spPr>
          <a:xfrm>
            <a:off x="9000699" y="1197018"/>
            <a:ext cx="0" cy="4500922"/>
          </a:xfrm>
          <a:prstGeom prst="straightConnector1">
            <a:avLst/>
          </a:prstGeom>
          <a:noFill/>
          <a:ln cap="flat" cmpd="sng" w="38100">
            <a:solidFill>
              <a:srgbClr val="0070C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28" name="Google Shape;928;p55"/>
          <p:cNvSpPr txBox="1"/>
          <p:nvPr/>
        </p:nvSpPr>
        <p:spPr>
          <a:xfrm rot="-5400000">
            <a:off x="8034724" y="3198167"/>
            <a:ext cx="231249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Passing down the stack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56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TCP/IP and Other Models</a:t>
            </a:r>
            <a:endParaRPr/>
          </a:p>
        </p:txBody>
      </p:sp>
      <p:pic>
        <p:nvPicPr>
          <p:cNvPr descr="Introduction to Networks - Mozilla Firefox" id="934" name="Google Shape;934;p56"/>
          <p:cNvPicPr preferRelativeResize="0"/>
          <p:nvPr/>
        </p:nvPicPr>
        <p:blipFill rotWithShape="1">
          <a:blip r:embed="rId3">
            <a:alphaModFix/>
          </a:blip>
          <a:srcRect b="729" l="9470" r="37433" t="35641"/>
          <a:stretch/>
        </p:blipFill>
        <p:spPr>
          <a:xfrm>
            <a:off x="2200272" y="1066800"/>
            <a:ext cx="8586788" cy="5253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57"/>
          <p:cNvSpPr txBox="1"/>
          <p:nvPr>
            <p:ph type="title"/>
          </p:nvPr>
        </p:nvSpPr>
        <p:spPr>
          <a:xfrm>
            <a:off x="1484310" y="325395"/>
            <a:ext cx="10018713" cy="3807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Addressing in Networking</a:t>
            </a:r>
            <a:endParaRPr/>
          </a:p>
        </p:txBody>
      </p:sp>
      <p:pic>
        <p:nvPicPr>
          <p:cNvPr id="940" name="Google Shape;940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58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Addressing - Summary</a:t>
            </a:r>
            <a:endParaRPr/>
          </a:p>
        </p:txBody>
      </p:sp>
      <p:sp>
        <p:nvSpPr>
          <p:cNvPr id="946" name="Google Shape;946;p58"/>
          <p:cNvSpPr txBox="1"/>
          <p:nvPr>
            <p:ph idx="1" type="body"/>
          </p:nvPr>
        </p:nvSpPr>
        <p:spPr>
          <a:xfrm>
            <a:off x="1484310" y="1434775"/>
            <a:ext cx="9927155" cy="37559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Four levels of addresses are used in an internet employing the TCP/IP protocols</a:t>
            </a:r>
            <a:endParaRPr/>
          </a:p>
          <a:p>
            <a:pPr indent="-64770" lvl="0" marL="285750" rtl="0" algn="l"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 b="1"/>
          </a:p>
        </p:txBody>
      </p:sp>
      <p:pic>
        <p:nvPicPr>
          <p:cNvPr id="947" name="Google Shape;947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8" name="Google Shape;948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79343" y="2253066"/>
            <a:ext cx="7834313" cy="199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9" name="Google Shape;949;p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79343" y="4468025"/>
            <a:ext cx="7848600" cy="19157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59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Relationship of layers and address in TCP/IP</a:t>
            </a:r>
            <a:endParaRPr/>
          </a:p>
        </p:txBody>
      </p:sp>
      <p:pic>
        <p:nvPicPr>
          <p:cNvPr id="955" name="Google Shape;955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56" name="Google Shape;956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59866" y="1273650"/>
            <a:ext cx="7467600" cy="482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60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Addresses</a:t>
            </a:r>
            <a:endParaRPr/>
          </a:p>
        </p:txBody>
      </p:sp>
      <p:sp>
        <p:nvSpPr>
          <p:cNvPr id="962" name="Google Shape;962;p60"/>
          <p:cNvSpPr txBox="1"/>
          <p:nvPr>
            <p:ph idx="1" type="body"/>
          </p:nvPr>
        </p:nvSpPr>
        <p:spPr>
          <a:xfrm>
            <a:off x="1484310" y="1434775"/>
            <a:ext cx="9927155" cy="52458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Specific Address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Applications having user friendly addresses.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Email addresses or URLs.</a:t>
            </a:r>
            <a:endParaRPr/>
          </a:p>
          <a:p>
            <a:pPr indent="-285750" lvl="2" marL="1200150" rtl="0" algn="l">
              <a:spcBef>
                <a:spcPts val="960"/>
              </a:spcBef>
              <a:spcAft>
                <a:spcPts val="0"/>
              </a:spcAft>
              <a:buSzPts val="2610"/>
              <a:buChar char="•"/>
            </a:pPr>
            <a:r>
              <a:rPr lang="en-US" u="sng"/>
              <a:t>john@gmail.com</a:t>
            </a:r>
            <a:r>
              <a:rPr lang="en-US"/>
              <a:t> or </a:t>
            </a:r>
            <a:r>
              <a:rPr lang="en-US" u="sng"/>
              <a:t>www.bracu.ac.bd 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Theses are converted into corresponding port and logical addresses by the sending computer.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The other addresses are already discussed in the earlier slides! Can you identify them?</a:t>
            </a:r>
            <a:endParaRPr/>
          </a:p>
          <a:p>
            <a:pPr indent="0" lvl="0" marL="0" rtl="0" algn="l"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  <a:p>
            <a:pPr indent="-64770" lvl="0" marL="285750" rtl="0" algn="l"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960"/>
              </a:spcBef>
              <a:spcAft>
                <a:spcPts val="0"/>
              </a:spcAft>
              <a:buSzPts val="2610"/>
              <a:buNone/>
            </a:pPr>
            <a:r>
              <a:rPr i="1" lang="en-US" sz="1800"/>
              <a:t>**Port address (Slide </a:t>
            </a:r>
            <a:r>
              <a:rPr b="1" i="1" lang="en-US" sz="1800"/>
              <a:t>35</a:t>
            </a:r>
            <a:r>
              <a:rPr i="1" lang="en-US" sz="1800"/>
              <a:t>), Logical Address (Slide </a:t>
            </a:r>
            <a:r>
              <a:rPr b="1" i="1" lang="en-US" sz="1800"/>
              <a:t>42</a:t>
            </a:r>
            <a:r>
              <a:rPr i="1" lang="en-US" sz="1800"/>
              <a:t>), Physical Address (Slide </a:t>
            </a:r>
            <a:r>
              <a:rPr b="1" i="1" lang="en-US" sz="1800"/>
              <a:t>48</a:t>
            </a:r>
            <a:r>
              <a:rPr i="1" lang="en-US" sz="1800"/>
              <a:t>)</a:t>
            </a:r>
            <a:endParaRPr/>
          </a:p>
          <a:p>
            <a:pPr indent="-64770" lvl="0" marL="285750" rtl="0" algn="l"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 b="1"/>
          </a:p>
        </p:txBody>
      </p:sp>
      <p:pic>
        <p:nvPicPr>
          <p:cNvPr id="963" name="Google Shape;963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8" name="Google Shape;968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62300" y="1157330"/>
            <a:ext cx="5867400" cy="5375275"/>
          </a:xfrm>
          <a:prstGeom prst="rect">
            <a:avLst/>
          </a:prstGeom>
          <a:noFill/>
          <a:ln>
            <a:noFill/>
          </a:ln>
        </p:spPr>
      </p:pic>
      <p:sp>
        <p:nvSpPr>
          <p:cNvPr id="969" name="Google Shape;969;p61"/>
          <p:cNvSpPr/>
          <p:nvPr/>
        </p:nvSpPr>
        <p:spPr>
          <a:xfrm>
            <a:off x="4667534" y="5693846"/>
            <a:ext cx="395785" cy="307074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70" name="Google Shape;970;p61"/>
          <p:cNvSpPr/>
          <p:nvPr/>
        </p:nvSpPr>
        <p:spPr>
          <a:xfrm>
            <a:off x="5061329" y="5692936"/>
            <a:ext cx="395785" cy="307074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71" name="Google Shape;971;p61"/>
          <p:cNvSpPr/>
          <p:nvPr/>
        </p:nvSpPr>
        <p:spPr>
          <a:xfrm>
            <a:off x="5457114" y="5692936"/>
            <a:ext cx="395785" cy="307074"/>
          </a:xfrm>
          <a:prstGeom prst="rect">
            <a:avLst/>
          </a:prstGeom>
          <a:solidFill>
            <a:schemeClr val="accent3"/>
          </a:solidFill>
          <a:ln cap="rnd" cmpd="sng" w="15875">
            <a:solidFill>
              <a:srgbClr val="A472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72" name="Google Shape;972;p61"/>
          <p:cNvSpPr/>
          <p:nvPr/>
        </p:nvSpPr>
        <p:spPr>
          <a:xfrm>
            <a:off x="5850909" y="5692936"/>
            <a:ext cx="395785" cy="307074"/>
          </a:xfrm>
          <a:prstGeom prst="rect">
            <a:avLst/>
          </a:prstGeom>
          <a:solidFill>
            <a:schemeClr val="accent3"/>
          </a:solidFill>
          <a:ln cap="rnd" cmpd="sng" w="15875">
            <a:solidFill>
              <a:srgbClr val="A472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73" name="Google Shape;973;p61"/>
          <p:cNvSpPr/>
          <p:nvPr/>
        </p:nvSpPr>
        <p:spPr>
          <a:xfrm>
            <a:off x="6246125" y="5689524"/>
            <a:ext cx="632347" cy="307074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74" name="Google Shape;974;p61"/>
          <p:cNvSpPr/>
          <p:nvPr/>
        </p:nvSpPr>
        <p:spPr>
          <a:xfrm>
            <a:off x="4667534" y="5689103"/>
            <a:ext cx="395785" cy="307074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E</a:t>
            </a:r>
            <a:endParaRPr/>
          </a:p>
        </p:txBody>
      </p:sp>
      <p:sp>
        <p:nvSpPr>
          <p:cNvPr id="975" name="Google Shape;975;p61"/>
          <p:cNvSpPr/>
          <p:nvPr/>
        </p:nvSpPr>
        <p:spPr>
          <a:xfrm>
            <a:off x="5061329" y="5688193"/>
            <a:ext cx="395785" cy="307074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B</a:t>
            </a:r>
            <a:endParaRPr/>
          </a:p>
        </p:txBody>
      </p:sp>
      <p:sp>
        <p:nvSpPr>
          <p:cNvPr id="976" name="Google Shape;976;p61"/>
          <p:cNvSpPr/>
          <p:nvPr/>
        </p:nvSpPr>
        <p:spPr>
          <a:xfrm>
            <a:off x="5457114" y="5688193"/>
            <a:ext cx="395785" cy="307074"/>
          </a:xfrm>
          <a:prstGeom prst="rect">
            <a:avLst/>
          </a:prstGeom>
          <a:solidFill>
            <a:schemeClr val="accent3"/>
          </a:solidFill>
          <a:ln cap="rnd" cmpd="sng" w="15875">
            <a:solidFill>
              <a:srgbClr val="A472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/>
          </a:p>
        </p:txBody>
      </p:sp>
      <p:sp>
        <p:nvSpPr>
          <p:cNvPr id="977" name="Google Shape;977;p61"/>
          <p:cNvSpPr/>
          <p:nvPr/>
        </p:nvSpPr>
        <p:spPr>
          <a:xfrm>
            <a:off x="5850909" y="5688193"/>
            <a:ext cx="395785" cy="307074"/>
          </a:xfrm>
          <a:prstGeom prst="rect">
            <a:avLst/>
          </a:prstGeom>
          <a:solidFill>
            <a:schemeClr val="accent3"/>
          </a:solidFill>
          <a:ln cap="rnd" cmpd="sng" w="15875">
            <a:solidFill>
              <a:srgbClr val="A472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3</a:t>
            </a:r>
            <a:endParaRPr/>
          </a:p>
        </p:txBody>
      </p:sp>
      <p:sp>
        <p:nvSpPr>
          <p:cNvPr id="978" name="Google Shape;978;p61"/>
          <p:cNvSpPr/>
          <p:nvPr/>
        </p:nvSpPr>
        <p:spPr>
          <a:xfrm>
            <a:off x="6246125" y="5691605"/>
            <a:ext cx="632347" cy="307074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/>
          </a:p>
        </p:txBody>
      </p:sp>
      <p:sp>
        <p:nvSpPr>
          <p:cNvPr id="979" name="Google Shape;979;p61"/>
          <p:cNvSpPr/>
          <p:nvPr/>
        </p:nvSpPr>
        <p:spPr>
          <a:xfrm>
            <a:off x="9147980" y="1772532"/>
            <a:ext cx="2941461" cy="307074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80" name="Google Shape;980;p61"/>
          <p:cNvSpPr/>
          <p:nvPr/>
        </p:nvSpPr>
        <p:spPr>
          <a:xfrm>
            <a:off x="9147980" y="1465458"/>
            <a:ext cx="2941461" cy="307074"/>
          </a:xfrm>
          <a:prstGeom prst="rect">
            <a:avLst/>
          </a:prstGeom>
          <a:solidFill>
            <a:schemeClr val="accent3"/>
          </a:solidFill>
          <a:ln cap="rnd" cmpd="sng" w="15875">
            <a:solidFill>
              <a:srgbClr val="A472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81" name="Google Shape;981;p61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Logical and Physical Address – Same Network</a:t>
            </a:r>
            <a:endParaRPr/>
          </a:p>
        </p:txBody>
      </p:sp>
      <p:pic>
        <p:nvPicPr>
          <p:cNvPr id="982" name="Google Shape;982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983" name="Google Shape;983;p61"/>
          <p:cNvSpPr txBox="1"/>
          <p:nvPr/>
        </p:nvSpPr>
        <p:spPr>
          <a:xfrm>
            <a:off x="9116704" y="1157330"/>
            <a:ext cx="3075296" cy="987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Legend: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IP Addresses – </a:t>
            </a: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Numbers</a:t>
            </a:r>
            <a:endParaRPr/>
          </a:p>
          <a:p>
            <a:pPr indent="-285750" lvl="0" marL="285750" marR="0" rtl="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MAC Address – </a:t>
            </a: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Alphabets</a:t>
            </a:r>
            <a:endParaRPr/>
          </a:p>
        </p:txBody>
      </p:sp>
      <p:sp>
        <p:nvSpPr>
          <p:cNvPr id="984" name="Google Shape;984;p61"/>
          <p:cNvSpPr/>
          <p:nvPr/>
        </p:nvSpPr>
        <p:spPr>
          <a:xfrm>
            <a:off x="3623481" y="5513696"/>
            <a:ext cx="320722" cy="307074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85" name="Google Shape;985;p61"/>
          <p:cNvSpPr/>
          <p:nvPr/>
        </p:nvSpPr>
        <p:spPr>
          <a:xfrm>
            <a:off x="3036627" y="1528549"/>
            <a:ext cx="2317928" cy="5094586"/>
          </a:xfrm>
          <a:prstGeom prst="ellipse">
            <a:avLst/>
          </a:prstGeom>
          <a:noFill/>
          <a:ln cap="flat" cmpd="sng" w="381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86" name="Google Shape;986;p61"/>
          <p:cNvSpPr txBox="1"/>
          <p:nvPr/>
        </p:nvSpPr>
        <p:spPr>
          <a:xfrm>
            <a:off x="2597316" y="5681369"/>
            <a:ext cx="10695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Sender</a:t>
            </a:r>
            <a:endParaRPr/>
          </a:p>
        </p:txBody>
      </p:sp>
      <p:sp>
        <p:nvSpPr>
          <p:cNvPr id="987" name="Google Shape;987;p61"/>
          <p:cNvSpPr txBox="1"/>
          <p:nvPr/>
        </p:nvSpPr>
        <p:spPr>
          <a:xfrm>
            <a:off x="2134253" y="2660665"/>
            <a:ext cx="128862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Receiver</a:t>
            </a:r>
            <a:endParaRPr/>
          </a:p>
        </p:txBody>
      </p:sp>
      <p:sp>
        <p:nvSpPr>
          <p:cNvPr id="988" name="Google Shape;988;p61"/>
          <p:cNvSpPr txBox="1"/>
          <p:nvPr/>
        </p:nvSpPr>
        <p:spPr>
          <a:xfrm>
            <a:off x="3998319" y="5627266"/>
            <a:ext cx="58221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3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r>
              <a:rPr b="1" lang="en-US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/</a:t>
            </a:r>
            <a:r>
              <a:rPr b="1" lang="en-US" sz="1800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B</a:t>
            </a:r>
            <a:endParaRPr/>
          </a:p>
        </p:txBody>
      </p:sp>
      <p:sp>
        <p:nvSpPr>
          <p:cNvPr id="989" name="Google Shape;989;p61"/>
          <p:cNvSpPr txBox="1"/>
          <p:nvPr/>
        </p:nvSpPr>
        <p:spPr>
          <a:xfrm>
            <a:off x="3263615" y="4286635"/>
            <a:ext cx="58221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3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r>
              <a:rPr b="1" lang="en-US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/</a:t>
            </a:r>
            <a:r>
              <a:rPr b="1" lang="en-US" sz="1800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C</a:t>
            </a:r>
            <a:endParaRPr/>
          </a:p>
        </p:txBody>
      </p:sp>
      <p:sp>
        <p:nvSpPr>
          <p:cNvPr id="990" name="Google Shape;990;p61"/>
          <p:cNvSpPr txBox="1"/>
          <p:nvPr/>
        </p:nvSpPr>
        <p:spPr>
          <a:xfrm>
            <a:off x="3201631" y="2353594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3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r>
              <a:rPr b="1" lang="en-US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/</a:t>
            </a:r>
            <a:r>
              <a:rPr b="1" lang="en-US" sz="1800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E</a:t>
            </a:r>
            <a:endParaRPr/>
          </a:p>
        </p:txBody>
      </p:sp>
      <p:sp>
        <p:nvSpPr>
          <p:cNvPr id="991" name="Google Shape;991;p61"/>
          <p:cNvSpPr txBox="1"/>
          <p:nvPr/>
        </p:nvSpPr>
        <p:spPr>
          <a:xfrm>
            <a:off x="3845826" y="1528549"/>
            <a:ext cx="58221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3"/>
                </a:solidFill>
                <a:latin typeface="Arial Black"/>
                <a:ea typeface="Arial Black"/>
                <a:cs typeface="Arial Black"/>
                <a:sym typeface="Arial Black"/>
              </a:rPr>
              <a:t>4</a:t>
            </a:r>
            <a:r>
              <a:rPr b="1" lang="en-US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/</a:t>
            </a:r>
            <a:r>
              <a:rPr b="1" lang="en-US" sz="1800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D</a:t>
            </a:r>
            <a:endParaRPr/>
          </a:p>
        </p:txBody>
      </p:sp>
      <p:sp>
        <p:nvSpPr>
          <p:cNvPr id="992" name="Google Shape;992;p61"/>
          <p:cNvSpPr txBox="1"/>
          <p:nvPr/>
        </p:nvSpPr>
        <p:spPr>
          <a:xfrm>
            <a:off x="4775092" y="2896416"/>
            <a:ext cx="58221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3"/>
                </a:solidFill>
                <a:latin typeface="Arial Black"/>
                <a:ea typeface="Arial Black"/>
                <a:cs typeface="Arial Black"/>
                <a:sym typeface="Arial Black"/>
              </a:rPr>
              <a:t>5</a:t>
            </a:r>
            <a:r>
              <a:rPr b="1" lang="en-US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/</a:t>
            </a:r>
            <a:r>
              <a:rPr b="1" lang="en-US" sz="1800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A</a:t>
            </a:r>
            <a:endParaRPr/>
          </a:p>
        </p:txBody>
      </p:sp>
      <p:cxnSp>
        <p:nvCxnSpPr>
          <p:cNvPr id="993" name="Google Shape;993;p61"/>
          <p:cNvCxnSpPr/>
          <p:nvPr/>
        </p:nvCxnSpPr>
        <p:spPr>
          <a:xfrm>
            <a:off x="5061329" y="3138985"/>
            <a:ext cx="56581" cy="232012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94" name="Google Shape;994;p61"/>
          <p:cNvSpPr txBox="1"/>
          <p:nvPr/>
        </p:nvSpPr>
        <p:spPr>
          <a:xfrm>
            <a:off x="4706203" y="5403021"/>
            <a:ext cx="15279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D     S      S      D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9" name="Google Shape;999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2653" y="1066799"/>
            <a:ext cx="6248400" cy="5713412"/>
          </a:xfrm>
          <a:prstGeom prst="rect">
            <a:avLst/>
          </a:prstGeom>
          <a:noFill/>
          <a:ln>
            <a:noFill/>
          </a:ln>
        </p:spPr>
      </p:pic>
      <p:sp>
        <p:nvSpPr>
          <p:cNvPr id="1000" name="Google Shape;1000;p62"/>
          <p:cNvSpPr/>
          <p:nvPr/>
        </p:nvSpPr>
        <p:spPr>
          <a:xfrm>
            <a:off x="4263260" y="1162705"/>
            <a:ext cx="395785" cy="307074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L</a:t>
            </a:r>
            <a:endParaRPr/>
          </a:p>
        </p:txBody>
      </p:sp>
      <p:sp>
        <p:nvSpPr>
          <p:cNvPr id="1001" name="Google Shape;1001;p62"/>
          <p:cNvSpPr/>
          <p:nvPr/>
        </p:nvSpPr>
        <p:spPr>
          <a:xfrm>
            <a:off x="4657055" y="1164176"/>
            <a:ext cx="395785" cy="307074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K</a:t>
            </a:r>
            <a:endParaRPr/>
          </a:p>
        </p:txBody>
      </p:sp>
      <p:sp>
        <p:nvSpPr>
          <p:cNvPr id="1002" name="Google Shape;1002;p62"/>
          <p:cNvSpPr/>
          <p:nvPr/>
        </p:nvSpPr>
        <p:spPr>
          <a:xfrm>
            <a:off x="4267662" y="1159294"/>
            <a:ext cx="395785" cy="307074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G</a:t>
            </a:r>
            <a:endParaRPr/>
          </a:p>
        </p:txBody>
      </p:sp>
      <p:sp>
        <p:nvSpPr>
          <p:cNvPr id="1003" name="Google Shape;1003;p62"/>
          <p:cNvSpPr/>
          <p:nvPr/>
        </p:nvSpPr>
        <p:spPr>
          <a:xfrm>
            <a:off x="4661457" y="1158384"/>
            <a:ext cx="395785" cy="307074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J</a:t>
            </a:r>
            <a:endParaRPr/>
          </a:p>
        </p:txBody>
      </p:sp>
      <p:sp>
        <p:nvSpPr>
          <p:cNvPr id="1004" name="Google Shape;1004;p62"/>
          <p:cNvSpPr/>
          <p:nvPr/>
        </p:nvSpPr>
        <p:spPr>
          <a:xfrm>
            <a:off x="4264727" y="1162705"/>
            <a:ext cx="395785" cy="307074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H</a:t>
            </a:r>
            <a:endParaRPr/>
          </a:p>
        </p:txBody>
      </p:sp>
      <p:sp>
        <p:nvSpPr>
          <p:cNvPr id="1005" name="Google Shape;1005;p62"/>
          <p:cNvSpPr/>
          <p:nvPr/>
        </p:nvSpPr>
        <p:spPr>
          <a:xfrm>
            <a:off x="4658522" y="1161795"/>
            <a:ext cx="395785" cy="307074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F</a:t>
            </a:r>
            <a:endParaRPr/>
          </a:p>
        </p:txBody>
      </p:sp>
      <p:sp>
        <p:nvSpPr>
          <p:cNvPr id="1006" name="Google Shape;1006;p62"/>
          <p:cNvSpPr/>
          <p:nvPr/>
        </p:nvSpPr>
        <p:spPr>
          <a:xfrm>
            <a:off x="4266717" y="1161234"/>
            <a:ext cx="395785" cy="307074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A</a:t>
            </a:r>
            <a:endParaRPr/>
          </a:p>
        </p:txBody>
      </p:sp>
      <p:sp>
        <p:nvSpPr>
          <p:cNvPr id="1007" name="Google Shape;1007;p62"/>
          <p:cNvSpPr/>
          <p:nvPr/>
        </p:nvSpPr>
        <p:spPr>
          <a:xfrm>
            <a:off x="4660512" y="1162705"/>
            <a:ext cx="395785" cy="307074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B</a:t>
            </a:r>
            <a:endParaRPr/>
          </a:p>
        </p:txBody>
      </p:sp>
      <p:sp>
        <p:nvSpPr>
          <p:cNvPr id="1008" name="Google Shape;1008;p62"/>
          <p:cNvSpPr/>
          <p:nvPr/>
        </p:nvSpPr>
        <p:spPr>
          <a:xfrm>
            <a:off x="9148549" y="2080801"/>
            <a:ext cx="2941461" cy="307074"/>
          </a:xfrm>
          <a:prstGeom prst="rect">
            <a:avLst/>
          </a:prstGeom>
          <a:solidFill>
            <a:schemeClr val="accent5"/>
          </a:solidFill>
          <a:ln cap="rnd" cmpd="sng" w="15875">
            <a:solidFill>
              <a:srgbClr val="9C33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09" name="Google Shape;1009;p62"/>
          <p:cNvSpPr/>
          <p:nvPr/>
        </p:nvSpPr>
        <p:spPr>
          <a:xfrm>
            <a:off x="5054307" y="1162706"/>
            <a:ext cx="395785" cy="307074"/>
          </a:xfrm>
          <a:prstGeom prst="rect">
            <a:avLst/>
          </a:prstGeom>
          <a:solidFill>
            <a:schemeClr val="accent3"/>
          </a:solidFill>
          <a:ln cap="rnd" cmpd="sng" w="15875">
            <a:solidFill>
              <a:srgbClr val="A472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/>
          </a:p>
        </p:txBody>
      </p:sp>
      <p:sp>
        <p:nvSpPr>
          <p:cNvPr id="1010" name="Google Shape;1010;p62"/>
          <p:cNvSpPr/>
          <p:nvPr/>
        </p:nvSpPr>
        <p:spPr>
          <a:xfrm>
            <a:off x="5448102" y="1161796"/>
            <a:ext cx="395785" cy="307074"/>
          </a:xfrm>
          <a:prstGeom prst="rect">
            <a:avLst/>
          </a:prstGeom>
          <a:solidFill>
            <a:schemeClr val="accent3"/>
          </a:solidFill>
          <a:ln cap="rnd" cmpd="sng" w="15875">
            <a:solidFill>
              <a:srgbClr val="A472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0</a:t>
            </a:r>
            <a:endParaRPr/>
          </a:p>
        </p:txBody>
      </p:sp>
      <p:sp>
        <p:nvSpPr>
          <p:cNvPr id="1011" name="Google Shape;1011;p62"/>
          <p:cNvSpPr/>
          <p:nvPr/>
        </p:nvSpPr>
        <p:spPr>
          <a:xfrm>
            <a:off x="5843887" y="1161796"/>
            <a:ext cx="395785" cy="307074"/>
          </a:xfrm>
          <a:prstGeom prst="rect">
            <a:avLst/>
          </a:prstGeom>
          <a:solidFill>
            <a:schemeClr val="accent5"/>
          </a:solidFill>
          <a:ln cap="rnd" cmpd="sng" w="15875">
            <a:solidFill>
              <a:srgbClr val="9C33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a</a:t>
            </a:r>
            <a:endParaRPr/>
          </a:p>
        </p:txBody>
      </p:sp>
      <p:sp>
        <p:nvSpPr>
          <p:cNvPr id="1012" name="Google Shape;1012;p62"/>
          <p:cNvSpPr/>
          <p:nvPr/>
        </p:nvSpPr>
        <p:spPr>
          <a:xfrm>
            <a:off x="6237682" y="1161796"/>
            <a:ext cx="395785" cy="307074"/>
          </a:xfrm>
          <a:prstGeom prst="rect">
            <a:avLst/>
          </a:prstGeom>
          <a:solidFill>
            <a:schemeClr val="accent5"/>
          </a:solidFill>
          <a:ln cap="rnd" cmpd="sng" w="15875">
            <a:solidFill>
              <a:srgbClr val="9C33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k</a:t>
            </a:r>
            <a:endParaRPr/>
          </a:p>
        </p:txBody>
      </p:sp>
      <p:sp>
        <p:nvSpPr>
          <p:cNvPr id="1013" name="Google Shape;1013;p62"/>
          <p:cNvSpPr/>
          <p:nvPr/>
        </p:nvSpPr>
        <p:spPr>
          <a:xfrm>
            <a:off x="6632898" y="1163146"/>
            <a:ext cx="632347" cy="307074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/>
          </a:p>
        </p:txBody>
      </p:sp>
      <p:sp>
        <p:nvSpPr>
          <p:cNvPr id="1014" name="Google Shape;1014;p62"/>
          <p:cNvSpPr/>
          <p:nvPr/>
        </p:nvSpPr>
        <p:spPr>
          <a:xfrm>
            <a:off x="9147980" y="1772532"/>
            <a:ext cx="2941461" cy="307074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15" name="Google Shape;1015;p62"/>
          <p:cNvSpPr/>
          <p:nvPr/>
        </p:nvSpPr>
        <p:spPr>
          <a:xfrm>
            <a:off x="9147980" y="1465458"/>
            <a:ext cx="2941461" cy="307074"/>
          </a:xfrm>
          <a:prstGeom prst="rect">
            <a:avLst/>
          </a:prstGeom>
          <a:solidFill>
            <a:schemeClr val="accent3"/>
          </a:solidFill>
          <a:ln cap="rnd" cmpd="sng" w="15875">
            <a:solidFill>
              <a:srgbClr val="A472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16" name="Google Shape;1016;p62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</a:pPr>
            <a:r>
              <a:rPr lang="en-US" sz="3200"/>
              <a:t>Port, Logical &amp; Physical Address – Different Network</a:t>
            </a:r>
            <a:endParaRPr/>
          </a:p>
        </p:txBody>
      </p:sp>
      <p:pic>
        <p:nvPicPr>
          <p:cNvPr id="1017" name="Google Shape;1017;p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018" name="Google Shape;1018;p62"/>
          <p:cNvSpPr txBox="1"/>
          <p:nvPr/>
        </p:nvSpPr>
        <p:spPr>
          <a:xfrm>
            <a:off x="9127424" y="794193"/>
            <a:ext cx="3075296" cy="1559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Legend: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IP Addresses – </a:t>
            </a:r>
            <a:r>
              <a:rPr b="1" lang="en-US" sz="1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Numbers</a:t>
            </a:r>
            <a:endParaRPr/>
          </a:p>
          <a:p>
            <a:pPr indent="-285750" lvl="0" marL="285750" marR="0" rtl="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MAC Address – </a:t>
            </a:r>
            <a:r>
              <a:rPr b="1" lang="en-US" sz="1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Capital Alphabets</a:t>
            </a:r>
            <a:endParaRPr/>
          </a:p>
          <a:p>
            <a:pPr indent="-285750" lvl="0" marL="285750" marR="0" rtl="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Port Address</a:t>
            </a:r>
            <a:r>
              <a:rPr b="1" lang="en-US" sz="1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– Small Alphabets</a:t>
            </a:r>
            <a:endParaRPr/>
          </a:p>
        </p:txBody>
      </p:sp>
      <p:sp>
        <p:nvSpPr>
          <p:cNvPr id="1019" name="Google Shape;1019;p62"/>
          <p:cNvSpPr txBox="1"/>
          <p:nvPr/>
        </p:nvSpPr>
        <p:spPr>
          <a:xfrm>
            <a:off x="2297068" y="5847420"/>
            <a:ext cx="10695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Sender</a:t>
            </a:r>
            <a:endParaRPr/>
          </a:p>
        </p:txBody>
      </p:sp>
      <p:sp>
        <p:nvSpPr>
          <p:cNvPr id="1020" name="Google Shape;1020;p62"/>
          <p:cNvSpPr txBox="1"/>
          <p:nvPr/>
        </p:nvSpPr>
        <p:spPr>
          <a:xfrm>
            <a:off x="8651062" y="5403021"/>
            <a:ext cx="128862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Receiver</a:t>
            </a:r>
            <a:endParaRPr/>
          </a:p>
        </p:txBody>
      </p:sp>
      <p:sp>
        <p:nvSpPr>
          <p:cNvPr id="1021" name="Google Shape;1021;p62"/>
          <p:cNvSpPr txBox="1"/>
          <p:nvPr/>
        </p:nvSpPr>
        <p:spPr>
          <a:xfrm>
            <a:off x="3595168" y="5791201"/>
            <a:ext cx="58221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3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r>
              <a:rPr b="1" lang="en-US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/</a:t>
            </a:r>
            <a:r>
              <a:rPr b="1" lang="en-US" sz="1800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B</a:t>
            </a:r>
            <a:endParaRPr/>
          </a:p>
        </p:txBody>
      </p:sp>
      <p:sp>
        <p:nvSpPr>
          <p:cNvPr id="1022" name="Google Shape;1022;p62"/>
          <p:cNvSpPr txBox="1"/>
          <p:nvPr/>
        </p:nvSpPr>
        <p:spPr>
          <a:xfrm>
            <a:off x="2894970" y="4382236"/>
            <a:ext cx="58221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3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r>
              <a:rPr b="1" lang="en-US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/</a:t>
            </a:r>
            <a:r>
              <a:rPr b="1" lang="en-US" sz="1800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C</a:t>
            </a:r>
            <a:endParaRPr/>
          </a:p>
        </p:txBody>
      </p:sp>
      <p:sp>
        <p:nvSpPr>
          <p:cNvPr id="1023" name="Google Shape;1023;p62"/>
          <p:cNvSpPr txBox="1"/>
          <p:nvPr/>
        </p:nvSpPr>
        <p:spPr>
          <a:xfrm>
            <a:off x="2831830" y="2291098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3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r>
              <a:rPr b="1" lang="en-US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/</a:t>
            </a:r>
            <a:r>
              <a:rPr b="1" lang="en-US" sz="1800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E</a:t>
            </a:r>
            <a:endParaRPr/>
          </a:p>
        </p:txBody>
      </p:sp>
      <p:sp>
        <p:nvSpPr>
          <p:cNvPr id="1024" name="Google Shape;1024;p62"/>
          <p:cNvSpPr txBox="1"/>
          <p:nvPr/>
        </p:nvSpPr>
        <p:spPr>
          <a:xfrm>
            <a:off x="3496301" y="1403200"/>
            <a:ext cx="58221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3"/>
                </a:solidFill>
                <a:latin typeface="Arial Black"/>
                <a:ea typeface="Arial Black"/>
                <a:cs typeface="Arial Black"/>
                <a:sym typeface="Arial Black"/>
              </a:rPr>
              <a:t>4</a:t>
            </a:r>
            <a:r>
              <a:rPr b="1" lang="en-US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/</a:t>
            </a:r>
            <a:r>
              <a:rPr b="1" lang="en-US" sz="1800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D</a:t>
            </a:r>
            <a:endParaRPr/>
          </a:p>
        </p:txBody>
      </p:sp>
      <p:sp>
        <p:nvSpPr>
          <p:cNvPr id="1025" name="Google Shape;1025;p62"/>
          <p:cNvSpPr txBox="1"/>
          <p:nvPr/>
        </p:nvSpPr>
        <p:spPr>
          <a:xfrm>
            <a:off x="4472096" y="2875002"/>
            <a:ext cx="58221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3"/>
                </a:solidFill>
                <a:latin typeface="Arial Black"/>
                <a:ea typeface="Arial Black"/>
                <a:cs typeface="Arial Black"/>
                <a:sym typeface="Arial Black"/>
              </a:rPr>
              <a:t>5</a:t>
            </a:r>
            <a:r>
              <a:rPr b="1" lang="en-US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/</a:t>
            </a:r>
            <a:r>
              <a:rPr b="1" lang="en-US" sz="1800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A</a:t>
            </a:r>
            <a:endParaRPr/>
          </a:p>
        </p:txBody>
      </p:sp>
      <p:cxnSp>
        <p:nvCxnSpPr>
          <p:cNvPr id="1026" name="Google Shape;1026;p62"/>
          <p:cNvCxnSpPr/>
          <p:nvPr/>
        </p:nvCxnSpPr>
        <p:spPr>
          <a:xfrm>
            <a:off x="4761081" y="3138985"/>
            <a:ext cx="56581" cy="232012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27" name="Google Shape;1027;p62"/>
          <p:cNvSpPr txBox="1"/>
          <p:nvPr/>
        </p:nvSpPr>
        <p:spPr>
          <a:xfrm>
            <a:off x="4405955" y="5403021"/>
            <a:ext cx="15279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D     S      S      D</a:t>
            </a:r>
            <a:endParaRPr/>
          </a:p>
        </p:txBody>
      </p:sp>
      <p:sp>
        <p:nvSpPr>
          <p:cNvPr id="1028" name="Google Shape;1028;p62"/>
          <p:cNvSpPr txBox="1"/>
          <p:nvPr/>
        </p:nvSpPr>
        <p:spPr>
          <a:xfrm>
            <a:off x="5389608" y="3769680"/>
            <a:ext cx="5565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3"/>
                </a:solidFill>
                <a:latin typeface="Arial Black"/>
                <a:ea typeface="Arial Black"/>
                <a:cs typeface="Arial Black"/>
                <a:sym typeface="Arial Black"/>
              </a:rPr>
              <a:t>6</a:t>
            </a:r>
            <a:r>
              <a:rPr b="1" lang="en-US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/</a:t>
            </a:r>
            <a:r>
              <a:rPr b="1" lang="en-US" sz="1800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F</a:t>
            </a:r>
            <a:endParaRPr/>
          </a:p>
        </p:txBody>
      </p:sp>
      <p:sp>
        <p:nvSpPr>
          <p:cNvPr id="1029" name="Google Shape;1029;p62"/>
          <p:cNvSpPr txBox="1"/>
          <p:nvPr/>
        </p:nvSpPr>
        <p:spPr>
          <a:xfrm>
            <a:off x="5964995" y="2954319"/>
            <a:ext cx="59503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3"/>
                </a:solidFill>
                <a:latin typeface="Arial Black"/>
                <a:ea typeface="Arial Black"/>
                <a:cs typeface="Arial Black"/>
                <a:sym typeface="Arial Black"/>
              </a:rPr>
              <a:t>9</a:t>
            </a:r>
            <a:r>
              <a:rPr b="1" lang="en-US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/</a:t>
            </a:r>
            <a:r>
              <a:rPr b="1" lang="en-US" sz="1800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H</a:t>
            </a:r>
            <a:endParaRPr/>
          </a:p>
        </p:txBody>
      </p:sp>
      <p:sp>
        <p:nvSpPr>
          <p:cNvPr id="1030" name="Google Shape;1030;p62"/>
          <p:cNvSpPr txBox="1"/>
          <p:nvPr/>
        </p:nvSpPr>
        <p:spPr>
          <a:xfrm>
            <a:off x="7185330" y="3914995"/>
            <a:ext cx="5565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3"/>
                </a:solidFill>
                <a:latin typeface="Arial Black"/>
                <a:ea typeface="Arial Black"/>
                <a:cs typeface="Arial Black"/>
                <a:sym typeface="Arial Black"/>
              </a:rPr>
              <a:t>8</a:t>
            </a:r>
            <a:r>
              <a:rPr b="1" lang="en-US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/</a:t>
            </a:r>
            <a:r>
              <a:rPr b="1" lang="en-US" sz="1800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J</a:t>
            </a:r>
            <a:endParaRPr/>
          </a:p>
        </p:txBody>
      </p:sp>
      <p:sp>
        <p:nvSpPr>
          <p:cNvPr id="1031" name="Google Shape;1031;p62"/>
          <p:cNvSpPr txBox="1"/>
          <p:nvPr/>
        </p:nvSpPr>
        <p:spPr>
          <a:xfrm>
            <a:off x="5510791" y="4273609"/>
            <a:ext cx="59503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3"/>
                </a:solidFill>
                <a:latin typeface="Arial Black"/>
                <a:ea typeface="Arial Black"/>
                <a:cs typeface="Arial Black"/>
                <a:sym typeface="Arial Black"/>
              </a:rPr>
              <a:t>7</a:t>
            </a:r>
            <a:r>
              <a:rPr b="1" lang="en-US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/</a:t>
            </a:r>
            <a:r>
              <a:rPr b="1" lang="en-US" sz="1800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G</a:t>
            </a:r>
            <a:endParaRPr/>
          </a:p>
        </p:txBody>
      </p:sp>
      <p:sp>
        <p:nvSpPr>
          <p:cNvPr id="1032" name="Google Shape;1032;p62"/>
          <p:cNvSpPr txBox="1"/>
          <p:nvPr/>
        </p:nvSpPr>
        <p:spPr>
          <a:xfrm>
            <a:off x="6312356" y="5478088"/>
            <a:ext cx="74892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3"/>
                </a:solidFill>
                <a:latin typeface="Arial Black"/>
                <a:ea typeface="Arial Black"/>
                <a:cs typeface="Arial Black"/>
                <a:sym typeface="Arial Black"/>
              </a:rPr>
              <a:t>10</a:t>
            </a:r>
            <a:r>
              <a:rPr b="1" lang="en-US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/</a:t>
            </a:r>
            <a:r>
              <a:rPr b="1" lang="en-US" sz="1800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K</a:t>
            </a:r>
            <a:endParaRPr/>
          </a:p>
        </p:txBody>
      </p:sp>
      <p:sp>
        <p:nvSpPr>
          <p:cNvPr id="1033" name="Google Shape;1033;p62"/>
          <p:cNvSpPr txBox="1"/>
          <p:nvPr/>
        </p:nvSpPr>
        <p:spPr>
          <a:xfrm>
            <a:off x="8193959" y="5033688"/>
            <a:ext cx="5565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3"/>
                </a:solidFill>
                <a:latin typeface="Arial Black"/>
                <a:ea typeface="Arial Black"/>
                <a:cs typeface="Arial Black"/>
                <a:sym typeface="Arial Black"/>
              </a:rPr>
              <a:t>0</a:t>
            </a:r>
            <a:r>
              <a:rPr b="1" lang="en-US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/</a:t>
            </a:r>
            <a:r>
              <a:rPr b="1" lang="en-US" sz="1800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L</a:t>
            </a:r>
            <a:endParaRPr/>
          </a:p>
        </p:txBody>
      </p:sp>
      <p:sp>
        <p:nvSpPr>
          <p:cNvPr id="1034" name="Google Shape;1034;p62"/>
          <p:cNvSpPr/>
          <p:nvPr/>
        </p:nvSpPr>
        <p:spPr>
          <a:xfrm>
            <a:off x="3801407" y="6296639"/>
            <a:ext cx="931389" cy="371900"/>
          </a:xfrm>
          <a:prstGeom prst="rect">
            <a:avLst/>
          </a:prstGeom>
          <a:solidFill>
            <a:schemeClr val="accent5"/>
          </a:solidFill>
          <a:ln cap="rnd" cmpd="sng" w="15875">
            <a:solidFill>
              <a:srgbClr val="9C33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Email – 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Web – c</a:t>
            </a:r>
            <a:endParaRPr/>
          </a:p>
        </p:txBody>
      </p:sp>
      <p:sp>
        <p:nvSpPr>
          <p:cNvPr id="1035" name="Google Shape;1035;p62"/>
          <p:cNvSpPr/>
          <p:nvPr/>
        </p:nvSpPr>
        <p:spPr>
          <a:xfrm>
            <a:off x="7957568" y="6232222"/>
            <a:ext cx="931389" cy="371900"/>
          </a:xfrm>
          <a:prstGeom prst="rect">
            <a:avLst/>
          </a:prstGeom>
          <a:solidFill>
            <a:schemeClr val="accent5"/>
          </a:solidFill>
          <a:ln cap="rnd" cmpd="sng" w="15875">
            <a:solidFill>
              <a:srgbClr val="9C33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Email – k</a:t>
            </a:r>
            <a:endParaRPr/>
          </a:p>
        </p:txBody>
      </p:sp>
      <p:cxnSp>
        <p:nvCxnSpPr>
          <p:cNvPr id="1036" name="Google Shape;1036;p62"/>
          <p:cNvCxnSpPr/>
          <p:nvPr/>
        </p:nvCxnSpPr>
        <p:spPr>
          <a:xfrm>
            <a:off x="6435574" y="3221237"/>
            <a:ext cx="197324" cy="132824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37" name="Google Shape;1037;p62"/>
          <p:cNvCxnSpPr/>
          <p:nvPr/>
        </p:nvCxnSpPr>
        <p:spPr>
          <a:xfrm rot="10800000">
            <a:off x="5510792" y="3605330"/>
            <a:ext cx="71142" cy="266209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38" name="Google Shape;1038;p62"/>
          <p:cNvCxnSpPr/>
          <p:nvPr/>
        </p:nvCxnSpPr>
        <p:spPr>
          <a:xfrm rot="10800000">
            <a:off x="6835911" y="3708280"/>
            <a:ext cx="397598" cy="297338"/>
          </a:xfrm>
          <a:prstGeom prst="straightConnector1">
            <a:avLst/>
          </a:prstGeom>
          <a:noFill/>
          <a:ln cap="flat" cmpd="sng" w="38100">
            <a:solidFill>
              <a:srgbClr val="13FF1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39" name="Google Shape;1039;p62"/>
          <p:cNvCxnSpPr>
            <a:stCxn id="1031" idx="3"/>
          </p:cNvCxnSpPr>
          <p:nvPr/>
        </p:nvCxnSpPr>
        <p:spPr>
          <a:xfrm>
            <a:off x="6105826" y="4458275"/>
            <a:ext cx="276000" cy="108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40" name="Google Shape;1040;p62"/>
          <p:cNvCxnSpPr/>
          <p:nvPr/>
        </p:nvCxnSpPr>
        <p:spPr>
          <a:xfrm rot="10800000">
            <a:off x="6693194" y="5033688"/>
            <a:ext cx="200567" cy="450876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41" name="Google Shape;1041;p62"/>
          <p:cNvSpPr txBox="1"/>
          <p:nvPr/>
        </p:nvSpPr>
        <p:spPr>
          <a:xfrm>
            <a:off x="4289936" y="1444088"/>
            <a:ext cx="23157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D      S      S     D      S     D</a:t>
            </a:r>
            <a:endParaRPr/>
          </a:p>
        </p:txBody>
      </p:sp>
      <p:sp>
        <p:nvSpPr>
          <p:cNvPr id="1042" name="Google Shape;1042;p62"/>
          <p:cNvSpPr/>
          <p:nvPr/>
        </p:nvSpPr>
        <p:spPr>
          <a:xfrm>
            <a:off x="3067050" y="5648325"/>
            <a:ext cx="429251" cy="36933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43" name="Google Shape;1043;p62"/>
          <p:cNvSpPr/>
          <p:nvPr/>
        </p:nvSpPr>
        <p:spPr>
          <a:xfrm>
            <a:off x="4806324" y="3487051"/>
            <a:ext cx="429251" cy="36933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44" name="Google Shape;1044;p62"/>
          <p:cNvSpPr/>
          <p:nvPr/>
        </p:nvSpPr>
        <p:spPr>
          <a:xfrm>
            <a:off x="6929551" y="3102983"/>
            <a:ext cx="429251" cy="36933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45" name="Google Shape;1045;p62"/>
          <p:cNvSpPr/>
          <p:nvPr/>
        </p:nvSpPr>
        <p:spPr>
          <a:xfrm>
            <a:off x="6364226" y="4545297"/>
            <a:ext cx="429251" cy="36933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0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0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0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0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0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0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0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0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0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p63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Addressing – Review</a:t>
            </a:r>
            <a:endParaRPr/>
          </a:p>
        </p:txBody>
      </p:sp>
      <p:pic>
        <p:nvPicPr>
          <p:cNvPr id="1051" name="Google Shape;1051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052" name="Google Shape;1052;p63"/>
          <p:cNvSpPr txBox="1"/>
          <p:nvPr>
            <p:ph idx="1" type="body"/>
          </p:nvPr>
        </p:nvSpPr>
        <p:spPr>
          <a:xfrm>
            <a:off x="1484310" y="1153237"/>
            <a:ext cx="10018713" cy="46379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Although physical addresses change from hop to hop, logical and port addresses remain the same from the source to destination. </a:t>
            </a:r>
            <a:endParaRPr/>
          </a:p>
          <a:p>
            <a:pPr indent="-64770" lvl="0" marL="285750" rtl="0" algn="l"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pic>
        <p:nvPicPr>
          <p:cNvPr id="1053" name="Google Shape;1053;p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50466" y="2090382"/>
            <a:ext cx="5486400" cy="41132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p64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The End</a:t>
            </a:r>
            <a:endParaRPr/>
          </a:p>
        </p:txBody>
      </p:sp>
      <p:sp>
        <p:nvSpPr>
          <p:cNvPr id="1059" name="Google Shape;1059;p64"/>
          <p:cNvSpPr txBox="1"/>
          <p:nvPr>
            <p:ph idx="1" type="body"/>
          </p:nvPr>
        </p:nvSpPr>
        <p:spPr>
          <a:xfrm>
            <a:off x="1484310" y="1434775"/>
            <a:ext cx="9927155" cy="52458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b="1" lang="en-US"/>
              <a:t>References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[1] Chapter 2, The McGraw-Hill Companies, Inc.</a:t>
            </a:r>
            <a:endParaRPr b="1"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[2] Chapter 3,The McGraw-Hill Companies, Inc.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[3] CCNA 1, CISCO.</a:t>
            </a:r>
            <a:endParaRPr/>
          </a:p>
        </p:txBody>
      </p:sp>
      <p:pic>
        <p:nvPicPr>
          <p:cNvPr id="1060" name="Google Shape;1060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llax">
  <a:themeElements>
    <a:clrScheme name="Parallax">
      <a:dk1>
        <a:srgbClr val="000000"/>
      </a:dk1>
      <a:lt1>
        <a:srgbClr val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2020-06-17T13:03:26Z</dcterms:created>
  <dc:creator>Arif Shakil</dc:creator>
</cp:coreProperties>
</file>