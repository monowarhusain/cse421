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Garamond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Gill Sans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sprLswyhFZQ0vpCCraE4FC/hf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29A7F-F720-44D2-8603-B4272F603577}">
  <a:tblStyle styleId="{00229A7F-F720-44D2-8603-B4272F603577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42F231B-C61A-43B8-986E-931B73D91EA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4937F8B-14D9-4725-9578-A32424F4605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5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7.xml"/><Relationship Id="rId44" Type="http://schemas.openxmlformats.org/officeDocument/2006/relationships/font" Target="fonts/GillSans-regular.fntdata"/><Relationship Id="rId21" Type="http://schemas.openxmlformats.org/officeDocument/2006/relationships/slide" Target="slides/slide16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Gill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bold.fntdata"/><Relationship Id="rId14" Type="http://schemas.openxmlformats.org/officeDocument/2006/relationships/slide" Target="slides/slide9.xml"/><Relationship Id="rId36" Type="http://schemas.openxmlformats.org/officeDocument/2006/relationships/font" Target="fonts/Garamond-regular.fntdata"/><Relationship Id="rId17" Type="http://schemas.openxmlformats.org/officeDocument/2006/relationships/slide" Target="slides/slide12.xml"/><Relationship Id="rId39" Type="http://schemas.openxmlformats.org/officeDocument/2006/relationships/font" Target="fonts/Garamond-boldItalic.fntdata"/><Relationship Id="rId16" Type="http://schemas.openxmlformats.org/officeDocument/2006/relationships/slide" Target="slides/slide11.xml"/><Relationship Id="rId38" Type="http://schemas.openxmlformats.org/officeDocument/2006/relationships/font" Target="fonts/Garamon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9" name="Google Shape;8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5" name="Google Shape;8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1" name="Google Shape;9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2" name="Google Shape;9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674c0d7ef2_0_174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g2674c0d7ef2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674c0d7ef2_0_46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2674c0d7ef2_0_4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674c0d7ef2_0_476:notes"/>
          <p:cNvSpPr txBox="1"/>
          <p:nvPr/>
        </p:nvSpPr>
        <p:spPr>
          <a:xfrm>
            <a:off x="3883998" y="8684971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2674c0d7ef2_0_4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9" name="Google Shape;939;g2674c0d7ef2_0_476:notes"/>
          <p:cNvSpPr txBox="1"/>
          <p:nvPr>
            <p:ph idx="1" type="body"/>
          </p:nvPr>
        </p:nvSpPr>
        <p:spPr>
          <a:xfrm>
            <a:off x="914833" y="4344692"/>
            <a:ext cx="5028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None/>
            </a:pPr>
            <a:r>
              <a:rPr lang="en-US">
                <a:solidFill>
                  <a:srgbClr val="FFFF00"/>
                </a:solidFill>
              </a:rPr>
              <a:t>DNS and the Browser: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>
                <a:solidFill>
                  <a:srgbClr val="000000"/>
                </a:solidFill>
              </a:rPr>
              <a:t>First, a domain name or URL is entered in the address field of the browser.  The browser passes the name to the resolver.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6786a775ea_0_10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8" name="Google Shape;958;g26786a775e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8" name="Google Shape;9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674c0d7ef2_0_568:notes"/>
          <p:cNvSpPr txBox="1"/>
          <p:nvPr>
            <p:ph idx="1" type="body"/>
          </p:nvPr>
        </p:nvSpPr>
        <p:spPr>
          <a:xfrm>
            <a:off x="685316" y="4344692"/>
            <a:ext cx="54873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g2674c0d7ef2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6" name="Google Shape;10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" name="Google Shape;10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8" name="Google Shape;1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9" name="Google Shape;1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11fc78923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g11fc78923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0" name="Google Shape;1400;g11fc78923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8" name="Google Shape;14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9" name="Google Shape;140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7" name="Google Shape;1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1" name="Google Shape;143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1fc789235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11fc789235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9" name="Google Shape;1439;g11fc789235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32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711200" y="16002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2" type="body"/>
          </p:nvPr>
        </p:nvSpPr>
        <p:spPr>
          <a:xfrm>
            <a:off x="711200" y="4000500"/>
            <a:ext cx="103632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4" name="Google Shape;74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5" name="Google Shape;75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6" name="Google Shape;76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2" name="Google Shape;82;p37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8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9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9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7" name="Google Shape;9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0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3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43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4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4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0" name="Google Shape;140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6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6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6" name="Google Shape;146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slide" Target="/ppt/slides/slide1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3.jp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(Electronic Mail &amp;DNS)</a:t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3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/>
          <p:nvPr/>
        </p:nvSpPr>
        <p:spPr>
          <a:xfrm>
            <a:off x="6772275" y="6195385"/>
            <a:ext cx="5000625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All material copyright 1996-2020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J.F Kurose and K.W. Ross, All Rights Reserved</a:t>
            </a:r>
            <a:endParaRPr b="0" i="0" sz="1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1484309" y="1877029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Principles of network applications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Web and HTTP</a:t>
            </a:r>
            <a:endParaRPr sz="36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Electronic mail</a:t>
            </a:r>
            <a:endParaRPr sz="3600"/>
          </a:p>
          <a:p>
            <a:pPr indent="-342900" lvl="1" marL="793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b="1" lang="en-US" sz="3600">
                <a:solidFill>
                  <a:srgbClr val="7D28CD"/>
                </a:solidFill>
              </a:rPr>
              <a:t>SMTP, POP3, IMAP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3600"/>
              <a:t>DNS</a:t>
            </a:r>
            <a:endParaRPr sz="3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1306924" y="426530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Application Layer :Objectives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/>
          <p:nvPr/>
        </p:nvSpPr>
        <p:spPr>
          <a:xfrm>
            <a:off x="955094" y="1114425"/>
            <a:ext cx="5589444" cy="196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36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major components: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agents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mail transfer protocol: SMTP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173" name="Google Shape;173;p3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3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75" name="Google Shape;175;p3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p3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3" name="Google Shape;183;p3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7241455" y="1311150"/>
            <a:ext cx="3138487" cy="3595688"/>
            <a:chOff x="7241455" y="1234950"/>
            <a:chExt cx="3138487" cy="359568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9233767" y="2182687"/>
              <a:ext cx="1146175" cy="1247776"/>
              <a:chOff x="9233767" y="2182687"/>
              <a:chExt cx="1146175" cy="1247776"/>
            </a:xfrm>
          </p:grpSpPr>
          <p:grpSp>
            <p:nvGrpSpPr>
              <p:cNvPr id="187" name="Google Shape;187;p3"/>
              <p:cNvGrpSpPr/>
              <p:nvPr/>
            </p:nvGrpSpPr>
            <p:grpSpPr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188" name="Google Shape;1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3" name="Google Shape;1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194" name="Google Shape;1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5" name="Google Shape;1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96" name="Google Shape;1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7" name="Google Shape;1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198" name="Google Shape;1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" name="Google Shape;1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0" name="Google Shape;2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2" name="Google Shape;2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03" name="Google Shape;2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5" name="Google Shape;2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6" name="Google Shape;2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07" name="Google Shape;2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9" name="Google Shape;2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" name="Google Shape;220;p3"/>
              <p:cNvGrpSpPr/>
              <p:nvPr/>
            </p:nvGrpSpPr>
            <p:grpSpPr>
              <a:xfrm>
                <a:off x="9424267" y="2381125"/>
                <a:ext cx="955675" cy="1049338"/>
                <a:chOff x="4296" y="2627"/>
                <a:chExt cx="602" cy="661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4" name="Google Shape;2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31" name="Google Shape;2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" name="Google Shape;236;p3"/>
            <p:cNvGrpSpPr/>
            <p:nvPr/>
          </p:nvGrpSpPr>
          <p:grpSpPr>
            <a:xfrm>
              <a:off x="7241455" y="3576512"/>
              <a:ext cx="1138237" cy="1254126"/>
              <a:chOff x="7241455" y="3576512"/>
              <a:chExt cx="1138237" cy="1254126"/>
            </a:xfrm>
          </p:grpSpPr>
          <p:grpSp>
            <p:nvGrpSpPr>
              <p:cNvPr id="237" name="Google Shape;237;p3"/>
              <p:cNvGrpSpPr/>
              <p:nvPr/>
            </p:nvGrpSpPr>
            <p:grpSpPr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238" name="Google Shape;23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3" name="Google Shape;24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44" name="Google Shape;24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6" name="Google Shape;24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47" name="Google Shape;24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0" name="Google Shape;25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2" name="Google Shape;25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253" name="Google Shape;25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4" name="Google Shape;25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5" name="Google Shape;25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6" name="Google Shape;25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257" name="Google Shape;25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9" name="Google Shape;25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0" name="Google Shape;26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" name="Google Shape;26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" name="Google Shape;26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5" name="Google Shape;26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" name="Google Shape;26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" name="Google Shape;26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" name="Google Shape;26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9" name="Google Shape;26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0" name="Google Shape;270;p3"/>
              <p:cNvGrpSpPr/>
              <p:nvPr/>
            </p:nvGrpSpPr>
            <p:grpSpPr>
              <a:xfrm>
                <a:off x="7424017" y="3781300"/>
                <a:ext cx="955675" cy="1049338"/>
                <a:chOff x="4296" y="2627"/>
                <a:chExt cx="602" cy="661"/>
              </a:xfrm>
            </p:grpSpPr>
            <p:sp>
              <p:nvSpPr>
                <p:cNvPr id="271" name="Google Shape;27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74" name="Google Shape;27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5" name="Google Shape;27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6" name="Google Shape;27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7" name="Google Shape;27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8" name="Google Shape;27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9" name="Google Shape;27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0" name="Google Shape;28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1" name="Google Shape;28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6" name="Google Shape;286;p3"/>
            <p:cNvGrpSpPr/>
            <p:nvPr/>
          </p:nvGrpSpPr>
          <p:grpSpPr>
            <a:xfrm>
              <a:off x="7263680" y="1234950"/>
              <a:ext cx="1116012" cy="1347788"/>
              <a:chOff x="7263680" y="1234950"/>
              <a:chExt cx="1116012" cy="1347788"/>
            </a:xfrm>
          </p:grpSpPr>
          <p:grpSp>
            <p:nvGrpSpPr>
              <p:cNvPr id="287" name="Google Shape;287;p3"/>
              <p:cNvGrpSpPr/>
              <p:nvPr/>
            </p:nvGrpSpPr>
            <p:grpSpPr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288" name="Google Shape;288;p3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3"/>
                <p:cNvSpPr/>
                <p:nvPr/>
              </p:nvSpPr>
              <p:spPr>
                <a:xfrm>
                  <a:off x="4206" y="429"/>
                  <a:ext cx="1046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3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3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3"/>
                <p:cNvSpPr/>
                <p:nvPr/>
              </p:nvSpPr>
              <p:spPr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3" name="Google Shape;293;p3"/>
                <p:cNvGrpSpPr/>
                <p:nvPr/>
              </p:nvGrpSpPr>
              <p:grpSpPr>
                <a:xfrm>
                  <a:off x="4751" y="668"/>
                  <a:ext cx="578" cy="144"/>
                  <a:chOff x="616" y="2568"/>
                  <a:chExt cx="721" cy="138"/>
                </a:xfrm>
              </p:grpSpPr>
              <p:sp>
                <p:nvSpPr>
                  <p:cNvPr id="294" name="Google Shape;294;p3"/>
                  <p:cNvSpPr/>
                  <p:nvPr/>
                </p:nvSpPr>
                <p:spPr>
                  <a:xfrm>
                    <a:off x="616" y="2568"/>
                    <a:ext cx="721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3"/>
                  <p:cNvSpPr/>
                  <p:nvPr/>
                </p:nvSpPr>
                <p:spPr>
                  <a:xfrm>
                    <a:off x="634" y="2583"/>
                    <a:ext cx="685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6" name="Google Shape;296;p3"/>
                <p:cNvSpPr/>
                <p:nvPr/>
              </p:nvSpPr>
              <p:spPr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7" name="Google Shape;297;p3"/>
                <p:cNvGrpSpPr/>
                <p:nvPr/>
              </p:nvGrpSpPr>
              <p:grpSpPr>
                <a:xfrm>
                  <a:off x="4746" y="992"/>
                  <a:ext cx="583" cy="138"/>
                  <a:chOff x="613" y="2566"/>
                  <a:chExt cx="727" cy="143"/>
                </a:xfrm>
              </p:grpSpPr>
              <p:sp>
                <p:nvSpPr>
                  <p:cNvPr id="298" name="Google Shape;298;p3"/>
                  <p:cNvSpPr/>
                  <p:nvPr/>
                </p:nvSpPr>
                <p:spPr>
                  <a:xfrm>
                    <a:off x="613" y="2566"/>
                    <a:ext cx="727" cy="143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3"/>
                  <p:cNvSpPr/>
                  <p:nvPr/>
                </p:nvSpPr>
                <p:spPr>
                  <a:xfrm>
                    <a:off x="630" y="2583"/>
                    <a:ext cx="691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0" name="Google Shape;300;p3"/>
                <p:cNvSpPr/>
                <p:nvPr/>
              </p:nvSpPr>
              <p:spPr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3"/>
                <p:cNvSpPr/>
                <p:nvPr/>
              </p:nvSpPr>
              <p:spPr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2" name="Google Shape;302;p3"/>
                <p:cNvGrpSpPr/>
                <p:nvPr/>
              </p:nvGrpSpPr>
              <p:grpSpPr>
                <a:xfrm>
                  <a:off x="4737" y="1629"/>
                  <a:ext cx="582" cy="149"/>
                  <a:chOff x="616" y="2570"/>
                  <a:chExt cx="725" cy="137"/>
                </a:xfrm>
              </p:grpSpPr>
              <p:sp>
                <p:nvSpPr>
                  <p:cNvPr id="303" name="Google Shape;303;p3"/>
                  <p:cNvSpPr/>
                  <p:nvPr/>
                </p:nvSpPr>
                <p:spPr>
                  <a:xfrm>
                    <a:off x="616" y="2570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3"/>
                  <p:cNvSpPr/>
                  <p:nvPr/>
                </p:nvSpPr>
                <p:spPr>
                  <a:xfrm>
                    <a:off x="634" y="2585"/>
                    <a:ext cx="690" cy="108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5" name="Google Shape;305;p3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6" name="Google Shape;306;p3"/>
                <p:cNvGrpSpPr/>
                <p:nvPr/>
              </p:nvGrpSpPr>
              <p:grpSpPr>
                <a:xfrm>
                  <a:off x="4751" y="1327"/>
                  <a:ext cx="564" cy="138"/>
                  <a:chOff x="629" y="2568"/>
                  <a:chExt cx="702" cy="138"/>
                </a:xfrm>
              </p:grpSpPr>
              <p:sp>
                <p:nvSpPr>
                  <p:cNvPr id="307" name="Google Shape;307;p3"/>
                  <p:cNvSpPr/>
                  <p:nvPr/>
                </p:nvSpPr>
                <p:spPr>
                  <a:xfrm>
                    <a:off x="629" y="2568"/>
                    <a:ext cx="702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3"/>
                  <p:cNvSpPr/>
                  <p:nvPr/>
                </p:nvSpPr>
                <p:spPr>
                  <a:xfrm>
                    <a:off x="634" y="2584"/>
                    <a:ext cx="672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204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9" name="Google Shape;309;p3"/>
                <p:cNvSpPr/>
                <p:nvPr/>
              </p:nvSpPr>
              <p:spPr>
                <a:xfrm>
                  <a:off x="5248" y="429"/>
                  <a:ext cx="71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3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3"/>
                <p:cNvSpPr/>
                <p:nvPr/>
              </p:nvSpPr>
              <p:spPr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3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3"/>
                <p:cNvSpPr/>
                <p:nvPr/>
              </p:nvSpPr>
              <p:spPr>
                <a:xfrm>
                  <a:off x="4140" y="2676"/>
                  <a:ext cx="1198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4206" y="2713"/>
                  <a:ext cx="1070" cy="8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3"/>
              <p:cNvGrpSpPr/>
              <p:nvPr/>
            </p:nvGrpSpPr>
            <p:grpSpPr>
              <a:xfrm>
                <a:off x="7424017" y="1533400"/>
                <a:ext cx="955675" cy="1049338"/>
                <a:chOff x="4296" y="2627"/>
                <a:chExt cx="602" cy="661"/>
              </a:xfrm>
            </p:grpSpPr>
            <p:sp>
              <p:nvSpPr>
                <p:cNvPr id="321" name="Google Shape;321;p3"/>
                <p:cNvSpPr/>
                <p:nvPr/>
              </p:nvSpPr>
              <p:spPr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3"/>
                <p:cNvSpPr txBox="1"/>
                <p:nvPr/>
              </p:nvSpPr>
              <p:spPr>
                <a:xfrm>
                  <a:off x="4298" y="2627"/>
                  <a:ext cx="600" cy="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mail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server</a:t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24" name="Google Shape;324;p3"/>
                <p:cNvCxnSpPr/>
                <p:nvPr/>
              </p:nvCxnSpPr>
              <p:spPr>
                <a:xfrm>
                  <a:off x="4369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3"/>
                <p:cNvCxnSpPr/>
                <p:nvPr/>
              </p:nvCxnSpPr>
              <p:spPr>
                <a:xfrm>
                  <a:off x="4478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3"/>
                <p:cNvCxnSpPr/>
                <p:nvPr/>
              </p:nvCxnSpPr>
              <p:spPr>
                <a:xfrm>
                  <a:off x="4533" y="3035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3"/>
                <p:cNvCxnSpPr/>
                <p:nvPr/>
              </p:nvCxnSpPr>
              <p:spPr>
                <a:xfrm>
                  <a:off x="4590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3"/>
                <p:cNvCxnSpPr/>
                <p:nvPr/>
              </p:nvCxnSpPr>
              <p:spPr>
                <a:xfrm>
                  <a:off x="4651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3"/>
                <p:cNvCxnSpPr/>
                <p:nvPr/>
              </p:nvCxnSpPr>
              <p:spPr>
                <a:xfrm>
                  <a:off x="4707" y="3033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3"/>
                <p:cNvCxnSpPr/>
                <p:nvPr/>
              </p:nvCxnSpPr>
              <p:spPr>
                <a:xfrm>
                  <a:off x="4422" y="3034"/>
                  <a:ext cx="0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3"/>
                <p:cNvSpPr/>
                <p:nvPr/>
              </p:nvSpPr>
              <p:spPr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36" name="Google Shape;336;p3"/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337" name="Google Shape;337;p3"/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cxnSp>
            <p:nvCxnSpPr>
              <p:cNvPr id="338" name="Google Shape;338;p3"/>
              <p:cNvCxnSpPr/>
              <p:nvPr/>
            </p:nvCxnSpPr>
            <p:spPr>
              <a:xfrm flipH="1" rot="10800000">
                <a:off x="8262217" y="3125662"/>
                <a:ext cx="1123950" cy="10858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39" name="Google Shape;339;p3"/>
              <p:cNvGrpSpPr/>
              <p:nvPr/>
            </p:nvGrpSpPr>
            <p:grpSpPr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340" name="Google Shape;34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2" name="Google Shape;342;p3"/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cxnSp>
            <p:nvCxnSpPr>
              <p:cNvPr id="343" name="Google Shape;343;p3"/>
              <p:cNvCxnSpPr/>
              <p:nvPr/>
            </p:nvCxnSpPr>
            <p:spPr>
              <a:xfrm>
                <a:off x="8262217" y="2001712"/>
                <a:ext cx="1123950" cy="7905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4" name="Google Shape;344;p3"/>
              <p:cNvGrpSpPr/>
              <p:nvPr/>
            </p:nvGrpSpPr>
            <p:grpSpPr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345" name="Google Shape;345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3"/>
                <p:cNvSpPr txBox="1"/>
                <p:nvPr/>
              </p:nvSpPr>
              <p:spPr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7" name="Google Shape;347;p3"/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cxnSp>
            <p:nvCxnSpPr>
              <p:cNvPr id="348" name="Google Shape;348;p3"/>
              <p:cNvCxnSpPr/>
              <p:nvPr/>
            </p:nvCxnSpPr>
            <p:spPr>
              <a:xfrm rot="10800000">
                <a:off x="7519267" y="2601787"/>
                <a:ext cx="0" cy="124777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349" name="Google Shape;349;p3"/>
              <p:cNvGrpSpPr/>
              <p:nvPr/>
            </p:nvGrpSpPr>
            <p:grpSpPr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350" name="Google Shape;350;p3"/>
                <p:cNvSpPr/>
                <p:nvPr/>
              </p:nvSpPr>
              <p:spPr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38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3"/>
                <p:cNvSpPr txBox="1"/>
                <p:nvPr/>
              </p:nvSpPr>
              <p:spPr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SMTP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2" name="Google Shape;352;p3"/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353" name="Google Shape;353;p3"/>
            <p:cNvGrpSpPr/>
            <p:nvPr/>
          </p:nvGrpSpPr>
          <p:grpSpPr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354" name="Google Shape;35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55" name="Google Shape;35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56" name="Google Shape;35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" name="Google Shape;35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3"/>
            <p:cNvGrpSpPr/>
            <p:nvPr/>
          </p:nvGrpSpPr>
          <p:grpSpPr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360" name="Google Shape;360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1" name="Google Shape;361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2" name="Google Shape;362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3" name="Google Shape;363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3"/>
            <p:cNvGrpSpPr/>
            <p:nvPr/>
          </p:nvGrpSpPr>
          <p:grpSpPr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366" name="Google Shape;366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67" name="Google Shape;367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68" name="Google Shape;368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9" name="Google Shape;369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1" name="Google Shape;371;p3"/>
            <p:cNvGrpSpPr/>
            <p:nvPr/>
          </p:nvGrpSpPr>
          <p:grpSpPr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372" name="Google Shape;372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3" name="Google Shape;373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74" name="Google Shape;374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5" name="Google Shape;375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3"/>
            <p:cNvGrpSpPr/>
            <p:nvPr/>
          </p:nvGrpSpPr>
          <p:grpSpPr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378" name="Google Shape;378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79" name="Google Shape;379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0" name="Google Shape;380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1" name="Google Shape;381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3"/>
            <p:cNvGrpSpPr/>
            <p:nvPr/>
          </p:nvGrpSpPr>
          <p:grpSpPr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384" name="Google Shape;384;p3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385" name="Google Shape;385;p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86" name="Google Shape;386;p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7" name="Google Shape;387;p3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9" name="Google Shape;389;p3"/>
          <p:cNvSpPr txBox="1"/>
          <p:nvPr>
            <p:ph type="title"/>
          </p:nvPr>
        </p:nvSpPr>
        <p:spPr>
          <a:xfrm>
            <a:off x="1990725" y="301625"/>
            <a:ext cx="77724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</a:t>
            </a:r>
            <a:endParaRPr b="1"/>
          </a:p>
        </p:txBody>
      </p:sp>
      <p:sp>
        <p:nvSpPr>
          <p:cNvPr id="390" name="Google Shape;390;p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3"/>
          <p:cNvSpPr txBox="1"/>
          <p:nvPr/>
        </p:nvSpPr>
        <p:spPr>
          <a:xfrm>
            <a:off x="994507" y="3824121"/>
            <a:ext cx="6100010" cy="268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User 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program that is used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composing, editing, reading, forwarding mail messages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Outlook, iPhone mail client, Web browser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4"/>
          <p:cNvGrpSpPr/>
          <p:nvPr/>
        </p:nvGrpSpPr>
        <p:grpSpPr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398" name="Google Shape;398;p4"/>
            <p:cNvSpPr txBox="1"/>
            <p:nvPr/>
          </p:nvSpPr>
          <p:spPr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mailbox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9" name="Google Shape;399;p4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00" name="Google Shape;400;p4"/>
              <p:cNvSpPr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1" name="Google Shape;401;p4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4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4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4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4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4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4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408" name="Google Shape;408;p4"/>
            <p:cNvSpPr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4"/>
            <p:cNvSpPr txBox="1"/>
            <p:nvPr/>
          </p:nvSpPr>
          <p:spPr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outgoing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message queue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4"/>
          <p:cNvGrpSpPr/>
          <p:nvPr/>
        </p:nvGrpSpPr>
        <p:grpSpPr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411" name="Google Shape;411;p4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12" name="Google Shape;412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7" name="Google Shape;417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18" name="Google Shape;418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0" name="Google Shape;420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" name="Google Shape;421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22" name="Google Shape;422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4" name="Google Shape;424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6" name="Google Shape;426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27" name="Google Shape;427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" name="Google Shape;429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31" name="Google Shape;431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3" name="Google Shape;433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4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45" name="Google Shape;445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0" name="Google Shape;450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51" name="Google Shape;451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3" name="Google Shape;453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4" name="Google Shape;454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55" name="Google Shape;455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7" name="Google Shape;457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9" name="Google Shape;459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60" name="Google Shape;460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2" name="Google Shape;462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3" name="Google Shape;463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64" name="Google Shape;464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6" name="Google Shape;466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4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78" name="Google Shape;478;p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3" name="Google Shape;483;p4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84" name="Google Shape;484;p4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4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6" name="Google Shape;486;p4"/>
              <p:cNvSpPr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7" name="Google Shape;487;p4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88" name="Google Shape;488;p4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4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0" name="Google Shape;490;p4"/>
              <p:cNvSpPr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" name="Google Shape;492;p4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93" name="Google Shape;493;p4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4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5" name="Google Shape;495;p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6" name="Google Shape;496;p4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97" name="Google Shape;497;p4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4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4"/>
              <p:cNvSpPr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4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10" name="Google Shape;510;p4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11" name="Google Shape;511;p4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512" name="Google Shape;512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15" name="Google Shape;515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22" name="Google Shape;522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4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528" name="Google Shape;528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31" name="Google Shape;531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6" name="Google Shape;536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7" name="Google Shape;537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8" name="Google Shape;538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4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544" name="Google Shape;544;p4"/>
              <p:cNvSpPr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4"/>
              <p:cNvSpPr txBox="1"/>
              <p:nvPr/>
            </p:nvSpPr>
            <p:spPr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4"/>
              <p:cNvSpPr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47" name="Google Shape;547;p4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4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4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4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4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4"/>
              <p:cNvSpPr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4"/>
              <p:cNvSpPr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4"/>
              <p:cNvSpPr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4"/>
              <p:cNvSpPr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4"/>
              <p:cNvSpPr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59" name="Google Shape;559;p4"/>
            <p:cNvCxnSpPr/>
            <p:nvPr/>
          </p:nvCxnSpPr>
          <p:spPr>
            <a:xfrm flipH="1" rot="10800000">
              <a:off x="3734" y="2350"/>
              <a:ext cx="708" cy="684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0" name="Google Shape;560;p4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561" name="Google Shape;561;p4"/>
            <p:cNvGrpSpPr/>
            <p:nvPr/>
          </p:nvGrpSpPr>
          <p:grpSpPr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562" name="Google Shape;562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4" name="Google Shape;564;p4"/>
            <p:cNvGrpSpPr/>
            <p:nvPr/>
          </p:nvGrpSpPr>
          <p:grpSpPr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565" name="Google Shape;565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4"/>
              <p:cNvSpPr txBox="1"/>
              <p:nvPr/>
            </p:nvSpPr>
            <p:spPr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4"/>
            <p:cNvGrpSpPr/>
            <p:nvPr/>
          </p:nvGrpSpPr>
          <p:grpSpPr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568" name="Google Shape;568;p4"/>
              <p:cNvSpPr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4"/>
              <p:cNvSpPr txBox="1"/>
              <p:nvPr/>
            </p:nvSpPr>
            <p:spPr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SMTP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4"/>
            <p:cNvGrpSpPr/>
            <p:nvPr/>
          </p:nvGrpSpPr>
          <p:grpSpPr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571" name="Google Shape;57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2" name="Google Shape;57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3" name="Google Shape;57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4" name="Google Shape;57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" name="Google Shape;576;p4"/>
            <p:cNvGrpSpPr/>
            <p:nvPr/>
          </p:nvGrpSpPr>
          <p:grpSpPr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577" name="Google Shape;577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78" name="Google Shape;578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9" name="Google Shape;579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0" name="Google Shape;580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4"/>
            <p:cNvGrpSpPr/>
            <p:nvPr/>
          </p:nvGrpSpPr>
          <p:grpSpPr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583" name="Google Shape;583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84" name="Google Shape;584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85" name="Google Shape;585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6" name="Google Shape;586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4"/>
            <p:cNvGrpSpPr/>
            <p:nvPr/>
          </p:nvGrpSpPr>
          <p:grpSpPr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589" name="Google Shape;589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0" name="Google Shape;590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1" name="Google Shape;591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2" name="Google Shape;592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4"/>
            <p:cNvGrpSpPr/>
            <p:nvPr/>
          </p:nvGrpSpPr>
          <p:grpSpPr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595" name="Google Shape;595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596" name="Google Shape;59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8" name="Google Shape;598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4"/>
            <p:cNvGrpSpPr/>
            <p:nvPr/>
          </p:nvGrpSpPr>
          <p:grpSpPr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601" name="Google Shape;601;p4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descr="desktop_computer_stylized_medium" id="602" name="Google Shape;602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03" name="Google Shape;603;p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204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4"/>
              <p:cNvSpPr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cap="flat" cmpd="sng" w="190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4"/>
              <p:cNvSpPr txBox="1"/>
              <p:nvPr/>
            </p:nvSpPr>
            <p:spPr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agent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4"/>
          <p:cNvSpPr txBox="1"/>
          <p:nvPr/>
        </p:nvSpPr>
        <p:spPr>
          <a:xfrm>
            <a:off x="1102924" y="1339068"/>
            <a:ext cx="5674033" cy="234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mail servers: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mailbox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contains incoming messages for 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1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outgoing (to be sent) 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4"/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608" name="Google Shape;608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4"/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613" name="Google Shape;613;p4"/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7" name="Google Shape;617;p4"/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18" name="Google Shape;618;p4"/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4"/>
          <p:cNvSpPr txBox="1"/>
          <p:nvPr/>
        </p:nvSpPr>
        <p:spPr>
          <a:xfrm>
            <a:off x="1900238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Electronic mail: mail servers</a:t>
            </a:r>
            <a:endParaRPr b="1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2" name="Google Shape;622;p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4"/>
          <p:cNvSpPr txBox="1"/>
          <p:nvPr/>
        </p:nvSpPr>
        <p:spPr>
          <a:xfrm>
            <a:off x="942761" y="3868754"/>
            <a:ext cx="6100010" cy="1660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SMTP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between mail servers to send email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6" lvl="0" marL="4111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“server”: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Scenario: Alice sends e-mail to Bob</a:t>
            </a:r>
            <a:endParaRPr sz="4400"/>
          </a:p>
        </p:txBody>
      </p:sp>
      <p:sp>
        <p:nvSpPr>
          <p:cNvPr id="630" name="Google Shape;630;p6"/>
          <p:cNvSpPr txBox="1"/>
          <p:nvPr/>
        </p:nvSpPr>
        <p:spPr>
          <a:xfrm>
            <a:off x="949664" y="1404610"/>
            <a:ext cx="5071156" cy="1153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uses UA to compose e-mail message “to” bob@someschool.edu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6"/>
          <p:cNvSpPr txBox="1"/>
          <p:nvPr/>
        </p:nvSpPr>
        <p:spPr>
          <a:xfrm>
            <a:off x="6638017" y="1329168"/>
            <a:ext cx="5071155" cy="94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4)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client sends Alice’s message over the TCP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32" name="Google Shape;632;p6"/>
          <p:cNvGrpSpPr/>
          <p:nvPr/>
        </p:nvGrpSpPr>
        <p:grpSpPr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633" name="Google Shape;633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634" name="Google Shape;63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5" name="Google Shape;635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6" name="Google Shape;636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"/>
          <p:cNvGrpSpPr/>
          <p:nvPr/>
        </p:nvGrpSpPr>
        <p:grpSpPr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639" name="Google Shape;639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4" name="Google Shape;644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45" name="Google Shape;645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7" name="Google Shape;647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49" name="Google Shape;649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3" name="Google Shape;653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54" name="Google Shape;654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6" name="Google Shape;656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7" name="Google Shape;657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58" name="Google Shape;658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672" name="Google Shape;672;p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6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678" name="Google Shape;678;p6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0" name="Google Shape;680;p6"/>
            <p:cNvSpPr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6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4" name="Google Shape;684;p6"/>
            <p:cNvSpPr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6" name="Google Shape;686;p6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687" name="Google Shape;687;p6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6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9" name="Google Shape;689;p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0" name="Google Shape;690;p6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691" name="Google Shape;691;p6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3" name="Google Shape;693;p6"/>
            <p:cNvSpPr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6"/>
          <p:cNvGrpSpPr/>
          <p:nvPr/>
        </p:nvGrpSpPr>
        <p:grpSpPr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705" name="Google Shape;705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8" name="Google Shape;708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2" name="Google Shape;712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3" name="Google Shape;713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5" name="Google Shape;715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lice" id="720" name="Google Shape;7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21" name="Google Shape;72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2" name="Google Shape;722;p6"/>
          <p:cNvGrpSpPr/>
          <p:nvPr/>
        </p:nvGrpSpPr>
        <p:grpSpPr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723" name="Google Shape;723;p6"/>
            <p:cNvSpPr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6" name="Google Shape;726;p6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7" name="Google Shape;727;p6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8" name="Google Shape;728;p6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9" name="Google Shape;729;p6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0" name="Google Shape;730;p6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1" name="Google Shape;731;p6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2" name="Google Shape;732;p6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3" name="Google Shape;733;p6"/>
            <p:cNvSpPr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8" name="Google Shape;738;p6"/>
          <p:cNvCxnSpPr/>
          <p:nvPr/>
        </p:nvCxnSpPr>
        <p:spPr>
          <a:xfrm>
            <a:off x="3089955" y="5593950"/>
            <a:ext cx="892175" cy="146050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6"/>
          <p:cNvCxnSpPr/>
          <p:nvPr/>
        </p:nvCxnSpPr>
        <p:spPr>
          <a:xfrm>
            <a:off x="4775880" y="5728887"/>
            <a:ext cx="1379537" cy="219075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6"/>
          <p:cNvCxnSpPr/>
          <p:nvPr/>
        </p:nvCxnSpPr>
        <p:spPr>
          <a:xfrm flipH="1" rot="10800000">
            <a:off x="7006317" y="5508225"/>
            <a:ext cx="1027113" cy="4270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6"/>
          <p:cNvSpPr/>
          <p:nvPr/>
        </p:nvSpPr>
        <p:spPr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"/>
          <p:cNvSpPr/>
          <p:nvPr/>
        </p:nvSpPr>
        <p:spPr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6"/>
          <p:cNvSpPr/>
          <p:nvPr/>
        </p:nvSpPr>
        <p:spPr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"/>
          <p:cNvSpPr/>
          <p:nvPr/>
        </p:nvSpPr>
        <p:spPr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6"/>
          <p:cNvSpPr/>
          <p:nvPr/>
        </p:nvSpPr>
        <p:spPr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"/>
          <p:cNvSpPr/>
          <p:nvPr/>
        </p:nvSpPr>
        <p:spPr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"/>
          <p:cNvSpPr txBox="1"/>
          <p:nvPr/>
        </p:nvSpPr>
        <p:spPr>
          <a:xfrm>
            <a:off x="3485242" y="6168625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"/>
          <p:cNvSpPr txBox="1"/>
          <p:nvPr/>
        </p:nvSpPr>
        <p:spPr>
          <a:xfrm>
            <a:off x="5760130" y="6232125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6"/>
          <p:cNvGrpSpPr/>
          <p:nvPr/>
        </p:nvGrpSpPr>
        <p:grpSpPr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750" name="Google Shape;750;p6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descr="desktop_computer_stylized_medium" id="751" name="Google Shape;75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3" name="Google Shape;753;p6"/>
            <p:cNvSpPr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6"/>
          <p:cNvSpPr txBox="1"/>
          <p:nvPr/>
        </p:nvSpPr>
        <p:spPr>
          <a:xfrm>
            <a:off x="928353" y="2280632"/>
            <a:ext cx="5071156" cy="1103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Alice’s UA sends message to her mail server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 message placed in message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 txBox="1"/>
          <p:nvPr/>
        </p:nvSpPr>
        <p:spPr>
          <a:xfrm>
            <a:off x="863847" y="3432596"/>
            <a:ext cx="5448733" cy="1089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side of SMTP at mail server opens TCP connection with Bob’s mail 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"/>
          <p:cNvSpPr txBox="1"/>
          <p:nvPr/>
        </p:nvSpPr>
        <p:spPr>
          <a:xfrm>
            <a:off x="6633422" y="2275557"/>
            <a:ext cx="4869534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5)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Bob’s mail server places the message in Bob’s mailbox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8" name="Google Shape;758;p6"/>
          <p:cNvSpPr txBox="1"/>
          <p:nvPr/>
        </p:nvSpPr>
        <p:spPr>
          <a:xfrm>
            <a:off x="6630761" y="3460095"/>
            <a:ext cx="493991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6)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Bob invokes his user agent to read message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200"/>
              <a:buFont typeface="Noto Sans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6260211" y="4216985"/>
            <a:ext cx="4952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**if connection fails, it keeps retrying for few days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" name="Google Shape;761;p6"/>
          <p:cNvSpPr/>
          <p:nvPr/>
        </p:nvSpPr>
        <p:spPr>
          <a:xfrm>
            <a:off x="3156397" y="5853459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5075421" y="5340031"/>
            <a:ext cx="6719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7521555" y="5881873"/>
            <a:ext cx="13917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POP3 or IMAP</a:t>
            </a:r>
            <a:endParaRPr b="1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"/>
          <p:cNvSpPr txBox="1"/>
          <p:nvPr/>
        </p:nvSpPr>
        <p:spPr>
          <a:xfrm>
            <a:off x="1008509" y="1213854"/>
            <a:ext cx="688738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reliably transfer email message from client to server, port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 transfer: sending server (acting like client) to receiving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three phases of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handshaking (greeting)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transfer of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closure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command/response interaction (like HTTP)</a:t>
            </a:r>
            <a:endParaRPr b="0" i="0" sz="24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ASCII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status code and phrase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5"/>
          <p:cNvCxnSpPr/>
          <p:nvPr/>
        </p:nvCxnSpPr>
        <p:spPr>
          <a:xfrm>
            <a:off x="9759590" y="1806759"/>
            <a:ext cx="0" cy="44942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5"/>
          <p:cNvCxnSpPr/>
          <p:nvPr/>
        </p:nvCxnSpPr>
        <p:spPr>
          <a:xfrm>
            <a:off x="11450277" y="1800409"/>
            <a:ext cx="0" cy="44507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772" name="Google Shape;772;p5"/>
          <p:cNvCxnSpPr/>
          <p:nvPr/>
        </p:nvCxnSpPr>
        <p:spPr>
          <a:xfrm>
            <a:off x="9773877" y="2038535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3" name="Google Shape;773;p5"/>
          <p:cNvCxnSpPr/>
          <p:nvPr/>
        </p:nvCxnSpPr>
        <p:spPr>
          <a:xfrm flipH="1">
            <a:off x="9776216" y="2443434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p5"/>
          <p:cNvCxnSpPr/>
          <p:nvPr/>
        </p:nvCxnSpPr>
        <p:spPr>
          <a:xfrm>
            <a:off x="9784153" y="2951434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5" name="Google Shape;775;p5"/>
          <p:cNvCxnSpPr/>
          <p:nvPr/>
        </p:nvCxnSpPr>
        <p:spPr>
          <a:xfrm>
            <a:off x="9369065" y="2013135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5"/>
          <p:cNvSpPr txBox="1"/>
          <p:nvPr/>
        </p:nvSpPr>
        <p:spPr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"/>
          <p:cNvSpPr/>
          <p:nvPr/>
        </p:nvSpPr>
        <p:spPr>
          <a:xfrm>
            <a:off x="9504002" y="2063935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"/>
          <p:cNvSpPr txBox="1"/>
          <p:nvPr/>
        </p:nvSpPr>
        <p:spPr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5"/>
          <p:cNvCxnSpPr/>
          <p:nvPr/>
        </p:nvCxnSpPr>
        <p:spPr>
          <a:xfrm>
            <a:off x="9434903" y="2884759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5"/>
          <p:cNvSpPr txBox="1"/>
          <p:nvPr/>
        </p:nvSpPr>
        <p:spPr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5"/>
          <p:cNvGrpSpPr/>
          <p:nvPr/>
        </p:nvGrpSpPr>
        <p:grpSpPr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782" name="Google Shape;782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" name="Google Shape;787;p5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788" name="Google Shape;788;p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0" name="Google Shape;790;p5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" name="Google Shape;791;p5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792" name="Google Shape;792;p5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4" name="Google Shape;794;p5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5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797" name="Google Shape;797;p5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9" name="Google Shape;799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5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01" name="Google Shape;801;p5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3" name="Google Shape;803;p5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rbe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4" name="Google Shape;814;p5"/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cxnSp>
          <p:nvCxnSpPr>
            <p:cNvPr id="815" name="Google Shape;815;p5"/>
            <p:cNvCxnSpPr/>
            <p:nvPr/>
          </p:nvCxnSpPr>
          <p:spPr>
            <a:xfrm flipH="1">
              <a:off x="9778988" y="337722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5"/>
            <p:cNvCxnSpPr/>
            <p:nvPr/>
          </p:nvCxnSpPr>
          <p:spPr>
            <a:xfrm>
              <a:off x="9786925" y="3835354"/>
              <a:ext cx="1684338" cy="390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5"/>
            <p:cNvCxnSpPr/>
            <p:nvPr/>
          </p:nvCxnSpPr>
          <p:spPr>
            <a:xfrm flipH="1">
              <a:off x="9781759" y="4294399"/>
              <a:ext cx="1673225" cy="4032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8" name="Google Shape;818;p5"/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250 Hello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9589901" y="3346866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5"/>
            <p:cNvSpPr txBox="1"/>
            <p:nvPr/>
          </p:nvSpPr>
          <p:spPr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handshaking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5"/>
          <p:cNvSpPr txBox="1"/>
          <p:nvPr/>
        </p:nvSpPr>
        <p:spPr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"/>
          <p:cNvSpPr txBox="1"/>
          <p:nvPr/>
        </p:nvSpPr>
        <p:spPr>
          <a:xfrm>
            <a:off x="8962689" y="511816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“client”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"/>
          <p:cNvSpPr txBox="1"/>
          <p:nvPr/>
        </p:nvSpPr>
        <p:spPr>
          <a:xfrm>
            <a:off x="10459403" y="485700"/>
            <a:ext cx="1433341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“server”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D28C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 SMTP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6" name="Google Shape;826;p5"/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827" name="Google Shape;827;p5"/>
            <p:cNvSpPr/>
            <p:nvPr/>
          </p:nvSpPr>
          <p:spPr>
            <a:xfrm>
              <a:off x="9559421" y="4829303"/>
              <a:ext cx="152184" cy="1391389"/>
            </a:xfrm>
            <a:prstGeom prst="leftBrace">
              <a:avLst>
                <a:gd fmla="val 52057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5"/>
            <p:cNvSpPr txBox="1"/>
            <p:nvPr/>
          </p:nvSpPr>
          <p:spPr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SMTP transfers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5"/>
          <p:cNvSpPr txBox="1"/>
          <p:nvPr>
            <p:ph type="title"/>
          </p:nvPr>
        </p:nvSpPr>
        <p:spPr>
          <a:xfrm>
            <a:off x="1839509" y="-30975"/>
            <a:ext cx="7772400" cy="958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Electronic Mail: SMTP [RFC 2821]</a:t>
            </a:r>
            <a:endParaRPr b="1"/>
          </a:p>
        </p:txBody>
      </p:sp>
      <p:pic>
        <p:nvPicPr>
          <p:cNvPr descr="desktop_computer_stylized_medium" id="830" name="Google Shape;8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336623" y="1072276"/>
            <a:ext cx="675981" cy="62898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Sample SMTP interaction</a:t>
            </a:r>
            <a:endParaRPr sz="4400"/>
          </a:p>
        </p:txBody>
      </p:sp>
      <p:sp>
        <p:nvSpPr>
          <p:cNvPr id="838" name="Google Shape;838;p7"/>
          <p:cNvSpPr/>
          <p:nvPr/>
        </p:nvSpPr>
        <p:spPr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220 hamburger.edu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HELO crepes.fr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 Hello crepes.fr, pleased to meet you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MAIL FROM: &lt;alice@crepes.fr&gt;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alice@crepes.fr... Sender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RCPT TO: &lt;bob@hamburger.edu&gt;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bob@hamburger.edu ... Recipient ok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354 Enter mail, end with "." on a line by itself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Do you like ketchup?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How about pickles?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250 Message accepted for delivery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C: QUIT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S: 221 hamburger.edu closing connection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"/>
          <p:cNvSpPr/>
          <p:nvPr/>
        </p:nvSpPr>
        <p:spPr>
          <a:xfrm>
            <a:off x="2036635" y="2188833"/>
            <a:ext cx="8994370" cy="1379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7"/>
          <p:cNvSpPr/>
          <p:nvPr/>
        </p:nvSpPr>
        <p:spPr>
          <a:xfrm>
            <a:off x="2036635" y="3591028"/>
            <a:ext cx="8994370" cy="7564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7"/>
          <p:cNvSpPr/>
          <p:nvPr/>
        </p:nvSpPr>
        <p:spPr>
          <a:xfrm>
            <a:off x="2036635" y="4301973"/>
            <a:ext cx="8994370" cy="12690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7"/>
          <p:cNvSpPr/>
          <p:nvPr/>
        </p:nvSpPr>
        <p:spPr>
          <a:xfrm>
            <a:off x="2036635" y="5591659"/>
            <a:ext cx="8994370" cy="7758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7"/>
          <p:cNvSpPr txBox="1"/>
          <p:nvPr/>
        </p:nvSpPr>
        <p:spPr>
          <a:xfrm>
            <a:off x="329722" y="1363556"/>
            <a:ext cx="1662545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handshaking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7"/>
          <p:cNvSpPr txBox="1"/>
          <p:nvPr/>
        </p:nvSpPr>
        <p:spPr>
          <a:xfrm>
            <a:off x="192938" y="4223987"/>
            <a:ext cx="1662545" cy="877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Message Data Transfer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"/>
          <p:cNvSpPr txBox="1"/>
          <p:nvPr/>
        </p:nvSpPr>
        <p:spPr>
          <a:xfrm>
            <a:off x="374090" y="2500988"/>
            <a:ext cx="1662545" cy="353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header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7"/>
          <p:cNvSpPr txBox="1"/>
          <p:nvPr/>
        </p:nvSpPr>
        <p:spPr>
          <a:xfrm>
            <a:off x="374090" y="5559650"/>
            <a:ext cx="1662545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SMTP Termination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"/>
          <p:cNvSpPr txBox="1"/>
          <p:nvPr>
            <p:ph type="title"/>
          </p:nvPr>
        </p:nvSpPr>
        <p:spPr>
          <a:xfrm>
            <a:off x="2057400" y="1619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SMTP: final words</a:t>
            </a:r>
            <a:endParaRPr/>
          </a:p>
        </p:txBody>
      </p:sp>
      <p:sp>
        <p:nvSpPr>
          <p:cNvPr id="854" name="Google Shape;854;p8"/>
          <p:cNvSpPr txBox="1"/>
          <p:nvPr>
            <p:ph idx="1" type="body"/>
          </p:nvPr>
        </p:nvSpPr>
        <p:spPr>
          <a:xfrm>
            <a:off x="1677987" y="1289049"/>
            <a:ext cx="36004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uses persistent connections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requires message (header &amp; body) to be in 7-bit ASCII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SMTP server uses CRLF.CRLF (\r\n.\r\n) to determine end of message</a:t>
            </a:r>
            <a:endParaRPr/>
          </a:p>
        </p:txBody>
      </p:sp>
      <p:sp>
        <p:nvSpPr>
          <p:cNvPr id="855" name="Google Shape;855;p8"/>
          <p:cNvSpPr txBox="1"/>
          <p:nvPr>
            <p:ph idx="2" type="body"/>
          </p:nvPr>
        </p:nvSpPr>
        <p:spPr>
          <a:xfrm>
            <a:off x="5600700" y="1141413"/>
            <a:ext cx="48323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i="1" lang="en-US" sz="2600">
                <a:solidFill>
                  <a:srgbClr val="7D28CD"/>
                </a:solidFill>
              </a:rPr>
              <a:t>Comparison with HTTP: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pull; SMTP: push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Server to client; vice versa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server to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both have ASCII command/response interaction, status codes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55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HTTP: each object encapsulated in its own response message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SMTP: multiple objects sent in multipart message</a:t>
            </a:r>
            <a:endParaRPr/>
          </a:p>
        </p:txBody>
      </p:sp>
      <p:sp>
        <p:nvSpPr>
          <p:cNvPr id="856" name="Google Shape;856;p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"/>
          <p:cNvSpPr txBox="1"/>
          <p:nvPr>
            <p:ph type="title"/>
          </p:nvPr>
        </p:nvSpPr>
        <p:spPr>
          <a:xfrm>
            <a:off x="2057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Mail message format</a:t>
            </a:r>
            <a:endParaRPr b="1"/>
          </a:p>
        </p:txBody>
      </p:sp>
      <p:sp>
        <p:nvSpPr>
          <p:cNvPr id="863" name="Google Shape;863;p9"/>
          <p:cNvSpPr txBox="1"/>
          <p:nvPr>
            <p:ph idx="1" type="body"/>
          </p:nvPr>
        </p:nvSpPr>
        <p:spPr>
          <a:xfrm>
            <a:off x="2057401" y="1611313"/>
            <a:ext cx="392747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SMTP: protocol for exchanging email messages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lang="en-US" sz="2400"/>
              <a:t>RFC 822: standard for text message format: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header lines,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896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i="1" lang="en-US">
                <a:solidFill>
                  <a:srgbClr val="FF0000"/>
                </a:solidFill>
              </a:rPr>
              <a:t>different</a:t>
            </a:r>
            <a:r>
              <a:rPr i="1" lang="en-US">
                <a:solidFill>
                  <a:srgbClr val="66FFCC"/>
                </a:solidFill>
              </a:rPr>
              <a:t> </a:t>
            </a:r>
            <a:r>
              <a:rPr i="1" lang="en-US"/>
              <a:t>from </a:t>
            </a:r>
            <a:r>
              <a:rPr lang="en-US" sz="2200"/>
              <a:t>SMTP MAIL FROM, RCPT TO:</a:t>
            </a:r>
            <a:r>
              <a:rPr lang="en-US"/>
              <a:t> commands!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Body: the “message”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ASCII characters only</a:t>
            </a:r>
            <a:endParaRPr/>
          </a:p>
        </p:txBody>
      </p:sp>
      <p:sp>
        <p:nvSpPr>
          <p:cNvPr id="864" name="Google Shape;864;p9"/>
          <p:cNvSpPr/>
          <p:nvPr/>
        </p:nvSpPr>
        <p:spPr>
          <a:xfrm>
            <a:off x="6502400" y="1892300"/>
            <a:ext cx="2832100" cy="431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9"/>
          <p:cNvSpPr/>
          <p:nvPr/>
        </p:nvSpPr>
        <p:spPr>
          <a:xfrm>
            <a:off x="6502400" y="2705100"/>
            <a:ext cx="2832100" cy="1739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"/>
          <p:cNvSpPr/>
          <p:nvPr/>
        </p:nvSpPr>
        <p:spPr>
          <a:xfrm>
            <a:off x="6299200" y="1778000"/>
            <a:ext cx="3238500" cy="3073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9"/>
          <p:cNvCxnSpPr/>
          <p:nvPr/>
        </p:nvCxnSpPr>
        <p:spPr>
          <a:xfrm flipH="1" rot="10800000">
            <a:off x="4686300" y="2159000"/>
            <a:ext cx="1765300" cy="101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9"/>
          <p:cNvSpPr txBox="1"/>
          <p:nvPr/>
        </p:nvSpPr>
        <p:spPr>
          <a:xfrm>
            <a:off x="9663113" y="2112964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9"/>
          <p:cNvCxnSpPr/>
          <p:nvPr/>
        </p:nvCxnSpPr>
        <p:spPr>
          <a:xfrm rot="10800000">
            <a:off x="8775700" y="2552700"/>
            <a:ext cx="965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870" name="Google Shape;870;p9"/>
          <p:cNvPicPr preferRelativeResize="0"/>
          <p:nvPr/>
        </p:nvPicPr>
        <p:blipFill rotWithShape="1">
          <a:blip r:embed="rId3">
            <a:alphaModFix/>
          </a:blip>
          <a:srcRect b="-803" l="-417" r="38625" t="-3236"/>
          <a:stretch/>
        </p:blipFill>
        <p:spPr>
          <a:xfrm>
            <a:off x="2462214" y="3498850"/>
            <a:ext cx="3094037" cy="94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1" name="Google Shape;871;p9"/>
          <p:cNvCxnSpPr/>
          <p:nvPr/>
        </p:nvCxnSpPr>
        <p:spPr>
          <a:xfrm flipH="1" rot="10800000">
            <a:off x="5214938" y="4051300"/>
            <a:ext cx="1917700" cy="1828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2" name="Google Shape;872;p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"/>
          <p:cNvSpPr txBox="1"/>
          <p:nvPr>
            <p:ph type="title"/>
          </p:nvPr>
        </p:nvSpPr>
        <p:spPr>
          <a:xfrm>
            <a:off x="2024063" y="255588"/>
            <a:ext cx="7772400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Mail access protocols</a:t>
            </a:r>
            <a:endParaRPr/>
          </a:p>
        </p:txBody>
      </p:sp>
      <p:sp>
        <p:nvSpPr>
          <p:cNvPr id="879" name="Google Shape;879;p10"/>
          <p:cNvSpPr txBox="1"/>
          <p:nvPr>
            <p:ph idx="1" type="body"/>
          </p:nvPr>
        </p:nvSpPr>
        <p:spPr>
          <a:xfrm>
            <a:off x="2105026" y="3462056"/>
            <a:ext cx="8562974" cy="3395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CC0000"/>
                </a:solidFill>
              </a:rPr>
              <a:t>SMTP:</a:t>
            </a:r>
            <a:r>
              <a:rPr lang="en-US" sz="2400"/>
              <a:t> delivery/storage to receiver’s server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Mail access protocol: retrieval from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POP:</a:t>
            </a:r>
            <a:r>
              <a:rPr lang="en-US" sz="2200"/>
              <a:t> Post Office Protocol [RFC 1939]: authorization, download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IMAP:</a:t>
            </a:r>
            <a:r>
              <a:rPr lang="en-US" sz="2200"/>
              <a:t> Internet Mail Access Protocol [RFC 1730]: more features, including manipulation of stored messages on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solidFill>
                  <a:srgbClr val="CC0000"/>
                </a:solidFill>
              </a:rPr>
              <a:t>HTTPs:</a:t>
            </a:r>
            <a:r>
              <a:rPr lang="en-US" sz="2200"/>
              <a:t> Web based(Gmail, Hotmail, Yahoo! Mail, etc.)</a:t>
            </a:r>
            <a:endParaRPr/>
          </a:p>
          <a:p>
            <a:pPr indent="-113568" lvl="1" marL="742950" rtl="0" algn="l">
              <a:lnSpc>
                <a:spcPct val="100000"/>
              </a:lnSpc>
              <a:spcBef>
                <a:spcPts val="974"/>
              </a:spcBef>
              <a:spcAft>
                <a:spcPts val="0"/>
              </a:spcAft>
              <a:buSzPts val="3190"/>
              <a:buNone/>
            </a:pPr>
            <a:r>
              <a:t/>
            </a:r>
            <a:endParaRPr sz="2200"/>
          </a:p>
        </p:txBody>
      </p:sp>
      <p:pic>
        <p:nvPicPr>
          <p:cNvPr id="880" name="Google Shape;8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36650"/>
            <a:ext cx="9144000" cy="198278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11"/>
          <p:cNvGraphicFramePr/>
          <p:nvPr/>
        </p:nvGraphicFramePr>
        <p:xfrm>
          <a:off x="1419223" y="929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{00229A7F-F720-44D2-8603-B4272F603577}</a:tableStyleId>
              </a:tblPr>
              <a:tblGrid>
                <a:gridCol w="3313650"/>
                <a:gridCol w="3313650"/>
                <a:gridCol w="3313650"/>
              </a:tblGrid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Features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POP3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IMAP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Name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Post Office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Internet Message Access Protocol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Mail Location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downloaded at the local workstation and deleted from the server. **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rbel"/>
                        <a:buNone/>
                      </a:pPr>
                      <a:r>
                        <a:rPr lang="en-US" sz="1600" u="none" cap="none" strike="noStrike"/>
                        <a:t>Keeps all mails in one place: at the server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7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Accessing Mail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can only be accessed using a single device at a time when using POP3.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Messages can be accessed via IMAP on a variety of devices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99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sng" cap="none" strike="noStrike">
                          <a:solidFill>
                            <a:srgbClr val="7D28CD"/>
                          </a:solidFill>
                          <a:hlinkClick action="ppaction://hlinksldjump"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Update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POP3 does not allow users to create, delete, or modify mailboxes on the mail server.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IMAP allows the user to create, delete, or update mailboxes on the mail server, as well as create a folder hierarchy of mailboxes.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Readability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Once the message has been downloaded, we can only read it.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Before we finish the download, we can read the message in part.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53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Virus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 kept in workstation, vulnerable to any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Mails kept in server, less susceptible to virus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47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</a:rPr>
                        <a:t>Port Number</a:t>
                      </a:r>
                      <a:endParaRPr b="1" sz="1800" u="none" cap="none" strike="noStrike">
                        <a:solidFill>
                          <a:srgbClr val="7D28CD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110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143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7" name="Google Shape;887;p11"/>
          <p:cNvSpPr/>
          <p:nvPr/>
        </p:nvSpPr>
        <p:spPr>
          <a:xfrm>
            <a:off x="4655684" y="6206609"/>
            <a:ext cx="6864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**POP3 “download-and-keep”: copies of messages on different clients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1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  <p:sp>
        <p:nvSpPr>
          <p:cNvPr id="889" name="Google Shape;889;p1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5" name="Google Shape;8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423" y="988495"/>
            <a:ext cx="8905875" cy="562331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15">
            <a:hlinkClick action="ppaction://hlinksldjump" r:id="rId4"/>
          </p:cNvPr>
          <p:cNvSpPr/>
          <p:nvPr/>
        </p:nvSpPr>
        <p:spPr>
          <a:xfrm>
            <a:off x="11043138" y="6339254"/>
            <a:ext cx="316524" cy="272561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4461927" y="6473315"/>
            <a:ext cx="52196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https://www.youtube.com/watch?app=desktop&amp;v=SBaARws0hy4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5"/>
          <p:cNvSpPr txBox="1"/>
          <p:nvPr>
            <p:ph type="title"/>
          </p:nvPr>
        </p:nvSpPr>
        <p:spPr>
          <a:xfrm>
            <a:off x="2038350" y="207964"/>
            <a:ext cx="7772400" cy="795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POP3 vs IMAP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"/>
          <p:cNvSpPr txBox="1"/>
          <p:nvPr>
            <p:ph type="title"/>
          </p:nvPr>
        </p:nvSpPr>
        <p:spPr>
          <a:xfrm>
            <a:off x="1316549" y="442762"/>
            <a:ext cx="100188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 Layer :Objectives </a:t>
            </a:r>
            <a:endParaRPr/>
          </a:p>
        </p:txBody>
      </p:sp>
      <p:sp>
        <p:nvSpPr>
          <p:cNvPr id="905" name="Google Shape;905;p13"/>
          <p:cNvSpPr txBox="1"/>
          <p:nvPr>
            <p:ph idx="1" type="body"/>
          </p:nvPr>
        </p:nvSpPr>
        <p:spPr>
          <a:xfrm>
            <a:off x="2068974" y="1784935"/>
            <a:ext cx="84418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Principles of network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Web and HTTP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Electronic mail</a:t>
            </a:r>
            <a:endParaRPr sz="3200"/>
          </a:p>
          <a:p>
            <a:pPr indent="-287338" lvl="1" marL="73818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4000"/>
              <a:t>SMTP, POP3, IMAP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Char char="•"/>
            </a:pPr>
            <a:r>
              <a:rPr b="1" lang="en-US" sz="4400">
                <a:solidFill>
                  <a:srgbClr val="7030A0"/>
                </a:solidFill>
              </a:rPr>
              <a:t>DNS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None/>
            </a:pPr>
            <a:r>
              <a:t/>
            </a:r>
            <a:endParaRPr sz="4000"/>
          </a:p>
        </p:txBody>
      </p:sp>
      <p:sp>
        <p:nvSpPr>
          <p:cNvPr id="906" name="Google Shape;906;p1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674c0d7ef2_0_174"/>
          <p:cNvSpPr txBox="1"/>
          <p:nvPr>
            <p:ph idx="4294967295" type="title"/>
          </p:nvPr>
        </p:nvSpPr>
        <p:spPr>
          <a:xfrm>
            <a:off x="609600" y="277812"/>
            <a:ext cx="10972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aramond"/>
                <a:ea typeface="Garamond"/>
                <a:cs typeface="Garamond"/>
                <a:sym typeface="Garamond"/>
              </a:rPr>
              <a:t>Domain Name System (DNS)</a:t>
            </a:r>
            <a:endParaRPr/>
          </a:p>
        </p:txBody>
      </p:sp>
      <p:sp>
        <p:nvSpPr>
          <p:cNvPr id="912" name="Google Shape;912;g2674c0d7ef2_0_174"/>
          <p:cNvSpPr txBox="1"/>
          <p:nvPr/>
        </p:nvSpPr>
        <p:spPr>
          <a:xfrm>
            <a:off x="1332625" y="1417500"/>
            <a:ext cx="9870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is the phone book of the Internet.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ces02" id="913" name="Google Shape;913;g2674c0d7ef2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900" y="2247900"/>
            <a:ext cx="7134225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s01" id="914" name="Google Shape;914;g2674c0d7ef2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0800" y="3244400"/>
            <a:ext cx="7134225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g2674c0d7ef2_0_174"/>
          <p:cNvSpPr txBox="1"/>
          <p:nvPr/>
        </p:nvSpPr>
        <p:spPr>
          <a:xfrm>
            <a:off x="3860800" y="27432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6" name="Google Shape;916;g2674c0d7ef2_0_174"/>
          <p:cNvSpPr txBox="1"/>
          <p:nvPr/>
        </p:nvSpPr>
        <p:spPr>
          <a:xfrm>
            <a:off x="6142200" y="3810000"/>
            <a:ext cx="23367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7" name="Google Shape;917;g2674c0d7ef2_0_174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2674c0d7ef2_0_4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2286000"/>
            <a:ext cx="7772400" cy="36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2674c0d7ef2_0_460"/>
          <p:cNvSpPr txBox="1"/>
          <p:nvPr/>
        </p:nvSpPr>
        <p:spPr>
          <a:xfrm>
            <a:off x="1414300" y="600907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200.20.20.1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2674c0d7ef2_0_460"/>
          <p:cNvSpPr txBox="1"/>
          <p:nvPr/>
        </p:nvSpPr>
        <p:spPr>
          <a:xfrm>
            <a:off x="6756400" y="5854925"/>
            <a:ext cx="23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address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5" name="Google Shape;925;g2674c0d7ef2_0_460"/>
          <p:cNvGraphicFramePr/>
          <p:nvPr/>
        </p:nvGraphicFramePr>
        <p:xfrm>
          <a:off x="2743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{342F231B-C61A-43B8-986E-931B73D91EA7}</a:tableStyleId>
              </a:tblPr>
              <a:tblGrid>
                <a:gridCol w="882625"/>
                <a:gridCol w="768325"/>
                <a:gridCol w="882625"/>
                <a:gridCol w="770475"/>
                <a:gridCol w="759875"/>
                <a:gridCol w="747175"/>
                <a:gridCol w="1805500"/>
                <a:gridCol w="1212825"/>
              </a:tblGrid>
              <a:tr h="73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50" marB="45750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Verdana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Data: Request for web page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Verdana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Trailer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926" name="Google Shape;926;g2674c0d7ef2_0_460"/>
          <p:cNvSpPr txBox="1"/>
          <p:nvPr/>
        </p:nvSpPr>
        <p:spPr>
          <a:xfrm>
            <a:off x="4876800" y="2895600"/>
            <a:ext cx="43689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Browser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674c0d7ef2_0_460"/>
          <p:cNvSpPr txBox="1"/>
          <p:nvPr/>
        </p:nvSpPr>
        <p:spPr>
          <a:xfrm>
            <a:off x="711200" y="4419600"/>
            <a:ext cx="2946300" cy="585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Web Server application Port Number: </a:t>
            </a:r>
            <a:r>
              <a:rPr b="1" i="0" lang="en-US" sz="1600" u="none" cap="none" strike="noStrike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674c0d7ef2_0_460"/>
          <p:cNvSpPr txBox="1"/>
          <p:nvPr/>
        </p:nvSpPr>
        <p:spPr>
          <a:xfrm>
            <a:off x="6705600" y="1828800"/>
            <a:ext cx="111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1025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2674c0d7ef2_0_460"/>
          <p:cNvSpPr txBox="1"/>
          <p:nvPr/>
        </p:nvSpPr>
        <p:spPr>
          <a:xfrm>
            <a:off x="6096000" y="18288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g2674c0d7ef2_0_460"/>
          <p:cNvSpPr txBox="1"/>
          <p:nvPr/>
        </p:nvSpPr>
        <p:spPr>
          <a:xfrm rot="-2097568">
            <a:off x="5042754" y="1813851"/>
            <a:ext cx="1254457" cy="25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000"/>
              <a:buFont typeface="Verdana"/>
              <a:buNone/>
            </a:pPr>
            <a:r>
              <a:rPr b="1" i="0" lang="en-US" sz="1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192.168.1.1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g2674c0d7ef2_0_460"/>
          <p:cNvSpPr txBox="1"/>
          <p:nvPr/>
        </p:nvSpPr>
        <p:spPr>
          <a:xfrm>
            <a:off x="4470400" y="1828800"/>
            <a:ext cx="71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g2674c0d7ef2_0_460"/>
          <p:cNvSpPr txBox="1"/>
          <p:nvPr/>
        </p:nvSpPr>
        <p:spPr>
          <a:xfrm>
            <a:off x="5080000" y="4038600"/>
            <a:ext cx="56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www.cisco.com : </a:t>
            </a:r>
            <a:r>
              <a:rPr b="1" i="0" lang="en-US" sz="1800" u="none" cap="none" strike="noStrik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g2674c0d7ef2_0_46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g2674c0d7ef2_0_46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5" name="Google Shape;935;g2674c0d7ef2_0_460"/>
          <p:cNvGraphicFramePr/>
          <p:nvPr/>
        </p:nvGraphicFramePr>
        <p:xfrm>
          <a:off x="2782625" y="115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{64937F8B-14D9-4725-9578-A32424F46051}</a:tableStyleId>
              </a:tblPr>
              <a:tblGrid>
                <a:gridCol w="801850"/>
                <a:gridCol w="801850"/>
                <a:gridCol w="801850"/>
                <a:gridCol w="801850"/>
                <a:gridCol w="801850"/>
                <a:gridCol w="801850"/>
              </a:tblGrid>
              <a:tr h="40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 MAC Address</a:t>
                      </a:r>
                      <a:endParaRPr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MAC Address</a:t>
                      </a:r>
                      <a:endParaRPr b="1" sz="8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IP Address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Source IP Address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Destination Port No </a:t>
                      </a:r>
                      <a:endParaRPr sz="13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 u="none" cap="none" strike="noStrike"/>
                        <a:t>Source Port No</a:t>
                      </a:r>
                      <a:endParaRPr b="1" sz="8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g2674c0d7ef2_0_4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0" y="2590800"/>
            <a:ext cx="4914900" cy="182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674c0d7ef2_0_4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20000">
            <a:off x="2285649" y="3039512"/>
            <a:ext cx="2581275" cy="145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2674c0d7ef2_0_476"/>
          <p:cNvSpPr txBox="1"/>
          <p:nvPr/>
        </p:nvSpPr>
        <p:spPr>
          <a:xfrm>
            <a:off x="203200" y="4343400"/>
            <a:ext cx="117855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4" name="Google Shape;944;g2674c0d7ef2_0_476"/>
          <p:cNvSpPr txBox="1"/>
          <p:nvPr/>
        </p:nvSpPr>
        <p:spPr>
          <a:xfrm>
            <a:off x="1131175" y="5328312"/>
            <a:ext cx="4978500" cy="1154400"/>
          </a:xfrm>
          <a:prstGeom prst="rect">
            <a:avLst/>
          </a:prstGeom>
          <a:noFill/>
          <a:ln cap="flat" cmpd="sng" w="57150">
            <a:solidFill>
              <a:srgbClr val="99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Address Book: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www.cisco.com = 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www.yahoo.com = 200.133.2.56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2674c0d7ef2_0_476"/>
          <p:cNvSpPr/>
          <p:nvPr/>
        </p:nvSpPr>
        <p:spPr>
          <a:xfrm>
            <a:off x="1016000" y="5715000"/>
            <a:ext cx="4876800" cy="3810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services04" id="946" name="Google Shape;946;g2674c0d7ef2_0_4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4800" y="1143000"/>
            <a:ext cx="4572001" cy="1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2674c0d7ef2_0_476"/>
          <p:cNvSpPr txBox="1"/>
          <p:nvPr/>
        </p:nvSpPr>
        <p:spPr>
          <a:xfrm>
            <a:off x="8940800" y="2590800"/>
            <a:ext cx="14223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Request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2674c0d7ef2_0_476"/>
          <p:cNvSpPr txBox="1"/>
          <p:nvPr/>
        </p:nvSpPr>
        <p:spPr>
          <a:xfrm>
            <a:off x="1219200" y="3124200"/>
            <a:ext cx="1930500" cy="609600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DNS Reply: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www.cisco.com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198.133.219.25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2674c0d7ef2_0_476"/>
          <p:cNvSpPr txBox="1"/>
          <p:nvPr/>
        </p:nvSpPr>
        <p:spPr>
          <a:xfrm>
            <a:off x="9042400" y="3200400"/>
            <a:ext cx="1828800" cy="762000"/>
          </a:xfrm>
          <a:prstGeom prst="rect">
            <a:avLst/>
          </a:prstGeom>
          <a:solidFill>
            <a:srgbClr val="CCFFCC"/>
          </a:solidFill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Packet ready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be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to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2674c0d7ef2_0_476"/>
          <p:cNvSpPr txBox="1"/>
          <p:nvPr/>
        </p:nvSpPr>
        <p:spPr>
          <a:xfrm>
            <a:off x="8026450" y="1847700"/>
            <a:ext cx="386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?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g2674c0d7ef2_0_4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440000">
            <a:off x="1758610" y="1352550"/>
            <a:ext cx="833437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2" name="Google Shape;952;g2674c0d7ef2_0_476"/>
          <p:cNvCxnSpPr/>
          <p:nvPr/>
        </p:nvCxnSpPr>
        <p:spPr>
          <a:xfrm>
            <a:off x="2565850" y="2005275"/>
            <a:ext cx="274320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g2674c0d7ef2_0_476"/>
          <p:cNvSpPr txBox="1"/>
          <p:nvPr/>
        </p:nvSpPr>
        <p:spPr>
          <a:xfrm rot="1108032">
            <a:off x="874524" y="2194728"/>
            <a:ext cx="3033510" cy="535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Web Server : www.cisco.com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2674c0d7ef2_0_476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2674c0d7ef2_0_476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6786a775ea_0_10"/>
          <p:cNvSpPr txBox="1"/>
          <p:nvPr>
            <p:ph idx="1" type="body"/>
          </p:nvPr>
        </p:nvSpPr>
        <p:spPr>
          <a:xfrm>
            <a:off x="1476700" y="988550"/>
            <a:ext cx="974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is an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automated client/server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service.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Internet programs requiring domain name look up send a resolution request to the </a:t>
            </a:r>
            <a:r>
              <a:rPr b="1" i="0" lang="en-US" sz="2400" u="none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DNS resolver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(Client side of DNS) in the local operating system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resolver in turn handles the communications required. 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0574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1" name="Google Shape;961;g26786a775ea_0_10"/>
          <p:cNvSpPr/>
          <p:nvPr/>
        </p:nvSpPr>
        <p:spPr>
          <a:xfrm>
            <a:off x="2743200" y="3581400"/>
            <a:ext cx="7010442" cy="3124224"/>
          </a:xfrm>
          <a:custGeom>
            <a:rect b="b" l="l" r="r" t="t"/>
            <a:pathLst>
              <a:path extrusionOk="0" h="21600" w="2160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extrusionOk="0" h="21600" w="2160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extrusionOk="0" h="21600" w="2160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FFFF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2" name="Google Shape;962;g26786a775ea_0_10"/>
          <p:cNvSpPr txBox="1"/>
          <p:nvPr/>
        </p:nvSpPr>
        <p:spPr>
          <a:xfrm>
            <a:off x="3860800" y="3886200"/>
            <a:ext cx="1930500" cy="3810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26786a775ea_0_10"/>
          <p:cNvSpPr txBox="1"/>
          <p:nvPr/>
        </p:nvSpPr>
        <p:spPr>
          <a:xfrm>
            <a:off x="3657600" y="3581400"/>
            <a:ext cx="5181600" cy="1981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4" name="Google Shape;964;g26786a775ea_0_10"/>
          <p:cNvSpPr txBox="1"/>
          <p:nvPr/>
        </p:nvSpPr>
        <p:spPr>
          <a:xfrm>
            <a:off x="3860800" y="5181600"/>
            <a:ext cx="35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Operating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26786a775ea_0_10"/>
          <p:cNvSpPr txBox="1"/>
          <p:nvPr/>
        </p:nvSpPr>
        <p:spPr>
          <a:xfrm>
            <a:off x="3860800" y="4495800"/>
            <a:ext cx="1930500" cy="381000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Mail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26786a775ea_0_10"/>
          <p:cNvSpPr txBox="1"/>
          <p:nvPr/>
        </p:nvSpPr>
        <p:spPr>
          <a:xfrm>
            <a:off x="7010400" y="4114800"/>
            <a:ext cx="1625700" cy="776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26786a775ea_0_10"/>
          <p:cNvSpPr/>
          <p:nvPr/>
        </p:nvSpPr>
        <p:spPr>
          <a:xfrm>
            <a:off x="5791200" y="4038600"/>
            <a:ext cx="1219200" cy="304800"/>
          </a:xfrm>
          <a:custGeom>
            <a:rect b="b" l="l" r="r" t="t"/>
            <a:pathLst>
              <a:path extrusionOk="0" h="192" w="576">
                <a:moveTo>
                  <a:pt x="0" y="0"/>
                </a:moveTo>
                <a:cubicBezTo>
                  <a:pt x="276" y="64"/>
                  <a:pt x="552" y="128"/>
                  <a:pt x="576" y="19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8" name="Google Shape;968;g26786a775ea_0_10"/>
          <p:cNvSpPr/>
          <p:nvPr/>
        </p:nvSpPr>
        <p:spPr>
          <a:xfrm>
            <a:off x="5791200" y="4572000"/>
            <a:ext cx="12192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0" y="96"/>
                  <a:pt x="288" y="48"/>
                  <a:pt x="576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9" name="Google Shape;969;g26786a775ea_0_10"/>
          <p:cNvCxnSpPr/>
          <p:nvPr/>
        </p:nvCxnSpPr>
        <p:spPr>
          <a:xfrm>
            <a:off x="6908800" y="44958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g26786a775ea_0_10"/>
          <p:cNvCxnSpPr/>
          <p:nvPr/>
        </p:nvCxnSpPr>
        <p:spPr>
          <a:xfrm flipH="1">
            <a:off x="6908700" y="4572000"/>
            <a:ext cx="1017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1" name="Google Shape;971;g26786a775ea_0_10"/>
          <p:cNvCxnSpPr/>
          <p:nvPr/>
        </p:nvCxnSpPr>
        <p:spPr>
          <a:xfrm>
            <a:off x="6908800" y="4191000"/>
            <a:ext cx="1017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2" name="Google Shape;972;g26786a775ea_0_10"/>
          <p:cNvCxnSpPr/>
          <p:nvPr/>
        </p:nvCxnSpPr>
        <p:spPr>
          <a:xfrm flipH="1" rot="10800000">
            <a:off x="6807200" y="4343400"/>
            <a:ext cx="2031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3" name="Google Shape;973;g26786a775ea_0_10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26786a775ea_0_10"/>
          <p:cNvSpPr txBox="1"/>
          <p:nvPr/>
        </p:nvSpPr>
        <p:spPr>
          <a:xfrm>
            <a:off x="961250" y="74150"/>
            <a:ext cx="104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aramond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Domain Name System (DNS)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"/>
          <p:cNvSpPr txBox="1"/>
          <p:nvPr>
            <p:ph type="title"/>
          </p:nvPr>
        </p:nvSpPr>
        <p:spPr>
          <a:xfrm>
            <a:off x="697091" y="30625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Thinking about the DNS</a:t>
            </a:r>
            <a:endParaRPr sz="4400"/>
          </a:p>
        </p:txBody>
      </p:sp>
      <p:sp>
        <p:nvSpPr>
          <p:cNvPr id="981" name="Google Shape;981;p17"/>
          <p:cNvSpPr txBox="1"/>
          <p:nvPr/>
        </p:nvSpPr>
        <p:spPr>
          <a:xfrm>
            <a:off x="1366711" y="1325802"/>
            <a:ext cx="6338434" cy="105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humongous distributed database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 billion records, each simple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7"/>
          <p:cNvSpPr txBox="1"/>
          <p:nvPr/>
        </p:nvSpPr>
        <p:spPr>
          <a:xfrm>
            <a:off x="1283983" y="2369647"/>
            <a:ext cx="5971949" cy="230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handles many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trillions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of queries/day: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reads than writes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8" lvl="0" marL="35083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matters: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almost every Internet transaction interacts with DNS - msecs count!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3" name="Google Shape;983;p17"/>
          <p:cNvSpPr txBox="1"/>
          <p:nvPr/>
        </p:nvSpPr>
        <p:spPr>
          <a:xfrm>
            <a:off x="1016553" y="4487360"/>
            <a:ext cx="7038749" cy="135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organizationally, physically decentralized: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 of different organizations responsible for their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4" name="Google Shape;984;p17"/>
          <p:cNvSpPr txBox="1"/>
          <p:nvPr/>
        </p:nvSpPr>
        <p:spPr>
          <a:xfrm>
            <a:off x="1536397" y="5872167"/>
            <a:ext cx="7038749" cy="56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“bulletproof”: reliability, security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SEC Says That It's Not Easy Determining Whether Teva Whistleblowers Are  Deserving Of A Bounty - FCPA Professor" id="985" name="Google Shape;9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7866" y="4143022"/>
            <a:ext cx="2937933" cy="2448278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674c0d7ef2_0_568"/>
          <p:cNvSpPr txBox="1"/>
          <p:nvPr>
            <p:ph idx="1" type="body"/>
          </p:nvPr>
        </p:nvSpPr>
        <p:spPr>
          <a:xfrm>
            <a:off x="1315225" y="1475100"/>
            <a:ext cx="9423600" cy="52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b="0" i="0" lang="en-US" sz="36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Centralized DNS?</a:t>
            </a:r>
            <a:r>
              <a:rPr b="0" i="0" lang="en-US" sz="32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Single point of failure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Traffic volume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Distance centralized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Maintenance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Doesn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 </a:t>
            </a: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scale!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880"/>
              <a:buFont typeface="Noto Sans Symbols"/>
              <a:buChar char="●"/>
            </a:pPr>
            <a:r>
              <a:rPr b="0" i="1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Solution: </a:t>
            </a:r>
            <a:r>
              <a:rPr b="0" i="1" lang="en-US" sz="3200" u="non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Distributed Database</a:t>
            </a:r>
            <a:endParaRPr/>
          </a:p>
        </p:txBody>
      </p:sp>
      <p:sp>
        <p:nvSpPr>
          <p:cNvPr id="992" name="Google Shape;992;g2674c0d7ef2_0_568"/>
          <p:cNvSpPr txBox="1"/>
          <p:nvPr/>
        </p:nvSpPr>
        <p:spPr>
          <a:xfrm>
            <a:off x="6140250" y="1475100"/>
            <a:ext cx="193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2674c0d7ef2_0_568"/>
          <p:cNvSpPr txBox="1"/>
          <p:nvPr/>
        </p:nvSpPr>
        <p:spPr>
          <a:xfrm>
            <a:off x="1454800" y="2121775"/>
            <a:ext cx="416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SzPts val="3200"/>
              <a:buFont typeface="Verdana"/>
              <a:buNone/>
            </a:pPr>
            <a:r>
              <a:rPr b="1" i="0" lang="en-US" sz="3200" u="none" cap="none" strike="noStrike">
                <a:solidFill>
                  <a:srgbClr val="0066CC"/>
                </a:solidFill>
                <a:latin typeface="Verdana"/>
                <a:ea typeface="Verdana"/>
                <a:cs typeface="Verdana"/>
                <a:sym typeface="Verdana"/>
              </a:rPr>
              <a:t>REASONS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674c0d7ef2_0_568"/>
          <p:cNvSpPr txBox="1"/>
          <p:nvPr/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674c0d7ef2_0_568"/>
          <p:cNvSpPr txBox="1"/>
          <p:nvPr>
            <p:ph type="title"/>
          </p:nvPr>
        </p:nvSpPr>
        <p:spPr>
          <a:xfrm>
            <a:off x="697091" y="306258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 Name Servers</a:t>
            </a:r>
            <a:endParaRPr sz="4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8"/>
          <p:cNvSpPr txBox="1"/>
          <p:nvPr>
            <p:ph type="title"/>
          </p:nvPr>
        </p:nvSpPr>
        <p:spPr>
          <a:xfrm>
            <a:off x="1992314" y="161926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b="1" lang="en-US" sz="3600"/>
              <a:t>DNS: a distributed, hierarchical database</a:t>
            </a:r>
            <a:endParaRPr/>
          </a:p>
        </p:txBody>
      </p:sp>
      <p:sp>
        <p:nvSpPr>
          <p:cNvPr id="1002" name="Google Shape;1002;p1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3" name="Google Shape;10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450" y="1202825"/>
            <a:ext cx="8521924" cy="52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"/>
          <p:cNvSpPr txBox="1"/>
          <p:nvPr>
            <p:ph type="title"/>
          </p:nvPr>
        </p:nvSpPr>
        <p:spPr>
          <a:xfrm>
            <a:off x="2057400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DNS: root name servers</a:t>
            </a:r>
            <a:endParaRPr/>
          </a:p>
        </p:txBody>
      </p:sp>
      <p:sp>
        <p:nvSpPr>
          <p:cNvPr id="1010" name="Google Shape;1010;p19"/>
          <p:cNvSpPr/>
          <p:nvPr/>
        </p:nvSpPr>
        <p:spPr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worldf" id="1011" name="Google Shape;10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814" y="4378325"/>
            <a:ext cx="4382925" cy="21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9"/>
          <p:cNvSpPr txBox="1"/>
          <p:nvPr/>
        </p:nvSpPr>
        <p:spPr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 Verisign, Los Angeles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USC-ISI Marina del Rey,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ICANN Los Angeles,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(41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19"/>
          <p:cNvSpPr/>
          <p:nvPr/>
        </p:nvSpPr>
        <p:spPr>
          <a:xfrm>
            <a:off x="3281363" y="5113338"/>
            <a:ext cx="531812" cy="341312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 NASA Mt View,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Internet Software 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Alto, CA (and 48 other  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19"/>
          <p:cNvSpPr/>
          <p:nvPr/>
        </p:nvSpPr>
        <p:spPr>
          <a:xfrm flipH="1" rot="10800000">
            <a:off x="2947988" y="4868863"/>
            <a:ext cx="817562" cy="184150"/>
          </a:xfrm>
          <a:custGeom>
            <a:rect b="b" l="l" r="r" t="t"/>
            <a:pathLst>
              <a:path extrusionOk="0" h="426" w="582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19"/>
          <p:cNvSpPr txBox="1"/>
          <p:nvPr/>
        </p:nvSpPr>
        <p:spPr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Netnod, Stockholm (37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9"/>
          <p:cNvSpPr/>
          <p:nvPr/>
        </p:nvSpPr>
        <p:spPr>
          <a:xfrm>
            <a:off x="5456239" y="4068763"/>
            <a:ext cx="446087" cy="654050"/>
          </a:xfrm>
          <a:custGeom>
            <a:rect b="b" l="l" r="r" t="t"/>
            <a:pathLst>
              <a:path extrusionOk="0" h="1005" w="666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8" name="Google Shape;1018;p19"/>
          <p:cNvSpPr txBox="1"/>
          <p:nvPr/>
        </p:nvSpPr>
        <p:spPr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RIPE London (17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9" name="Google Shape;1019;p19"/>
          <p:cNvSpPr/>
          <p:nvPr/>
        </p:nvSpPr>
        <p:spPr>
          <a:xfrm>
            <a:off x="5275263" y="3862388"/>
            <a:ext cx="615950" cy="946150"/>
          </a:xfrm>
          <a:custGeom>
            <a:rect b="b" l="l" r="r" t="t"/>
            <a:pathLst>
              <a:path extrusionOk="0" h="1448" w="922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0" name="Google Shape;1020;p19"/>
          <p:cNvSpPr txBox="1"/>
          <p:nvPr/>
        </p:nvSpPr>
        <p:spPr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WIDE Tokyo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19"/>
          <p:cNvSpPr/>
          <p:nvPr/>
        </p:nvSpPr>
        <p:spPr>
          <a:xfrm>
            <a:off x="7099300" y="4598988"/>
            <a:ext cx="400050" cy="431800"/>
          </a:xfrm>
          <a:custGeom>
            <a:rect b="b" l="l" r="r" t="t"/>
            <a:pathLst>
              <a:path extrusionOk="0" h="462" w="25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22" name="Google Shape;1022;p19"/>
          <p:cNvSpPr txBox="1"/>
          <p:nvPr/>
        </p:nvSpPr>
        <p:spPr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c. Cogent, Herndon, VA (5 other sites)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U Maryland College Park,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h. ARL Aberdeen, 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j. Verisign, Dulles VA (69 other sites 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3" name="Google Shape;1023;p19"/>
          <p:cNvCxnSpPr/>
          <p:nvPr/>
        </p:nvCxnSpPr>
        <p:spPr>
          <a:xfrm flipH="1">
            <a:off x="4402139" y="4278313"/>
            <a:ext cx="7937" cy="6905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4" name="Google Shape;1024;p19"/>
          <p:cNvSpPr txBox="1"/>
          <p:nvPr/>
        </p:nvSpPr>
        <p:spPr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35650" lIns="71300" spcFirstLastPara="1" rIns="71300" wrap="square" tIns="35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 US DoD Columbus, OH (5 other sites)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5" name="Google Shape;1025;p19"/>
          <p:cNvCxnSpPr>
            <a:stCxn id="1024" idx="0"/>
          </p:cNvCxnSpPr>
          <p:nvPr/>
        </p:nvCxnSpPr>
        <p:spPr>
          <a:xfrm flipH="1" rot="10800000">
            <a:off x="3810002" y="4944926"/>
            <a:ext cx="480900" cy="94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6" name="Google Shape;1026;p19"/>
          <p:cNvSpPr txBox="1"/>
          <p:nvPr>
            <p:ph idx="1" type="body"/>
          </p:nvPr>
        </p:nvSpPr>
        <p:spPr>
          <a:xfrm>
            <a:off x="1439863" y="1144586"/>
            <a:ext cx="9790112" cy="2144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8925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fficial, contact-of-last-resort by name servers that can not resolve name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ncredibly important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function</a:t>
            </a:r>
            <a:endParaRPr/>
          </a:p>
          <a:p>
            <a:pPr indent="-317500" lvl="1" marL="635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couldn’t function without it!</a:t>
            </a:r>
            <a:endParaRPr/>
          </a:p>
          <a:p>
            <a:pPr indent="-288925" lvl="0" marL="4032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ICANN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(Internet Corporation for Assigned Names and Numbers)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root DNS domain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/>
          <p:nvPr/>
        </p:nvSpPr>
        <p:spPr>
          <a:xfrm>
            <a:off x="8167689" y="5014913"/>
            <a:ext cx="3630613" cy="119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13 logical root name “servers” worldwide each “server” replicated many times (~200 servers in US)</a:t>
            </a:r>
            <a:endParaRPr b="0" i="0" sz="18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Top-Level Domain, and </a:t>
            </a:r>
            <a:r>
              <a:rPr lang="en-US"/>
              <a:t>a</a:t>
            </a:r>
            <a:r>
              <a:rPr lang="en-US" sz="4400"/>
              <a:t>uthoritative </a:t>
            </a:r>
            <a:r>
              <a:rPr lang="en-US"/>
              <a:t>s</a:t>
            </a:r>
            <a:r>
              <a:rPr lang="en-US" sz="4400"/>
              <a:t>ervers</a:t>
            </a:r>
            <a:endParaRPr sz="4400"/>
          </a:p>
        </p:txBody>
      </p:sp>
      <p:sp>
        <p:nvSpPr>
          <p:cNvPr id="1035" name="Google Shape;1035;p20"/>
          <p:cNvSpPr txBox="1"/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Top-Level Domain (TLD) servers: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responsible for .com, .org, .net, .edu, .aero, .jobs, .museums, and all top-level country domains, e.g.: .cn, .uk, .fr, .ca, .jp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Solutions: authoritative registry for .com, .net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Educause: .edu TLD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0"/>
          <p:cNvSpPr txBox="1"/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Second Level Domain/Authoritative DNS servers: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organization’s own DNS server(s), providing authoritative hostname to IP mappings for organization’s named hosts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be maintained by organization or service provider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332" y="2939031"/>
            <a:ext cx="5317067" cy="16064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8" name="Google Shape;1038;p20"/>
          <p:cNvGrpSpPr/>
          <p:nvPr/>
        </p:nvGrpSpPr>
        <p:grpSpPr>
          <a:xfrm>
            <a:off x="4419600" y="1744133"/>
            <a:ext cx="6959600" cy="2112111"/>
            <a:chOff x="4419600" y="1744133"/>
            <a:chExt cx="6959600" cy="2112111"/>
          </a:xfrm>
        </p:grpSpPr>
        <p:sp>
          <p:nvSpPr>
            <p:cNvPr id="1039" name="Google Shape;1039;p20"/>
            <p:cNvSpPr/>
            <p:nvPr/>
          </p:nvSpPr>
          <p:spPr>
            <a:xfrm>
              <a:off x="6366933" y="3619178"/>
              <a:ext cx="5012267" cy="237066"/>
            </a:xfrm>
            <a:prstGeom prst="rect">
              <a:avLst/>
            </a:prstGeom>
            <a:solidFill>
              <a:srgbClr val="FBBFC7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0" name="Google Shape;1040;p20"/>
            <p:cNvCxnSpPr/>
            <p:nvPr/>
          </p:nvCxnSpPr>
          <p:spPr>
            <a:xfrm>
              <a:off x="4419600" y="1744133"/>
              <a:ext cx="1998133" cy="199813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20"/>
          <p:cNvGrpSpPr/>
          <p:nvPr/>
        </p:nvGrpSpPr>
        <p:grpSpPr>
          <a:xfrm>
            <a:off x="5249333" y="4075073"/>
            <a:ext cx="6265334" cy="733994"/>
            <a:chOff x="5249333" y="4075073"/>
            <a:chExt cx="6265334" cy="733994"/>
          </a:xfrm>
        </p:grpSpPr>
        <p:sp>
          <p:nvSpPr>
            <p:cNvPr id="1042" name="Google Shape;1042;p20"/>
            <p:cNvSpPr/>
            <p:nvPr/>
          </p:nvSpPr>
          <p:spPr>
            <a:xfrm>
              <a:off x="6248400" y="4075073"/>
              <a:ext cx="5266267" cy="372534"/>
            </a:xfrm>
            <a:prstGeom prst="rect">
              <a:avLst/>
            </a:prstGeom>
            <a:solidFill>
              <a:srgbClr val="F3D7B1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rbe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43" name="Google Shape;1043;p20"/>
            <p:cNvCxnSpPr/>
            <p:nvPr/>
          </p:nvCxnSpPr>
          <p:spPr>
            <a:xfrm flipH="1" rot="10800000">
              <a:off x="5249333" y="4267199"/>
              <a:ext cx="999068" cy="541868"/>
            </a:xfrm>
            <a:prstGeom prst="straightConnector1">
              <a:avLst/>
            </a:prstGeom>
            <a:noFill/>
            <a:ln cap="rnd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44" name="Google Shape;1044;p2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1"/>
          <p:cNvSpPr txBox="1"/>
          <p:nvPr>
            <p:ph type="title"/>
          </p:nvPr>
        </p:nvSpPr>
        <p:spPr>
          <a:xfrm>
            <a:off x="2057400" y="236538"/>
            <a:ext cx="7772400" cy="95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Local DNS name server</a:t>
            </a:r>
            <a:endParaRPr/>
          </a:p>
        </p:txBody>
      </p:sp>
      <p:sp>
        <p:nvSpPr>
          <p:cNvPr id="1051" name="Google Shape;1051;p21"/>
          <p:cNvSpPr txBox="1"/>
          <p:nvPr>
            <p:ph idx="1" type="body"/>
          </p:nvPr>
        </p:nvSpPr>
        <p:spPr>
          <a:xfrm>
            <a:off x="1211749" y="1193800"/>
            <a:ext cx="6507898" cy="5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Each ISP (residential ISP, company, university) has one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Also called “default name server”</a:t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/>
              <a:t>When host makes DNS query, query is sent to its local DNS server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Has local cache of recent name-to-address translation pairs (but may be out of date!)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800"/>
              <a:t>Acts as proxy, forwards query into hierarchy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1800"/>
          </a:p>
          <a:p>
            <a:pPr indent="-231775" lvl="0" marL="238125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ISP has local DNS name server; to find yours: </a:t>
            </a:r>
            <a:endParaRPr sz="2000"/>
          </a:p>
          <a:p>
            <a:pPr indent="-2317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% scutil --dns</a:t>
            </a:r>
            <a:endParaRPr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</a:t>
            </a:r>
            <a:r>
              <a:rPr lang="en-US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&gt;ipconfig /all</a:t>
            </a:r>
            <a:endParaRPr sz="1800"/>
          </a:p>
          <a:p>
            <a:pPr indent="-1016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1052" name="Google Shape;1052;p21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config - Wikipedia" id="1053" name="Google Shape;10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3796567"/>
            <a:ext cx="51435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21"/>
          <p:cNvSpPr/>
          <p:nvPr/>
        </p:nvSpPr>
        <p:spPr>
          <a:xfrm>
            <a:off x="7455877" y="5961184"/>
            <a:ext cx="3402623" cy="492369"/>
          </a:xfrm>
          <a:prstGeom prst="ellipse">
            <a:avLst/>
          </a:prstGeom>
          <a:noFill/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iterated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061" name="Google Shape;1061;p22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2"/>
          <p:cNvSpPr/>
          <p:nvPr/>
        </p:nvSpPr>
        <p:spPr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Iterated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contacted server replies with name of server to contact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 don’t know this name, but ask this server”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 txBox="1"/>
          <p:nvPr/>
        </p:nvSpPr>
        <p:spPr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2"/>
          <p:cNvSpPr txBox="1"/>
          <p:nvPr/>
        </p:nvSpPr>
        <p:spPr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2"/>
          <p:cNvSpPr txBox="1"/>
          <p:nvPr/>
        </p:nvSpPr>
        <p:spPr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22"/>
          <p:cNvCxnSpPr/>
          <p:nvPr/>
        </p:nvCxnSpPr>
        <p:spPr>
          <a:xfrm>
            <a:off x="6489235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7" name="Google Shape;1067;p22"/>
          <p:cNvCxnSpPr/>
          <p:nvPr/>
        </p:nvCxnSpPr>
        <p:spPr>
          <a:xfrm flipH="1" rot="10800000">
            <a:off x="7968785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8" name="Google Shape;1068;p22"/>
          <p:cNvCxnSpPr/>
          <p:nvPr/>
        </p:nvCxnSpPr>
        <p:spPr>
          <a:xfrm flipH="1" rot="10800000">
            <a:off x="8254535" y="3167743"/>
            <a:ext cx="1485900" cy="9525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9" name="Google Shape;1069;p22"/>
          <p:cNvCxnSpPr/>
          <p:nvPr/>
        </p:nvCxnSpPr>
        <p:spPr>
          <a:xfrm rot="10800000">
            <a:off x="8254535" y="3339193"/>
            <a:ext cx="1419225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0" name="Google Shape;1070;p22"/>
          <p:cNvCxnSpPr/>
          <p:nvPr/>
        </p:nvCxnSpPr>
        <p:spPr>
          <a:xfrm flipH="1">
            <a:off x="8178335" y="2234293"/>
            <a:ext cx="733425" cy="762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1" name="Google Shape;1071;p22"/>
          <p:cNvCxnSpPr/>
          <p:nvPr/>
        </p:nvCxnSpPr>
        <p:spPr>
          <a:xfrm rot="10800000">
            <a:off x="6381511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72" name="Google Shape;1072;p22"/>
          <p:cNvGrpSpPr/>
          <p:nvPr/>
        </p:nvGrpSpPr>
        <p:grpSpPr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073" name="Google Shape;1073;p22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2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22"/>
          <p:cNvSpPr txBox="1"/>
          <p:nvPr/>
        </p:nvSpPr>
        <p:spPr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2"/>
          <p:cNvSpPr txBox="1"/>
          <p:nvPr/>
        </p:nvSpPr>
        <p:spPr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2"/>
          <p:cNvSpPr txBox="1"/>
          <p:nvPr/>
        </p:nvSpPr>
        <p:spPr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2"/>
          <p:cNvSpPr txBox="1"/>
          <p:nvPr/>
        </p:nvSpPr>
        <p:spPr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2"/>
          <p:cNvSpPr txBox="1"/>
          <p:nvPr/>
        </p:nvSpPr>
        <p:spPr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2"/>
          <p:cNvSpPr txBox="1"/>
          <p:nvPr/>
        </p:nvSpPr>
        <p:spPr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2"/>
          <p:cNvSpPr txBox="1"/>
          <p:nvPr/>
        </p:nvSpPr>
        <p:spPr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2"/>
          <p:cNvSpPr txBox="1"/>
          <p:nvPr/>
        </p:nvSpPr>
        <p:spPr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2"/>
          <p:cNvSpPr txBox="1"/>
          <p:nvPr/>
        </p:nvSpPr>
        <p:spPr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22"/>
          <p:cNvCxnSpPr/>
          <p:nvPr/>
        </p:nvCxnSpPr>
        <p:spPr>
          <a:xfrm>
            <a:off x="8187860" y="3499530"/>
            <a:ext cx="1493838" cy="1314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22"/>
          <p:cNvCxnSpPr/>
          <p:nvPr/>
        </p:nvCxnSpPr>
        <p:spPr>
          <a:xfrm rot="10800000">
            <a:off x="8148173" y="3624943"/>
            <a:ext cx="1493837" cy="13017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22"/>
          <p:cNvSpPr txBox="1"/>
          <p:nvPr/>
        </p:nvSpPr>
        <p:spPr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22"/>
          <p:cNvGrpSpPr/>
          <p:nvPr/>
        </p:nvGrpSpPr>
        <p:grpSpPr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descr="desktop_computer_stylized_medium" id="1088" name="Google Shape;108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22"/>
          <p:cNvGrpSpPr/>
          <p:nvPr/>
        </p:nvGrpSpPr>
        <p:grpSpPr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091" name="Google Shape;109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3" name="Google Shape;1093;p22"/>
          <p:cNvGrpSpPr/>
          <p:nvPr/>
        </p:nvGrpSpPr>
        <p:grpSpPr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1094" name="Google Shape;1094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00" name="Google Shape;1100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2" name="Google Shape;1102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3" name="Google Shape;1103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04" name="Google Shape;1104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6" name="Google Shape;1106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8" name="Google Shape;1108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09" name="Google Shape;1109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1" name="Google Shape;1111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2" name="Google Shape;1112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13" name="Google Shape;1113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22"/>
          <p:cNvGrpSpPr/>
          <p:nvPr/>
        </p:nvGrpSpPr>
        <p:grpSpPr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1127" name="Google Shape;1127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33" name="Google Shape;1133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6" name="Google Shape;1136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37" name="Google Shape;1137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1" name="Google Shape;1141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42" name="Google Shape;1142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5" name="Google Shape;1145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46" name="Google Shape;1146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8" name="Google Shape;1148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22"/>
          <p:cNvGrpSpPr/>
          <p:nvPr/>
        </p:nvGrpSpPr>
        <p:grpSpPr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1160" name="Google Shape;1160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5" name="Google Shape;1165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66" name="Google Shape;1166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170" name="Google Shape;1170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175" name="Google Shape;1175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7" name="Google Shape;1177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179" name="Google Shape;1179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2"/>
          <p:cNvGrpSpPr/>
          <p:nvPr/>
        </p:nvGrpSpPr>
        <p:grpSpPr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1193" name="Google Shape;1193;p2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2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2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8" name="Google Shape;1198;p22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199" name="Google Shape;1199;p22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1" name="Google Shape;1201;p22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2" name="Google Shape;1202;p22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03" name="Google Shape;1203;p22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5" name="Google Shape;1205;p22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2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7" name="Google Shape;1207;p22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0" name="Google Shape;1210;p2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1" name="Google Shape;1211;p22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22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2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DNS name resolution: </a:t>
            </a:r>
            <a:r>
              <a:rPr b="1" lang="en-US" sz="4400">
                <a:solidFill>
                  <a:srgbClr val="7D28CD"/>
                </a:solidFill>
              </a:rPr>
              <a:t>recursive query</a:t>
            </a:r>
            <a:endParaRPr b="1" sz="4400">
              <a:solidFill>
                <a:srgbClr val="7D28CD"/>
              </a:solidFill>
            </a:endParaRPr>
          </a:p>
        </p:txBody>
      </p:sp>
      <p:sp>
        <p:nvSpPr>
          <p:cNvPr id="1232" name="Google Shape;1232;p23"/>
          <p:cNvSpPr txBox="1"/>
          <p:nvPr/>
        </p:nvSpPr>
        <p:spPr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requesting host at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engineering.nyu.edu</a:t>
            </a:r>
            <a:endParaRPr b="0" i="1" sz="1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3"/>
          <p:cNvSpPr txBox="1"/>
          <p:nvPr/>
        </p:nvSpPr>
        <p:spPr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gaia.cs.umass.edu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3"/>
          <p:cNvSpPr txBox="1"/>
          <p:nvPr/>
        </p:nvSpPr>
        <p:spPr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p23"/>
          <p:cNvCxnSpPr/>
          <p:nvPr/>
        </p:nvCxnSpPr>
        <p:spPr>
          <a:xfrm>
            <a:off x="6104927" y="3275781"/>
            <a:ext cx="1196994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6" name="Google Shape;1236;p23"/>
          <p:cNvCxnSpPr/>
          <p:nvPr/>
        </p:nvCxnSpPr>
        <p:spPr>
          <a:xfrm flipH="1" rot="10800000">
            <a:off x="7584477" y="2005693"/>
            <a:ext cx="914400" cy="97155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7" name="Google Shape;1237;p23"/>
          <p:cNvCxnSpPr/>
          <p:nvPr/>
        </p:nvCxnSpPr>
        <p:spPr>
          <a:xfrm>
            <a:off x="9672062" y="3760198"/>
            <a:ext cx="2427" cy="702311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8" name="Google Shape;1238;p23"/>
          <p:cNvCxnSpPr/>
          <p:nvPr/>
        </p:nvCxnSpPr>
        <p:spPr>
          <a:xfrm rot="10800000">
            <a:off x="9491701" y="3747010"/>
            <a:ext cx="2427" cy="734919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9" name="Google Shape;1239;p23"/>
          <p:cNvCxnSpPr/>
          <p:nvPr/>
        </p:nvCxnSpPr>
        <p:spPr>
          <a:xfrm>
            <a:off x="9038381" y="2075731"/>
            <a:ext cx="405154" cy="841218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0" name="Google Shape;1240;p23"/>
          <p:cNvCxnSpPr/>
          <p:nvPr/>
        </p:nvCxnSpPr>
        <p:spPr>
          <a:xfrm rot="10800000">
            <a:off x="5997203" y="3439703"/>
            <a:ext cx="1319232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241" name="Google Shape;1241;p23"/>
          <p:cNvGrpSpPr/>
          <p:nvPr/>
        </p:nvGrpSpPr>
        <p:grpSpPr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242" name="Google Shape;1242;p23"/>
            <p:cNvSpPr/>
            <p:nvPr/>
          </p:nvSpPr>
          <p:spPr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23"/>
            <p:cNvSpPr txBox="1"/>
            <p:nvPr/>
          </p:nvSpPr>
          <p:spPr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 DNS server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dns.nyu.edu</a:t>
              </a:r>
              <a:endParaRPr b="0" i="1" sz="1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4" name="Google Shape;1244;p23"/>
          <p:cNvSpPr txBox="1"/>
          <p:nvPr/>
        </p:nvSpPr>
        <p:spPr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3"/>
          <p:cNvSpPr txBox="1"/>
          <p:nvPr/>
        </p:nvSpPr>
        <p:spPr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3"/>
          <p:cNvSpPr txBox="1"/>
          <p:nvPr/>
        </p:nvSpPr>
        <p:spPr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3"/>
          <p:cNvSpPr txBox="1"/>
          <p:nvPr/>
        </p:nvSpPr>
        <p:spPr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3"/>
          <p:cNvSpPr txBox="1"/>
          <p:nvPr/>
        </p:nvSpPr>
        <p:spPr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3"/>
          <p:cNvSpPr txBox="1"/>
          <p:nvPr/>
        </p:nvSpPr>
        <p:spPr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3"/>
          <p:cNvSpPr txBox="1"/>
          <p:nvPr/>
        </p:nvSpPr>
        <p:spPr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authoritative DNS server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dns.cs.umass.edu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3"/>
          <p:cNvSpPr txBox="1"/>
          <p:nvPr/>
        </p:nvSpPr>
        <p:spPr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3"/>
          <p:cNvSpPr txBox="1"/>
          <p:nvPr/>
        </p:nvSpPr>
        <p:spPr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p23"/>
          <p:cNvCxnSpPr/>
          <p:nvPr/>
        </p:nvCxnSpPr>
        <p:spPr>
          <a:xfrm rot="10800000">
            <a:off x="8981775" y="2427554"/>
            <a:ext cx="344289" cy="64545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4" name="Google Shape;1254;p23"/>
          <p:cNvCxnSpPr/>
          <p:nvPr/>
        </p:nvCxnSpPr>
        <p:spPr>
          <a:xfrm flipH="1">
            <a:off x="7792268" y="2275514"/>
            <a:ext cx="710991" cy="774754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5" name="Google Shape;1255;p23"/>
          <p:cNvSpPr txBox="1"/>
          <p:nvPr/>
        </p:nvSpPr>
        <p:spPr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TLD DNS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6" name="Google Shape;1256;p23"/>
          <p:cNvGrpSpPr/>
          <p:nvPr/>
        </p:nvGrpSpPr>
        <p:grpSpPr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descr="desktop_computer_stylized_medium" id="1257" name="Google Shape;125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23"/>
          <p:cNvGrpSpPr/>
          <p:nvPr/>
        </p:nvGrpSpPr>
        <p:grpSpPr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descr="desktop_computer_stylized_medium" id="1260" name="Google Shape;1260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2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23"/>
          <p:cNvGrpSpPr/>
          <p:nvPr/>
        </p:nvGrpSpPr>
        <p:grpSpPr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1263" name="Google Shape;1263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8" name="Google Shape;1268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269" name="Google Shape;1269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1" name="Google Shape;1271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2" name="Google Shape;1272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5" name="Google Shape;1275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7" name="Google Shape;1277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278" name="Google Shape;1278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0" name="Google Shape;1280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282" name="Google Shape;1282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4" name="Google Shape;1284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5" name="Google Shape;1295;p23"/>
          <p:cNvGrpSpPr/>
          <p:nvPr/>
        </p:nvGrpSpPr>
        <p:grpSpPr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1296" name="Google Shape;1296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1" name="Google Shape;1301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02" name="Google Shape;1302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23"/>
              <p:cNvSpPr/>
              <p:nvPr/>
            </p:nvSpPr>
            <p:spPr>
              <a:xfrm>
                <a:off x="628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5" name="Google Shape;1305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06" name="Google Shape;1306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8" name="Google Shape;1308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0" name="Google Shape;1310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11" name="Google Shape;1311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3" name="Google Shape;1313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4" name="Google Shape;1314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15" name="Google Shape;1315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23"/>
              <p:cNvSpPr/>
              <p:nvPr/>
            </p:nvSpPr>
            <p:spPr>
              <a:xfrm>
                <a:off x="626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23"/>
          <p:cNvGrpSpPr/>
          <p:nvPr/>
        </p:nvGrpSpPr>
        <p:grpSpPr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1329" name="Google Shape;1329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4" name="Google Shape;1334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35" name="Google Shape;1335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7" name="Google Shape;1337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8" name="Google Shape;1338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39" name="Google Shape;1339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1" name="Google Shape;1341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3" name="Google Shape;1343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44" name="Google Shape;1344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6" name="Google Shape;1346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7" name="Google Shape;1347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48" name="Google Shape;1348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0" name="Google Shape;1350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1" name="Google Shape;1361;p23"/>
          <p:cNvGrpSpPr/>
          <p:nvPr/>
        </p:nvGrpSpPr>
        <p:grpSpPr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1362" name="Google Shape;1362;p2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4204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4748" y="666"/>
              <a:ext cx="579" cy="148"/>
              <a:chOff x="613" y="2566"/>
              <a:chExt cx="723" cy="142"/>
            </a:xfrm>
          </p:grpSpPr>
          <p:sp>
            <p:nvSpPr>
              <p:cNvPr id="1368" name="Google Shape;1368;p23"/>
              <p:cNvSpPr/>
              <p:nvPr/>
            </p:nvSpPr>
            <p:spPr>
              <a:xfrm>
                <a:off x="613" y="2566"/>
                <a:ext cx="723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>
                <a:off x="627" y="2583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0" name="Google Shape;1370;p23"/>
            <p:cNvSpPr/>
            <p:nvPr/>
          </p:nvSpPr>
          <p:spPr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1" name="Google Shape;1371;p23"/>
            <p:cNvGrpSpPr/>
            <p:nvPr/>
          </p:nvGrpSpPr>
          <p:grpSpPr>
            <a:xfrm>
              <a:off x="4749" y="992"/>
              <a:ext cx="579" cy="136"/>
              <a:chOff x="616" y="2566"/>
              <a:chExt cx="723" cy="141"/>
            </a:xfrm>
          </p:grpSpPr>
          <p:sp>
            <p:nvSpPr>
              <p:cNvPr id="1372" name="Google Shape;1372;p23"/>
              <p:cNvSpPr/>
              <p:nvPr/>
            </p:nvSpPr>
            <p:spPr>
              <a:xfrm>
                <a:off x="616" y="2566"/>
                <a:ext cx="723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>
                <a:off x="630" y="2585"/>
                <a:ext cx="694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4" name="Google Shape;1374;p23"/>
            <p:cNvSpPr/>
            <p:nvPr/>
          </p:nvSpPr>
          <p:spPr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23"/>
            <p:cNvSpPr/>
            <p:nvPr/>
          </p:nvSpPr>
          <p:spPr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6" name="Google Shape;1376;p23"/>
            <p:cNvGrpSpPr/>
            <p:nvPr/>
          </p:nvGrpSpPr>
          <p:grpSpPr>
            <a:xfrm>
              <a:off x="4737" y="1627"/>
              <a:ext cx="580" cy="142"/>
              <a:chOff x="616" y="2568"/>
              <a:chExt cx="722" cy="131"/>
            </a:xfrm>
          </p:grpSpPr>
          <p:sp>
            <p:nvSpPr>
              <p:cNvPr id="1377" name="Google Shape;1377;p23"/>
              <p:cNvSpPr/>
              <p:nvPr/>
            </p:nvSpPr>
            <p:spPr>
              <a:xfrm>
                <a:off x="616" y="2568"/>
                <a:ext cx="722" cy="13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>
                <a:off x="630" y="2584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9" name="Google Shape;1379;p2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0" name="Google Shape;1380;p23"/>
            <p:cNvGrpSpPr/>
            <p:nvPr/>
          </p:nvGrpSpPr>
          <p:grpSpPr>
            <a:xfrm>
              <a:off x="4737" y="1325"/>
              <a:ext cx="585" cy="142"/>
              <a:chOff x="611" y="2566"/>
              <a:chExt cx="729" cy="142"/>
            </a:xfrm>
          </p:grpSpPr>
          <p:sp>
            <p:nvSpPr>
              <p:cNvPr id="1381" name="Google Shape;1381;p23"/>
              <p:cNvSpPr/>
              <p:nvPr/>
            </p:nvSpPr>
            <p:spPr>
              <a:xfrm>
                <a:off x="611" y="2566"/>
                <a:ext cx="729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>
                <a:off x="625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3" name="Google Shape;1383;p23"/>
            <p:cNvSpPr/>
            <p:nvPr/>
          </p:nvSpPr>
          <p:spPr>
            <a:xfrm>
              <a:off x="5252" y="429"/>
              <a:ext cx="64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4204" y="2712"/>
              <a:ext cx="1072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4" name="Google Shape;1394;p23"/>
          <p:cNvSpPr/>
          <p:nvPr/>
        </p:nvSpPr>
        <p:spPr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Recursive query: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puts burden of name resolution on contacted name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heavy load at upper levels of hierarchy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684201" y="1617338"/>
            <a:ext cx="5664200" cy="1061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engineering.nyu.edu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wants IP address for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11fc7892358_0_0"/>
          <p:cNvSpPr txBox="1"/>
          <p:nvPr>
            <p:ph type="title"/>
          </p:nvPr>
        </p:nvSpPr>
        <p:spPr>
          <a:xfrm>
            <a:off x="1495050" y="126825"/>
            <a:ext cx="100188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b="1" lang="en-US"/>
              <a:t>DNS Queries - Summary</a:t>
            </a:r>
            <a:endParaRPr b="1"/>
          </a:p>
        </p:txBody>
      </p:sp>
      <p:pic>
        <p:nvPicPr>
          <p:cNvPr id="1403" name="Google Shape;1403;g11fc789235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250" y="671775"/>
            <a:ext cx="7683300" cy="607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g11fc7892358_0_0"/>
          <p:cNvSpPr txBox="1"/>
          <p:nvPr/>
        </p:nvSpPr>
        <p:spPr>
          <a:xfrm>
            <a:off x="5334300" y="6488700"/>
            <a:ext cx="67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:https://foxutech.com/what-is-dns-and-how-it-works/how-dns-works/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11fc7892358_0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4"/>
          <p:cNvSpPr txBox="1"/>
          <p:nvPr>
            <p:ph type="title"/>
          </p:nvPr>
        </p:nvSpPr>
        <p:spPr>
          <a:xfrm>
            <a:off x="2057400" y="435419"/>
            <a:ext cx="7772400" cy="969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DNS: caching, updating records</a:t>
            </a:r>
            <a:endParaRPr/>
          </a:p>
        </p:txBody>
      </p:sp>
      <p:sp>
        <p:nvSpPr>
          <p:cNvPr id="1412" name="Google Shape;1412;p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3" name="Google Shape;1413;p24"/>
          <p:cNvSpPr txBox="1"/>
          <p:nvPr>
            <p:ph idx="1" type="body"/>
          </p:nvPr>
        </p:nvSpPr>
        <p:spPr>
          <a:xfrm>
            <a:off x="1332518" y="1540163"/>
            <a:ext cx="10406900" cy="443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a name server learns an IP address for a domain, it saves (caches) this information for faster access next time.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TTL (Time to Live)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Cached information has a lifespan (TTL) and removed from the cache after this time, requiring a fresh lookup.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Local Caching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name servers often cache TLD (Top-Level Domain) records to reduce the load on root servers.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Out-of-Date Cache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Cached entries might be outdated if a domain’s IP address changes. The change only becomes known across the internet once all caches with the old IP expire.</a:t>
            </a:r>
            <a:endParaRPr/>
          </a:p>
          <a:p>
            <a:pPr indent="-14859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160"/>
              <a:buChar char="•"/>
            </a:pPr>
            <a:r>
              <a:rPr b="1"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Updating Standard</a:t>
            </a:r>
            <a:r>
              <a:rPr lang="en-US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There’s an IETF standard (RFC 2136) for updating DNS records to address this issue, allowing quicker updates across servers.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25"/>
          <p:cNvSpPr txBox="1"/>
          <p:nvPr>
            <p:ph type="title"/>
          </p:nvPr>
        </p:nvSpPr>
        <p:spPr>
          <a:xfrm>
            <a:off x="1979613" y="201614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DNS Records</a:t>
            </a:r>
            <a:endParaRPr b="1"/>
          </a:p>
        </p:txBody>
      </p:sp>
      <p:sp>
        <p:nvSpPr>
          <p:cNvPr id="1420" name="Google Shape;1420;p25"/>
          <p:cNvSpPr txBox="1"/>
          <p:nvPr>
            <p:ph idx="1" type="body"/>
          </p:nvPr>
        </p:nvSpPr>
        <p:spPr>
          <a:xfrm>
            <a:off x="2066926" y="1138238"/>
            <a:ext cx="7820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Font typeface="Noto Sans"/>
              <a:buNone/>
            </a:pPr>
            <a:r>
              <a:rPr b="1" i="1" lang="en-US">
                <a:solidFill>
                  <a:srgbClr val="CC0000"/>
                </a:solidFill>
              </a:rPr>
              <a:t>DNS:</a:t>
            </a:r>
            <a:r>
              <a:rPr b="1" lang="en-US" sz="2400"/>
              <a:t> Distributed database storing resource records </a:t>
            </a:r>
            <a:r>
              <a:rPr b="1" lang="en-US">
                <a:solidFill>
                  <a:srgbClr val="CC0000"/>
                </a:solidFill>
              </a:rPr>
              <a:t>(RR)</a:t>
            </a:r>
            <a:endParaRPr/>
          </a:p>
        </p:txBody>
      </p:sp>
      <p:sp>
        <p:nvSpPr>
          <p:cNvPr id="1421" name="Google Shape;1421;p25"/>
          <p:cNvSpPr txBox="1"/>
          <p:nvPr>
            <p:ph idx="2" type="body"/>
          </p:nvPr>
        </p:nvSpPr>
        <p:spPr>
          <a:xfrm>
            <a:off x="1371600" y="4532313"/>
            <a:ext cx="4695092" cy="189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"/>
              <a:buNone/>
            </a:pPr>
            <a:r>
              <a:rPr b="1" lang="en-US" sz="8600" u="sng">
                <a:solidFill>
                  <a:srgbClr val="5E9934"/>
                </a:solidFill>
              </a:rPr>
              <a:t>type=NS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Name</a:t>
            </a:r>
            <a:r>
              <a:rPr lang="en-US" sz="7200"/>
              <a:t> 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/>
              <a:t>Value</a:t>
            </a:r>
            <a:r>
              <a:rPr lang="en-US" sz="7200"/>
              <a:t> is hostname of</a:t>
            </a:r>
            <a:br>
              <a:rPr lang="en-US" sz="7200"/>
            </a:br>
            <a:r>
              <a:rPr lang="en-US" sz="7200"/>
              <a:t>authoritative name server</a:t>
            </a:r>
            <a:br>
              <a:rPr lang="en-US" sz="7200"/>
            </a:br>
            <a:r>
              <a:rPr lang="en-US" sz="7200"/>
              <a:t>for this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ct val="145000"/>
              <a:buChar char="•"/>
            </a:pPr>
            <a:r>
              <a:rPr b="1" lang="en-US" sz="7200">
                <a:solidFill>
                  <a:srgbClr val="5E9934"/>
                </a:solidFill>
              </a:rPr>
              <a:t>(google.com, dns.google.com, NS)</a:t>
            </a:r>
            <a:endParaRPr b="1">
              <a:solidFill>
                <a:srgbClr val="5E9934"/>
              </a:solidFill>
            </a:endParaRPr>
          </a:p>
        </p:txBody>
      </p:sp>
      <p:sp>
        <p:nvSpPr>
          <p:cNvPr id="1422" name="Google Shape;1422;p25"/>
          <p:cNvSpPr txBox="1"/>
          <p:nvPr/>
        </p:nvSpPr>
        <p:spPr>
          <a:xfrm>
            <a:off x="3319463" y="1757363"/>
            <a:ext cx="536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format: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(name, value, type, ttl)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25"/>
          <p:cNvSpPr/>
          <p:nvPr/>
        </p:nvSpPr>
        <p:spPr>
          <a:xfrm>
            <a:off x="3400426" y="1690688"/>
            <a:ext cx="5267325" cy="5715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25"/>
          <p:cNvSpPr/>
          <p:nvPr/>
        </p:nvSpPr>
        <p:spPr>
          <a:xfrm>
            <a:off x="1371600" y="2345349"/>
            <a:ext cx="4284052" cy="1612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650"/>
              <a:buFont typeface="Noto Sans"/>
              <a:buNone/>
            </a:pPr>
            <a:r>
              <a:rPr b="1" i="0" lang="en-US" sz="2200" u="sng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type=A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hostname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(google.com, 172.10.12.32, A)</a:t>
            </a:r>
            <a:endParaRPr b="1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5" name="Google Shape;1425;p25"/>
          <p:cNvSpPr/>
          <p:nvPr/>
        </p:nvSpPr>
        <p:spPr>
          <a:xfrm>
            <a:off x="6164080" y="2328863"/>
            <a:ext cx="5439508" cy="2203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type=CNAME</a:t>
            </a:r>
            <a:endParaRPr b="1" i="0" sz="1400" u="none" cap="none" strike="noStrik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alias name for some “canonical” (the real)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canonical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(google.com, www.google.com,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(mail.google.com, google.com, CNAME)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6" name="Google Shape;1426;p25"/>
          <p:cNvSpPr/>
          <p:nvPr/>
        </p:nvSpPr>
        <p:spPr>
          <a:xfrm>
            <a:off x="6309519" y="4553170"/>
            <a:ext cx="4748212" cy="1690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1" i="0" lang="en-US" sz="2200" u="sng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type=MX</a:t>
            </a:r>
            <a:endParaRPr b="1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Value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is name of mail server associated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(google.com, mail.google.com,MX)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Char char="▪"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(mail.google.com,172.10.12.39, A)</a:t>
            </a:r>
            <a:endParaRPr b="1" i="0" sz="1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7" name="Google Shape;1427;p2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6"/>
          <p:cNvSpPr txBox="1"/>
          <p:nvPr>
            <p:ph type="title"/>
          </p:nvPr>
        </p:nvSpPr>
        <p:spPr>
          <a:xfrm>
            <a:off x="2057400" y="179389"/>
            <a:ext cx="7772400" cy="903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Inserting records into DNS</a:t>
            </a:r>
            <a:endParaRPr/>
          </a:p>
        </p:txBody>
      </p:sp>
      <p:sp>
        <p:nvSpPr>
          <p:cNvPr id="1434" name="Google Shape;1434;p26"/>
          <p:cNvSpPr txBox="1"/>
          <p:nvPr>
            <p:ph idx="1" type="body"/>
          </p:nvPr>
        </p:nvSpPr>
        <p:spPr>
          <a:xfrm>
            <a:off x="2025651" y="1011115"/>
            <a:ext cx="10037040" cy="5509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Example: new startup “</a:t>
            </a:r>
            <a:r>
              <a:rPr b="1" lang="en-US">
                <a:solidFill>
                  <a:srgbClr val="7D28CD"/>
                </a:solidFill>
              </a:rPr>
              <a:t>Network Utopia</a:t>
            </a:r>
            <a:r>
              <a:rPr lang="en-US"/>
              <a:t>”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Register name networkuptopia.com at </a:t>
            </a:r>
            <a:r>
              <a:rPr b="1" i="1" lang="en-US">
                <a:solidFill>
                  <a:srgbClr val="CC0000"/>
                </a:solidFill>
              </a:rPr>
              <a:t>DNS registrar</a:t>
            </a:r>
            <a:r>
              <a:rPr b="1" lang="en-US"/>
              <a:t> </a:t>
            </a:r>
            <a:r>
              <a:rPr lang="en-US"/>
              <a:t>(e.g., Network Solutions)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solidFill>
                  <a:schemeClr val="dk1"/>
                </a:solidFill>
              </a:rPr>
              <a:t>Network Utopia : </a:t>
            </a:r>
            <a:r>
              <a:rPr lang="en-US" sz="2800">
                <a:solidFill>
                  <a:schemeClr val="dk1"/>
                </a:solidFill>
              </a:rPr>
              <a:t>Web Server</a:t>
            </a:r>
            <a:endParaRPr/>
          </a:p>
          <a:p>
            <a:pPr indent="0" lvl="2" marL="91440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 sz="2200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212.212.71.4, 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b="1" lang="en-US">
                <a:solidFill>
                  <a:srgbClr val="0070C0"/>
                </a:solidFill>
              </a:rPr>
              <a:t>CNAME </a:t>
            </a:r>
            <a:r>
              <a:rPr lang="en-US"/>
              <a:t>: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www.networkutopia.com, CNAME)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Registrar inserts a RR into .com TLD server: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200"/>
              <a:t>Local Primary DNS Server 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rPr lang="en-US" sz="2800"/>
              <a:t>    </a:t>
            </a:r>
            <a:r>
              <a:rPr b="1" lang="en-US">
                <a:solidFill>
                  <a:srgbClr val="5E9934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dns1.networkutopia.com, NS)</a:t>
            </a:r>
            <a:endParaRPr>
              <a:solidFill>
                <a:srgbClr val="5E9934"/>
              </a:solidFill>
            </a:endParaRPr>
          </a:p>
          <a:p>
            <a:pPr indent="-342900" lvl="2" marL="125730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Font typeface="Arial"/>
              <a:buChar char="•"/>
            </a:pPr>
            <a:r>
              <a:rPr lang="en-US" sz="2200"/>
              <a:t>Email Server  </a:t>
            </a:r>
            <a:endParaRPr sz="2200"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(networkutopia.com, mail.networkutopia.com, MX)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None/>
            </a:pPr>
            <a:r>
              <a:rPr b="1" lang="en-US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(mail.networkutopia.com, 212.212.73.6, A)</a:t>
            </a:r>
            <a:endParaRPr/>
          </a:p>
        </p:txBody>
      </p:sp>
      <p:sp>
        <p:nvSpPr>
          <p:cNvPr id="1435" name="Google Shape;1435;p26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fc7892358_0_24"/>
          <p:cNvSpPr txBox="1"/>
          <p:nvPr>
            <p:ph type="title"/>
          </p:nvPr>
        </p:nvSpPr>
        <p:spPr>
          <a:xfrm>
            <a:off x="1366061" y="2437925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END OF EMAIL AND DNS</a:t>
            </a:r>
            <a:endParaRPr/>
          </a:p>
        </p:txBody>
      </p:sp>
      <p:sp>
        <p:nvSpPr>
          <p:cNvPr id="1442" name="Google Shape;1442;g11fc7892358_0_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